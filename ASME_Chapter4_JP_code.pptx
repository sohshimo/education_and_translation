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82" r:id="rId3"/>
    <p:sldId id="256" r:id="rId4"/>
    <p:sldId id="257" r:id="rId5"/>
    <p:sldId id="258" r:id="rId6"/>
    <p:sldId id="259" r:id="rId7"/>
    <p:sldId id="260" r:id="rId8"/>
    <p:sldId id="261" r:id="rId9"/>
    <p:sldId id="262" r:id="rId10"/>
    <p:sldId id="263" r:id="rId11"/>
    <p:sldId id="264" r:id="rId12"/>
    <p:sldId id="286" r:id="rId13"/>
    <p:sldId id="287" r:id="rId14"/>
    <p:sldId id="288" r:id="rId15"/>
    <p:sldId id="284" r:id="rId16"/>
    <p:sldId id="289" r:id="rId17"/>
    <p:sldId id="290" r:id="rId18"/>
    <p:sldId id="291" r:id="rId19"/>
    <p:sldId id="292" r:id="rId20"/>
    <p:sldId id="293" r:id="rId21"/>
    <p:sldId id="294" r:id="rId22"/>
    <p:sldId id="295" r:id="rId23"/>
    <p:sldId id="266" r:id="rId24"/>
    <p:sldId id="267" r:id="rId25"/>
    <p:sldId id="268" r:id="rId26"/>
    <p:sldId id="269" r:id="rId27"/>
    <p:sldId id="270" r:id="rId28"/>
    <p:sldId id="271" r:id="rId29"/>
    <p:sldId id="272" r:id="rId30"/>
    <p:sldId id="273" r:id="rId31"/>
    <p:sldId id="274" r:id="rId32"/>
    <p:sldId id="275" r:id="rId33"/>
    <p:sldId id="276" r:id="rId34"/>
    <p:sldId id="279" r:id="rId35"/>
    <p:sldId id="277" r:id="rId36"/>
    <p:sldId id="278" r:id="rId37"/>
    <p:sldId id="296" r:id="rId38"/>
    <p:sldId id="280" r:id="rId39"/>
    <p:sldId id="281" r:id="rId40"/>
    <p:sldId id="297" r:id="rId41"/>
    <p:sldId id="28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27485-02DC-4C31-8442-3C52FD2035BE}" v="8" dt="2026-10-21T01:09:13.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custSel mod addSld delSld modSld sldOrd modMainMaster">
      <pc:chgData name="大下　誠二" userId="e5774685-19fa-48b9-bec1-68eebf9ac578" providerId="ADAL" clId="{CDBA04F6-D5A6-4F8F-A920-1860374E7F12}" dt="2026-10-21T01:09:13.411" v="15"/>
      <pc:docMkLst>
        <pc:docMk/>
      </pc:docMkLst>
      <pc:sldChg chg="ord">
        <pc:chgData name="大下　誠二" userId="e5774685-19fa-48b9-bec1-68eebf9ac578" providerId="ADAL" clId="{CDBA04F6-D5A6-4F8F-A920-1860374E7F12}" dt="2026-10-21T00:52:31.337" v="3"/>
        <pc:sldMkLst>
          <pc:docMk/>
          <pc:sldMk cId="0" sldId="256"/>
        </pc:sldMkLst>
      </pc:sldChg>
      <pc:sldChg chg="modSp add mod">
        <pc:chgData name="大下　誠二" userId="e5774685-19fa-48b9-bec1-68eebf9ac578" providerId="ADAL" clId="{CDBA04F6-D5A6-4F8F-A920-1860374E7F12}" dt="2026-10-21T00:52:29.521" v="1" actId="27636"/>
        <pc:sldMkLst>
          <pc:docMk/>
          <pc:sldMk cId="1006064969" sldId="265"/>
        </pc:sldMkLst>
        <pc:spChg chg="mod">
          <ac:chgData name="大下　誠二" userId="e5774685-19fa-48b9-bec1-68eebf9ac578" providerId="ADAL" clId="{CDBA04F6-D5A6-4F8F-A920-1860374E7F12}" dt="2026-10-21T00:52:29.521" v="1" actId="27636"/>
          <ac:spMkLst>
            <pc:docMk/>
            <pc:sldMk cId="1006064969" sldId="265"/>
            <ac:spMk id="3" creationId="{0EC5D841-2E60-B1EB-3102-76804FA3912E}"/>
          </ac:spMkLst>
        </pc:spChg>
      </pc:sldChg>
      <pc:sldChg chg="add">
        <pc:chgData name="大下　誠二" userId="e5774685-19fa-48b9-bec1-68eebf9ac578" providerId="ADAL" clId="{CDBA04F6-D5A6-4F8F-A920-1860374E7F12}" dt="2026-10-21T01:07:59.926" v="8"/>
        <pc:sldMkLst>
          <pc:docMk/>
          <pc:sldMk cId="0" sldId="266"/>
        </pc:sldMkLst>
      </pc:sldChg>
      <pc:sldChg chg="add">
        <pc:chgData name="大下　誠二" userId="e5774685-19fa-48b9-bec1-68eebf9ac578" providerId="ADAL" clId="{CDBA04F6-D5A6-4F8F-A920-1860374E7F12}" dt="2026-10-21T01:07:59.926" v="8"/>
        <pc:sldMkLst>
          <pc:docMk/>
          <pc:sldMk cId="0" sldId="267"/>
        </pc:sldMkLst>
      </pc:sldChg>
      <pc:sldChg chg="add">
        <pc:chgData name="大下　誠二" userId="e5774685-19fa-48b9-bec1-68eebf9ac578" providerId="ADAL" clId="{CDBA04F6-D5A6-4F8F-A920-1860374E7F12}" dt="2026-10-21T01:07:59.926" v="8"/>
        <pc:sldMkLst>
          <pc:docMk/>
          <pc:sldMk cId="0" sldId="268"/>
        </pc:sldMkLst>
      </pc:sldChg>
      <pc:sldChg chg="add">
        <pc:chgData name="大下　誠二" userId="e5774685-19fa-48b9-bec1-68eebf9ac578" providerId="ADAL" clId="{CDBA04F6-D5A6-4F8F-A920-1860374E7F12}" dt="2026-10-21T01:07:59.926" v="8"/>
        <pc:sldMkLst>
          <pc:docMk/>
          <pc:sldMk cId="0" sldId="269"/>
        </pc:sldMkLst>
      </pc:sldChg>
      <pc:sldChg chg="add">
        <pc:chgData name="大下　誠二" userId="e5774685-19fa-48b9-bec1-68eebf9ac578" providerId="ADAL" clId="{CDBA04F6-D5A6-4F8F-A920-1860374E7F12}" dt="2026-10-21T01:07:59.926" v="8"/>
        <pc:sldMkLst>
          <pc:docMk/>
          <pc:sldMk cId="0" sldId="270"/>
        </pc:sldMkLst>
      </pc:sldChg>
      <pc:sldChg chg="add">
        <pc:chgData name="大下　誠二" userId="e5774685-19fa-48b9-bec1-68eebf9ac578" providerId="ADAL" clId="{CDBA04F6-D5A6-4F8F-A920-1860374E7F12}" dt="2026-10-21T01:07:59.926" v="8"/>
        <pc:sldMkLst>
          <pc:docMk/>
          <pc:sldMk cId="0" sldId="271"/>
        </pc:sldMkLst>
      </pc:sldChg>
      <pc:sldChg chg="add">
        <pc:chgData name="大下　誠二" userId="e5774685-19fa-48b9-bec1-68eebf9ac578" providerId="ADAL" clId="{CDBA04F6-D5A6-4F8F-A920-1860374E7F12}" dt="2026-10-21T01:07:59.926" v="8"/>
        <pc:sldMkLst>
          <pc:docMk/>
          <pc:sldMk cId="0" sldId="272"/>
        </pc:sldMkLst>
      </pc:sldChg>
      <pc:sldChg chg="add">
        <pc:chgData name="大下　誠二" userId="e5774685-19fa-48b9-bec1-68eebf9ac578" providerId="ADAL" clId="{CDBA04F6-D5A6-4F8F-A920-1860374E7F12}" dt="2026-10-21T01:07:59.926" v="8"/>
        <pc:sldMkLst>
          <pc:docMk/>
          <pc:sldMk cId="0" sldId="273"/>
        </pc:sldMkLst>
      </pc:sldChg>
      <pc:sldChg chg="add">
        <pc:chgData name="大下　誠二" userId="e5774685-19fa-48b9-bec1-68eebf9ac578" providerId="ADAL" clId="{CDBA04F6-D5A6-4F8F-A920-1860374E7F12}" dt="2026-10-21T01:07:59.926" v="8"/>
        <pc:sldMkLst>
          <pc:docMk/>
          <pc:sldMk cId="0" sldId="274"/>
        </pc:sldMkLst>
      </pc:sldChg>
      <pc:sldChg chg="add">
        <pc:chgData name="大下　誠二" userId="e5774685-19fa-48b9-bec1-68eebf9ac578" providerId="ADAL" clId="{CDBA04F6-D5A6-4F8F-A920-1860374E7F12}" dt="2026-10-21T01:07:59.926" v="8"/>
        <pc:sldMkLst>
          <pc:docMk/>
          <pc:sldMk cId="0" sldId="275"/>
        </pc:sldMkLst>
      </pc:sldChg>
      <pc:sldChg chg="add">
        <pc:chgData name="大下　誠二" userId="e5774685-19fa-48b9-bec1-68eebf9ac578" providerId="ADAL" clId="{CDBA04F6-D5A6-4F8F-A920-1860374E7F12}" dt="2026-10-21T01:07:59.926" v="8"/>
        <pc:sldMkLst>
          <pc:docMk/>
          <pc:sldMk cId="0" sldId="276"/>
        </pc:sldMkLst>
      </pc:sldChg>
      <pc:sldChg chg="add">
        <pc:chgData name="大下　誠二" userId="e5774685-19fa-48b9-bec1-68eebf9ac578" providerId="ADAL" clId="{CDBA04F6-D5A6-4F8F-A920-1860374E7F12}" dt="2026-10-21T01:07:59.926" v="8"/>
        <pc:sldMkLst>
          <pc:docMk/>
          <pc:sldMk cId="0" sldId="277"/>
        </pc:sldMkLst>
      </pc:sldChg>
      <pc:sldChg chg="add">
        <pc:chgData name="大下　誠二" userId="e5774685-19fa-48b9-bec1-68eebf9ac578" providerId="ADAL" clId="{CDBA04F6-D5A6-4F8F-A920-1860374E7F12}" dt="2026-10-21T01:07:59.926" v="8"/>
        <pc:sldMkLst>
          <pc:docMk/>
          <pc:sldMk cId="0" sldId="278"/>
        </pc:sldMkLst>
      </pc:sldChg>
      <pc:sldChg chg="add del">
        <pc:chgData name="大下　誠二" userId="e5774685-19fa-48b9-bec1-68eebf9ac578" providerId="ADAL" clId="{CDBA04F6-D5A6-4F8F-A920-1860374E7F12}" dt="2026-10-21T01:09:05.260" v="14" actId="2696"/>
        <pc:sldMkLst>
          <pc:docMk/>
          <pc:sldMk cId="490833461" sldId="279"/>
        </pc:sldMkLst>
      </pc:sldChg>
      <pc:sldChg chg="add">
        <pc:chgData name="大下　誠二" userId="e5774685-19fa-48b9-bec1-68eebf9ac578" providerId="ADAL" clId="{CDBA04F6-D5A6-4F8F-A920-1860374E7F12}" dt="2026-10-21T01:09:13.411" v="15"/>
        <pc:sldMkLst>
          <pc:docMk/>
          <pc:sldMk cId="494685914" sldId="279"/>
        </pc:sldMkLst>
      </pc:sldChg>
      <pc:sldChg chg="add">
        <pc:chgData name="大下　誠二" userId="e5774685-19fa-48b9-bec1-68eebf9ac578" providerId="ADAL" clId="{CDBA04F6-D5A6-4F8F-A920-1860374E7F12}" dt="2026-10-21T01:07:59.926" v="8"/>
        <pc:sldMkLst>
          <pc:docMk/>
          <pc:sldMk cId="0" sldId="280"/>
        </pc:sldMkLst>
      </pc:sldChg>
      <pc:sldChg chg="add">
        <pc:chgData name="大下　誠二" userId="e5774685-19fa-48b9-bec1-68eebf9ac578" providerId="ADAL" clId="{CDBA04F6-D5A6-4F8F-A920-1860374E7F12}" dt="2026-10-21T01:07:59.926" v="8"/>
        <pc:sldMkLst>
          <pc:docMk/>
          <pc:sldMk cId="0" sldId="281"/>
        </pc:sldMkLst>
      </pc:sldChg>
      <pc:sldChg chg="add">
        <pc:chgData name="大下　誠二" userId="e5774685-19fa-48b9-bec1-68eebf9ac578" providerId="ADAL" clId="{CDBA04F6-D5A6-4F8F-A920-1860374E7F12}" dt="2026-10-21T00:52:29.502" v="0"/>
        <pc:sldMkLst>
          <pc:docMk/>
          <pc:sldMk cId="1037970953" sldId="282"/>
        </pc:sldMkLst>
      </pc:sldChg>
      <pc:sldChg chg="add">
        <pc:chgData name="大下　誠二" userId="e5774685-19fa-48b9-bec1-68eebf9ac578" providerId="ADAL" clId="{CDBA04F6-D5A6-4F8F-A920-1860374E7F12}" dt="2026-10-21T01:07:59.926" v="8"/>
        <pc:sldMkLst>
          <pc:docMk/>
          <pc:sldMk cId="0" sldId="283"/>
        </pc:sldMkLst>
      </pc:sldChg>
      <pc:sldChg chg="add">
        <pc:chgData name="大下　誠二" userId="e5774685-19fa-48b9-bec1-68eebf9ac578" providerId="ADAL" clId="{CDBA04F6-D5A6-4F8F-A920-1860374E7F12}" dt="2026-10-21T01:08:48.249" v="12"/>
        <pc:sldMkLst>
          <pc:docMk/>
          <pc:sldMk cId="2791536590" sldId="284"/>
        </pc:sldMkLst>
      </pc:sldChg>
      <pc:sldChg chg="add del">
        <pc:chgData name="大下　誠二" userId="e5774685-19fa-48b9-bec1-68eebf9ac578" providerId="ADAL" clId="{CDBA04F6-D5A6-4F8F-A920-1860374E7F12}" dt="2026-10-21T01:08:29.619" v="11" actId="2696"/>
        <pc:sldMkLst>
          <pc:docMk/>
          <pc:sldMk cId="3506499117" sldId="284"/>
        </pc:sldMkLst>
      </pc:sldChg>
      <pc:sldChg chg="add del">
        <pc:chgData name="大下　誠二" userId="e5774685-19fa-48b9-bec1-68eebf9ac578" providerId="ADAL" clId="{CDBA04F6-D5A6-4F8F-A920-1860374E7F12}" dt="2026-10-21T01:09:01.725" v="13" actId="2696"/>
        <pc:sldMkLst>
          <pc:docMk/>
          <pc:sldMk cId="0" sldId="285"/>
        </pc:sldMkLst>
      </pc:sldChg>
      <pc:sldChg chg="add">
        <pc:chgData name="大下　誠二" userId="e5774685-19fa-48b9-bec1-68eebf9ac578" providerId="ADAL" clId="{CDBA04F6-D5A6-4F8F-A920-1860374E7F12}" dt="2026-10-21T01:07:59.926" v="8"/>
        <pc:sldMkLst>
          <pc:docMk/>
          <pc:sldMk cId="0" sldId="286"/>
        </pc:sldMkLst>
      </pc:sldChg>
      <pc:sldChg chg="add">
        <pc:chgData name="大下　誠二" userId="e5774685-19fa-48b9-bec1-68eebf9ac578" providerId="ADAL" clId="{CDBA04F6-D5A6-4F8F-A920-1860374E7F12}" dt="2026-10-21T01:07:59.926" v="8"/>
        <pc:sldMkLst>
          <pc:docMk/>
          <pc:sldMk cId="0" sldId="287"/>
        </pc:sldMkLst>
      </pc:sldChg>
      <pc:sldChg chg="add">
        <pc:chgData name="大下　誠二" userId="e5774685-19fa-48b9-bec1-68eebf9ac578" providerId="ADAL" clId="{CDBA04F6-D5A6-4F8F-A920-1860374E7F12}" dt="2026-10-21T01:07:59.926" v="8"/>
        <pc:sldMkLst>
          <pc:docMk/>
          <pc:sldMk cId="0" sldId="288"/>
        </pc:sldMkLst>
      </pc:sldChg>
      <pc:sldChg chg="add">
        <pc:chgData name="大下　誠二" userId="e5774685-19fa-48b9-bec1-68eebf9ac578" providerId="ADAL" clId="{CDBA04F6-D5A6-4F8F-A920-1860374E7F12}" dt="2026-10-21T01:07:59.926" v="8"/>
        <pc:sldMkLst>
          <pc:docMk/>
          <pc:sldMk cId="0" sldId="289"/>
        </pc:sldMkLst>
      </pc:sldChg>
      <pc:sldChg chg="add">
        <pc:chgData name="大下　誠二" userId="e5774685-19fa-48b9-bec1-68eebf9ac578" providerId="ADAL" clId="{CDBA04F6-D5A6-4F8F-A920-1860374E7F12}" dt="2026-10-21T01:07:59.926" v="8"/>
        <pc:sldMkLst>
          <pc:docMk/>
          <pc:sldMk cId="0" sldId="290"/>
        </pc:sldMkLst>
      </pc:sldChg>
      <pc:sldChg chg="add">
        <pc:chgData name="大下　誠二" userId="e5774685-19fa-48b9-bec1-68eebf9ac578" providerId="ADAL" clId="{CDBA04F6-D5A6-4F8F-A920-1860374E7F12}" dt="2026-10-21T01:07:59.926" v="8"/>
        <pc:sldMkLst>
          <pc:docMk/>
          <pc:sldMk cId="0" sldId="291"/>
        </pc:sldMkLst>
      </pc:sldChg>
      <pc:sldChg chg="add">
        <pc:chgData name="大下　誠二" userId="e5774685-19fa-48b9-bec1-68eebf9ac578" providerId="ADAL" clId="{CDBA04F6-D5A6-4F8F-A920-1860374E7F12}" dt="2026-10-21T01:07:59.926" v="8"/>
        <pc:sldMkLst>
          <pc:docMk/>
          <pc:sldMk cId="0" sldId="292"/>
        </pc:sldMkLst>
      </pc:sldChg>
      <pc:sldChg chg="add">
        <pc:chgData name="大下　誠二" userId="e5774685-19fa-48b9-bec1-68eebf9ac578" providerId="ADAL" clId="{CDBA04F6-D5A6-4F8F-A920-1860374E7F12}" dt="2026-10-21T01:07:59.926" v="8"/>
        <pc:sldMkLst>
          <pc:docMk/>
          <pc:sldMk cId="0" sldId="293"/>
        </pc:sldMkLst>
      </pc:sldChg>
      <pc:sldChg chg="add">
        <pc:chgData name="大下　誠二" userId="e5774685-19fa-48b9-bec1-68eebf9ac578" providerId="ADAL" clId="{CDBA04F6-D5A6-4F8F-A920-1860374E7F12}" dt="2026-10-21T01:07:59.926" v="8"/>
        <pc:sldMkLst>
          <pc:docMk/>
          <pc:sldMk cId="0" sldId="294"/>
        </pc:sldMkLst>
      </pc:sldChg>
      <pc:sldChg chg="add">
        <pc:chgData name="大下　誠二" userId="e5774685-19fa-48b9-bec1-68eebf9ac578" providerId="ADAL" clId="{CDBA04F6-D5A6-4F8F-A920-1860374E7F12}" dt="2026-10-21T01:07:59.926" v="8"/>
        <pc:sldMkLst>
          <pc:docMk/>
          <pc:sldMk cId="0" sldId="295"/>
        </pc:sldMkLst>
      </pc:sldChg>
      <pc:sldChg chg="add">
        <pc:chgData name="大下　誠二" userId="e5774685-19fa-48b9-bec1-68eebf9ac578" providerId="ADAL" clId="{CDBA04F6-D5A6-4F8F-A920-1860374E7F12}" dt="2026-10-21T01:07:59.926" v="8"/>
        <pc:sldMkLst>
          <pc:docMk/>
          <pc:sldMk cId="0" sldId="296"/>
        </pc:sldMkLst>
      </pc:sldChg>
      <pc:sldChg chg="add">
        <pc:chgData name="大下　誠二" userId="e5774685-19fa-48b9-bec1-68eebf9ac578" providerId="ADAL" clId="{CDBA04F6-D5A6-4F8F-A920-1860374E7F12}" dt="2026-10-21T01:07:59.926" v="8"/>
        <pc:sldMkLst>
          <pc:docMk/>
          <pc:sldMk cId="0" sldId="297"/>
        </pc:sldMkLst>
      </pc:sldChg>
      <pc:sldChg chg="add del">
        <pc:chgData name="大下　誠二" userId="e5774685-19fa-48b9-bec1-68eebf9ac578" providerId="ADAL" clId="{CDBA04F6-D5A6-4F8F-A920-1860374E7F12}" dt="2026-10-21T01:08:23.222" v="10"/>
        <pc:sldMkLst>
          <pc:docMk/>
          <pc:sldMk cId="0" sldId="298"/>
        </pc:sldMkLst>
      </pc:sldChg>
      <pc:sldChg chg="add del">
        <pc:chgData name="大下　誠二" userId="e5774685-19fa-48b9-bec1-68eebf9ac578" providerId="ADAL" clId="{CDBA04F6-D5A6-4F8F-A920-1860374E7F12}" dt="2026-10-21T01:08:23.222" v="10"/>
        <pc:sldMkLst>
          <pc:docMk/>
          <pc:sldMk cId="0" sldId="299"/>
        </pc:sldMkLst>
      </pc:sldChg>
      <pc:sldChg chg="add del">
        <pc:chgData name="大下　誠二" userId="e5774685-19fa-48b9-bec1-68eebf9ac578" providerId="ADAL" clId="{CDBA04F6-D5A6-4F8F-A920-1860374E7F12}" dt="2026-10-21T01:08:23.222" v="10"/>
        <pc:sldMkLst>
          <pc:docMk/>
          <pc:sldMk cId="0" sldId="300"/>
        </pc:sldMkLst>
      </pc:sldChg>
      <pc:sldChg chg="add del">
        <pc:chgData name="大下　誠二" userId="e5774685-19fa-48b9-bec1-68eebf9ac578" providerId="ADAL" clId="{CDBA04F6-D5A6-4F8F-A920-1860374E7F12}" dt="2026-10-21T01:08:23.222" v="10"/>
        <pc:sldMkLst>
          <pc:docMk/>
          <pc:sldMk cId="0" sldId="301"/>
        </pc:sldMkLst>
      </pc:sldChg>
      <pc:sldChg chg="add del">
        <pc:chgData name="大下　誠二" userId="e5774685-19fa-48b9-bec1-68eebf9ac578" providerId="ADAL" clId="{CDBA04F6-D5A6-4F8F-A920-1860374E7F12}" dt="2026-10-21T01:08:23.222" v="10"/>
        <pc:sldMkLst>
          <pc:docMk/>
          <pc:sldMk cId="0" sldId="302"/>
        </pc:sldMkLst>
      </pc:sldChg>
      <pc:sldChg chg="add del">
        <pc:chgData name="大下　誠二" userId="e5774685-19fa-48b9-bec1-68eebf9ac578" providerId="ADAL" clId="{CDBA04F6-D5A6-4F8F-A920-1860374E7F12}" dt="2026-10-21T01:08:23.222" v="10"/>
        <pc:sldMkLst>
          <pc:docMk/>
          <pc:sldMk cId="0" sldId="303"/>
        </pc:sldMkLst>
      </pc:sldChg>
      <pc:sldChg chg="add del">
        <pc:chgData name="大下　誠二" userId="e5774685-19fa-48b9-bec1-68eebf9ac578" providerId="ADAL" clId="{CDBA04F6-D5A6-4F8F-A920-1860374E7F12}" dt="2026-10-21T01:08:23.222" v="10"/>
        <pc:sldMkLst>
          <pc:docMk/>
          <pc:sldMk cId="0" sldId="304"/>
        </pc:sldMkLst>
      </pc:sldChg>
      <pc:sldChg chg="add del">
        <pc:chgData name="大下　誠二" userId="e5774685-19fa-48b9-bec1-68eebf9ac578" providerId="ADAL" clId="{CDBA04F6-D5A6-4F8F-A920-1860374E7F12}" dt="2026-10-21T01:08:23.222" v="10"/>
        <pc:sldMkLst>
          <pc:docMk/>
          <pc:sldMk cId="0" sldId="305"/>
        </pc:sldMkLst>
      </pc:sldChg>
      <pc:sldChg chg="add del">
        <pc:chgData name="大下　誠二" userId="e5774685-19fa-48b9-bec1-68eebf9ac578" providerId="ADAL" clId="{CDBA04F6-D5A6-4F8F-A920-1860374E7F12}" dt="2026-10-21T01:08:23.222" v="10"/>
        <pc:sldMkLst>
          <pc:docMk/>
          <pc:sldMk cId="0" sldId="306"/>
        </pc:sldMkLst>
      </pc:sldChg>
      <pc:sldChg chg="add del">
        <pc:chgData name="大下　誠二" userId="e5774685-19fa-48b9-bec1-68eebf9ac578" providerId="ADAL" clId="{CDBA04F6-D5A6-4F8F-A920-1860374E7F12}" dt="2026-10-21T01:08:23.222" v="10"/>
        <pc:sldMkLst>
          <pc:docMk/>
          <pc:sldMk cId="0" sldId="307"/>
        </pc:sldMkLst>
      </pc:sldChg>
      <pc:sldChg chg="add del">
        <pc:chgData name="大下　誠二" userId="e5774685-19fa-48b9-bec1-68eebf9ac578" providerId="ADAL" clId="{CDBA04F6-D5A6-4F8F-A920-1860374E7F12}" dt="2026-10-21T01:08:23.222" v="10"/>
        <pc:sldMkLst>
          <pc:docMk/>
          <pc:sldMk cId="0" sldId="308"/>
        </pc:sldMkLst>
      </pc:sldChg>
      <pc:sldChg chg="add del">
        <pc:chgData name="大下　誠二" userId="e5774685-19fa-48b9-bec1-68eebf9ac578" providerId="ADAL" clId="{CDBA04F6-D5A6-4F8F-A920-1860374E7F12}" dt="2026-10-21T01:08:23.222" v="10"/>
        <pc:sldMkLst>
          <pc:docMk/>
          <pc:sldMk cId="0" sldId="309"/>
        </pc:sldMkLst>
      </pc:sldChg>
      <pc:sldChg chg="add del">
        <pc:chgData name="大下　誠二" userId="e5774685-19fa-48b9-bec1-68eebf9ac578" providerId="ADAL" clId="{CDBA04F6-D5A6-4F8F-A920-1860374E7F12}" dt="2026-10-21T01:08:23.222" v="10"/>
        <pc:sldMkLst>
          <pc:docMk/>
          <pc:sldMk cId="0" sldId="310"/>
        </pc:sldMkLst>
      </pc:sldChg>
      <pc:sldChg chg="add del">
        <pc:chgData name="大下　誠二" userId="e5774685-19fa-48b9-bec1-68eebf9ac578" providerId="ADAL" clId="{CDBA04F6-D5A6-4F8F-A920-1860374E7F12}" dt="2026-10-21T01:08:23.222" v="10"/>
        <pc:sldMkLst>
          <pc:docMk/>
          <pc:sldMk cId="0" sldId="311"/>
        </pc:sldMkLst>
      </pc:sldChg>
      <pc:sldChg chg="add del">
        <pc:chgData name="大下　誠二" userId="e5774685-19fa-48b9-bec1-68eebf9ac578" providerId="ADAL" clId="{CDBA04F6-D5A6-4F8F-A920-1860374E7F12}" dt="2026-10-21T01:08:23.222" v="10"/>
        <pc:sldMkLst>
          <pc:docMk/>
          <pc:sldMk cId="0" sldId="312"/>
        </pc:sldMkLst>
      </pc:sldChg>
      <pc:sldChg chg="add del">
        <pc:chgData name="大下　誠二" userId="e5774685-19fa-48b9-bec1-68eebf9ac578" providerId="ADAL" clId="{CDBA04F6-D5A6-4F8F-A920-1860374E7F12}" dt="2026-10-21T01:08:23.222" v="10"/>
        <pc:sldMkLst>
          <pc:docMk/>
          <pc:sldMk cId="0" sldId="313"/>
        </pc:sldMkLst>
      </pc:sldChg>
      <pc:sldChg chg="add del">
        <pc:chgData name="大下　誠二" userId="e5774685-19fa-48b9-bec1-68eebf9ac578" providerId="ADAL" clId="{CDBA04F6-D5A6-4F8F-A920-1860374E7F12}" dt="2026-10-21T01:08:23.222" v="10"/>
        <pc:sldMkLst>
          <pc:docMk/>
          <pc:sldMk cId="0" sldId="314"/>
        </pc:sldMkLst>
      </pc:sldChg>
      <pc:sldChg chg="add del">
        <pc:chgData name="大下　誠二" userId="e5774685-19fa-48b9-bec1-68eebf9ac578" providerId="ADAL" clId="{CDBA04F6-D5A6-4F8F-A920-1860374E7F12}" dt="2026-10-21T01:08:23.222" v="10"/>
        <pc:sldMkLst>
          <pc:docMk/>
          <pc:sldMk cId="0" sldId="315"/>
        </pc:sldMkLst>
      </pc:sldChg>
      <pc:sldChg chg="add del">
        <pc:chgData name="大下　誠二" userId="e5774685-19fa-48b9-bec1-68eebf9ac578" providerId="ADAL" clId="{CDBA04F6-D5A6-4F8F-A920-1860374E7F12}" dt="2026-10-21T01:08:23.222" v="10"/>
        <pc:sldMkLst>
          <pc:docMk/>
          <pc:sldMk cId="0" sldId="316"/>
        </pc:sldMkLst>
      </pc:sldChg>
      <pc:sldChg chg="add del">
        <pc:chgData name="大下　誠二" userId="e5774685-19fa-48b9-bec1-68eebf9ac578" providerId="ADAL" clId="{CDBA04F6-D5A6-4F8F-A920-1860374E7F12}" dt="2026-10-21T01:08:23.222" v="10"/>
        <pc:sldMkLst>
          <pc:docMk/>
          <pc:sldMk cId="0" sldId="317"/>
        </pc:sldMkLst>
      </pc:sldChg>
      <pc:sldChg chg="add del">
        <pc:chgData name="大下　誠二" userId="e5774685-19fa-48b9-bec1-68eebf9ac578" providerId="ADAL" clId="{CDBA04F6-D5A6-4F8F-A920-1860374E7F12}" dt="2026-10-21T01:08:23.222" v="10"/>
        <pc:sldMkLst>
          <pc:docMk/>
          <pc:sldMk cId="0" sldId="318"/>
        </pc:sldMkLst>
      </pc:sldChg>
      <pc:sldChg chg="add del">
        <pc:chgData name="大下　誠二" userId="e5774685-19fa-48b9-bec1-68eebf9ac578" providerId="ADAL" clId="{CDBA04F6-D5A6-4F8F-A920-1860374E7F12}" dt="2026-10-21T01:08:23.222" v="10"/>
        <pc:sldMkLst>
          <pc:docMk/>
          <pc:sldMk cId="0" sldId="319"/>
        </pc:sldMkLst>
      </pc:sldChg>
      <pc:sldChg chg="add del">
        <pc:chgData name="大下　誠二" userId="e5774685-19fa-48b9-bec1-68eebf9ac578" providerId="ADAL" clId="{CDBA04F6-D5A6-4F8F-A920-1860374E7F12}" dt="2026-10-21T01:08:23.222" v="10"/>
        <pc:sldMkLst>
          <pc:docMk/>
          <pc:sldMk cId="0" sldId="320"/>
        </pc:sldMkLst>
      </pc:sldChg>
      <pc:sldChg chg="add del">
        <pc:chgData name="大下　誠二" userId="e5774685-19fa-48b9-bec1-68eebf9ac578" providerId="ADAL" clId="{CDBA04F6-D5A6-4F8F-A920-1860374E7F12}" dt="2026-10-21T01:08:23.222" v="10"/>
        <pc:sldMkLst>
          <pc:docMk/>
          <pc:sldMk cId="0" sldId="321"/>
        </pc:sldMkLst>
      </pc:sldChg>
      <pc:sldChg chg="add del">
        <pc:chgData name="大下　誠二" userId="e5774685-19fa-48b9-bec1-68eebf9ac578" providerId="ADAL" clId="{CDBA04F6-D5A6-4F8F-A920-1860374E7F12}" dt="2026-10-21T01:08:23.222" v="10"/>
        <pc:sldMkLst>
          <pc:docMk/>
          <pc:sldMk cId="0" sldId="322"/>
        </pc:sldMkLst>
      </pc:sldChg>
      <pc:sldChg chg="add del">
        <pc:chgData name="大下　誠二" userId="e5774685-19fa-48b9-bec1-68eebf9ac578" providerId="ADAL" clId="{CDBA04F6-D5A6-4F8F-A920-1860374E7F12}" dt="2026-10-21T01:08:23.222" v="10"/>
        <pc:sldMkLst>
          <pc:docMk/>
          <pc:sldMk cId="0" sldId="323"/>
        </pc:sldMkLst>
      </pc:sldChg>
      <pc:sldChg chg="add del">
        <pc:chgData name="大下　誠二" userId="e5774685-19fa-48b9-bec1-68eebf9ac578" providerId="ADAL" clId="{CDBA04F6-D5A6-4F8F-A920-1860374E7F12}" dt="2026-10-21T01:08:23.222" v="10"/>
        <pc:sldMkLst>
          <pc:docMk/>
          <pc:sldMk cId="0" sldId="324"/>
        </pc:sldMkLst>
      </pc:sldChg>
      <pc:sldChg chg="add del">
        <pc:chgData name="大下　誠二" userId="e5774685-19fa-48b9-bec1-68eebf9ac578" providerId="ADAL" clId="{CDBA04F6-D5A6-4F8F-A920-1860374E7F12}" dt="2026-10-21T01:08:23.222" v="10"/>
        <pc:sldMkLst>
          <pc:docMk/>
          <pc:sldMk cId="0" sldId="325"/>
        </pc:sldMkLst>
      </pc:sldChg>
      <pc:sldMasterChg chg="addSp mod">
        <pc:chgData name="大下　誠二" userId="e5774685-19fa-48b9-bec1-68eebf9ac578" providerId="ADAL" clId="{CDBA04F6-D5A6-4F8F-A920-1860374E7F12}" dt="2026-10-21T00:52:40.222" v="4" actId="33475"/>
        <pc:sldMasterMkLst>
          <pc:docMk/>
          <pc:sldMasterMk cId="2209977519" sldId="2147483648"/>
        </pc:sldMasterMkLst>
        <pc:spChg chg="add">
          <ac:chgData name="大下　誠二" userId="e5774685-19fa-48b9-bec1-68eebf9ac578" providerId="ADAL" clId="{CDBA04F6-D5A6-4F8F-A920-1860374E7F12}" dt="2026-10-21T00:52:40.222" v="4" actId="33475"/>
          <ac:spMkLst>
            <pc:docMk/>
            <pc:sldMasterMk cId="2209977519" sldId="2147483648"/>
            <ac:spMk id="8" creationId="{D120477C-DD26-14FE-2AFF-180D84EF738A}"/>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D120477C-DD26-14FE-2AFF-180D84EF738A}"/>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394691" y="4655272"/>
            <a:ext cx="9467273" cy="1655762"/>
          </a:xfrm>
        </p:spPr>
        <p:txBody>
          <a:bodyPr>
            <a:normAutofit fontScale="70000" lnSpcReduction="20000"/>
          </a:bodyPr>
          <a:lstStyle/>
          <a:p>
            <a:r>
              <a:rPr lang="en-US" altLang="ja-JP" dirty="0">
                <a:latin typeface="BIZ UDゴシック" panose="020B0400000000000000" pitchFamily="49" charset="-128"/>
                <a:ea typeface="BIZ UDゴシック" panose="020B0400000000000000" pitchFamily="49" charset="-128"/>
              </a:rPr>
              <a:t>Chapter 4</a:t>
            </a:r>
          </a:p>
          <a:p>
            <a:r>
              <a:rPr lang="ja-JP" altLang="en-US" dirty="0">
                <a:latin typeface="BIZ UDゴシック" panose="020B0400000000000000" pitchFamily="49" charset="-128"/>
                <a:ea typeface="BIZ UDゴシック" panose="020B0400000000000000" pitchFamily="49" charset="-128"/>
              </a:rPr>
              <a:t>汎用モデルフィッティングエンジンおよび「平均のモデル」の紹介</a:t>
            </a:r>
            <a:endParaRPr lang="en-US" altLang="ja-JP" dirty="0">
              <a:latin typeface="BIZ UDゴシック" panose="020B0400000000000000" pitchFamily="49" charset="-128"/>
              <a:ea typeface="BIZ UDゴシック" panose="020B0400000000000000" pitchFamily="49" charset="-128"/>
            </a:endParaRPr>
          </a:p>
          <a:p>
            <a:r>
              <a:rPr lang="en-US" altLang="ja-JP" dirty="0">
                <a:latin typeface="BIZ UDゴシック" panose="020B0400000000000000" pitchFamily="49" charset="-128"/>
                <a:ea typeface="BIZ UDゴシック" panose="020B0400000000000000" pitchFamily="49" charset="-128"/>
              </a:rPr>
              <a:t>Introduction to general-purpose model fitting engines and the “model of the mean”</a:t>
            </a:r>
            <a:r>
              <a:rPr lang="ja-JP" altLang="en-US" dirty="0">
                <a:latin typeface="BIZ UDゴシック" panose="020B0400000000000000" pitchFamily="49" charset="-128"/>
                <a:ea typeface="BIZ UDゴシック" panose="020B0400000000000000" pitchFamily="49" charset="-128"/>
              </a:rPr>
              <a:t>）</a:t>
            </a:r>
            <a:endParaRPr lang="en-US" altLang="ja-JP" dirty="0">
              <a:latin typeface="BIZ UDゴシック" panose="020B0400000000000000" pitchFamily="49" charset="-128"/>
              <a:ea typeface="BIZ UDゴシック" panose="020B0400000000000000" pitchFamily="49" charset="-128"/>
            </a:endParaRPr>
          </a:p>
          <a:p>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AE2338D-0547-1230-46EA-747C490ED610}"/>
              </a:ext>
            </a:extLst>
          </p:cNvPr>
          <p:cNvSpPr>
            <a:spLocks noGrp="1"/>
          </p:cNvSpPr>
          <p:nvPr>
            <p:ph idx="1"/>
          </p:nvPr>
        </p:nvSpPr>
        <p:spPr>
          <a:xfrm>
            <a:off x="7428240" y="877454"/>
            <a:ext cx="4699105" cy="4341091"/>
          </a:xfrm>
        </p:spPr>
        <p:txBody>
          <a:bodyPr>
            <a:normAutofit fontScale="92500" lnSpcReduction="10000"/>
          </a:bodyPr>
          <a:lstStyle/>
          <a:p>
            <a:pPr marL="0" indent="0">
              <a:buNone/>
            </a:pPr>
            <a:r>
              <a:rPr kumimoji="1" lang="en-US" altLang="ja-JP" sz="2000" dirty="0">
                <a:solidFill>
                  <a:srgbClr val="FF0000"/>
                </a:solidFill>
                <a:latin typeface="BIZ UDPゴシック" panose="020B0400000000000000" pitchFamily="50" charset="-128"/>
                <a:ea typeface="BIZ UDPゴシック" panose="020B0400000000000000" pitchFamily="50" charset="-128"/>
              </a:rPr>
              <a:t>4</a:t>
            </a:r>
            <a:r>
              <a:rPr kumimoji="1" lang="ja-JP" altLang="en-US" sz="2000" dirty="0">
                <a:solidFill>
                  <a:srgbClr val="FF0000"/>
                </a:solidFill>
                <a:latin typeface="BIZ UDPゴシック" panose="020B0400000000000000" pitchFamily="50" charset="-128"/>
                <a:ea typeface="BIZ UDPゴシック" panose="020B0400000000000000" pitchFamily="50" charset="-128"/>
              </a:rPr>
              <a:t>章から様々なモデリングが出てきます。</a:t>
            </a:r>
            <a:endParaRPr kumimoji="1" lang="en-US" altLang="ja-JP" sz="2000" dirty="0">
              <a:solidFill>
                <a:srgbClr val="FF0000"/>
              </a:solidFill>
              <a:latin typeface="BIZ UDPゴシック" panose="020B0400000000000000" pitchFamily="50" charset="-128"/>
              <a:ea typeface="BIZ UDPゴシック" panose="020B0400000000000000" pitchFamily="50" charset="-128"/>
            </a:endParaRPr>
          </a:p>
          <a:p>
            <a:pPr marL="0" indent="0">
              <a:buNone/>
            </a:pPr>
            <a:endParaRPr lang="en-US" altLang="ja-JP" sz="2000" dirty="0">
              <a:solidFill>
                <a:srgbClr val="FF0000"/>
              </a:solidFill>
              <a:latin typeface="BIZ UDPゴシック" panose="020B0400000000000000" pitchFamily="50" charset="-128"/>
              <a:ea typeface="BIZ UDPゴシック" panose="020B0400000000000000" pitchFamily="50" charset="-128"/>
            </a:endParaRPr>
          </a:p>
          <a:p>
            <a:pPr marL="0" indent="0">
              <a:buNone/>
            </a:pPr>
            <a:r>
              <a:rPr kumimoji="1" lang="en-US" altLang="ja-JP" sz="2000" dirty="0">
                <a:latin typeface="BIZ UDPゴシック" panose="020B0400000000000000" pitchFamily="50" charset="-128"/>
                <a:ea typeface="BIZ UDPゴシック" panose="020B0400000000000000" pitchFamily="50" charset="-128"/>
              </a:rPr>
              <a:t>R</a:t>
            </a:r>
            <a:r>
              <a:rPr kumimoji="1" lang="ja-JP" altLang="en-US" sz="2000" dirty="0">
                <a:latin typeface="BIZ UDPゴシック" panose="020B0400000000000000" pitchFamily="50" charset="-128"/>
                <a:ea typeface="BIZ UDPゴシック" panose="020B0400000000000000" pitchFamily="50" charset="-128"/>
              </a:rPr>
              <a:t>コードをみて、幾つかのパッケージをインストールしたのちに、計算を実行してみましょう。</a:t>
            </a:r>
            <a:endParaRPr kumimoji="1" lang="en-US" altLang="ja-JP" sz="2000" dirty="0">
              <a:latin typeface="BIZ UDPゴシック" panose="020B0400000000000000" pitchFamily="50" charset="-128"/>
              <a:ea typeface="BIZ UDPゴシック" panose="020B0400000000000000" pitchFamily="50" charset="-128"/>
            </a:endParaRPr>
          </a:p>
          <a:p>
            <a:pPr marL="0" indent="0">
              <a:buNone/>
            </a:pPr>
            <a:endParaRPr lang="en-US" altLang="ja-JP" sz="2000" dirty="0">
              <a:latin typeface="BIZ UDPゴシック" panose="020B0400000000000000" pitchFamily="50" charset="-128"/>
              <a:ea typeface="BIZ UDPゴシック" panose="020B0400000000000000" pitchFamily="50" charset="-128"/>
            </a:endParaRPr>
          </a:p>
          <a:p>
            <a:pPr marL="0" indent="0">
              <a:buNone/>
            </a:pPr>
            <a:r>
              <a:rPr kumimoji="1" lang="en-US" altLang="ja-JP" sz="2000" dirty="0">
                <a:latin typeface="BIZ UDPゴシック" panose="020B0400000000000000" pitchFamily="50" charset="-128"/>
                <a:ea typeface="BIZ UDPゴシック" panose="020B0400000000000000" pitchFamily="50" charset="-128"/>
              </a:rPr>
              <a:t>1</a:t>
            </a:r>
            <a:r>
              <a:rPr kumimoji="1" lang="ja-JP" altLang="en-US" sz="2000" dirty="0">
                <a:latin typeface="BIZ UDPゴシック" panose="020B0400000000000000" pitchFamily="50" charset="-128"/>
                <a:ea typeface="BIZ UDPゴシック" panose="020B0400000000000000" pitchFamily="50" charset="-128"/>
              </a:rPr>
              <a:t>　データ生成</a:t>
            </a:r>
            <a:endParaRPr kumimoji="1" lang="en-US" altLang="ja-JP" sz="2000" dirty="0">
              <a:latin typeface="BIZ UDPゴシック" panose="020B0400000000000000" pitchFamily="50" charset="-128"/>
              <a:ea typeface="BIZ UDPゴシック" panose="020B0400000000000000" pitchFamily="50" charset="-128"/>
            </a:endParaRPr>
          </a:p>
          <a:p>
            <a:pPr marL="0" indent="0">
              <a:buNone/>
            </a:pPr>
            <a:r>
              <a:rPr lang="en-US" altLang="ja-JP" sz="2000" dirty="0">
                <a:latin typeface="BIZ UDPゴシック" panose="020B0400000000000000" pitchFamily="50" charset="-128"/>
                <a:ea typeface="BIZ UDPゴシック" panose="020B0400000000000000" pitchFamily="50" charset="-128"/>
              </a:rPr>
              <a:t>2</a:t>
            </a:r>
            <a:r>
              <a:rPr lang="ja-JP" altLang="en-US" sz="2000" dirty="0">
                <a:latin typeface="BIZ UDPゴシック" panose="020B0400000000000000" pitchFamily="50" charset="-128"/>
                <a:ea typeface="BIZ UDPゴシック" panose="020B0400000000000000" pitchFamily="50" charset="-128"/>
              </a:rPr>
              <a:t>　ベイズ推定</a:t>
            </a:r>
            <a:endParaRPr lang="en-US" altLang="ja-JP" sz="2000" dirty="0">
              <a:latin typeface="BIZ UDPゴシック" panose="020B0400000000000000" pitchFamily="50" charset="-128"/>
              <a:ea typeface="BIZ UDPゴシック" panose="020B0400000000000000" pitchFamily="50" charset="-128"/>
            </a:endParaRPr>
          </a:p>
          <a:p>
            <a:pPr marL="0" indent="0">
              <a:buNone/>
            </a:pPr>
            <a:r>
              <a:rPr kumimoji="1" lang="en-US" altLang="ja-JP" sz="2000" dirty="0">
                <a:latin typeface="BIZ UDPゴシック" panose="020B0400000000000000" pitchFamily="50" charset="-128"/>
                <a:ea typeface="BIZ UDPゴシック" panose="020B0400000000000000" pitchFamily="50" charset="-128"/>
              </a:rPr>
              <a:t>3</a:t>
            </a:r>
            <a:r>
              <a:rPr kumimoji="1" lang="ja-JP" altLang="en-US" sz="2000" dirty="0">
                <a:latin typeface="BIZ UDPゴシック" panose="020B0400000000000000" pitchFamily="50" charset="-128"/>
                <a:ea typeface="BIZ UDPゴシック" panose="020B0400000000000000" pitchFamily="50" charset="-128"/>
              </a:rPr>
              <a:t>　最尤推定（</a:t>
            </a:r>
            <a:r>
              <a:rPr kumimoji="1" lang="en-US" altLang="ja-JP" sz="2000" dirty="0">
                <a:latin typeface="BIZ UDPゴシック" panose="020B0400000000000000" pitchFamily="50" charset="-128"/>
                <a:ea typeface="BIZ UDPゴシック" panose="020B0400000000000000" pitchFamily="50" charset="-128"/>
              </a:rPr>
              <a:t>TMB</a:t>
            </a:r>
            <a:r>
              <a:rPr kumimoji="1" lang="ja-JP" altLang="en-US" sz="2000" dirty="0">
                <a:latin typeface="BIZ UDPゴシック" panose="020B0400000000000000" pitchFamily="50" charset="-128"/>
                <a:ea typeface="BIZ UDPゴシック" panose="020B0400000000000000" pitchFamily="50" charset="-128"/>
              </a:rPr>
              <a:t>含む）</a:t>
            </a:r>
            <a:endParaRPr kumimoji="1" lang="en-US" altLang="ja-JP" sz="2000" dirty="0">
              <a:latin typeface="BIZ UDPゴシック" panose="020B0400000000000000" pitchFamily="50" charset="-128"/>
              <a:ea typeface="BIZ UDPゴシック" panose="020B0400000000000000" pitchFamily="50" charset="-128"/>
            </a:endParaRPr>
          </a:p>
          <a:p>
            <a:pPr marL="0" indent="0">
              <a:buNone/>
            </a:pPr>
            <a:r>
              <a:rPr kumimoji="1" lang="ja-JP" altLang="en-US" sz="2000" dirty="0">
                <a:latin typeface="BIZ UDPゴシック" panose="020B0400000000000000" pitchFamily="50" charset="-128"/>
                <a:ea typeface="BIZ UDPゴシック" panose="020B0400000000000000" pitchFamily="50" charset="-128"/>
              </a:rPr>
              <a:t>の流れとなってます。</a:t>
            </a:r>
            <a:endParaRPr kumimoji="1" lang="en-US" altLang="ja-JP" sz="2000" dirty="0">
              <a:latin typeface="BIZ UDPゴシック" panose="020B0400000000000000" pitchFamily="50" charset="-128"/>
              <a:ea typeface="BIZ UDPゴシック" panose="020B0400000000000000" pitchFamily="50" charset="-128"/>
            </a:endParaRPr>
          </a:p>
          <a:p>
            <a:pPr marL="0" indent="0">
              <a:buNone/>
            </a:pPr>
            <a:endParaRPr lang="en-US" altLang="ja-JP" sz="2000" dirty="0">
              <a:latin typeface="BIZ UDPゴシック" panose="020B0400000000000000" pitchFamily="50" charset="-128"/>
              <a:ea typeface="BIZ UDPゴシック" panose="020B0400000000000000" pitchFamily="50" charset="-128"/>
            </a:endParaRPr>
          </a:p>
          <a:p>
            <a:pPr marL="0" indent="0">
              <a:buNone/>
            </a:pPr>
            <a:r>
              <a:rPr kumimoji="1" lang="en-US" altLang="ja-JP" sz="2000" dirty="0">
                <a:latin typeface="BIZ UDPゴシック" panose="020B0400000000000000" pitchFamily="50" charset="-128"/>
                <a:ea typeface="BIZ UDPゴシック" panose="020B0400000000000000" pitchFamily="50" charset="-128"/>
              </a:rPr>
              <a:t>2026/10/16</a:t>
            </a:r>
            <a:r>
              <a:rPr kumimoji="1" lang="ja-JP" altLang="en-US" sz="2000" dirty="0">
                <a:latin typeface="BIZ UDPゴシック" panose="020B0400000000000000" pitchFamily="50" charset="-128"/>
                <a:ea typeface="BIZ UDPゴシック" panose="020B0400000000000000" pitchFamily="50" charset="-128"/>
              </a:rPr>
              <a:t>　全て動作したことを確認してます。</a:t>
            </a:r>
          </a:p>
        </p:txBody>
      </p:sp>
      <p:pic>
        <p:nvPicPr>
          <p:cNvPr id="5" name="図 4">
            <a:extLst>
              <a:ext uri="{FF2B5EF4-FFF2-40B4-BE49-F238E27FC236}">
                <a16:creationId xmlns:a16="http://schemas.microsoft.com/office/drawing/2014/main" id="{8E30844B-6BE4-4F4B-F8E5-FE807A451548}"/>
              </a:ext>
            </a:extLst>
          </p:cNvPr>
          <p:cNvPicPr>
            <a:picLocks noChangeAspect="1"/>
          </p:cNvPicPr>
          <p:nvPr/>
        </p:nvPicPr>
        <p:blipFill>
          <a:blip r:embed="rId2"/>
          <a:stretch>
            <a:fillRect/>
          </a:stretch>
        </p:blipFill>
        <p:spPr>
          <a:xfrm>
            <a:off x="-76094" y="0"/>
            <a:ext cx="7504334" cy="6858000"/>
          </a:xfrm>
          <a:prstGeom prst="rect">
            <a:avLst/>
          </a:prstGeom>
        </p:spPr>
      </p:pic>
    </p:spTree>
    <p:extLst>
      <p:ext uri="{BB962C8B-B14F-4D97-AF65-F5344CB8AC3E}">
        <p14:creationId xmlns:p14="http://schemas.microsoft.com/office/powerpoint/2010/main" val="1037970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Rの既製関数は幅広い統計解析を容易にするが、研究上必要なすべてのモデルを網羅することはできない。一般目的の推定エンジンでは、確率分布、パラメータ、事前分布または尤度を明示してモデルを構築する。</a:t>
            </a:r>
          </a:p>
          <a:p>
            <a:pPr>
              <a:lnSpc>
                <a:spcPct val="118000"/>
              </a:lnSpc>
              <a:spcAft>
                <a:spcPts val="1200"/>
              </a:spcAft>
            </a:pPr>
            <a:r>
              <a:rPr sz="1540">
                <a:solidFill>
                  <a:srgbClr val="222A35"/>
                </a:solidFill>
                <a:latin typeface="Yu Gothic"/>
              </a:rPr>
              <a:t>• この章ではRの既製関数に加えて、JAGS、NIMBLE、Stan、Rでの自作最尤推定（DIY-MLE）、TMBを比較する。前者3つは主としてベイズ推論、後者2つは最尤推定に用いる。</a:t>
            </a:r>
          </a:p>
          <a:p>
            <a:pPr>
              <a:lnSpc>
                <a:spcPct val="118000"/>
              </a:lnSpc>
              <a:spcAft>
                <a:spcPts val="1200"/>
              </a:spcAft>
            </a:pPr>
            <a:r>
              <a:rPr sz="1540">
                <a:solidFill>
                  <a:srgbClr val="222A35"/>
                </a:solidFill>
                <a:latin typeface="Yu Gothic"/>
              </a:rPr>
              <a:t>• すべてに共通の題材として、正規分布の平均と標準偏差のみを推定する「平均モデル」を使う。モデルとデータが同じで、ベイズ側に曖昧な事前分布を置く場合には、エンジン間で概ね近い数値解が期待される。</a:t>
            </a:r>
          </a:p>
          <a:p>
            <a:pPr>
              <a:lnSpc>
                <a:spcPct val="118000"/>
              </a:lnSpc>
              <a:spcAft>
                <a:spcPts val="1200"/>
              </a:spcAft>
            </a:pPr>
            <a:r>
              <a:rPr sz="1540">
                <a:solidFill>
                  <a:srgbClr val="222A35"/>
                </a:solidFill>
                <a:latin typeface="Yu Gothic"/>
              </a:rPr>
              <a:t>• 同一の平均モデルを複数の計算エンジンで推定するのは、別の研究仮説を比較するためではなく、モデルの確率的記述と計算方法を切り分けて理解するためである。特に正規応答の平均モデルは、各エンジンを初めて使う例として最も単純である。</a:t>
            </a:r>
          </a:p>
          <a:p>
            <a:pPr>
              <a:lnSpc>
                <a:spcPct val="118000"/>
              </a:lnSpc>
              <a:spcAft>
                <a:spcPts val="1200"/>
              </a:spcAft>
            </a:pPr>
            <a:r>
              <a:rPr sz="1540">
                <a:solidFill>
                  <a:srgbClr val="222A35"/>
                </a:solidFill>
                <a:latin typeface="Yu Gothic"/>
              </a:rPr>
              <a:t>• 最尤推定では尤度の最大化、ベイズ推定では事前分布と尤度を組み合わせた事後分布の推定を行う。出力が一致するかだけでなく、不確実性の定義や各エンジンへのモデル入力の仕方も比較する。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01 / 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ハヤブサ雄の体重を例とし、yᵢ ~ Normal(μ, σ²) に従う独立同分布の観測を考える。想定する平均体重は600 g、標準偏差は30 gである。</a:t>
            </a:r>
          </a:p>
          <a:p>
            <a:pPr>
              <a:lnSpc>
                <a:spcPct val="118000"/>
              </a:lnSpc>
              <a:spcAft>
                <a:spcPts val="1200"/>
              </a:spcAft>
            </a:pPr>
            <a:r>
              <a:rPr sz="1540">
                <a:solidFill>
                  <a:srgbClr val="222A35"/>
                </a:solidFill>
                <a:latin typeface="Yu Gothic"/>
              </a:rPr>
              <a:t>• 標本数10と1000の二種類のデータを同じ生成モデルから作る。小標本は偶然により分布形状も推定値も大きく揺れる一方、大標本のヒストグラムは生成時の正規分布に近づく。</a:t>
            </a:r>
          </a:p>
          <a:p>
            <a:pPr>
              <a:lnSpc>
                <a:spcPct val="118000"/>
              </a:lnSpc>
              <a:spcAft>
                <a:spcPts val="1200"/>
              </a:spcAft>
            </a:pPr>
            <a:r>
              <a:rPr sz="1540">
                <a:solidFill>
                  <a:srgbClr val="222A35"/>
                </a:solidFill>
                <a:latin typeface="Yu Gothic"/>
              </a:rPr>
              <a:t>• 乱数の種を固定すれば結果を再現できるが、種を変えて繰り返し生成することで標本誤差を直観的に確かめられる。データ生成手順そのものが統計モデルの具体的な定義でもある。</a:t>
            </a:r>
          </a:p>
          <a:p>
            <a:pPr>
              <a:lnSpc>
                <a:spcPct val="118000"/>
              </a:lnSpc>
              <a:spcAft>
                <a:spcPts val="1200"/>
              </a:spcAft>
            </a:pPr>
            <a:r>
              <a:rPr sz="1540">
                <a:solidFill>
                  <a:srgbClr val="222A35"/>
                </a:solidFill>
                <a:latin typeface="Yu Gothic"/>
              </a:rPr>
              <a:t>• 標本サイズを変えても生成時の真のμとσは共通である。異なるヒストグラムや標本平均は、モデルが違うためではなく、同じ確率分布からの有限回の抽出によって生じる。</a:t>
            </a:r>
          </a:p>
          <a:p>
            <a:pPr>
              <a:lnSpc>
                <a:spcPct val="118000"/>
              </a:lnSpc>
              <a:spcAft>
                <a:spcPts val="1200"/>
              </a:spcAft>
            </a:pPr>
            <a:r>
              <a:rPr sz="1540">
                <a:solidFill>
                  <a:srgbClr val="222A35"/>
                </a:solidFill>
                <a:latin typeface="Yu Gothic"/>
              </a:rPr>
              <a:t>• 確率モデルから実際にデータを生成できることは重要である。シミュレーションでは真値を保存できるので、推定値とのずれが標本変動によるものか、推定プログラムの指定に問題があるかを検討する起点と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02 / 09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4.3  Analysis with canned R functions｜Rの既製関数による分析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平均モデルは、説明変数を含まず切片だけを持つ正規線形モデルとして表せる。原著では lm() を使って平均と残差標準偏差を推定する。</a:t>
            </a:r>
          </a:p>
          <a:p>
            <a:pPr>
              <a:lnSpc>
                <a:spcPct val="118000"/>
              </a:lnSpc>
              <a:spcAft>
                <a:spcPts val="1200"/>
              </a:spcAft>
            </a:pPr>
            <a:r>
              <a:rPr sz="1540">
                <a:solidFill>
                  <a:srgbClr val="222A35"/>
                </a:solidFill>
                <a:latin typeface="Yu Gothic"/>
              </a:rPr>
              <a:t>• lm() の平均の係数推定値は正規モデルの最尤推定値と一致する。ただし残差分散の計算法は通常の最尤推定とわずかに異なり、残差平方和を n−1 で割る。</a:t>
            </a:r>
          </a:p>
          <a:p>
            <a:pPr>
              <a:lnSpc>
                <a:spcPct val="118000"/>
              </a:lnSpc>
              <a:spcAft>
                <a:spcPts val="1200"/>
              </a:spcAft>
            </a:pPr>
            <a:r>
              <a:rPr sz="1540">
                <a:solidFill>
                  <a:srgbClr val="222A35"/>
                </a:solidFill>
                <a:latin typeface="Yu Gothic"/>
              </a:rPr>
              <a:t>• 標本数1000の例では平均598.8461 g、残差標準偏差29.02 gを得ており、生成時の600 gと30 gに近い。小標本では標本誤差の影響がより大きい。</a:t>
            </a:r>
          </a:p>
          <a:p>
            <a:pPr>
              <a:lnSpc>
                <a:spcPct val="118000"/>
              </a:lnSpc>
              <a:spcAft>
                <a:spcPts val="1200"/>
              </a:spcAft>
            </a:pPr>
            <a:r>
              <a:rPr sz="1540">
                <a:solidFill>
                  <a:srgbClr val="222A35"/>
                </a:solidFill>
                <a:latin typeface="Yu Gothic"/>
              </a:rPr>
              <a:t>• 切片だけの正規線形モデルは yᵢ∼Normal(μ,σ²) の平均モデルと同等である。平均の推定には各観測の算術平均が使われるが、σの推定値や標準誤差を比較するときは、最尤推定と自由度を調整した残差分散の区別が必要になる。</a:t>
            </a:r>
          </a:p>
          <a:p>
            <a:pPr>
              <a:lnSpc>
                <a:spcPct val="118000"/>
              </a:lnSpc>
              <a:spcAft>
                <a:spcPts val="1200"/>
              </a:spcAft>
            </a:pPr>
            <a:r>
              <a:rPr sz="1540">
                <a:solidFill>
                  <a:srgbClr val="222A35"/>
                </a:solidFill>
                <a:latin typeface="Yu Gothic"/>
              </a:rPr>
              <a:t>• Rの既製関数は短い指定で便利な出力を与える一方、計算の背後にある尤度や仮定を意識しないまま結果だけを得ることもできる。原著が複数のエンジンを導入する理由は、このブラックボックス化を避ける点に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03 / 09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4.4  JAGS｜JAGSによる推定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800"/>
              </a:spcAft>
            </a:pPr>
            <a:r>
              <a:rPr sz="1420">
                <a:solidFill>
                  <a:srgbClr val="222A35"/>
                </a:solidFill>
                <a:latin typeface="Yu Gothic"/>
              </a:rPr>
              <a:t>• 4.4.1 JAGS（Just Another Gibbs Sampler）はBUGS言語の確率モデル記述を使うベイズ推定エンジンである。モデルの構成要素を確率的・決定論的なノードとして記述し、関係は有向非巡回グラフ（DAG）で理解できる。</a:t>
            </a:r>
          </a:p>
          <a:p>
            <a:pPr>
              <a:lnSpc>
                <a:spcPct val="118000"/>
              </a:lnSpc>
              <a:spcAft>
                <a:spcPts val="800"/>
              </a:spcAft>
            </a:pPr>
            <a:r>
              <a:rPr sz="1420">
                <a:solidFill>
                  <a:srgbClr val="222A35"/>
                </a:solidFill>
                <a:latin typeface="Yu Gothic"/>
              </a:rPr>
              <a:t>• 4.4.2 平均モデルでは μ と σ に事前分布を指定し、各観測の正規尤度を与える。JAGSの正規分布には標準偏差でなく精度 τ=1/σ² を渡す点が、Rの正規乱数関数とは異なる。</a:t>
            </a:r>
          </a:p>
          <a:p>
            <a:pPr>
              <a:lnSpc>
                <a:spcPct val="118000"/>
              </a:lnSpc>
              <a:spcAft>
                <a:spcPts val="800"/>
              </a:spcAft>
            </a:pPr>
            <a:r>
              <a:rPr sz="1420">
                <a:solidFill>
                  <a:srgbClr val="222A35"/>
                </a:solidFill>
                <a:latin typeface="Yu Gothic"/>
              </a:rPr>
              <a:t>• 一般的な流れは、データのリスト化、BUGSモデルの記述、MCMCのチェーン数・反復数・burn-in等の設定、計算の実行、事後サンプルの要約である。</a:t>
            </a:r>
          </a:p>
          <a:p>
            <a:pPr>
              <a:lnSpc>
                <a:spcPct val="118000"/>
              </a:lnSpc>
              <a:spcAft>
                <a:spcPts val="800"/>
              </a:spcAft>
            </a:pPr>
            <a:r>
              <a:rPr sz="1420">
                <a:solidFill>
                  <a:srgbClr val="222A35"/>
                </a:solidFill>
                <a:latin typeface="Yu Gothic"/>
              </a:rPr>
              <a:t>• 出力では事後平均・事後SD・信用区間とともに、トレースや収束診断を確認する。パラメータだけでなく、その関数として定めた派生量の不確実性も事後サンプルから得られる。</a:t>
            </a:r>
          </a:p>
          <a:p>
            <a:pPr>
              <a:lnSpc>
                <a:spcPct val="118000"/>
              </a:lnSpc>
              <a:spcAft>
                <a:spcPts val="800"/>
              </a:spcAft>
            </a:pPr>
            <a:r>
              <a:rPr sz="1420">
                <a:solidFill>
                  <a:srgbClr val="222A35"/>
                </a:solidFill>
                <a:latin typeface="Yu Gothic"/>
              </a:rPr>
              <a:t>• JAGSのBUGS言語では「何がどの分布から発生するか」を確率的な式の形で記述し、未知パラメータには事前分布を与える。平均μと標準偏差σからなる正規モデルは、観測ノードの尤度と母数の事前分布の関係を直接確認する例になる。</a:t>
            </a:r>
          </a:p>
          <a:p>
            <a:pPr>
              <a:lnSpc>
                <a:spcPct val="118000"/>
              </a:lnSpc>
              <a:spcAft>
                <a:spcPts val="800"/>
              </a:spcAft>
            </a:pPr>
            <a:r>
              <a:rPr sz="1420">
                <a:solidFill>
                  <a:srgbClr val="222A35"/>
                </a:solidFill>
                <a:latin typeface="Yu Gothic"/>
              </a:rPr>
              <a:t>• 事後分布はMCMCによって数値的に近似されるため、点推定だけを読むのではなく、トレース、複数チェーンの一致、事後標準偏差、信用区間を点検する。事前分布が緩やかなとき、標本数が大きければ最尤推定値との一致が期待され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04 / 09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4.5  NIMBLE｜NIMBLEによる推定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4.5.1 NIMBLEはBUGSに近い記述形式を採用しながら、モデルや計算アルゴリズムの構築・変更に柔軟性を持つ。JAGSと同様にノードと依存関係からモデルを定める。</a:t>
            </a:r>
          </a:p>
          <a:p>
            <a:pPr>
              <a:lnSpc>
                <a:spcPct val="118000"/>
              </a:lnSpc>
              <a:spcAft>
                <a:spcPts val="1200"/>
              </a:spcAft>
            </a:pPr>
            <a:r>
              <a:rPr sz="1540">
                <a:solidFill>
                  <a:srgbClr val="222A35"/>
                </a:solidFill>
                <a:latin typeface="Yu Gothic"/>
              </a:rPr>
              <a:t>• 4.5.2 平均モデルに対して正規尤度と事前分布を指定し、MCMCを構築・実行して推定する。Rからモデル記述・データ・初期値等を与え、生成されたサンプルを要約する。</a:t>
            </a:r>
          </a:p>
          <a:p>
            <a:pPr>
              <a:lnSpc>
                <a:spcPct val="118000"/>
              </a:lnSpc>
              <a:spcAft>
                <a:spcPts val="1200"/>
              </a:spcAft>
            </a:pPr>
            <a:r>
              <a:rPr sz="1540">
                <a:solidFill>
                  <a:srgbClr val="222A35"/>
                </a:solidFill>
                <a:latin typeface="Yu Gothic"/>
              </a:rPr>
              <a:t>• 原著ではJAGSとの構文・計算手順の類似点と相違点を示し、同一モデルを異なるエンジンで表現できるようにしている。コードの操作説明は別資料に譲る。</a:t>
            </a:r>
          </a:p>
          <a:p>
            <a:pPr>
              <a:lnSpc>
                <a:spcPct val="118000"/>
              </a:lnSpc>
              <a:spcAft>
                <a:spcPts val="1200"/>
              </a:spcAft>
            </a:pPr>
            <a:r>
              <a:rPr sz="1540">
                <a:solidFill>
                  <a:srgbClr val="222A35"/>
                </a:solidFill>
                <a:latin typeface="Yu Gothic"/>
              </a:rPr>
              <a:t>• NIMBLEでもBUGSに近い確率モデルの指定から出発するが、モデル構築と計算アルゴリズムの仕組みが柔軟であり、JAGSと同じモデルを別の実装で推定できる。</a:t>
            </a:r>
          </a:p>
          <a:p>
            <a:pPr>
              <a:lnSpc>
                <a:spcPct val="118000"/>
              </a:lnSpc>
              <a:spcAft>
                <a:spcPts val="1200"/>
              </a:spcAft>
            </a:pPr>
            <a:r>
              <a:rPr sz="1540">
                <a:solidFill>
                  <a:srgbClr val="222A35"/>
                </a:solidFill>
                <a:latin typeface="Yu Gothic"/>
              </a:rPr>
              <a:t>• 原著の目的は、NIMBLE固有の新しい平均モデルを導入することではない。μとσの事後分布を同じデータと確率モデルに基づいて求め、他のベイズエンジンとの整合性を確認することである。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05 / 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4.6  Stan｜Stanによる推定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4.6.1 Stanはベイズ推論のための一般目的モデル記述言語であり、原著ではMCMCとしてHamiltonian Monte Carlo（HMC）を用いる点を説明する。</a:t>
            </a:r>
          </a:p>
          <a:p>
            <a:pPr>
              <a:lnSpc>
                <a:spcPct val="118000"/>
              </a:lnSpc>
              <a:spcAft>
                <a:spcPts val="1200"/>
              </a:spcAft>
            </a:pPr>
            <a:r>
              <a:rPr sz="1540">
                <a:solidFill>
                  <a:srgbClr val="222A35"/>
                </a:solidFill>
                <a:latin typeface="Yu Gothic"/>
              </a:rPr>
              <a:t>• 4.6.2 Stanのモデルにはデータ・パラメータ・モデル等を型と次元を明示して記述する。正規分布の引数として平均と標準偏差を直接用い、JAGSでの精度指定とは異なる。</a:t>
            </a:r>
          </a:p>
          <a:p>
            <a:pPr>
              <a:lnSpc>
                <a:spcPct val="118000"/>
              </a:lnSpc>
              <a:spcAft>
                <a:spcPts val="1200"/>
              </a:spcAft>
            </a:pPr>
            <a:r>
              <a:rPr sz="1540">
                <a:solidFill>
                  <a:srgbClr val="222A35"/>
                </a:solidFill>
                <a:latin typeface="Yu Gothic"/>
              </a:rPr>
              <a:t>• 同じ平均モデルの推定結果を用い、事後分布の位置と幅、チェーンの挙動、推定結果の一致を確認する。ソフトウェアが違ってもモデルの統計的内容を揃えることが重要である。</a:t>
            </a:r>
          </a:p>
          <a:p>
            <a:pPr>
              <a:lnSpc>
                <a:spcPct val="118000"/>
              </a:lnSpc>
              <a:spcAft>
                <a:spcPts val="1200"/>
              </a:spcAft>
            </a:pPr>
            <a:r>
              <a:rPr sz="1540">
                <a:solidFill>
                  <a:srgbClr val="222A35"/>
                </a:solidFill>
                <a:latin typeface="Yu Gothic"/>
              </a:rPr>
              <a:t>• Stanでは正規モデルのパラメータの制約を明示し、対数事後密度を構築する。JAGSやNIMBLEとはモデル記法とサンプリングアルゴリズムが異なり、原著は特にHMCによる推定を説明する。</a:t>
            </a:r>
          </a:p>
          <a:p>
            <a:pPr>
              <a:lnSpc>
                <a:spcPct val="118000"/>
              </a:lnSpc>
              <a:spcAft>
                <a:spcPts val="1200"/>
              </a:spcAft>
            </a:pPr>
            <a:r>
              <a:rPr sz="1540">
                <a:solidFill>
                  <a:srgbClr val="222A35"/>
                </a:solidFill>
                <a:latin typeface="Yu Gothic"/>
              </a:rPr>
              <a:t>• 応答の尤度とパラメータの事前分布という統計的意味は同じであっても、収束診断の指標やアルゴリズム特有の警告には注意が必要となる。推定結果の比較はモデルの同一性と数値計算の妥当性を確かめる手順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06 / 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4.7  DIY maximum likelihood in R｜Rによる最尤推定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4.7.1 最尤推定では、観測の同時密度を未知パラメータの関数として捉え、その対数を最大化する。実際の計算では負の対数尤度（NLL）を最小化する。</a:t>
            </a:r>
          </a:p>
          <a:p>
            <a:pPr>
              <a:lnSpc>
                <a:spcPct val="118000"/>
              </a:lnSpc>
              <a:spcAft>
                <a:spcPts val="1200"/>
              </a:spcAft>
            </a:pPr>
            <a:r>
              <a:rPr sz="1540">
                <a:solidFill>
                  <a:srgbClr val="222A35"/>
                </a:solidFill>
                <a:latin typeface="Yu Gothic"/>
              </a:rPr>
              <a:t>• 4.7.2 正規平均モデルのNLLをμとσから定義し、数値最適化で両者の推定値を得る。σは正値制約があるため log(σ) を最適化し、結果を指数変換して元の尺度に戻せる。</a:t>
            </a:r>
          </a:p>
          <a:p>
            <a:pPr>
              <a:lnSpc>
                <a:spcPct val="118000"/>
              </a:lnSpc>
              <a:spcAft>
                <a:spcPts val="1200"/>
              </a:spcAft>
            </a:pPr>
            <a:r>
              <a:rPr sz="1540">
                <a:solidFill>
                  <a:srgbClr val="222A35"/>
                </a:solidFill>
                <a:latin typeface="Yu Gothic"/>
              </a:rPr>
              <a:t>• 推定量の標準誤差は最適点におけるNLLのHessian行列を反転した分散共分散行列から求める。最尤推定値と推定不確実性を自作で再現することに重点がある。</a:t>
            </a:r>
          </a:p>
          <a:p>
            <a:pPr>
              <a:lnSpc>
                <a:spcPct val="118000"/>
              </a:lnSpc>
              <a:spcAft>
                <a:spcPts val="1200"/>
              </a:spcAft>
            </a:pPr>
            <a:r>
              <a:rPr sz="1540">
                <a:solidFill>
                  <a:srgbClr val="222A35"/>
                </a:solidFill>
                <a:latin typeface="Yu Gothic"/>
              </a:rPr>
              <a:t>• 正規密度を各観測について掛け合わせたものが同時尤度であり、計算にはその対数を合計して負符号を付けた関数を用いる。σ&gt;0という制約はlog(σ)などの無制約なパラメータに変換して最適化できる。</a:t>
            </a:r>
          </a:p>
          <a:p>
            <a:pPr>
              <a:lnSpc>
                <a:spcPct val="118000"/>
              </a:lnSpc>
              <a:spcAft>
                <a:spcPts val="1200"/>
              </a:spcAft>
            </a:pPr>
            <a:r>
              <a:rPr sz="1540">
                <a:solidFill>
                  <a:srgbClr val="222A35"/>
                </a:solidFill>
                <a:latin typeface="Yu Gothic"/>
              </a:rPr>
              <a:t>• 数値最適化で得られた推定値だけでなく、Hessianに基づく漸近標準誤差や信頼区間を求める。最尤推定の仕組みを明示的に記述することで、既製関数の推定結果を別の角度から検証する。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07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4.8  Maximum likelihood with TMB｜TMBによる最尤推定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4.8.1 Template Model Builder（TMB）はC++によるモデル記述とRからの操作を組み合わせ、統計モデルの負の対数尤度を効率よく計算する。</a:t>
            </a:r>
          </a:p>
          <a:p>
            <a:pPr>
              <a:lnSpc>
                <a:spcPct val="118000"/>
              </a:lnSpc>
              <a:spcAft>
                <a:spcPts val="1200"/>
              </a:spcAft>
            </a:pPr>
            <a:r>
              <a:rPr sz="1540">
                <a:solidFill>
                  <a:srgbClr val="222A35"/>
                </a:solidFill>
                <a:latin typeface="Yu Gothic"/>
              </a:rPr>
              <a:t>• 4.8.2 平均と標準偏差をパラメータに持つ正規モデルをTMBに指定し、最適化によって最尤推定値を求める。自動微分を利用して勾配やHessianに関係する計算を支援する。</a:t>
            </a:r>
          </a:p>
          <a:p>
            <a:pPr>
              <a:lnSpc>
                <a:spcPct val="118000"/>
              </a:lnSpc>
              <a:spcAft>
                <a:spcPts val="1200"/>
              </a:spcAft>
            </a:pPr>
            <a:r>
              <a:rPr sz="1540">
                <a:solidFill>
                  <a:srgbClr val="222A35"/>
                </a:solidFill>
                <a:latin typeface="Yu Gothic"/>
              </a:rPr>
              <a:t>• 本章の単純な例ではRで直接NLLを定義する方法と同じ統計モデルを扱い、TMBの意義はより複雑なモデルへ進む際に明確になる。</a:t>
            </a:r>
          </a:p>
          <a:p>
            <a:pPr>
              <a:lnSpc>
                <a:spcPct val="118000"/>
              </a:lnSpc>
              <a:spcAft>
                <a:spcPts val="1200"/>
              </a:spcAft>
            </a:pPr>
            <a:r>
              <a:rPr sz="1540">
                <a:solidFill>
                  <a:srgbClr val="222A35"/>
                </a:solidFill>
                <a:latin typeface="Yu Gothic"/>
              </a:rPr>
              <a:t>• TMBではC++で負の対数尤度を記述し、Rからコンパイル・最適化を行う。自動微分によって目的関数の勾配などを効率的に計算するため、同じ推定原理をより複雑なモデルへ拡張しやすい。</a:t>
            </a:r>
          </a:p>
          <a:p>
            <a:pPr>
              <a:lnSpc>
                <a:spcPct val="118000"/>
              </a:lnSpc>
              <a:spcAft>
                <a:spcPts val="1200"/>
              </a:spcAft>
            </a:pPr>
            <a:r>
              <a:rPr sz="1540">
                <a:solidFill>
                  <a:srgbClr val="222A35"/>
                </a:solidFill>
                <a:latin typeface="Yu Gothic"/>
              </a:rPr>
              <a:t>• この章の平均モデルには積分すべきランダム効果がない。後続章ではランダム効果を追加することで、TMBの自動微分と積分近似の利点がより明確になる。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08 / 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4.9  Comparison and conclusions｜推定エンジンの比較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540">
                <a:solidFill>
                  <a:srgbClr val="222A35"/>
                </a:solidFill>
                <a:latin typeface="Yu Gothic"/>
              </a:rPr>
              <a:t>• 既製関数、JAGS、NIMBLE、Stan、自作最尤推定、TMBで同一の正規平均モデルを扱い、μとσについて得られる推定結果を比較する。十分な標本情報と弱い事前情報のもとでは結果が数値的に近くなる。</a:t>
            </a:r>
          </a:p>
          <a:p>
            <a:pPr>
              <a:lnSpc>
                <a:spcPct val="118000"/>
              </a:lnSpc>
              <a:spcAft>
                <a:spcPts val="1200"/>
              </a:spcAft>
            </a:pPr>
            <a:r>
              <a:rPr sz="1540">
                <a:solidFill>
                  <a:srgbClr val="222A35"/>
                </a:solidFill>
                <a:latin typeface="Yu Gothic"/>
              </a:rPr>
              <a:t>• ただし、頻度論の標準誤差・信頼区間と、ベイズ推論の事後標準偏差・信用区間は、計算結果が似ていても解釈の基盤が異なる。</a:t>
            </a:r>
          </a:p>
          <a:p>
            <a:pPr>
              <a:lnSpc>
                <a:spcPct val="118000"/>
              </a:lnSpc>
              <a:spcAft>
                <a:spcPts val="1200"/>
              </a:spcAft>
            </a:pPr>
            <a:r>
              <a:rPr sz="1540">
                <a:solidFill>
                  <a:srgbClr val="222A35"/>
                </a:solidFill>
                <a:latin typeface="Yu Gothic"/>
              </a:rPr>
              <a:t>• 「モデルの理解」と「エンジンの操作」を切り分け、簡単なモデルを複数の方法で推定することが、より複雑な統計モデルを自分で書く準備となる。</a:t>
            </a:r>
          </a:p>
          <a:p>
            <a:pPr>
              <a:lnSpc>
                <a:spcPct val="118000"/>
              </a:lnSpc>
              <a:spcAft>
                <a:spcPts val="1200"/>
              </a:spcAft>
            </a:pPr>
            <a:r>
              <a:rPr sz="1540">
                <a:solidFill>
                  <a:srgbClr val="222A35"/>
                </a:solidFill>
                <a:latin typeface="Yu Gothic"/>
              </a:rPr>
              <a:t>• 六つのエンジンは統計モデルを異なる手順で数値的に扱うが、比較すべき対象は共通の平均と残差標準偏差である。近い推定値が得られることは、各モデル指定が同じデータ生成過程を表していることの有力な確認となる。</a:t>
            </a:r>
          </a:p>
          <a:p>
            <a:pPr>
              <a:lnSpc>
                <a:spcPct val="118000"/>
              </a:lnSpc>
              <a:spcAft>
                <a:spcPts val="1200"/>
              </a:spcAft>
            </a:pPr>
            <a:r>
              <a:rPr sz="1540">
                <a:solidFill>
                  <a:srgbClr val="222A35"/>
                </a:solidFill>
                <a:latin typeface="Yu Gothic"/>
              </a:rPr>
              <a:t>• ただし頻度論の信頼区間とベイズの信用区間は同じ数学的意味ではない。後続章で扱う複雑なモデルでも、まず共通の確率モデルを確認し、手法の違いと推定対象の違いを混同しないことが重要になる。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4  |  09 / 09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4.2  |  共通データの作成</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yᵢ ~ Normal(μ, σ²)</a:t>
            </a:r>
          </a:p>
          <a:p>
            <a:pPr>
              <a:spcAft>
                <a:spcPts val="400"/>
              </a:spcAft>
              <a:defRPr sz="1500" b="0">
                <a:solidFill>
                  <a:srgbClr val="1C2A36"/>
                </a:solidFill>
                <a:latin typeface="Yu Gothic"/>
              </a:defRPr>
            </a:pPr>
            <a:r>
              <a:t>真値：μ = 600 g、σ = 30 g</a:t>
            </a:r>
          </a:p>
          <a:p>
            <a:pPr>
              <a:spcAft>
                <a:spcPts val="400"/>
              </a:spcAft>
              <a:defRPr sz="1500" b="0">
                <a:solidFill>
                  <a:srgbClr val="1C2A36"/>
                </a:solidFill>
                <a:latin typeface="Yu Gothic"/>
              </a:defRPr>
            </a:pPr>
            <a:r>
              <a:t>標本サイズ：n = 10 と n = 1000</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同じ母集団から2標本を生成</a:t>
            </a:r>
          </a:p>
          <a:p>
            <a:pPr>
              <a:spcAft>
                <a:spcPts val="400"/>
              </a:spcAft>
              <a:defRPr sz="1400" b="0">
                <a:solidFill>
                  <a:srgbClr val="1C2A36"/>
                </a:solidFill>
                <a:latin typeface="Yu Gothic"/>
              </a:defRPr>
            </a:pPr>
            <a:r>
              <a:t>② seedを固定して再現性確保</a:t>
            </a:r>
          </a:p>
          <a:p>
            <a:pPr>
              <a:spcAft>
                <a:spcPts val="400"/>
              </a:spcAft>
              <a:defRPr sz="1400" b="0">
                <a:solidFill>
                  <a:srgbClr val="1C2A36"/>
                </a:solidFill>
                <a:latin typeface="Yu Gothic"/>
              </a:defRPr>
            </a:pPr>
            <a:r>
              <a:t>③ 真値を比較用に保存</a:t>
            </a:r>
          </a:p>
          <a:p>
            <a:pPr>
              <a:spcAft>
                <a:spcPts val="400"/>
              </a:spcAft>
              <a:defRPr sz="1400" b="0">
                <a:solidFill>
                  <a:srgbClr val="1C2A36"/>
                </a:solidFill>
                <a:latin typeface="Yu Gothic"/>
              </a:defRPr>
            </a:pPr>
            <a:r>
              <a:t>④ ヒストグラムで標本変動を比較</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set.seed(4)</a:t>
            </a:r>
          </a:p>
          <a:p>
            <a:pPr>
              <a:spcAft>
                <a:spcPts val="400"/>
              </a:spcAft>
              <a:defRPr sz="1300" b="0">
                <a:solidFill>
                  <a:srgbClr val="1C2A36"/>
                </a:solidFill>
                <a:latin typeface="Consolas"/>
              </a:defRPr>
            </a:pPr>
            <a:r>
              <a:t>y10 &lt;- rnorm(n=10, mean=600, sd=30)</a:t>
            </a:r>
          </a:p>
          <a:p>
            <a:pPr>
              <a:spcAft>
                <a:spcPts val="400"/>
              </a:spcAft>
              <a:defRPr sz="1300" b="0">
                <a:solidFill>
                  <a:srgbClr val="1C2A36"/>
                </a:solidFill>
                <a:latin typeface="Consolas"/>
              </a:defRPr>
            </a:pPr>
            <a:r>
              <a:t>y1000 &lt;- rnorm(n=1000, mean=600, sd=30)</a:t>
            </a:r>
          </a:p>
          <a:p>
            <a:pPr>
              <a:spcAft>
                <a:spcPts val="400"/>
              </a:spcAft>
              <a:defRPr sz="1300" b="0">
                <a:solidFill>
                  <a:srgbClr val="1C2A36"/>
                </a:solidFill>
                <a:latin typeface="Consolas"/>
              </a:defRPr>
            </a:pPr>
            <a:r>
              <a:t>truth &lt;- c(mean=600, sd=30)</a:t>
            </a:r>
          </a:p>
          <a:p>
            <a:pPr>
              <a:spcAft>
                <a:spcPts val="400"/>
              </a:spcAft>
              <a:defRPr sz="1300" b="0">
                <a:solidFill>
                  <a:srgbClr val="1C2A36"/>
                </a:solidFill>
                <a:latin typeface="Consolas"/>
              </a:defRPr>
            </a:pPr>
            <a:r>
              <a:t>hist(y10, xlim=c(450,750))</a:t>
            </a:r>
          </a:p>
          <a:p>
            <a:pPr>
              <a:spcAft>
                <a:spcPts val="400"/>
              </a:spcAft>
              <a:defRPr sz="1300" b="0">
                <a:solidFill>
                  <a:srgbClr val="1C2A36"/>
                </a:solidFill>
                <a:latin typeface="Consolas"/>
              </a:defRPr>
            </a:pPr>
            <a:r>
              <a:t>hist(y1000, xlim=c(450,750))</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rnorm(n,mean,sd)は乱数生成。</a:t>
            </a:r>
          </a:p>
          <a:p>
            <a:pPr>
              <a:spcAft>
                <a:spcPts val="400"/>
              </a:spcAft>
              <a:defRPr sz="1300" b="0">
                <a:solidFill>
                  <a:srgbClr val="1C2A36"/>
                </a:solidFill>
                <a:latin typeface="Yu Gothic"/>
              </a:defRPr>
            </a:pPr>
            <a:r>
              <a:t>後続の推定器は主として同じy1000を使用する。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4.3  |  切片のみの線形モデル</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yᵢ = μ + εᵢ</a:t>
            </a:r>
          </a:p>
          <a:p>
            <a:pPr>
              <a:spcAft>
                <a:spcPts val="400"/>
              </a:spcAft>
              <a:defRPr sz="1500" b="0">
                <a:solidFill>
                  <a:srgbClr val="1C2A36"/>
                </a:solidFill>
                <a:latin typeface="Yu Gothic"/>
              </a:defRPr>
            </a:pPr>
            <a:r>
              <a:t>εᵢ ~ Normal(0, σ²)</a:t>
            </a:r>
          </a:p>
          <a:p>
            <a:pPr>
              <a:spcAft>
                <a:spcPts val="400"/>
              </a:spcAft>
              <a:defRPr sz="1500" b="0">
                <a:solidFill>
                  <a:srgbClr val="1C2A36"/>
                </a:solidFill>
                <a:latin typeface="Yu Gothic"/>
              </a:defRPr>
            </a:pPr>
            <a:r>
              <a:t>「~ 1」は説明変数なし・切片のみ</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y10で推定・表示（のち上書き）</a:t>
            </a:r>
          </a:p>
          <a:p>
            <a:pPr>
              <a:spcAft>
                <a:spcPts val="400"/>
              </a:spcAft>
              <a:defRPr sz="1400" b="0">
                <a:solidFill>
                  <a:srgbClr val="1C2A36"/>
                </a:solidFill>
                <a:latin typeface="Yu Gothic"/>
              </a:defRPr>
            </a:pPr>
            <a:r>
              <a:t>② y1000で推定</a:t>
            </a:r>
          </a:p>
          <a:p>
            <a:pPr>
              <a:spcAft>
                <a:spcPts val="400"/>
              </a:spcAft>
              <a:defRPr sz="1400" b="0">
                <a:solidFill>
                  <a:srgbClr val="1C2A36"/>
                </a:solidFill>
                <a:latin typeface="Yu Gothic"/>
              </a:defRPr>
            </a:pPr>
            <a:r>
              <a:t>③ coef()で標本平均を取得</a:t>
            </a:r>
          </a:p>
          <a:p>
            <a:pPr>
              <a:spcAft>
                <a:spcPts val="400"/>
              </a:spcAft>
              <a:defRPr sz="1400" b="0">
                <a:solidFill>
                  <a:srgbClr val="1C2A36"/>
                </a:solidFill>
                <a:latin typeface="Yu Gothic"/>
              </a:defRPr>
            </a:pPr>
            <a:r>
              <a:t>④ sigma()で残差標準偏差を取得</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summary(out4.3 &lt;- lm(y10 ~ 1))</a:t>
            </a:r>
          </a:p>
          <a:p>
            <a:pPr>
              <a:spcAft>
                <a:spcPts val="400"/>
              </a:spcAft>
              <a:defRPr sz="1300" b="0">
                <a:solidFill>
                  <a:srgbClr val="1C2A36"/>
                </a:solidFill>
                <a:latin typeface="Consolas"/>
              </a:defRPr>
            </a:pPr>
            <a:r>
              <a:t>summary(out4.3 &lt;- lm(y1000 ~ 1))</a:t>
            </a:r>
          </a:p>
          <a:p>
            <a:pPr>
              <a:spcAft>
                <a:spcPts val="400"/>
              </a:spcAft>
              <a:defRPr sz="1300" b="0">
                <a:solidFill>
                  <a:srgbClr val="1C2A36"/>
                </a:solidFill>
                <a:latin typeface="Consolas"/>
              </a:defRPr>
            </a:pPr>
            <a:r>
              <a:t>lm_est &lt;- c(coef(out4.3),</a:t>
            </a:r>
          </a:p>
          <a:p>
            <a:pPr>
              <a:spcAft>
                <a:spcPts val="400"/>
              </a:spcAft>
              <a:defRPr sz="1300" b="0">
                <a:solidFill>
                  <a:srgbClr val="1C2A36"/>
                </a:solidFill>
                <a:latin typeface="Consolas"/>
              </a:defRPr>
            </a:pPr>
            <a:r>
              <a:t>            sigma=sigma(out4.3))</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out4.3は2回目で上書きされる。</a:t>
            </a:r>
          </a:p>
          <a:p>
            <a:pPr>
              <a:spcAft>
                <a:spcPts val="400"/>
              </a:spcAft>
              <a:defRPr sz="1300" b="0">
                <a:solidFill>
                  <a:srgbClr val="1C2A36"/>
                </a:solidFill>
                <a:latin typeface="Yu Gothic"/>
              </a:defRPr>
            </a:pPr>
            <a:r>
              <a:t>sigma(lm)は分母n−1の推定量：MLEの分母nと異なる。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全体像  |  同じモデル、異なる推定の仕組み</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共通の観測モデル：yᵢ ~ Normal(μ,σ²)</a:t>
            </a:r>
          </a:p>
          <a:p>
            <a:pPr>
              <a:spcAft>
                <a:spcPts val="400"/>
              </a:spcAft>
              <a:defRPr sz="1500" b="0">
                <a:solidFill>
                  <a:srgbClr val="1C2A36"/>
                </a:solidFill>
                <a:latin typeface="Yu Gothic"/>
              </a:defRPr>
            </a:pPr>
            <a:r>
              <a:t>ベイズ：p(μ,σ | y) ∝ p(y | μ,σ)p(μ,σ)</a:t>
            </a:r>
          </a:p>
          <a:p>
            <a:pPr>
              <a:spcAft>
                <a:spcPts val="400"/>
              </a:spcAft>
              <a:defRPr sz="1500" b="0">
                <a:solidFill>
                  <a:srgbClr val="1C2A36"/>
                </a:solidFill>
                <a:latin typeface="Yu Gothic"/>
              </a:defRPr>
            </a:pPr>
            <a:r>
              <a:t>最尤：argmin [−log L(μ,σ)]</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データと観測モデルは共通</a:t>
            </a:r>
          </a:p>
          <a:p>
            <a:pPr>
              <a:spcAft>
                <a:spcPts val="400"/>
              </a:spcAft>
              <a:defRPr sz="1400" b="0">
                <a:solidFill>
                  <a:srgbClr val="1C2A36"/>
                </a:solidFill>
                <a:latin typeface="Yu Gothic"/>
              </a:defRPr>
            </a:pPr>
            <a:r>
              <a:t>② 事前分布とサンプラーには違い</a:t>
            </a:r>
          </a:p>
          <a:p>
            <a:pPr>
              <a:spcAft>
                <a:spcPts val="400"/>
              </a:spcAft>
              <a:defRPr sz="1400" b="0">
                <a:solidFill>
                  <a:srgbClr val="1C2A36"/>
                </a:solidFill>
                <a:latin typeface="Yu Gothic"/>
              </a:defRPr>
            </a:pPr>
            <a:r>
              <a:t>③ 最尤法は目的関数を最小化</a:t>
            </a:r>
          </a:p>
          <a:p>
            <a:pPr>
              <a:spcAft>
                <a:spcPts val="400"/>
              </a:spcAft>
              <a:defRPr sz="1400" b="0">
                <a:solidFill>
                  <a:srgbClr val="1C2A36"/>
                </a:solidFill>
                <a:latin typeface="Yu Gothic"/>
              </a:defRPr>
            </a:pPr>
            <a:r>
              <a:t>④ 手法間比較は推定量・尺度をそろえる</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 Bayesian</a:t>
            </a:r>
          </a:p>
          <a:p>
            <a:pPr>
              <a:spcAft>
                <a:spcPts val="400"/>
              </a:spcAft>
              <a:defRPr sz="1300" b="0">
                <a:solidFill>
                  <a:srgbClr val="1C2A36"/>
                </a:solidFill>
                <a:latin typeface="Consolas"/>
              </a:defRPr>
            </a:pPr>
            <a:r>
              <a:t>JAGS:   jags(...)</a:t>
            </a:r>
          </a:p>
          <a:p>
            <a:pPr>
              <a:spcAft>
                <a:spcPts val="400"/>
              </a:spcAft>
              <a:defRPr sz="1300" b="0">
                <a:solidFill>
                  <a:srgbClr val="1C2A36"/>
                </a:solidFill>
                <a:latin typeface="Consolas"/>
              </a:defRPr>
            </a:pPr>
            <a:r>
              <a:t>NIMBLE: nimbleMCMC(...)</a:t>
            </a:r>
          </a:p>
          <a:p>
            <a:pPr>
              <a:spcAft>
                <a:spcPts val="400"/>
              </a:spcAft>
              <a:defRPr sz="1300" b="0">
                <a:solidFill>
                  <a:srgbClr val="1C2A36"/>
                </a:solidFill>
                <a:latin typeface="Consolas"/>
              </a:defRPr>
            </a:pPr>
            <a:r>
              <a:t>Stan:   stan(...)</a:t>
            </a:r>
          </a:p>
          <a:p>
            <a:pPr>
              <a:spcAft>
                <a:spcPts val="400"/>
              </a:spcAft>
              <a:defRPr sz="1300" b="0">
                <a:solidFill>
                  <a:srgbClr val="1C2A36"/>
                </a:solidFill>
                <a:latin typeface="Consolas"/>
              </a:defRPr>
            </a:pPr>
            <a:endParaRPr/>
          </a:p>
          <a:p>
            <a:pPr>
              <a:spcAft>
                <a:spcPts val="400"/>
              </a:spcAft>
              <a:defRPr sz="1300" b="0">
                <a:solidFill>
                  <a:srgbClr val="1C2A36"/>
                </a:solidFill>
                <a:latin typeface="Consolas"/>
              </a:defRPr>
            </a:pPr>
            <a:r>
              <a:t># Maximum likelihood</a:t>
            </a:r>
          </a:p>
          <a:p>
            <a:pPr>
              <a:spcAft>
                <a:spcPts val="400"/>
              </a:spcAft>
              <a:defRPr sz="1300" b="0">
                <a:solidFill>
                  <a:srgbClr val="1C2A36"/>
                </a:solidFill>
                <a:latin typeface="Consolas"/>
              </a:defRPr>
            </a:pPr>
            <a:r>
              <a:t>R:      optim(..., fn=NLL)</a:t>
            </a:r>
          </a:p>
          <a:p>
            <a:pPr>
              <a:spcAft>
                <a:spcPts val="400"/>
              </a:spcAft>
              <a:defRPr sz="1300" b="0">
                <a:solidFill>
                  <a:srgbClr val="1C2A36"/>
                </a:solidFill>
                <a:latin typeface="Consolas"/>
              </a:defRPr>
            </a:pPr>
            <a:r>
              <a:t>TMB:    MakeADFun(...) + optim(...)</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「同じデータ」でもStanは事前分布が異なる。</a:t>
            </a:r>
          </a:p>
          <a:p>
            <a:pPr>
              <a:spcAft>
                <a:spcPts val="400"/>
              </a:spcAft>
              <a:defRPr sz="1300" b="0">
                <a:solidFill>
                  <a:srgbClr val="1C2A36"/>
                </a:solidFill>
                <a:latin typeface="Yu Gothic"/>
              </a:defRPr>
            </a:pPr>
            <a:r>
              <a:t>数値が近くても、事後平均と最尤値は定義上同一ではない。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A9481EC0-C033-F381-3A77-C1B4427D5777}"/>
                  </a:ext>
                </a:extLst>
              </p:cNvPr>
              <p:cNvSpPr>
                <a:spLocks noGrp="1"/>
              </p:cNvSpPr>
              <p:nvPr>
                <p:ph idx="1"/>
              </p:nvPr>
            </p:nvSpPr>
            <p:spPr>
              <a:xfrm>
                <a:off x="5338618" y="452582"/>
                <a:ext cx="6446982" cy="5724381"/>
              </a:xfrm>
            </p:spPr>
            <p:txBody>
              <a:bodyPr>
                <a:normAutofit/>
              </a:bodyPr>
              <a:lstStyle/>
              <a:p>
                <a:pPr marL="0" indent="0">
                  <a:buNone/>
                </a:pPr>
                <a:r>
                  <a:rPr kumimoji="1" lang="ja-JP" altLang="en-US" sz="1600" dirty="0">
                    <a:latin typeface="BIZ UDPゴシック" panose="020B0400000000000000" pitchFamily="50" charset="-128"/>
                    <a:ea typeface="BIZ UDPゴシック" panose="020B0400000000000000" pitchFamily="50" charset="-128"/>
                  </a:rPr>
                  <a:t>特にモデルの書き方について中心的に学んだ方が良いと思います。</a:t>
                </a:r>
                <a:endParaRPr kumimoji="1" lang="en-US" altLang="ja-JP" sz="1600" dirty="0">
                  <a:latin typeface="BIZ UDPゴシック" panose="020B0400000000000000" pitchFamily="50" charset="-128"/>
                  <a:ea typeface="BIZ UDPゴシック" panose="020B0400000000000000" pitchFamily="50" charset="-128"/>
                </a:endParaRPr>
              </a:p>
              <a:p>
                <a:pPr marL="0" indent="0">
                  <a:buNone/>
                </a:pPr>
                <a:r>
                  <a:rPr lang="en-US" altLang="ja-JP" sz="1600" dirty="0">
                    <a:latin typeface="BIZ UDPゴシック" panose="020B0400000000000000" pitchFamily="50" charset="-128"/>
                    <a:ea typeface="BIZ UDPゴシック" panose="020B0400000000000000" pitchFamily="50" charset="-128"/>
                  </a:rPr>
                  <a:t>1</a:t>
                </a:r>
                <a:r>
                  <a:rPr lang="ja-JP" altLang="en-US" sz="1600" dirty="0">
                    <a:latin typeface="BIZ UDPゴシック" panose="020B0400000000000000" pitchFamily="50" charset="-128"/>
                    <a:ea typeface="BIZ UDPゴシック" panose="020B0400000000000000" pitchFamily="50" charset="-128"/>
                  </a:rPr>
                  <a:t>　事前分布　</a:t>
                </a:r>
                <a14:m>
                  <m:oMath xmlns:m="http://schemas.openxmlformats.org/officeDocument/2006/math">
                    <m:r>
                      <a:rPr lang="ja-JP" altLang="en-US" sz="1600" i="1" dirty="0" smtClean="0">
                        <a:latin typeface="Cambria Math" panose="02040503050406030204" pitchFamily="18" charset="0"/>
                      </a:rPr>
                      <m:t>　</m:t>
                    </m:r>
                    <m:r>
                      <a:rPr lang="en-US" altLang="ja-JP" sz="1600" i="1" smtClean="0">
                        <a:latin typeface="Cambria Math" panose="02040503050406030204" pitchFamily="18" charset="0"/>
                      </a:rPr>
                      <m:t>𝜇</m:t>
                    </m:r>
                    <m:r>
                      <a:rPr lang="en-US" altLang="ja-JP" sz="1600" i="0" smtClean="0">
                        <a:latin typeface="Cambria Math" panose="02040503050406030204" pitchFamily="18" charset="0"/>
                      </a:rPr>
                      <m:t>∼</m:t>
                    </m:r>
                    <m:r>
                      <a:rPr lang="en-US" altLang="ja-JP" sz="1600" i="1" smtClean="0">
                        <a:latin typeface="Cambria Math" panose="02040503050406030204" pitchFamily="18" charset="0"/>
                      </a:rPr>
                      <m:t>𝑈</m:t>
                    </m:r>
                    <m:d>
                      <m:dPr>
                        <m:ctrlPr>
                          <a:rPr lang="en-US" altLang="ja-JP" sz="1600" i="0" smtClean="0">
                            <a:latin typeface="Cambria Math" panose="02040503050406030204" pitchFamily="18" charset="0"/>
                          </a:rPr>
                        </m:ctrlPr>
                      </m:dPr>
                      <m:e>
                        <m:r>
                          <a:rPr lang="en-US" altLang="ja-JP" sz="1600" i="0" smtClean="0">
                            <a:latin typeface="Cambria Math" panose="02040503050406030204" pitchFamily="18" charset="0"/>
                          </a:rPr>
                          <m:t>0,5000</m:t>
                        </m:r>
                      </m:e>
                    </m:d>
                    <m:r>
                      <a:rPr lang="en-US" altLang="ja-JP" sz="1600" i="0" smtClean="0">
                        <a:latin typeface="Cambria Math" panose="02040503050406030204" pitchFamily="18" charset="0"/>
                      </a:rPr>
                      <m:t>, </m:t>
                    </m:r>
                    <m:r>
                      <a:rPr lang="en-US" altLang="ja-JP" sz="1600" i="1" smtClean="0">
                        <a:latin typeface="Cambria Math" panose="02040503050406030204" pitchFamily="18" charset="0"/>
                      </a:rPr>
                      <m:t>𝜎</m:t>
                    </m:r>
                    <m:r>
                      <a:rPr lang="en-US" altLang="ja-JP" sz="1600" i="0" smtClean="0">
                        <a:latin typeface="Cambria Math" panose="02040503050406030204" pitchFamily="18" charset="0"/>
                      </a:rPr>
                      <m:t>∼</m:t>
                    </m:r>
                    <m:r>
                      <a:rPr lang="en-US" altLang="ja-JP" sz="1600" i="1" smtClean="0">
                        <a:latin typeface="Cambria Math" panose="02040503050406030204" pitchFamily="18" charset="0"/>
                      </a:rPr>
                      <m:t>𝑈</m:t>
                    </m:r>
                    <m:d>
                      <m:dPr>
                        <m:ctrlPr>
                          <a:rPr lang="en-US" altLang="ja-JP" sz="1600" i="0" smtClean="0">
                            <a:latin typeface="Cambria Math" panose="02040503050406030204" pitchFamily="18" charset="0"/>
                          </a:rPr>
                        </m:ctrlPr>
                      </m:dPr>
                      <m:e>
                        <m:r>
                          <a:rPr lang="en-US" altLang="ja-JP" sz="1600" i="0" smtClean="0">
                            <a:latin typeface="Cambria Math" panose="02040503050406030204" pitchFamily="18" charset="0"/>
                          </a:rPr>
                          <m:t>0,100</m:t>
                        </m:r>
                      </m:e>
                    </m:d>
                  </m:oMath>
                </a14:m>
                <a:endParaRPr lang="en-US" altLang="ja-JP" sz="1600" dirty="0">
                  <a:latin typeface="BIZ UDPゴシック" panose="020B0400000000000000" pitchFamily="50" charset="-128"/>
                  <a:ea typeface="BIZ UDPゴシック" panose="020B0400000000000000" pitchFamily="50" charset="-128"/>
                </a:endParaRPr>
              </a:p>
              <a:p>
                <a:pPr marL="0" indent="0">
                  <a:buNone/>
                </a:pPr>
                <a:r>
                  <a:rPr kumimoji="1" lang="ja-JP" altLang="en-US" sz="1600" dirty="0">
                    <a:latin typeface="BIZ UDPゴシック" panose="020B0400000000000000" pitchFamily="50" charset="-128"/>
                    <a:ea typeface="BIZ UDPゴシック" panose="020B0400000000000000" pitchFamily="50" charset="-128"/>
                  </a:rPr>
                  <a:t>　　平均と標準偏差について、データを見る前の分布を設定する。</a:t>
                </a:r>
                <a:endParaRPr kumimoji="1" lang="en-US" altLang="ja-JP" sz="1600" dirty="0">
                  <a:latin typeface="BIZ UDPゴシック" panose="020B0400000000000000" pitchFamily="50" charset="-128"/>
                  <a:ea typeface="BIZ UDPゴシック" panose="020B0400000000000000" pitchFamily="50" charset="-128"/>
                </a:endParaRPr>
              </a:p>
              <a:p>
                <a:pPr marL="0" indent="0">
                  <a:buNone/>
                </a:pPr>
                <a:r>
                  <a:rPr lang="ja-JP" altLang="en-US" sz="1600" dirty="0">
                    <a:latin typeface="BIZ UDPゴシック" panose="020B0400000000000000" pitchFamily="50" charset="-128"/>
                    <a:ea typeface="BIZ UDPゴシック" panose="020B0400000000000000" pitchFamily="50" charset="-128"/>
                  </a:rPr>
                  <a:t>２　尤</a:t>
                </a:r>
                <a:r>
                  <a:rPr kumimoji="1" lang="ja-JP" altLang="pt-BR" sz="1600" dirty="0">
                    <a:latin typeface="BIZ UDPゴシック" panose="020B0400000000000000" pitchFamily="50" charset="-128"/>
                    <a:ea typeface="BIZ UDPゴシック" panose="020B0400000000000000" pitchFamily="50" charset="-128"/>
                  </a:rPr>
                  <a:t>度（</a:t>
                </a:r>
                <a:r>
                  <a:rPr kumimoji="1" lang="pt-BR" altLang="ja-JP" sz="1600" dirty="0">
                    <a:latin typeface="BIZ UDPゴシック" panose="020B0400000000000000" pitchFamily="50" charset="-128"/>
                    <a:ea typeface="BIZ UDPゴシック" panose="020B0400000000000000" pitchFamily="50" charset="-128"/>
                  </a:rPr>
                  <a:t>Likelihood</a:t>
                </a:r>
                <a:r>
                  <a:rPr kumimoji="1" lang="ja-JP" altLang="pt-BR" sz="1600" dirty="0">
                    <a:latin typeface="BIZ UDPゴシック" panose="020B0400000000000000" pitchFamily="50" charset="-128"/>
                    <a:ea typeface="BIZ UDPゴシック" panose="020B0400000000000000" pitchFamily="50" charset="-128"/>
                  </a:rPr>
                  <a:t>）</a:t>
                </a:r>
                <a:r>
                  <a:rPr kumimoji="1" lang="ja-JP" altLang="en-US" sz="1600" dirty="0">
                    <a:latin typeface="BIZ UDPゴシック" panose="020B0400000000000000" pitchFamily="50" charset="-128"/>
                    <a:ea typeface="BIZ UDPゴシック" panose="020B0400000000000000" pitchFamily="50" charset="-128"/>
                  </a:rPr>
                  <a:t>　</a:t>
                </a:r>
                <a14:m>
                  <m:oMath xmlns:m="http://schemas.openxmlformats.org/officeDocument/2006/math">
                    <m:sSub>
                      <m:sSubPr>
                        <m:ctrlPr>
                          <a:rPr kumimoji="1" lang="ja-JP" altLang="en-US" sz="1600" i="1" dirty="0">
                            <a:latin typeface="Cambria Math" panose="02040503050406030204" pitchFamily="18" charset="0"/>
                          </a:rPr>
                        </m:ctrlPr>
                      </m:sSubPr>
                      <m:e>
                        <m:r>
                          <a:rPr kumimoji="1" lang="ja-JP" altLang="en-US" sz="1600" i="1" dirty="0">
                            <a:latin typeface="Cambria Math" panose="02040503050406030204" pitchFamily="18" charset="0"/>
                          </a:rPr>
                          <m:t>𝑦</m:t>
                        </m:r>
                      </m:e>
                      <m:sub>
                        <m:r>
                          <a:rPr kumimoji="1" lang="ja-JP" altLang="en-US" sz="1600" i="1" dirty="0">
                            <a:latin typeface="Cambria Math" panose="02040503050406030204" pitchFamily="18" charset="0"/>
                          </a:rPr>
                          <m:t>𝑖</m:t>
                        </m:r>
                      </m:sub>
                    </m:sSub>
                    <m:r>
                      <a:rPr kumimoji="1" lang="ja-JP" altLang="en-US" sz="1600" i="0" dirty="0">
                        <a:latin typeface="Cambria Math" panose="02040503050406030204" pitchFamily="18" charset="0"/>
                      </a:rPr>
                      <m:t>∼</m:t>
                    </m:r>
                    <m:r>
                      <a:rPr kumimoji="1" lang="ja-JP" altLang="en-US" sz="1600" i="1" dirty="0">
                        <a:latin typeface="Cambria Math" panose="02040503050406030204" pitchFamily="18" charset="0"/>
                      </a:rPr>
                      <m:t>𝑁</m:t>
                    </m:r>
                    <m:d>
                      <m:dPr>
                        <m:ctrlPr>
                          <a:rPr kumimoji="1" lang="ja-JP" altLang="en-US" sz="1600" i="1" dirty="0">
                            <a:latin typeface="Cambria Math" panose="02040503050406030204" pitchFamily="18" charset="0"/>
                          </a:rPr>
                        </m:ctrlPr>
                      </m:dPr>
                      <m:e>
                        <m:r>
                          <a:rPr kumimoji="1" lang="ja-JP" altLang="en-US" sz="1600" i="1" dirty="0">
                            <a:latin typeface="Cambria Math" panose="02040503050406030204" pitchFamily="18" charset="0"/>
                          </a:rPr>
                          <m:t>𝜇</m:t>
                        </m:r>
                        <m:r>
                          <a:rPr kumimoji="1" lang="ja-JP" altLang="en-US" sz="1600" i="0" dirty="0">
                            <a:latin typeface="Cambria Math" panose="02040503050406030204" pitchFamily="18" charset="0"/>
                          </a:rPr>
                          <m:t>,</m:t>
                        </m:r>
                        <m:sSup>
                          <m:sSupPr>
                            <m:ctrlPr>
                              <a:rPr kumimoji="1" lang="ja-JP" altLang="en-US" sz="1600" i="1" dirty="0">
                                <a:latin typeface="Cambria Math" panose="02040503050406030204" pitchFamily="18" charset="0"/>
                              </a:rPr>
                            </m:ctrlPr>
                          </m:sSupPr>
                          <m:e>
                            <m:r>
                              <a:rPr kumimoji="1" lang="ja-JP" altLang="en-US" sz="1600" i="1" dirty="0">
                                <a:latin typeface="Cambria Math" panose="02040503050406030204" pitchFamily="18" charset="0"/>
                              </a:rPr>
                              <m:t>𝜎</m:t>
                            </m:r>
                          </m:e>
                          <m:sup>
                            <m:r>
                              <a:rPr kumimoji="1" lang="ja-JP" altLang="en-US" sz="1600" i="0" dirty="0">
                                <a:latin typeface="Cambria Math" panose="02040503050406030204" pitchFamily="18" charset="0"/>
                              </a:rPr>
                              <m:t>2</m:t>
                            </m:r>
                          </m:sup>
                        </m:sSup>
                      </m:e>
                    </m:d>
                  </m:oMath>
                </a14:m>
                <a:endParaRPr kumimoji="1" lang="en-US" altLang="ja-JP" sz="1600" dirty="0">
                  <a:latin typeface="BIZ UDPゴシック" panose="020B0400000000000000" pitchFamily="50" charset="-128"/>
                  <a:ea typeface="BIZ UDPゴシック" panose="020B0400000000000000" pitchFamily="50" charset="-128"/>
                </a:endParaRPr>
              </a:p>
              <a:p>
                <a:pPr marL="0" indent="0">
                  <a:buNone/>
                </a:pPr>
                <a:r>
                  <a:rPr kumimoji="1" lang="ja-JP" altLang="en-US" sz="1600" dirty="0">
                    <a:latin typeface="BIZ UDPゴシック" panose="020B0400000000000000" pitchFamily="50" charset="-128"/>
                    <a:ea typeface="BIZ UDPゴシック" panose="020B0400000000000000" pitchFamily="50" charset="-128"/>
                  </a:rPr>
                  <a:t>未知の母平均と標準偏差を使い、観測データの確率分布を記述する。</a:t>
                </a:r>
                <a:endParaRPr kumimoji="1" lang="en-US" altLang="ja-JP" sz="1600" dirty="0">
                  <a:latin typeface="BIZ UDPゴシック" panose="020B0400000000000000" pitchFamily="50" charset="-128"/>
                  <a:ea typeface="BIZ UDPゴシック" panose="020B0400000000000000" pitchFamily="50" charset="-128"/>
                </a:endParaRPr>
              </a:p>
              <a:p>
                <a:pPr marL="0" indent="0">
                  <a:buNone/>
                </a:pPr>
                <a:r>
                  <a:rPr lang="ja-JP" altLang="en-US" sz="1600" dirty="0">
                    <a:latin typeface="BIZ UDPゴシック" panose="020B0400000000000000" pitchFamily="50" charset="-128"/>
                    <a:ea typeface="BIZ UDPゴシック" panose="020B0400000000000000" pitchFamily="50" charset="-128"/>
                  </a:rPr>
                  <a:t>３　事後分布（</a:t>
                </a:r>
                <a:r>
                  <a:rPr lang="fr-FR" altLang="ja-JP" sz="1600" dirty="0">
                    <a:latin typeface="BIZ UDPゴシック" panose="020B0400000000000000" pitchFamily="50" charset="-128"/>
                    <a:ea typeface="BIZ UDPゴシック" panose="020B0400000000000000" pitchFamily="50" charset="-128"/>
                  </a:rPr>
                  <a:t>Posterior</a:t>
                </a:r>
                <a:r>
                  <a:rPr lang="ja-JP" altLang="fr-FR" sz="1600" dirty="0">
                    <a:latin typeface="BIZ UDPゴシック" panose="020B0400000000000000" pitchFamily="50" charset="-128"/>
                    <a:ea typeface="BIZ UDPゴシック" panose="020B0400000000000000" pitchFamily="50" charset="-128"/>
                  </a:rPr>
                  <a:t>）</a:t>
                </a:r>
                <a:r>
                  <a:rPr lang="ja-JP" altLang="en-US" sz="1600" dirty="0">
                    <a:latin typeface="BIZ UDPゴシック" panose="020B0400000000000000" pitchFamily="50" charset="-128"/>
                    <a:ea typeface="BIZ UDPゴシック" panose="020B0400000000000000" pitchFamily="50" charset="-128"/>
                  </a:rPr>
                  <a:t>　</a:t>
                </a:r>
                <a14:m>
                  <m:oMath xmlns:m="http://schemas.openxmlformats.org/officeDocument/2006/math">
                    <m:r>
                      <a:rPr kumimoji="1" lang="ja-JP" altLang="en-US" sz="1600" i="1" dirty="0">
                        <a:latin typeface="Cambria Math" panose="02040503050406030204" pitchFamily="18" charset="0"/>
                      </a:rPr>
                      <m:t>𝑝</m:t>
                    </m:r>
                    <m:d>
                      <m:dPr>
                        <m:ctrlPr>
                          <a:rPr kumimoji="1" lang="ja-JP" altLang="en-US" sz="1600" i="1" dirty="0">
                            <a:latin typeface="Cambria Math" panose="02040503050406030204" pitchFamily="18" charset="0"/>
                          </a:rPr>
                        </m:ctrlPr>
                      </m:dPr>
                      <m:e>
                        <m:r>
                          <a:rPr kumimoji="1" lang="ja-JP" altLang="en-US" sz="1600" i="1" dirty="0">
                            <a:latin typeface="Cambria Math" panose="02040503050406030204" pitchFamily="18" charset="0"/>
                          </a:rPr>
                          <m:t>𝜇</m:t>
                        </m:r>
                        <m:r>
                          <a:rPr kumimoji="1" lang="ja-JP" altLang="en-US" sz="1600" i="0" dirty="0">
                            <a:latin typeface="Cambria Math" panose="02040503050406030204" pitchFamily="18" charset="0"/>
                          </a:rPr>
                          <m:t>,</m:t>
                        </m:r>
                        <m:r>
                          <a:rPr kumimoji="1" lang="ja-JP" altLang="en-US" sz="1600" i="1" dirty="0">
                            <a:latin typeface="Cambria Math" panose="02040503050406030204" pitchFamily="18" charset="0"/>
                          </a:rPr>
                          <m:t>𝜎</m:t>
                        </m:r>
                        <m:r>
                          <a:rPr kumimoji="1" lang="ja-JP" altLang="en-US" sz="1600" i="0" dirty="0">
                            <a:latin typeface="Cambria Math" panose="02040503050406030204" pitchFamily="18" charset="0"/>
                          </a:rPr>
                          <m:t>∣</m:t>
                        </m:r>
                        <m:r>
                          <a:rPr kumimoji="1" lang="ja-JP" altLang="en-US" sz="1600" i="1" dirty="0">
                            <a:latin typeface="Cambria Math" panose="02040503050406030204" pitchFamily="18" charset="0"/>
                          </a:rPr>
                          <m:t>𝑦</m:t>
                        </m:r>
                      </m:e>
                    </m:d>
                  </m:oMath>
                </a14:m>
                <a:endParaRPr kumimoji="1" lang="en-US" altLang="ja-JP" sz="1600" dirty="0">
                  <a:latin typeface="BIZ UDPゴシック" panose="020B0400000000000000" pitchFamily="50" charset="-128"/>
                </a:endParaRPr>
              </a:p>
              <a:p>
                <a:pPr marL="0" indent="0">
                  <a:buNone/>
                </a:pPr>
                <a:r>
                  <a:rPr kumimoji="1" lang="en-US" altLang="ja-JP" sz="1600" dirty="0">
                    <a:latin typeface="BIZ UDPゴシック" panose="020B0400000000000000" pitchFamily="50" charset="-128"/>
                    <a:ea typeface="BIZ UDPゴシック" panose="020B0400000000000000" pitchFamily="50" charset="-128"/>
                  </a:rPr>
                  <a:t>JAGS</a:t>
                </a:r>
                <a:r>
                  <a:rPr kumimoji="1" lang="ja-JP" altLang="en-US" sz="1600" dirty="0">
                    <a:latin typeface="BIZ UDPゴシック" panose="020B0400000000000000" pitchFamily="50" charset="-128"/>
                    <a:ea typeface="BIZ UDPゴシック" panose="020B0400000000000000" pitchFamily="50" charset="-128"/>
                  </a:rPr>
                  <a:t>が</a:t>
                </a:r>
                <a:r>
                  <a:rPr kumimoji="1" lang="en-US" altLang="ja-JP" sz="1600" dirty="0">
                    <a:latin typeface="BIZ UDPゴシック" panose="020B0400000000000000" pitchFamily="50" charset="-128"/>
                    <a:ea typeface="BIZ UDPゴシック" panose="020B0400000000000000" pitchFamily="50" charset="-128"/>
                  </a:rPr>
                  <a:t>MCMC</a:t>
                </a:r>
                <a:r>
                  <a:rPr kumimoji="1" lang="ja-JP" altLang="en-US" sz="1600" dirty="0">
                    <a:latin typeface="BIZ UDPゴシック" panose="020B0400000000000000" pitchFamily="50" charset="-128"/>
                    <a:ea typeface="BIZ UDPゴシック" panose="020B0400000000000000" pitchFamily="50" charset="-128"/>
                  </a:rPr>
                  <a:t>によって、データを考慮したパラメータの事後分布を推定する。</a:t>
                </a:r>
                <a:endParaRPr kumimoji="1" lang="en-US" altLang="ja-JP" sz="1600" dirty="0">
                  <a:latin typeface="BIZ UDPゴシック" panose="020B0400000000000000" pitchFamily="50" charset="-128"/>
                  <a:ea typeface="BIZ UDPゴシック" panose="020B0400000000000000" pitchFamily="50" charset="-128"/>
                </a:endParaRPr>
              </a:p>
              <a:p>
                <a:pPr marL="0" indent="0">
                  <a:buNone/>
                </a:pPr>
                <a:r>
                  <a:rPr lang="ja-JP" altLang="en-US" sz="1600" dirty="0">
                    <a:latin typeface="BIZ UDPゴシック" panose="020B0400000000000000" pitchFamily="50" charset="-128"/>
                    <a:ea typeface="BIZ UDPゴシック" panose="020B0400000000000000" pitchFamily="50" charset="-128"/>
                  </a:rPr>
                  <a:t>という流れになります。</a:t>
                </a:r>
                <a:endParaRPr lang="en-US" altLang="ja-JP" sz="1600" dirty="0">
                  <a:latin typeface="BIZ UDPゴシック" panose="020B0400000000000000" pitchFamily="50" charset="-128"/>
                  <a:ea typeface="BIZ UDPゴシック" panose="020B0400000000000000" pitchFamily="50" charset="-128"/>
                </a:endParaRPr>
              </a:p>
              <a:p>
                <a:pPr marL="0" indent="0">
                  <a:buNone/>
                </a:pPr>
                <a:endParaRPr lang="en-US" altLang="ja-JP" sz="1600" dirty="0">
                  <a:latin typeface="BIZ UDPゴシック" panose="020B0400000000000000" pitchFamily="50" charset="-128"/>
                  <a:ea typeface="BIZ UDPゴシック" panose="020B0400000000000000" pitchFamily="50" charset="-128"/>
                </a:endParaRPr>
              </a:p>
              <a:p>
                <a:pPr marL="0" indent="0">
                  <a:buNone/>
                </a:pP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　どうして尤度に </a:t>
                </a:r>
                <a:r>
                  <a:rPr lang="en-US" altLang="ja-JP" sz="1600" dirty="0">
                    <a:latin typeface="BIZ UDPゴシック" panose="020B0400000000000000" pitchFamily="50" charset="-128"/>
                    <a:ea typeface="BIZ UDPゴシック" panose="020B0400000000000000" pitchFamily="50" charset="-128"/>
                  </a:rPr>
                  <a:t>for </a:t>
                </a:r>
                <a:r>
                  <a:rPr lang="ja-JP" altLang="en-US" sz="1600" dirty="0">
                    <a:latin typeface="BIZ UDPゴシック" panose="020B0400000000000000" pitchFamily="50" charset="-128"/>
                    <a:ea typeface="BIZ UDPゴシック" panose="020B0400000000000000" pitchFamily="50" charset="-128"/>
                  </a:rPr>
                  <a:t>文が必要なのか？</a:t>
                </a:r>
                <a:br>
                  <a:rPr lang="en-US" altLang="ja-JP" sz="1600" dirty="0">
                    <a:latin typeface="BIZ UDPゴシック" panose="020B0400000000000000" pitchFamily="50" charset="-128"/>
                    <a:ea typeface="BIZ UDPゴシック" panose="020B0400000000000000" pitchFamily="50" charset="-128"/>
                  </a:rPr>
                </a:br>
                <a:r>
                  <a:rPr lang="en-US" altLang="ja-JP" sz="1600" dirty="0">
                    <a:latin typeface="BIZ UDPゴシック" panose="020B0400000000000000" pitchFamily="50" charset="-128"/>
                    <a:ea typeface="BIZ UDPゴシック" panose="020B0400000000000000" pitchFamily="50" charset="-128"/>
                  </a:rPr>
                  <a:t>1000</a:t>
                </a:r>
                <a:r>
                  <a:rPr lang="ja-JP" altLang="en-US" sz="1600" dirty="0">
                    <a:latin typeface="BIZ UDPゴシック" panose="020B0400000000000000" pitchFamily="50" charset="-128"/>
                    <a:ea typeface="BIZ UDPゴシック" panose="020B0400000000000000" pitchFamily="50" charset="-128"/>
                  </a:rPr>
                  <a:t>羽の体重について、それぞれ同じ正規分布に従うと仮定するためです。このモデルでは個体間の観測が条件付きで独立と仮定され、尤度は次のようになります。</a:t>
                </a:r>
                <a:endParaRPr lang="en-US" altLang="ja-JP" sz="1600" dirty="0">
                  <a:latin typeface="BIZ UDPゴシック" panose="020B0400000000000000" pitchFamily="50" charset="-128"/>
                  <a:ea typeface="BIZ UDPゴシック" panose="020B0400000000000000" pitchFamily="50" charset="-128"/>
                </a:endParaRPr>
              </a:p>
              <a:p>
                <a:pPr marL="0" indent="0">
                  <a:buNone/>
                </a:pPr>
                <a14:m>
                  <m:oMathPara xmlns:m="http://schemas.openxmlformats.org/officeDocument/2006/math">
                    <m:oMath>
                      <m:r>
                        <a:rPr lang="en-US" altLang="ja-JP" sz="1600" i="1" dirty="0" smtClean="0">
                          <a:latin typeface="Cambria Math" panose="02040503050406030204" pitchFamily="18" charset="0"/>
                        </a:rPr>
                        <m:t>𝐿</m:t>
                      </m:r>
                      <m:d>
                        <m:dPr>
                          <m:ctrlPr>
                            <a:rPr lang="en-US" altLang="ja-JP" sz="1600" i="1" dirty="0" smtClean="0">
                              <a:latin typeface="Cambria Math" panose="02040503050406030204" pitchFamily="18" charset="0"/>
                            </a:rPr>
                          </m:ctrlPr>
                        </m:dPr>
                        <m:e>
                          <m:r>
                            <a:rPr lang="en-US" altLang="ja-JP" sz="1600" i="1" dirty="0" smtClean="0">
                              <a:latin typeface="Cambria Math" panose="02040503050406030204" pitchFamily="18" charset="0"/>
                            </a:rPr>
                            <m:t>𝜇</m:t>
                          </m:r>
                          <m:r>
                            <a:rPr lang="en-US" altLang="ja-JP" sz="1600" i="0" dirty="0" smtClean="0">
                              <a:latin typeface="Cambria Math" panose="02040503050406030204" pitchFamily="18" charset="0"/>
                            </a:rPr>
                            <m:t>,</m:t>
                          </m:r>
                          <m:r>
                            <a:rPr lang="en-US" altLang="ja-JP" sz="1600" i="1" dirty="0" smtClean="0">
                              <a:latin typeface="Cambria Math" panose="02040503050406030204" pitchFamily="18" charset="0"/>
                            </a:rPr>
                            <m:t>𝜎</m:t>
                          </m:r>
                          <m:r>
                            <a:rPr lang="en-US" altLang="ja-JP" sz="1600" i="0" dirty="0" smtClean="0">
                              <a:latin typeface="Cambria Math" panose="02040503050406030204" pitchFamily="18" charset="0"/>
                            </a:rPr>
                            <m:t>∣</m:t>
                          </m:r>
                          <m:r>
                            <a:rPr lang="en-US" altLang="ja-JP" sz="1600" i="1" dirty="0" smtClean="0">
                              <a:latin typeface="Cambria Math" panose="02040503050406030204" pitchFamily="18" charset="0"/>
                            </a:rPr>
                            <m:t>𝑦</m:t>
                          </m:r>
                        </m:e>
                      </m:d>
                      <m:r>
                        <a:rPr lang="en-US" altLang="ja-JP" sz="1600" i="0" dirty="0" smtClean="0">
                          <a:latin typeface="Cambria Math" panose="02040503050406030204" pitchFamily="18" charset="0"/>
                        </a:rPr>
                        <m:t>=</m:t>
                      </m:r>
                      <m:nary>
                        <m:naryPr>
                          <m:chr m:val="∏"/>
                          <m:limLoc m:val="undOvr"/>
                          <m:ctrlPr>
                            <a:rPr lang="en-US" altLang="ja-JP" sz="1600" i="1" dirty="0" smtClean="0">
                              <a:latin typeface="Cambria Math" panose="02040503050406030204" pitchFamily="18" charset="0"/>
                            </a:rPr>
                          </m:ctrlPr>
                        </m:naryPr>
                        <m:sub>
                          <m:r>
                            <a:rPr lang="en-US" altLang="ja-JP" sz="1600" i="1" dirty="0" smtClean="0">
                              <a:latin typeface="Cambria Math" panose="02040503050406030204" pitchFamily="18" charset="0"/>
                            </a:rPr>
                            <m:t>𝑖</m:t>
                          </m:r>
                          <m:r>
                            <a:rPr lang="en-US" altLang="ja-JP" sz="1600" i="0" dirty="0" smtClean="0">
                              <a:latin typeface="Cambria Math" panose="02040503050406030204" pitchFamily="18" charset="0"/>
                            </a:rPr>
                            <m:t>=1</m:t>
                          </m:r>
                        </m:sub>
                        <m:sup>
                          <m:r>
                            <a:rPr lang="en-US" altLang="ja-JP" sz="1600" i="0" dirty="0" smtClean="0">
                              <a:latin typeface="Cambria Math" panose="02040503050406030204" pitchFamily="18" charset="0"/>
                            </a:rPr>
                            <m:t>1000</m:t>
                          </m:r>
                        </m:sup>
                        <m:e>
                          <m:r>
                            <a:rPr lang="en-US" altLang="ja-JP" sz="1600" i="1" dirty="0" smtClean="0">
                              <a:latin typeface="Cambria Math" panose="02040503050406030204" pitchFamily="18" charset="0"/>
                            </a:rPr>
                            <m:t>𝑓</m:t>
                          </m:r>
                        </m:e>
                      </m:nary>
                      <m:d>
                        <m:dPr>
                          <m:ctrlPr>
                            <a:rPr lang="en-US" altLang="ja-JP" sz="1600" i="1" dirty="0" smtClean="0">
                              <a:latin typeface="Cambria Math" panose="02040503050406030204" pitchFamily="18" charset="0"/>
                            </a:rPr>
                          </m:ctrlPr>
                        </m:dPr>
                        <m:e>
                          <m:sSub>
                            <m:sSubPr>
                              <m:ctrlPr>
                                <a:rPr lang="en-US" altLang="ja-JP" sz="1600" i="1" dirty="0" smtClean="0">
                                  <a:latin typeface="Cambria Math" panose="02040503050406030204" pitchFamily="18" charset="0"/>
                                </a:rPr>
                              </m:ctrlPr>
                            </m:sSubPr>
                            <m:e>
                              <m:r>
                                <a:rPr lang="en-US" altLang="ja-JP" sz="1600" i="1" dirty="0" smtClean="0">
                                  <a:latin typeface="Cambria Math" panose="02040503050406030204" pitchFamily="18" charset="0"/>
                                </a:rPr>
                                <m:t>𝑦</m:t>
                              </m:r>
                            </m:e>
                            <m:sub>
                              <m:r>
                                <a:rPr lang="en-US" altLang="ja-JP" sz="1600" i="1" dirty="0" smtClean="0">
                                  <a:latin typeface="Cambria Math" panose="02040503050406030204" pitchFamily="18" charset="0"/>
                                </a:rPr>
                                <m:t>𝑖</m:t>
                              </m:r>
                            </m:sub>
                          </m:sSub>
                          <m:r>
                            <a:rPr lang="en-US" altLang="ja-JP" sz="1600" i="0" dirty="0" smtClean="0">
                              <a:latin typeface="Cambria Math" panose="02040503050406030204" pitchFamily="18" charset="0"/>
                            </a:rPr>
                            <m:t>∣</m:t>
                          </m:r>
                          <m:r>
                            <a:rPr lang="en-US" altLang="ja-JP" sz="1600" i="1" dirty="0" smtClean="0">
                              <a:latin typeface="Cambria Math" panose="02040503050406030204" pitchFamily="18" charset="0"/>
                            </a:rPr>
                            <m:t>𝜇</m:t>
                          </m:r>
                          <m:r>
                            <a:rPr lang="en-US" altLang="ja-JP" sz="1600" i="0" dirty="0" smtClean="0">
                              <a:latin typeface="Cambria Math" panose="02040503050406030204" pitchFamily="18" charset="0"/>
                            </a:rPr>
                            <m:t>,</m:t>
                          </m:r>
                          <m:r>
                            <a:rPr lang="en-US" altLang="ja-JP" sz="1600" i="1" dirty="0" smtClean="0">
                              <a:latin typeface="Cambria Math" panose="02040503050406030204" pitchFamily="18" charset="0"/>
                            </a:rPr>
                            <m:t>𝜎</m:t>
                          </m:r>
                        </m:e>
                      </m:d>
                    </m:oMath>
                  </m:oMathPara>
                </a14:m>
                <a:endParaRPr lang="en-US" altLang="ja-JP" sz="1600" dirty="0">
                  <a:latin typeface="BIZ UDPゴシック" panose="020B0400000000000000" pitchFamily="50" charset="-128"/>
                  <a:ea typeface="BIZ UDPゴシック" panose="020B0400000000000000" pitchFamily="50" charset="-128"/>
                </a:endParaRPr>
              </a:p>
              <a:p>
                <a:pPr marL="0" indent="0">
                  <a:buNone/>
                </a:pPr>
                <a:r>
                  <a:rPr lang="ja-JP" altLang="en-US" sz="1600" dirty="0">
                    <a:latin typeface="BIZ UDPゴシック" panose="020B0400000000000000" pitchFamily="50" charset="-128"/>
                    <a:ea typeface="BIZ UDPゴシック" panose="020B0400000000000000" pitchFamily="50" charset="-128"/>
                  </a:rPr>
                  <a:t>この積を使って、観測データが未知パラメータについてどのような情報を与えるかを表現します。</a:t>
                </a:r>
                <a:endParaRPr lang="en-US" altLang="ja-JP" sz="1600" dirty="0">
                  <a:latin typeface="BIZ UDPゴシック" panose="020B0400000000000000" pitchFamily="50" charset="-128"/>
                  <a:ea typeface="BIZ UDPゴシック" panose="020B0400000000000000" pitchFamily="50" charset="-128"/>
                </a:endParaRPr>
              </a:p>
              <a:p>
                <a:pPr marL="0" indent="0">
                  <a:buNone/>
                </a:pPr>
                <a:endParaRPr kumimoji="1" lang="ja-JP" altLang="en-US" sz="1600" dirty="0">
                  <a:latin typeface="BIZ UDPゴシック" panose="020B0400000000000000" pitchFamily="50" charset="-128"/>
                  <a:ea typeface="BIZ UDPゴシック" panose="020B0400000000000000" pitchFamily="50" charset="-128"/>
                </a:endParaRPr>
              </a:p>
            </p:txBody>
          </p:sp>
        </mc:Choice>
        <mc:Fallback xmlns="">
          <p:sp>
            <p:nvSpPr>
              <p:cNvPr id="3" name="コンテンツ プレースホルダー 2">
                <a:extLst>
                  <a:ext uri="{FF2B5EF4-FFF2-40B4-BE49-F238E27FC236}">
                    <a16:creationId xmlns:a16="http://schemas.microsoft.com/office/drawing/2014/main" id="{A9481EC0-C033-F381-3A77-C1B4427D5777}"/>
                  </a:ext>
                </a:extLst>
              </p:cNvPr>
              <p:cNvSpPr>
                <a:spLocks noGrp="1" noRot="1" noChangeAspect="1" noMove="1" noResize="1" noEditPoints="1" noAdjustHandles="1" noChangeArrowheads="1" noChangeShapeType="1" noTextEdit="1"/>
              </p:cNvSpPr>
              <p:nvPr>
                <p:ph idx="1"/>
              </p:nvPr>
            </p:nvSpPr>
            <p:spPr>
              <a:xfrm>
                <a:off x="5338618" y="452582"/>
                <a:ext cx="6446982" cy="5724381"/>
              </a:xfrm>
              <a:blipFill>
                <a:blip r:embed="rId2"/>
                <a:stretch>
                  <a:fillRect l="-568" t="-745"/>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CCF85C6E-16A3-1F1E-9ED8-2899F7E87FE1}"/>
              </a:ext>
            </a:extLst>
          </p:cNvPr>
          <p:cNvPicPr>
            <a:picLocks noChangeAspect="1"/>
          </p:cNvPicPr>
          <p:nvPr/>
        </p:nvPicPr>
        <p:blipFill>
          <a:blip r:embed="rId3"/>
          <a:stretch>
            <a:fillRect/>
          </a:stretch>
        </p:blipFill>
        <p:spPr>
          <a:xfrm>
            <a:off x="141421" y="0"/>
            <a:ext cx="4852575" cy="6858000"/>
          </a:xfrm>
          <a:prstGeom prst="rect">
            <a:avLst/>
          </a:prstGeom>
        </p:spPr>
      </p:pic>
    </p:spTree>
    <p:extLst>
      <p:ext uri="{BB962C8B-B14F-4D97-AF65-F5344CB8AC3E}">
        <p14:creationId xmlns:p14="http://schemas.microsoft.com/office/powerpoint/2010/main" val="2791536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RからBUGSモデルを生成</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yᵢ ~ Normal(μ,σ²)</a:t>
            </a:r>
          </a:p>
          <a:p>
            <a:pPr>
              <a:spcAft>
                <a:spcPts val="400"/>
              </a:spcAft>
              <a:defRPr sz="1500" b="0">
                <a:solidFill>
                  <a:srgbClr val="1C2A36"/>
                </a:solidFill>
                <a:latin typeface="Yu Gothic"/>
              </a:defRPr>
            </a:pPr>
            <a:r>
              <a:t>μ ~ Uniform(0,5000)</a:t>
            </a:r>
          </a:p>
          <a:p>
            <a:pPr>
              <a:spcAft>
                <a:spcPts val="400"/>
              </a:spcAft>
              <a:defRPr sz="1500" b="0">
                <a:solidFill>
                  <a:srgbClr val="1C2A36"/>
                </a:solidFill>
                <a:latin typeface="Yu Gothic"/>
              </a:defRPr>
            </a:pPr>
            <a:r>
              <a:t>σ ~ Uniform(0,100)</a:t>
            </a:r>
          </a:p>
          <a:p>
            <a:pPr>
              <a:spcAft>
                <a:spcPts val="400"/>
              </a:spcAft>
              <a:defRPr sz="1500" b="0">
                <a:solidFill>
                  <a:srgbClr val="1C2A36"/>
                </a:solidFill>
                <a:latin typeface="Yu Gothic"/>
              </a:defRPr>
            </a:pPr>
            <a:r>
              <a:t>精度 τ = 1/σ²</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Rのlistに観測値とnを格納</a:t>
            </a:r>
          </a:p>
          <a:p>
            <a:pPr>
              <a:spcAft>
                <a:spcPts val="400"/>
              </a:spcAft>
              <a:defRPr sz="1400" b="0">
                <a:solidFill>
                  <a:srgbClr val="1C2A36"/>
                </a:solidFill>
                <a:latin typeface="Yu Gothic"/>
              </a:defRPr>
            </a:pPr>
            <a:r>
              <a:t>② cat()でBUGSコードをtxtに保存</a:t>
            </a:r>
          </a:p>
          <a:p>
            <a:pPr>
              <a:spcAft>
                <a:spcPts val="400"/>
              </a:spcAft>
              <a:defRPr sz="1400" b="0">
                <a:solidFill>
                  <a:srgbClr val="1C2A36"/>
                </a:solidFill>
                <a:latin typeface="Yu Gothic"/>
              </a:defRPr>
            </a:pPr>
            <a:r>
              <a:t>③ ~ は確率分布の指定</a:t>
            </a:r>
          </a:p>
          <a:p>
            <a:pPr>
              <a:spcAft>
                <a:spcPts val="400"/>
              </a:spcAft>
              <a:defRPr sz="1400" b="0">
                <a:solidFill>
                  <a:srgbClr val="1C2A36"/>
                </a:solidFill>
                <a:latin typeface="Yu Gothic"/>
              </a:defRPr>
            </a:pPr>
            <a:r>
              <a:t>④ &lt;- は決定論的な値の定義</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dataList &lt;- list(mass=y1000,</a:t>
            </a:r>
          </a:p>
          <a:p>
            <a:pPr>
              <a:spcAft>
                <a:spcPts val="400"/>
              </a:spcAft>
              <a:defRPr sz="1300" b="0">
                <a:solidFill>
                  <a:srgbClr val="1C2A36"/>
                </a:solidFill>
                <a:latin typeface="Consolas"/>
              </a:defRPr>
            </a:pPr>
            <a:r>
              <a:t>                 n=length(y1000))</a:t>
            </a:r>
          </a:p>
          <a:p>
            <a:pPr>
              <a:spcAft>
                <a:spcPts val="400"/>
              </a:spcAft>
              <a:defRPr sz="1300" b="0">
                <a:solidFill>
                  <a:srgbClr val="1C2A36"/>
                </a:solidFill>
                <a:latin typeface="Consolas"/>
              </a:defRPr>
            </a:pPr>
            <a:r>
              <a:t>cat(file="model4.4.txt", "</a:t>
            </a:r>
          </a:p>
          <a:p>
            <a:pPr>
              <a:spcAft>
                <a:spcPts val="400"/>
              </a:spcAft>
              <a:defRPr sz="1300" b="0">
                <a:solidFill>
                  <a:srgbClr val="1C2A36"/>
                </a:solidFill>
                <a:latin typeface="Consolas"/>
              </a:defRPr>
            </a:pPr>
            <a:r>
              <a:t>model {</a:t>
            </a:r>
          </a:p>
          <a:p>
            <a:pPr>
              <a:spcAft>
                <a:spcPts val="400"/>
              </a:spcAft>
              <a:defRPr sz="1300" b="0">
                <a:solidFill>
                  <a:srgbClr val="1C2A36"/>
                </a:solidFill>
                <a:latin typeface="Consolas"/>
              </a:defRPr>
            </a:pPr>
            <a:r>
              <a:t>  pop.mean ~ dunif(0,5000)</a:t>
            </a:r>
          </a:p>
          <a:p>
            <a:pPr>
              <a:spcAft>
                <a:spcPts val="400"/>
              </a:spcAft>
              <a:defRPr sz="1300" b="0">
                <a:solidFill>
                  <a:srgbClr val="1C2A36"/>
                </a:solidFill>
                <a:latin typeface="Consolas"/>
              </a:defRPr>
            </a:pPr>
            <a:r>
              <a:t>  pop.sd ~ dunif(0,100)</a:t>
            </a:r>
          </a:p>
          <a:p>
            <a:pPr>
              <a:spcAft>
                <a:spcPts val="400"/>
              </a:spcAft>
              <a:defRPr sz="1300" b="0">
                <a:solidFill>
                  <a:srgbClr val="1C2A36"/>
                </a:solidFill>
                <a:latin typeface="Consolas"/>
              </a:defRPr>
            </a:pPr>
            <a:r>
              <a:t>  pop.var &lt;- pop.sd*pop.sd</a:t>
            </a:r>
          </a:p>
          <a:p>
            <a:pPr>
              <a:spcAft>
                <a:spcPts val="400"/>
              </a:spcAft>
              <a:defRPr sz="1300" b="0">
                <a:solidFill>
                  <a:srgbClr val="1C2A36"/>
                </a:solidFill>
                <a:latin typeface="Consolas"/>
              </a:defRPr>
            </a:pPr>
            <a:r>
              <a:t>  precision &lt;- 1/pop.var</a:t>
            </a:r>
          </a:p>
          <a:p>
            <a:pPr>
              <a:spcAft>
                <a:spcPts val="400"/>
              </a:spcAft>
              <a:defRPr sz="1300" b="0">
                <a:solidFill>
                  <a:srgbClr val="1C2A36"/>
                </a:solidFill>
                <a:latin typeface="Consolas"/>
              </a:defRPr>
            </a:pPr>
            <a:r>
              <a:t>  for (i in 1:n) {</a:t>
            </a:r>
          </a:p>
          <a:p>
            <a:pPr>
              <a:spcAft>
                <a:spcPts val="400"/>
              </a:spcAft>
              <a:defRPr sz="1300" b="0">
                <a:solidFill>
                  <a:srgbClr val="1C2A36"/>
                </a:solidFill>
                <a:latin typeface="Consolas"/>
              </a:defRPr>
            </a:pPr>
            <a:r>
              <a:t>    mass[i] ~ dnorm(pop.mean,precision)</a:t>
            </a:r>
          </a:p>
          <a:p>
            <a:pPr>
              <a:spcAft>
                <a:spcPts val="400"/>
              </a:spcAft>
              <a:defRPr sz="1300" b="0">
                <a:solidFill>
                  <a:srgbClr val="1C2A36"/>
                </a:solidFill>
                <a:latin typeface="Consolas"/>
              </a:defRPr>
            </a:pPr>
            <a:r>
              <a:t>  }</a:t>
            </a:r>
          </a:p>
          <a:p>
            <a:pPr>
              <a:spcAft>
                <a:spcPts val="400"/>
              </a:spcAft>
              <a:defRPr sz="1300" b="0">
                <a:solidFill>
                  <a:srgbClr val="1C2A36"/>
                </a:solidFill>
                <a:latin typeface="Consolas"/>
              </a:defRPr>
            </a:pPr>
            <a:r>
              <a:t>}")</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JAGSのdnorm(平均,精度)とRのdnorm(x,平均,標準偏差)を混同しない。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初期値・監視変数・MCMC設定</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未知：μ, σ</a:t>
            </a:r>
          </a:p>
          <a:p>
            <a:pPr>
              <a:spcAft>
                <a:spcPts val="400"/>
              </a:spcAft>
              <a:defRPr sz="1500" b="0">
                <a:solidFill>
                  <a:srgbClr val="1C2A36"/>
                </a:solidFill>
                <a:latin typeface="Yu Gothic"/>
              </a:defRPr>
            </a:pPr>
            <a:r>
              <a:t>派生量：σ²</a:t>
            </a:r>
          </a:p>
          <a:p>
            <a:pPr>
              <a:spcAft>
                <a:spcPts val="400"/>
              </a:spcAft>
              <a:defRPr sz="1500" b="0">
                <a:solidFill>
                  <a:srgbClr val="1C2A36"/>
                </a:solidFill>
                <a:latin typeface="Yu Gothic"/>
              </a:defRPr>
            </a:pPr>
            <a:r>
              <a:t>適応：1000 / 各チェーン12000回</a:t>
            </a:r>
          </a:p>
          <a:p>
            <a:pPr>
              <a:spcAft>
                <a:spcPts val="400"/>
              </a:spcAft>
              <a:defRPr sz="1500" b="0">
                <a:solidFill>
                  <a:srgbClr val="1C2A36"/>
                </a:solidFill>
                <a:latin typeface="Yu Gothic"/>
              </a:defRPr>
            </a:pPr>
            <a:r>
              <a:t>バーンイン：2000 / 4チェーン</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初期値はチェーンごとに生成</a:t>
            </a:r>
          </a:p>
          <a:p>
            <a:pPr>
              <a:spcAft>
                <a:spcPts val="400"/>
              </a:spcAft>
              <a:defRPr sz="1400" b="0">
                <a:solidFill>
                  <a:srgbClr val="1C2A36"/>
                </a:solidFill>
                <a:latin typeface="Yu Gothic"/>
              </a:defRPr>
            </a:pPr>
            <a:r>
              <a:t>② 保存するパラメータを指定</a:t>
            </a:r>
          </a:p>
          <a:p>
            <a:pPr>
              <a:spcAft>
                <a:spcPts val="400"/>
              </a:spcAft>
              <a:defRPr sz="1400" b="0">
                <a:solidFill>
                  <a:srgbClr val="1C2A36"/>
                </a:solidFill>
                <a:latin typeface="Yu Gothic"/>
              </a:defRPr>
            </a:pPr>
            <a:r>
              <a:t>③ 適応段階を設定</a:t>
            </a:r>
          </a:p>
          <a:p>
            <a:pPr>
              <a:spcAft>
                <a:spcPts val="400"/>
              </a:spcAft>
              <a:defRPr sz="1400" b="0">
                <a:solidFill>
                  <a:srgbClr val="1C2A36"/>
                </a:solidFill>
                <a:latin typeface="Yu Gothic"/>
              </a:defRPr>
            </a:pPr>
            <a:r>
              <a:t>④ バーンイン後のサンプルを保存</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inits &lt;- function() {</a:t>
            </a:r>
          </a:p>
          <a:p>
            <a:pPr>
              <a:spcAft>
                <a:spcPts val="400"/>
              </a:spcAft>
              <a:defRPr sz="1300" b="0">
                <a:solidFill>
                  <a:srgbClr val="1C2A36"/>
                </a:solidFill>
                <a:latin typeface="Consolas"/>
              </a:defRPr>
            </a:pPr>
            <a:r>
              <a:t>  list(pop.mean=rnorm(1,600),</a:t>
            </a:r>
          </a:p>
          <a:p>
            <a:pPr>
              <a:spcAft>
                <a:spcPts val="400"/>
              </a:spcAft>
              <a:defRPr sz="1300" b="0">
                <a:solidFill>
                  <a:srgbClr val="1C2A36"/>
                </a:solidFill>
                <a:latin typeface="Consolas"/>
              </a:defRPr>
            </a:pPr>
            <a:r>
              <a:t>       pop.sd=runif(1,1,30))</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params &lt;- c("pop.mean","pop.sd","pop.var")</a:t>
            </a:r>
          </a:p>
          <a:p>
            <a:pPr>
              <a:spcAft>
                <a:spcPts val="400"/>
              </a:spcAft>
              <a:defRPr sz="1300" b="0">
                <a:solidFill>
                  <a:srgbClr val="1C2A36"/>
                </a:solidFill>
                <a:latin typeface="Consolas"/>
              </a:defRPr>
            </a:pPr>
            <a:r>
              <a:t>na &lt;- 1000</a:t>
            </a:r>
          </a:p>
          <a:p>
            <a:pPr>
              <a:spcAft>
                <a:spcPts val="400"/>
              </a:spcAft>
              <a:defRPr sz="1300" b="0">
                <a:solidFill>
                  <a:srgbClr val="1C2A36"/>
                </a:solidFill>
                <a:latin typeface="Consolas"/>
              </a:defRPr>
            </a:pPr>
            <a:r>
              <a:t>ni &lt;- 12000</a:t>
            </a:r>
          </a:p>
          <a:p>
            <a:pPr>
              <a:spcAft>
                <a:spcPts val="400"/>
              </a:spcAft>
              <a:defRPr sz="1300" b="0">
                <a:solidFill>
                  <a:srgbClr val="1C2A36"/>
                </a:solidFill>
                <a:latin typeface="Consolas"/>
              </a:defRPr>
            </a:pPr>
            <a:r>
              <a:t>nb &lt;- 2000</a:t>
            </a:r>
          </a:p>
          <a:p>
            <a:pPr>
              <a:spcAft>
                <a:spcPts val="400"/>
              </a:spcAft>
              <a:defRPr sz="1300" b="0">
                <a:solidFill>
                  <a:srgbClr val="1C2A36"/>
                </a:solidFill>
                <a:latin typeface="Consolas"/>
              </a:defRPr>
            </a:pPr>
            <a:r>
              <a:t>nc &lt;- 4</a:t>
            </a:r>
          </a:p>
          <a:p>
            <a:pPr>
              <a:spcAft>
                <a:spcPts val="400"/>
              </a:spcAft>
              <a:defRPr sz="1300" b="0">
                <a:solidFill>
                  <a:srgbClr val="1C2A36"/>
                </a:solidFill>
                <a:latin typeface="Consolas"/>
              </a:defRPr>
            </a:pPr>
            <a:r>
              <a:t>nt &lt;- 1</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n.iterはバーンインを含む設定。</a:t>
            </a:r>
          </a:p>
          <a:p>
            <a:pPr>
              <a:spcAft>
                <a:spcPts val="400"/>
              </a:spcAft>
              <a:defRPr sz="1300" b="0">
                <a:solidFill>
                  <a:srgbClr val="1C2A36"/>
                </a:solidFill>
                <a:latin typeface="Yu Gothic"/>
              </a:defRPr>
            </a:pPr>
            <a:r>
              <a:t>保存数の目安：(12000−2000)×4=40000（間引きなし）。</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実行・並列化・収束診断</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対象：4チェーンの事後分布サンプル</a:t>
            </a:r>
          </a:p>
          <a:p>
            <a:pPr>
              <a:spcAft>
                <a:spcPts val="400"/>
              </a:spcAft>
              <a:defRPr sz="1500" b="0">
                <a:solidFill>
                  <a:srgbClr val="1C2A36"/>
                </a:solidFill>
                <a:latin typeface="Yu Gothic"/>
              </a:defRPr>
            </a:pPr>
            <a:r>
              <a:t>Rhatはチェーン間の整合性を確認</a:t>
            </a:r>
          </a:p>
          <a:p>
            <a:pPr>
              <a:spcAft>
                <a:spcPts val="400"/>
              </a:spcAft>
              <a:defRPr sz="1500" b="0">
                <a:solidFill>
                  <a:srgbClr val="1C2A36"/>
                </a:solidFill>
                <a:latin typeface="Yu Gothic"/>
              </a:defRPr>
            </a:pPr>
            <a:r>
              <a:t>トレース図は混合・停滞を観察</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jags()で4チェーンを実行</a:t>
            </a:r>
          </a:p>
          <a:p>
            <a:pPr>
              <a:spcAft>
                <a:spcPts val="400"/>
              </a:spcAft>
              <a:defRPr sz="1400" b="0">
                <a:solidFill>
                  <a:srgbClr val="1C2A36"/>
                </a:solidFill>
                <a:latin typeface="Yu Gothic"/>
              </a:defRPr>
            </a:pPr>
            <a:r>
              <a:t>② parallel=TRUEなら並列処理</a:t>
            </a:r>
          </a:p>
          <a:p>
            <a:pPr>
              <a:spcAft>
                <a:spcPts val="400"/>
              </a:spcAft>
              <a:defRPr sz="1400" b="0">
                <a:solidFill>
                  <a:srgbClr val="1C2A36"/>
                </a:solidFill>
                <a:latin typeface="Yu Gothic"/>
              </a:defRPr>
            </a:pPr>
            <a:r>
              <a:t>③ traceplot()で混合を点検</a:t>
            </a:r>
          </a:p>
          <a:p>
            <a:pPr>
              <a:spcAft>
                <a:spcPts val="400"/>
              </a:spcAft>
              <a:defRPr sz="1400" b="0">
                <a:solidFill>
                  <a:srgbClr val="1C2A36"/>
                </a:solidFill>
                <a:latin typeface="Yu Gothic"/>
              </a:defRPr>
            </a:pPr>
            <a:r>
              <a:t>④ Rhat（この教材では閾値1.1）を確認</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out4.4 &lt;- jags(data=dataList, inits=inits,</a:t>
            </a:r>
          </a:p>
          <a:p>
            <a:pPr>
              <a:spcAft>
                <a:spcPts val="400"/>
              </a:spcAft>
              <a:defRPr sz="1300" b="0">
                <a:solidFill>
                  <a:srgbClr val="1C2A36"/>
                </a:solidFill>
                <a:latin typeface="Consolas"/>
              </a:defRPr>
            </a:pPr>
            <a:r>
              <a:t>  parameters.to.save=params,</a:t>
            </a:r>
          </a:p>
          <a:p>
            <a:pPr>
              <a:spcAft>
                <a:spcPts val="400"/>
              </a:spcAft>
              <a:defRPr sz="1300" b="0">
                <a:solidFill>
                  <a:srgbClr val="1C2A36"/>
                </a:solidFill>
                <a:latin typeface="Consolas"/>
              </a:defRPr>
            </a:pPr>
            <a:r>
              <a:t>  model.file="model4.4.txt",</a:t>
            </a:r>
          </a:p>
          <a:p>
            <a:pPr>
              <a:spcAft>
                <a:spcPts val="400"/>
              </a:spcAft>
              <a:defRPr sz="1300" b="0">
                <a:solidFill>
                  <a:srgbClr val="1C2A36"/>
                </a:solidFill>
                <a:latin typeface="Consolas"/>
              </a:defRPr>
            </a:pPr>
            <a:r>
              <a:t>  n.iter=ni, n.burnin=nb,</a:t>
            </a:r>
          </a:p>
          <a:p>
            <a:pPr>
              <a:spcAft>
                <a:spcPts val="400"/>
              </a:spcAft>
              <a:defRPr sz="1300" b="0">
                <a:solidFill>
                  <a:srgbClr val="1C2A36"/>
                </a:solidFill>
                <a:latin typeface="Consolas"/>
              </a:defRPr>
            </a:pPr>
            <a:r>
              <a:t>  n.chains=nc, n.thin=nt,</a:t>
            </a:r>
          </a:p>
          <a:p>
            <a:pPr>
              <a:spcAft>
                <a:spcPts val="400"/>
              </a:spcAft>
              <a:defRPr sz="1300" b="0">
                <a:solidFill>
                  <a:srgbClr val="1C2A36"/>
                </a:solidFill>
                <a:latin typeface="Consolas"/>
              </a:defRPr>
            </a:pPr>
            <a:r>
              <a:t>  n.adapt=na, parallel=TRUE)</a:t>
            </a:r>
          </a:p>
          <a:p>
            <a:pPr>
              <a:spcAft>
                <a:spcPts val="400"/>
              </a:spcAft>
              <a:defRPr sz="1300" b="0">
                <a:solidFill>
                  <a:srgbClr val="1C2A36"/>
                </a:solidFill>
                <a:latin typeface="Consolas"/>
              </a:defRPr>
            </a:pPr>
            <a:endParaRPr/>
          </a:p>
          <a:p>
            <a:pPr>
              <a:spcAft>
                <a:spcPts val="400"/>
              </a:spcAft>
              <a:defRPr sz="1300" b="0">
                <a:solidFill>
                  <a:srgbClr val="1C2A36"/>
                </a:solidFill>
                <a:latin typeface="Consolas"/>
              </a:defRPr>
            </a:pPr>
            <a:r>
              <a:t>jagsUI::traceplot(out4.4)</a:t>
            </a:r>
          </a:p>
          <a:p>
            <a:pPr>
              <a:spcAft>
                <a:spcPts val="400"/>
              </a:spcAft>
              <a:defRPr sz="1300" b="0">
                <a:solidFill>
                  <a:srgbClr val="1C2A36"/>
                </a:solidFill>
                <a:latin typeface="Consolas"/>
              </a:defRPr>
            </a:pPr>
            <a:r>
              <a:t>print(out4.4,3)</a:t>
            </a:r>
          </a:p>
          <a:p>
            <a:pPr>
              <a:spcAft>
                <a:spcPts val="400"/>
              </a:spcAft>
              <a:defRPr sz="1300" b="0">
                <a:solidFill>
                  <a:srgbClr val="1C2A36"/>
                </a:solidFill>
                <a:latin typeface="Consolas"/>
              </a:defRPr>
            </a:pPr>
            <a:r>
              <a:t>which(out4.4$summary[,8] &gt; 1.1)</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逐次実行結果は並列実行結果で上書きされる。</a:t>
            </a:r>
          </a:p>
          <a:p>
            <a:pPr>
              <a:spcAft>
                <a:spcPts val="400"/>
              </a:spcAft>
              <a:defRPr sz="1300" b="0">
                <a:solidFill>
                  <a:srgbClr val="1C2A36"/>
                </a:solidFill>
                <a:latin typeface="Yu Gothic"/>
              </a:defRPr>
            </a:pPr>
            <a:r>
              <a:t>Rhat&lt;1.1だけでは十分なサンプル品質を保証しない。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事後分布を取り出す</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周辺事後分布：p(μ|y), p(σ|y)</a:t>
            </a:r>
          </a:p>
          <a:p>
            <a:pPr>
              <a:spcAft>
                <a:spcPts val="400"/>
              </a:spcAft>
              <a:defRPr sz="1500" b="0">
                <a:solidFill>
                  <a:srgbClr val="1C2A36"/>
                </a:solidFill>
                <a:latin typeface="Yu Gothic"/>
              </a:defRPr>
            </a:pPr>
            <a:r>
              <a:t>同時事後分布：p(μ,σ|y)</a:t>
            </a:r>
          </a:p>
          <a:p>
            <a:pPr>
              <a:spcAft>
                <a:spcPts val="400"/>
              </a:spcAft>
              <a:defRPr sz="1500" b="0">
                <a:solidFill>
                  <a:srgbClr val="1C2A36"/>
                </a:solidFill>
                <a:latin typeface="Yu Gothic"/>
              </a:defRPr>
            </a:pPr>
            <a:r>
              <a:t>MCMCサンプルは条件判定にも使える</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サンプルを行列に変換</a:t>
            </a:r>
          </a:p>
          <a:p>
            <a:pPr>
              <a:spcAft>
                <a:spcPts val="400"/>
              </a:spcAft>
              <a:defRPr sz="1400" b="0">
                <a:solidFill>
                  <a:srgbClr val="1C2A36"/>
                </a:solidFill>
                <a:latin typeface="Yu Gothic"/>
              </a:defRPr>
            </a:pPr>
            <a:r>
              <a:t>② ヒストグラムと密度を描画</a:t>
            </a:r>
          </a:p>
          <a:p>
            <a:pPr>
              <a:spcAft>
                <a:spcPts val="400"/>
              </a:spcAft>
              <a:defRPr sz="1400" b="0">
                <a:solidFill>
                  <a:srgbClr val="1C2A36"/>
                </a:solidFill>
                <a:latin typeface="Yu Gothic"/>
              </a:defRPr>
            </a:pPr>
            <a:r>
              <a:t>③ 各サンプルで条件を判定</a:t>
            </a:r>
          </a:p>
          <a:p>
            <a:pPr>
              <a:spcAft>
                <a:spcPts val="400"/>
              </a:spcAft>
              <a:defRPr sz="1400" b="0">
                <a:solidFill>
                  <a:srgbClr val="1C2A36"/>
                </a:solidFill>
                <a:latin typeface="Yu Gothic"/>
              </a:defRPr>
            </a:pPr>
            <a:r>
              <a:t>④ TRUEの割合で事後確率を近似</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pars &lt;- colnames(out4.4$samples[[1]])[1:3]</a:t>
            </a:r>
          </a:p>
          <a:p>
            <a:pPr>
              <a:spcAft>
                <a:spcPts val="400"/>
              </a:spcAft>
              <a:defRPr sz="1300" b="0">
                <a:solidFill>
                  <a:srgbClr val="1C2A36"/>
                </a:solidFill>
                <a:latin typeface="Consolas"/>
              </a:defRPr>
            </a:pPr>
            <a:r>
              <a:t>for (i in pars) {</a:t>
            </a:r>
          </a:p>
          <a:p>
            <a:pPr>
              <a:spcAft>
                <a:spcPts val="400"/>
              </a:spcAft>
              <a:defRPr sz="1300" b="0">
                <a:solidFill>
                  <a:srgbClr val="1C2A36"/>
                </a:solidFill>
                <a:latin typeface="Consolas"/>
              </a:defRPr>
            </a:pPr>
            <a:r>
              <a:t>  samps &lt;- as.matrix(out4.4$samples[,i])</a:t>
            </a:r>
          </a:p>
          <a:p>
            <a:pPr>
              <a:spcAft>
                <a:spcPts val="400"/>
              </a:spcAft>
              <a:defRPr sz="1300" b="0">
                <a:solidFill>
                  <a:srgbClr val="1C2A36"/>
                </a:solidFill>
                <a:latin typeface="Consolas"/>
              </a:defRPr>
            </a:pPr>
            <a:r>
              <a:t>  hist(samps, breaks=100)</a:t>
            </a:r>
          </a:p>
          <a:p>
            <a:pPr>
              <a:spcAft>
                <a:spcPts val="400"/>
              </a:spcAft>
              <a:defRPr sz="1300" b="0">
                <a:solidFill>
                  <a:srgbClr val="1C2A36"/>
                </a:solidFill>
                <a:latin typeface="Consolas"/>
              </a:defRPr>
            </a:pPr>
            <a:r>
              <a:t>  plot(density(samps))</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sims &lt;- as.matrix(out4.4$samples)</a:t>
            </a:r>
          </a:p>
          <a:p>
            <a:pPr>
              <a:spcAft>
                <a:spcPts val="400"/>
              </a:spcAft>
              <a:defRPr sz="1300" b="0">
                <a:solidFill>
                  <a:srgbClr val="1C2A36"/>
                </a:solidFill>
                <a:latin typeface="Consolas"/>
              </a:defRPr>
            </a:pPr>
            <a:r>
              <a:t>mean(sims[,"pop.mean"] &lt; 597)</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mean(論理ベクトル)はTRUEの割合。</a:t>
            </a:r>
          </a:p>
          <a:p>
            <a:pPr>
              <a:spcAft>
                <a:spcPts val="400"/>
              </a:spcAft>
              <a:defRPr sz="1300" b="0">
                <a:solidFill>
                  <a:srgbClr val="1C2A36"/>
                </a:solidFill>
                <a:latin typeface="Yu Gothic"/>
              </a:defRPr>
            </a:pPr>
            <a:r>
              <a:t>ヒストグラムは推定点でなく分布全体を表す。</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2変量の事後確率</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P(μ &lt; 600, σ &gt; 30 | y)</a:t>
            </a:r>
          </a:p>
          <a:p>
            <a:pPr>
              <a:spcAft>
                <a:spcPts val="400"/>
              </a:spcAft>
              <a:defRPr sz="1500" b="0">
                <a:solidFill>
                  <a:srgbClr val="1C2A36"/>
                </a:solidFill>
                <a:latin typeface="Yu Gothic"/>
              </a:defRPr>
            </a:pPr>
            <a:r>
              <a:t>μ・σの結合サンプルを同時に判定</a:t>
            </a:r>
          </a:p>
          <a:p>
            <a:pPr>
              <a:spcAft>
                <a:spcPts val="400"/>
              </a:spcAft>
              <a:defRPr sz="1500" b="0">
                <a:solidFill>
                  <a:srgbClr val="1C2A36"/>
                </a:solidFill>
                <a:latin typeface="Yu Gothic"/>
              </a:defRPr>
            </a:pPr>
            <a:r>
              <a:t>論理積 &amp; を用いる</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全サンプルで2条件を判定</a:t>
            </a:r>
          </a:p>
          <a:p>
            <a:pPr>
              <a:spcAft>
                <a:spcPts val="400"/>
              </a:spcAft>
              <a:defRPr sz="1400" b="0">
                <a:solidFill>
                  <a:srgbClr val="1C2A36"/>
                </a:solidFill>
                <a:latin typeface="Yu Gothic"/>
              </a:defRPr>
            </a:pPr>
            <a:r>
              <a:t>② 条件成立の割合を計算</a:t>
            </a:r>
          </a:p>
          <a:p>
            <a:pPr>
              <a:spcAft>
                <a:spcPts val="400"/>
              </a:spcAft>
              <a:defRPr sz="1400" b="0">
                <a:solidFill>
                  <a:srgbClr val="1C2A36"/>
                </a:solidFill>
                <a:latin typeface="Yu Gothic"/>
              </a:defRPr>
            </a:pPr>
            <a:r>
              <a:t>③ 黒点＝全サンプル、赤点＝条件成立</a:t>
            </a:r>
          </a:p>
          <a:p>
            <a:pPr>
              <a:spcAft>
                <a:spcPts val="400"/>
              </a:spcAft>
              <a:defRPr sz="1400" b="0">
                <a:solidFill>
                  <a:srgbClr val="1C2A36"/>
                </a:solidFill>
                <a:latin typeface="Yu Gothic"/>
              </a:defRPr>
            </a:pPr>
            <a:r>
              <a:t>④ 境界線を縦横に表示</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test.true &lt;- sims[,"pop.mean"] &lt; 600 &amp;</a:t>
            </a:r>
          </a:p>
          <a:p>
            <a:pPr>
              <a:spcAft>
                <a:spcPts val="400"/>
              </a:spcAft>
              <a:defRPr sz="1300" b="0">
                <a:solidFill>
                  <a:srgbClr val="1C2A36"/>
                </a:solidFill>
                <a:latin typeface="Consolas"/>
              </a:defRPr>
            </a:pPr>
            <a:r>
              <a:t>             sims[,"pop.sd"] &gt; 30</a:t>
            </a:r>
          </a:p>
          <a:p>
            <a:pPr>
              <a:spcAft>
                <a:spcPts val="400"/>
              </a:spcAft>
              <a:defRPr sz="1300" b="0">
                <a:solidFill>
                  <a:srgbClr val="1C2A36"/>
                </a:solidFill>
                <a:latin typeface="Consolas"/>
              </a:defRPr>
            </a:pPr>
            <a:r>
              <a:t>mean(test.true)</a:t>
            </a:r>
          </a:p>
          <a:p>
            <a:pPr>
              <a:spcAft>
                <a:spcPts val="400"/>
              </a:spcAft>
              <a:defRPr sz="1300" b="0">
                <a:solidFill>
                  <a:srgbClr val="1C2A36"/>
                </a:solidFill>
                <a:latin typeface="Consolas"/>
              </a:defRPr>
            </a:pPr>
            <a:r>
              <a:t>plot(sims[,"pop.mean"], sims[,"pop.sd"],</a:t>
            </a:r>
          </a:p>
          <a:p>
            <a:pPr>
              <a:spcAft>
                <a:spcPts val="400"/>
              </a:spcAft>
              <a:defRPr sz="1300" b="0">
                <a:solidFill>
                  <a:srgbClr val="1C2A36"/>
                </a:solidFill>
                <a:latin typeface="Consolas"/>
              </a:defRPr>
            </a:pPr>
            <a:r>
              <a:t>     pch=16, col=rgb(0,0,0,0.3))</a:t>
            </a:r>
          </a:p>
          <a:p>
            <a:pPr>
              <a:spcAft>
                <a:spcPts val="400"/>
              </a:spcAft>
              <a:defRPr sz="1300" b="0">
                <a:solidFill>
                  <a:srgbClr val="1C2A36"/>
                </a:solidFill>
                <a:latin typeface="Consolas"/>
              </a:defRPr>
            </a:pPr>
            <a:r>
              <a:t>points(sims[test.true,"pop.mean"],</a:t>
            </a:r>
          </a:p>
          <a:p>
            <a:pPr>
              <a:spcAft>
                <a:spcPts val="400"/>
              </a:spcAft>
              <a:defRPr sz="1300" b="0">
                <a:solidFill>
                  <a:srgbClr val="1C2A36"/>
                </a:solidFill>
                <a:latin typeface="Consolas"/>
              </a:defRPr>
            </a:pPr>
            <a:r>
              <a:t>       sims[test.true,"pop.sd"], col="red")</a:t>
            </a:r>
          </a:p>
          <a:p>
            <a:pPr>
              <a:spcAft>
                <a:spcPts val="400"/>
              </a:spcAft>
              <a:defRPr sz="1300" b="0">
                <a:solidFill>
                  <a:srgbClr val="1C2A36"/>
                </a:solidFill>
                <a:latin typeface="Consolas"/>
              </a:defRPr>
            </a:pPr>
            <a:r>
              <a:t>abline(h=30, col="red")</a:t>
            </a:r>
          </a:p>
          <a:p>
            <a:pPr>
              <a:spcAft>
                <a:spcPts val="400"/>
              </a:spcAft>
              <a:defRPr sz="1300" b="0">
                <a:solidFill>
                  <a:srgbClr val="1C2A36"/>
                </a:solidFill>
                <a:latin typeface="Consolas"/>
              </a:defRPr>
            </a:pPr>
            <a:r>
              <a:t>abline(v=600, col="red")</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同一行のμとσは同じMCMC反復からの組。</a:t>
            </a:r>
          </a:p>
          <a:p>
            <a:pPr>
              <a:spcAft>
                <a:spcPts val="400"/>
              </a:spcAft>
              <a:defRPr sz="1300" b="0">
                <a:solidFill>
                  <a:srgbClr val="1C2A36"/>
                </a:solidFill>
                <a:latin typeface="Yu Gothic"/>
              </a:defRPr>
            </a:pPr>
            <a:r>
              <a:t>別々の周辺確率を単純に掛け合わせない。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4.4.2 | JAGS  |  真値・lm・JAGSの比較</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真値：(μ,σ)=(600,30)</a:t>
            </a:r>
          </a:p>
          <a:p>
            <a:pPr>
              <a:spcAft>
                <a:spcPts val="400"/>
              </a:spcAft>
              <a:defRPr sz="1500" b="0">
                <a:solidFill>
                  <a:srgbClr val="1C2A36"/>
                </a:solidFill>
                <a:latin typeface="Yu Gothic"/>
              </a:defRPr>
            </a:pPr>
            <a:r>
              <a:t>lm：係数・残差SD</a:t>
            </a:r>
          </a:p>
          <a:p>
            <a:pPr>
              <a:spcAft>
                <a:spcPts val="400"/>
              </a:spcAft>
              <a:defRPr sz="1500" b="0">
                <a:solidFill>
                  <a:srgbClr val="1C2A36"/>
                </a:solidFill>
                <a:latin typeface="Yu Gothic"/>
              </a:defRPr>
            </a:pPr>
            <a:r>
              <a:t>JAGS：事後平均を抜粋</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summary行の順序を確認</a:t>
            </a:r>
          </a:p>
          <a:p>
            <a:pPr>
              <a:spcAft>
                <a:spcPts val="400"/>
              </a:spcAft>
              <a:defRPr sz="1400" b="0">
                <a:solidFill>
                  <a:srgbClr val="1C2A36"/>
                </a:solidFill>
                <a:latin typeface="Yu Gothic"/>
              </a:defRPr>
            </a:pPr>
            <a:r>
              <a:t>② 事後平均とlm推定値を並置</a:t>
            </a:r>
          </a:p>
          <a:p>
            <a:pPr>
              <a:spcAft>
                <a:spcPts val="400"/>
              </a:spcAft>
              <a:defRPr sz="1400" b="0">
                <a:solidFill>
                  <a:srgbClr val="1C2A36"/>
                </a:solidFill>
                <a:latin typeface="Yu Gothic"/>
              </a:defRPr>
            </a:pPr>
            <a:r>
              <a:t>③ 推定量の定義差に注意</a:t>
            </a:r>
          </a:p>
          <a:p>
            <a:pPr>
              <a:spcAft>
                <a:spcPts val="400"/>
              </a:spcAft>
              <a:defRPr sz="1400" b="0">
                <a:solidFill>
                  <a:srgbClr val="1C2A36"/>
                </a:solidFill>
                <a:latin typeface="Yu Gothic"/>
              </a:defRPr>
            </a:pPr>
            <a:r>
              <a:t>④ 数値比較と不確実性比較は別</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jags_est &lt;- out4.4$summary[1:2,1]</a:t>
            </a:r>
          </a:p>
          <a:p>
            <a:pPr>
              <a:spcAft>
                <a:spcPts val="400"/>
              </a:spcAft>
              <a:defRPr sz="1300" b="0">
                <a:solidFill>
                  <a:srgbClr val="1C2A36"/>
                </a:solidFill>
                <a:latin typeface="Consolas"/>
              </a:defRPr>
            </a:pPr>
            <a:r>
              <a:t>print(cbind(truth=truth,</a:t>
            </a:r>
          </a:p>
          <a:p>
            <a:pPr>
              <a:spcAft>
                <a:spcPts val="400"/>
              </a:spcAft>
              <a:defRPr sz="1300" b="0">
                <a:solidFill>
                  <a:srgbClr val="1C2A36"/>
                </a:solidFill>
                <a:latin typeface="Consolas"/>
              </a:defRPr>
            </a:pPr>
            <a:r>
              <a:t>            lm=lm_est,</a:t>
            </a:r>
          </a:p>
          <a:p>
            <a:pPr>
              <a:spcAft>
                <a:spcPts val="400"/>
              </a:spcAft>
              <a:defRPr sz="1300" b="0">
                <a:solidFill>
                  <a:srgbClr val="1C2A36"/>
                </a:solidFill>
                <a:latin typeface="Consolas"/>
              </a:defRPr>
            </a:pPr>
            <a:r>
              <a:t>            JAGS=jags_est),5)</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数値は未実行のため掲載しない。</a:t>
            </a:r>
          </a:p>
          <a:p>
            <a:pPr>
              <a:spcAft>
                <a:spcPts val="400"/>
              </a:spcAft>
              <a:defRPr sz="1300" b="0">
                <a:solidFill>
                  <a:srgbClr val="1C2A36"/>
                </a:solidFill>
                <a:latin typeface="Yu Gothic"/>
              </a:defRPr>
            </a:pPr>
            <a:r>
              <a:t>原コードはsummaryの行順に依存するためnames確認が有用。</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09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4.5.2 | NIMBLE  |  BUGS形式のモデル定義</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JAGSと同じ：μ ~ U(0,5000)</a:t>
            </a:r>
          </a:p>
          <a:p>
            <a:pPr>
              <a:spcAft>
                <a:spcPts val="400"/>
              </a:spcAft>
              <a:defRPr sz="1500" b="0">
                <a:solidFill>
                  <a:srgbClr val="1C2A36"/>
                </a:solidFill>
                <a:latin typeface="Yu Gothic"/>
              </a:defRPr>
            </a:pPr>
            <a:r>
              <a:t>σ ~ U(0,100)</a:t>
            </a:r>
          </a:p>
          <a:p>
            <a:pPr>
              <a:spcAft>
                <a:spcPts val="400"/>
              </a:spcAft>
              <a:defRPr sz="1500" b="0">
                <a:solidFill>
                  <a:srgbClr val="1C2A36"/>
                </a:solidFill>
                <a:latin typeface="Yu Gothic"/>
              </a:defRPr>
            </a:pPr>
            <a:r>
              <a:t>yᵢ ~ Normal(μ, σ²)</a:t>
            </a:r>
          </a:p>
          <a:p>
            <a:pPr>
              <a:spcAft>
                <a:spcPts val="400"/>
              </a:spcAft>
              <a:defRPr sz="1500" b="0">
                <a:solidFill>
                  <a:srgbClr val="1C2A36"/>
                </a:solidFill>
                <a:latin typeface="Yu Gothic"/>
              </a:defRPr>
            </a:pPr>
            <a:r>
              <a:t>τ = 1/σ²</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nimbleCode()内にモデル記述</a:t>
            </a:r>
          </a:p>
          <a:p>
            <a:pPr>
              <a:spcAft>
                <a:spcPts val="400"/>
              </a:spcAft>
              <a:defRPr sz="1400" b="0">
                <a:solidFill>
                  <a:srgbClr val="1C2A36"/>
                </a:solidFill>
                <a:latin typeface="Yu Gothic"/>
              </a:defRPr>
            </a:pPr>
            <a:r>
              <a:t>② 別のtxtファイルは不要</a:t>
            </a:r>
          </a:p>
          <a:p>
            <a:pPr>
              <a:spcAft>
                <a:spcPts val="400"/>
              </a:spcAft>
              <a:defRPr sz="1400" b="0">
                <a:solidFill>
                  <a:srgbClr val="1C2A36"/>
                </a:solidFill>
                <a:latin typeface="Yu Gothic"/>
              </a:defRPr>
            </a:pPr>
            <a:r>
              <a:t>③ precisionで尤度のパラメータ化</a:t>
            </a:r>
          </a:p>
          <a:p>
            <a:pPr>
              <a:spcAft>
                <a:spcPts val="400"/>
              </a:spcAft>
              <a:defRPr sz="1400" b="0">
                <a:solidFill>
                  <a:srgbClr val="1C2A36"/>
                </a:solidFill>
                <a:latin typeface="Yu Gothic"/>
              </a:defRPr>
            </a:pPr>
            <a:r>
              <a:t>④ 派生量varianceも監視できる</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library(nimble)</a:t>
            </a:r>
          </a:p>
          <a:p>
            <a:pPr>
              <a:spcAft>
                <a:spcPts val="400"/>
              </a:spcAft>
              <a:defRPr sz="1300" b="0">
                <a:solidFill>
                  <a:srgbClr val="1C2A36"/>
                </a:solidFill>
                <a:latin typeface="Consolas"/>
              </a:defRPr>
            </a:pPr>
            <a:r>
              <a:t>model4.5 &lt;- nimbleCode({</a:t>
            </a:r>
          </a:p>
          <a:p>
            <a:pPr>
              <a:spcAft>
                <a:spcPts val="400"/>
              </a:spcAft>
              <a:defRPr sz="1300" b="0">
                <a:solidFill>
                  <a:srgbClr val="1C2A36"/>
                </a:solidFill>
                <a:latin typeface="Consolas"/>
              </a:defRPr>
            </a:pPr>
            <a:r>
              <a:t>  pop.mean ~ dunif(0,5000)</a:t>
            </a:r>
          </a:p>
          <a:p>
            <a:pPr>
              <a:spcAft>
                <a:spcPts val="400"/>
              </a:spcAft>
              <a:defRPr sz="1300" b="0">
                <a:solidFill>
                  <a:srgbClr val="1C2A36"/>
                </a:solidFill>
                <a:latin typeface="Consolas"/>
              </a:defRPr>
            </a:pPr>
            <a:r>
              <a:t>  precision &lt;- 1/pop.variance</a:t>
            </a:r>
          </a:p>
          <a:p>
            <a:pPr>
              <a:spcAft>
                <a:spcPts val="400"/>
              </a:spcAft>
              <a:defRPr sz="1300" b="0">
                <a:solidFill>
                  <a:srgbClr val="1C2A36"/>
                </a:solidFill>
                <a:latin typeface="Consolas"/>
              </a:defRPr>
            </a:pPr>
            <a:r>
              <a:t>  pop.variance &lt;- pop.sd*pop.sd</a:t>
            </a:r>
          </a:p>
          <a:p>
            <a:pPr>
              <a:spcAft>
                <a:spcPts val="400"/>
              </a:spcAft>
              <a:defRPr sz="1300" b="0">
                <a:solidFill>
                  <a:srgbClr val="1C2A36"/>
                </a:solidFill>
                <a:latin typeface="Consolas"/>
              </a:defRPr>
            </a:pPr>
            <a:r>
              <a:t>  pop.sd ~ dunif(0,100)</a:t>
            </a:r>
          </a:p>
          <a:p>
            <a:pPr>
              <a:spcAft>
                <a:spcPts val="400"/>
              </a:spcAft>
              <a:defRPr sz="1300" b="0">
                <a:solidFill>
                  <a:srgbClr val="1C2A36"/>
                </a:solidFill>
                <a:latin typeface="Consolas"/>
              </a:defRPr>
            </a:pPr>
            <a:r>
              <a:t>  for(i in 1:n) {</a:t>
            </a:r>
          </a:p>
          <a:p>
            <a:pPr>
              <a:spcAft>
                <a:spcPts val="400"/>
              </a:spcAft>
              <a:defRPr sz="1300" b="0">
                <a:solidFill>
                  <a:srgbClr val="1C2A36"/>
                </a:solidFill>
                <a:latin typeface="Consolas"/>
              </a:defRPr>
            </a:pPr>
            <a:r>
              <a:t>    mass[i] ~ dnorm(pop.mean,precision)</a:t>
            </a:r>
          </a:p>
          <a:p>
            <a:pPr>
              <a:spcAft>
                <a:spcPts val="400"/>
              </a:spcAft>
              <a:defRPr sz="1300" b="0">
                <a:solidFill>
                  <a:srgbClr val="1C2A36"/>
                </a:solidFill>
                <a:latin typeface="Consolas"/>
              </a:defRPr>
            </a:pPr>
            <a:r>
              <a:t>  }</a:t>
            </a:r>
          </a:p>
          <a:p>
            <a:pPr>
              <a:spcAft>
                <a:spcPts val="400"/>
              </a:spcAft>
              <a:defRPr sz="1300" b="0">
                <a:solidFill>
                  <a:srgbClr val="1C2A36"/>
                </a:solidFill>
                <a:latin typeface="Consolas"/>
              </a:defRPr>
            </a:pPr>
            <a:r>
              <a:t>})</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この教材のNIMBLEコードもdnorm(μ, precision)を使用。</a:t>
            </a:r>
          </a:p>
          <a:p>
            <a:pPr>
              <a:spcAft>
                <a:spcPts val="400"/>
              </a:spcAft>
              <a:defRPr sz="1300" b="0">
                <a:solidFill>
                  <a:srgbClr val="1C2A36"/>
                </a:solidFill>
                <a:latin typeface="Yu Gothic"/>
              </a:defRPr>
            </a:pPr>
            <a:r>
              <a:t>「NIMBLEは標準偏差しか使えない」は誤り。</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4.5.2 | NIMBLE  |  一括MCMC実行</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4チェーン × (3000−1000)回</a:t>
            </a:r>
          </a:p>
          <a:p>
            <a:pPr>
              <a:spcAft>
                <a:spcPts val="400"/>
              </a:spcAft>
              <a:defRPr sz="1500" b="0">
                <a:solidFill>
                  <a:srgbClr val="1C2A36"/>
                </a:solidFill>
                <a:latin typeface="Yu Gothic"/>
              </a:defRPr>
            </a:pPr>
            <a:r>
              <a:t>保存：計8000ドロー</a:t>
            </a:r>
          </a:p>
          <a:p>
            <a:pPr>
              <a:spcAft>
                <a:spcPts val="400"/>
              </a:spcAft>
              <a:defRPr sz="1500" b="0">
                <a:solidFill>
                  <a:srgbClr val="1C2A36"/>
                </a:solidFill>
                <a:latin typeface="Yu Gothic"/>
              </a:defRPr>
            </a:pPr>
            <a:r>
              <a:t>監視：平均・SD・分散</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データ・初期値・監視対象を渡す</a:t>
            </a:r>
          </a:p>
          <a:p>
            <a:pPr>
              <a:spcAft>
                <a:spcPts val="400"/>
              </a:spcAft>
              <a:defRPr sz="1400" b="0">
                <a:solidFill>
                  <a:srgbClr val="1C2A36"/>
                </a:solidFill>
                <a:latin typeface="Yu Gothic"/>
              </a:defRPr>
            </a:pPr>
            <a:r>
              <a:t>② nimbleMCMC()が構築→実行</a:t>
            </a:r>
          </a:p>
          <a:p>
            <a:pPr>
              <a:spcAft>
                <a:spcPts val="400"/>
              </a:spcAft>
              <a:defRPr sz="1400" b="0">
                <a:solidFill>
                  <a:srgbClr val="1C2A36"/>
                </a:solidFill>
                <a:latin typeface="Yu Gothic"/>
              </a:defRPr>
            </a:pPr>
            <a:r>
              <a:t>③ samplesをcoda形式で取得</a:t>
            </a:r>
          </a:p>
          <a:p>
            <a:pPr>
              <a:spcAft>
                <a:spcPts val="400"/>
              </a:spcAft>
              <a:defRPr sz="1400" b="0">
                <a:solidFill>
                  <a:srgbClr val="1C2A36"/>
                </a:solidFill>
                <a:latin typeface="Yu Gothic"/>
              </a:defRPr>
            </a:pPr>
            <a:r>
              <a:t>④ summaryに要約統計量</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dataList &lt;- list(mass=y1000,n=length(y1000))</a:t>
            </a:r>
          </a:p>
          <a:p>
            <a:pPr>
              <a:spcAft>
                <a:spcPts val="400"/>
              </a:spcAft>
              <a:defRPr sz="1300" b="0">
                <a:solidFill>
                  <a:srgbClr val="1C2A36"/>
                </a:solidFill>
                <a:latin typeface="Consolas"/>
              </a:defRPr>
            </a:pPr>
            <a:r>
              <a:t>inits &lt;- function() list(</a:t>
            </a:r>
          </a:p>
          <a:p>
            <a:pPr>
              <a:spcAft>
                <a:spcPts val="400"/>
              </a:spcAft>
              <a:defRPr sz="1300" b="0">
                <a:solidFill>
                  <a:srgbClr val="1C2A36"/>
                </a:solidFill>
                <a:latin typeface="Consolas"/>
              </a:defRPr>
            </a:pPr>
            <a:r>
              <a:t>  pop.mean=rnorm(1,600),</a:t>
            </a:r>
          </a:p>
          <a:p>
            <a:pPr>
              <a:spcAft>
                <a:spcPts val="400"/>
              </a:spcAft>
              <a:defRPr sz="1300" b="0">
                <a:solidFill>
                  <a:srgbClr val="1C2A36"/>
                </a:solidFill>
                <a:latin typeface="Consolas"/>
              </a:defRPr>
            </a:pPr>
            <a:r>
              <a:t>  pop.sd=runif(1,1,30))</a:t>
            </a:r>
          </a:p>
          <a:p>
            <a:pPr>
              <a:spcAft>
                <a:spcPts val="400"/>
              </a:spcAft>
              <a:defRPr sz="1300" b="0">
                <a:solidFill>
                  <a:srgbClr val="1C2A36"/>
                </a:solidFill>
                <a:latin typeface="Consolas"/>
              </a:defRPr>
            </a:pPr>
            <a:r>
              <a:t>params &lt;- c("pop.mean","pop.sd","pop.variance")</a:t>
            </a:r>
          </a:p>
          <a:p>
            <a:pPr>
              <a:spcAft>
                <a:spcPts val="400"/>
              </a:spcAft>
              <a:defRPr sz="1300" b="0">
                <a:solidFill>
                  <a:srgbClr val="1C2A36"/>
                </a:solidFill>
                <a:latin typeface="Consolas"/>
              </a:defRPr>
            </a:pPr>
            <a:r>
              <a:t>ni &lt;- 3000; nb &lt;- 1000; nc &lt;- 4; nt &lt;- 1</a:t>
            </a:r>
          </a:p>
          <a:p>
            <a:pPr>
              <a:spcAft>
                <a:spcPts val="400"/>
              </a:spcAft>
              <a:defRPr sz="1300" b="0">
                <a:solidFill>
                  <a:srgbClr val="1C2A36"/>
                </a:solidFill>
                <a:latin typeface="Consolas"/>
              </a:defRPr>
            </a:pPr>
            <a:r>
              <a:t>out4.5 &lt;- nimbleMCMC(code=model4.5,</a:t>
            </a:r>
          </a:p>
          <a:p>
            <a:pPr>
              <a:spcAft>
                <a:spcPts val="400"/>
              </a:spcAft>
              <a:defRPr sz="1300" b="0">
                <a:solidFill>
                  <a:srgbClr val="1C2A36"/>
                </a:solidFill>
                <a:latin typeface="Consolas"/>
              </a:defRPr>
            </a:pPr>
            <a:r>
              <a:t>  constants=dataList, inits=inits,</a:t>
            </a:r>
          </a:p>
          <a:p>
            <a:pPr>
              <a:spcAft>
                <a:spcPts val="400"/>
              </a:spcAft>
              <a:defRPr sz="1300" b="0">
                <a:solidFill>
                  <a:srgbClr val="1C2A36"/>
                </a:solidFill>
                <a:latin typeface="Consolas"/>
              </a:defRPr>
            </a:pPr>
            <a:r>
              <a:t>  monitors=params, nburnin=nb,</a:t>
            </a:r>
          </a:p>
          <a:p>
            <a:pPr>
              <a:spcAft>
                <a:spcPts val="400"/>
              </a:spcAft>
              <a:defRPr sz="1300" b="0">
                <a:solidFill>
                  <a:srgbClr val="1C2A36"/>
                </a:solidFill>
                <a:latin typeface="Consolas"/>
              </a:defRPr>
            </a:pPr>
            <a:r>
              <a:t>  niter=ni, thin=nt, nchains=nc,</a:t>
            </a:r>
          </a:p>
          <a:p>
            <a:pPr>
              <a:spcAft>
                <a:spcPts val="400"/>
              </a:spcAft>
              <a:defRPr sz="1300" b="0">
                <a:solidFill>
                  <a:srgbClr val="1C2A36"/>
                </a:solidFill>
                <a:latin typeface="Consolas"/>
              </a:defRPr>
            </a:pPr>
            <a:r>
              <a:t>  samplesAsCodaMCMC=TRUE, summary=TRUE)</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一括実行と手動構築は、同じ流れを別のAPIで示す「代替方法」。</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4.5.2 | NIMBLE  |  MCMCの手動構築</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統計モデル ≠ MCMCアルゴリズム</a:t>
            </a:r>
          </a:p>
          <a:p>
            <a:pPr>
              <a:spcAft>
                <a:spcPts val="400"/>
              </a:spcAft>
              <a:defRPr sz="1500" b="0">
                <a:solidFill>
                  <a:srgbClr val="1C2A36"/>
                </a:solidFill>
                <a:latin typeface="Yu Gothic"/>
              </a:defRPr>
            </a:pPr>
            <a:r>
              <a:t>モデルを先に作り、サンプラー設定を後から作る</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nimbleModel()でモデルオブジェクト</a:t>
            </a:r>
          </a:p>
          <a:p>
            <a:pPr>
              <a:spcAft>
                <a:spcPts val="400"/>
              </a:spcAft>
              <a:defRPr sz="1400" b="0">
                <a:solidFill>
                  <a:srgbClr val="1C2A36"/>
                </a:solidFill>
                <a:latin typeface="Yu Gothic"/>
              </a:defRPr>
            </a:pPr>
            <a:r>
              <a:t>② configureMCMC()でサンプラー等を指定</a:t>
            </a:r>
          </a:p>
          <a:p>
            <a:pPr>
              <a:spcAft>
                <a:spcPts val="400"/>
              </a:spcAft>
              <a:defRPr sz="1400" b="0">
                <a:solidFill>
                  <a:srgbClr val="1C2A36"/>
                </a:solidFill>
                <a:latin typeface="Yu Gothic"/>
              </a:defRPr>
            </a:pPr>
            <a:r>
              <a:t>③ buildMCMC()で実行可能な関数を作る</a:t>
            </a:r>
          </a:p>
          <a:p>
            <a:pPr>
              <a:spcAft>
                <a:spcPts val="400"/>
              </a:spcAft>
              <a:defRPr sz="1400" b="0">
                <a:solidFill>
                  <a:srgbClr val="1C2A36"/>
                </a:solidFill>
                <a:latin typeface="Yu Gothic"/>
              </a:defRPr>
            </a:pPr>
            <a:r>
              <a:t>④ まず非コンパイル版を10回実行</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rawModel &lt;- nimbleModel(</a:t>
            </a:r>
          </a:p>
          <a:p>
            <a:pPr>
              <a:spcAft>
                <a:spcPts val="400"/>
              </a:spcAft>
              <a:defRPr sz="1300" b="0">
                <a:solidFill>
                  <a:srgbClr val="1C2A36"/>
                </a:solidFill>
                <a:latin typeface="Consolas"/>
              </a:defRPr>
            </a:pPr>
            <a:r>
              <a:t>  code=model4.5, constants=dataList,</a:t>
            </a:r>
          </a:p>
          <a:p>
            <a:pPr>
              <a:spcAft>
                <a:spcPts val="400"/>
              </a:spcAft>
              <a:defRPr sz="1300" b="0">
                <a:solidFill>
                  <a:srgbClr val="1C2A36"/>
                </a:solidFill>
                <a:latin typeface="Consolas"/>
              </a:defRPr>
            </a:pPr>
            <a:r>
              <a:t>  inits=inits())</a:t>
            </a:r>
          </a:p>
          <a:p>
            <a:pPr>
              <a:spcAft>
                <a:spcPts val="400"/>
              </a:spcAft>
              <a:defRPr sz="1300" b="0">
                <a:solidFill>
                  <a:srgbClr val="1C2A36"/>
                </a:solidFill>
                <a:latin typeface="Consolas"/>
              </a:defRPr>
            </a:pPr>
            <a:r>
              <a:t>mcmcConfig &lt;- configureMCMC(</a:t>
            </a:r>
          </a:p>
          <a:p>
            <a:pPr>
              <a:spcAft>
                <a:spcPts val="400"/>
              </a:spcAft>
              <a:defRPr sz="1300" b="0">
                <a:solidFill>
                  <a:srgbClr val="1C2A36"/>
                </a:solidFill>
                <a:latin typeface="Consolas"/>
              </a:defRPr>
            </a:pPr>
            <a:r>
              <a:t>  rawModel,monitors=params)</a:t>
            </a:r>
          </a:p>
          <a:p>
            <a:pPr>
              <a:spcAft>
                <a:spcPts val="400"/>
              </a:spcAft>
              <a:defRPr sz="1300" b="0">
                <a:solidFill>
                  <a:srgbClr val="1C2A36"/>
                </a:solidFill>
                <a:latin typeface="Consolas"/>
              </a:defRPr>
            </a:pPr>
            <a:r>
              <a:t>rawMCMC &lt;- buildMCMC(mcmcConfig)</a:t>
            </a:r>
          </a:p>
          <a:p>
            <a:pPr>
              <a:spcAft>
                <a:spcPts val="400"/>
              </a:spcAft>
              <a:defRPr sz="1300" b="0">
                <a:solidFill>
                  <a:srgbClr val="1C2A36"/>
                </a:solidFill>
                <a:latin typeface="Consolas"/>
              </a:defRPr>
            </a:pPr>
            <a:r>
              <a:t>system.time(rawMCMC$run(10))</a:t>
            </a:r>
          </a:p>
          <a:p>
            <a:pPr>
              <a:spcAft>
                <a:spcPts val="400"/>
              </a:spcAft>
              <a:defRPr sz="1300" b="0">
                <a:solidFill>
                  <a:srgbClr val="1C2A36"/>
                </a:solidFill>
                <a:latin typeface="Consolas"/>
              </a:defRPr>
            </a:pPr>
            <a:r>
              <a:t>as.matrix(rawMCMC$mvSamples)</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非コンパイル版10回とコンパイル版10回を比べる教材。</a:t>
            </a:r>
          </a:p>
          <a:p>
            <a:pPr>
              <a:spcAft>
                <a:spcPts val="400"/>
              </a:spcAft>
              <a:defRPr sz="1300" b="0">
                <a:solidFill>
                  <a:srgbClr val="1C2A36"/>
                </a:solidFill>
                <a:latin typeface="Yu Gothic"/>
              </a:defRPr>
            </a:pPr>
            <a:r>
              <a:t>実行時間はPCや環境に依存する。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4.5.2 | NIMBLE  |  C++コンパイルと再実行</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compileNimble()：モデル・MCMCを高速実行用に変換</a:t>
            </a:r>
          </a:p>
          <a:p>
            <a:pPr>
              <a:spcAft>
                <a:spcPts val="400"/>
              </a:spcAft>
              <a:defRPr sz="1500" b="0">
                <a:solidFill>
                  <a:srgbClr val="1C2A36"/>
                </a:solidFill>
                <a:latin typeface="Yu Gothic"/>
              </a:defRPr>
            </a:pPr>
            <a:r>
              <a:t>コンパイル後も統計モデル自体は同じ</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モデルをコンパイル</a:t>
            </a:r>
          </a:p>
          <a:p>
            <a:pPr>
              <a:spcAft>
                <a:spcPts val="400"/>
              </a:spcAft>
              <a:defRPr sz="1400" b="0">
                <a:solidFill>
                  <a:srgbClr val="1C2A36"/>
                </a:solidFill>
                <a:latin typeface="Yu Gothic"/>
              </a:defRPr>
            </a:pPr>
            <a:r>
              <a:t>② MCMC関数をコンパイル</a:t>
            </a:r>
          </a:p>
          <a:p>
            <a:pPr>
              <a:spcAft>
                <a:spcPts val="400"/>
              </a:spcAft>
              <a:defRPr sz="1400" b="0">
                <a:solidFill>
                  <a:srgbClr val="1C2A36"/>
                </a:solidFill>
                <a:latin typeface="Yu Gothic"/>
              </a:defRPr>
            </a:pPr>
            <a:r>
              <a:t>③ 同じ10反復の速度を比較</a:t>
            </a:r>
          </a:p>
          <a:p>
            <a:pPr>
              <a:spcAft>
                <a:spcPts val="400"/>
              </a:spcAft>
              <a:defRPr sz="1400" b="0">
                <a:solidFill>
                  <a:srgbClr val="1C2A36"/>
                </a:solidFill>
                <a:latin typeface="Yu Gothic"/>
              </a:defRPr>
            </a:pPr>
            <a:r>
              <a:t>④ 本格MCMC→要約・診断</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compModel &lt;- compileNimble(rawModel)</a:t>
            </a:r>
          </a:p>
          <a:p>
            <a:pPr>
              <a:spcAft>
                <a:spcPts val="400"/>
              </a:spcAft>
              <a:defRPr sz="1300" b="0">
                <a:solidFill>
                  <a:srgbClr val="1C2A36"/>
                </a:solidFill>
                <a:latin typeface="Consolas"/>
              </a:defRPr>
            </a:pPr>
            <a:r>
              <a:t>compMCMC &lt;- compileNimble(rawMCMC,</a:t>
            </a:r>
          </a:p>
          <a:p>
            <a:pPr>
              <a:spcAft>
                <a:spcPts val="400"/>
              </a:spcAft>
              <a:defRPr sz="1300" b="0">
                <a:solidFill>
                  <a:srgbClr val="1C2A36"/>
                </a:solidFill>
                <a:latin typeface="Consolas"/>
              </a:defRPr>
            </a:pPr>
            <a:r>
              <a:t>                         project=rawModel)</a:t>
            </a:r>
          </a:p>
          <a:p>
            <a:pPr>
              <a:spcAft>
                <a:spcPts val="400"/>
              </a:spcAft>
              <a:defRPr sz="1300" b="0">
                <a:solidFill>
                  <a:srgbClr val="1C2A36"/>
                </a:solidFill>
                <a:latin typeface="Consolas"/>
              </a:defRPr>
            </a:pPr>
            <a:r>
              <a:t>system.time(compMCMC$run(10))</a:t>
            </a:r>
          </a:p>
          <a:p>
            <a:pPr>
              <a:spcAft>
                <a:spcPts val="400"/>
              </a:spcAft>
              <a:defRPr sz="1300" b="0">
                <a:solidFill>
                  <a:srgbClr val="1C2A36"/>
                </a:solidFill>
                <a:latin typeface="Consolas"/>
              </a:defRPr>
            </a:pPr>
            <a:r>
              <a:t>samples &lt;- runMCMC(compMCMC,</a:t>
            </a:r>
          </a:p>
          <a:p>
            <a:pPr>
              <a:spcAft>
                <a:spcPts val="400"/>
              </a:spcAft>
              <a:defRPr sz="1300" b="0">
                <a:solidFill>
                  <a:srgbClr val="1C2A36"/>
                </a:solidFill>
                <a:latin typeface="Consolas"/>
              </a:defRPr>
            </a:pPr>
            <a:r>
              <a:t>  niter=ni, nburnin=nb, thin=nt,</a:t>
            </a:r>
          </a:p>
          <a:p>
            <a:pPr>
              <a:spcAft>
                <a:spcPts val="400"/>
              </a:spcAft>
              <a:defRPr sz="1300" b="0">
                <a:solidFill>
                  <a:srgbClr val="1C2A36"/>
                </a:solidFill>
                <a:latin typeface="Consolas"/>
              </a:defRPr>
            </a:pPr>
            <a:r>
              <a:t>  nchains=nc, samplesAsCodaMCMC=TRUE)</a:t>
            </a:r>
          </a:p>
          <a:p>
            <a:pPr>
              <a:spcAft>
                <a:spcPts val="400"/>
              </a:spcAft>
              <a:defRPr sz="1300" b="0">
                <a:solidFill>
                  <a:srgbClr val="1C2A36"/>
                </a:solidFill>
                <a:latin typeface="Consolas"/>
              </a:defRPr>
            </a:pPr>
            <a:r>
              <a:t>nsum &lt;- nimble_summary(samples)</a:t>
            </a:r>
          </a:p>
          <a:p>
            <a:pPr>
              <a:spcAft>
                <a:spcPts val="400"/>
              </a:spcAft>
              <a:defRPr sz="1300" b="0">
                <a:solidFill>
                  <a:srgbClr val="1C2A36"/>
                </a:solidFill>
                <a:latin typeface="Consolas"/>
              </a:defRPr>
            </a:pPr>
            <a:r>
              <a:t>coda::traceplot(samples)</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事後サンプル数、収束は別途確認が必要。</a:t>
            </a:r>
          </a:p>
          <a:p>
            <a:pPr>
              <a:spcAft>
                <a:spcPts val="400"/>
              </a:spcAft>
              <a:defRPr sz="1300" b="0">
                <a:solidFill>
                  <a:srgbClr val="1C2A36"/>
                </a:solidFill>
                <a:latin typeface="Yu Gothic"/>
              </a:defRPr>
            </a:pPr>
            <a:r>
              <a:t>nimble_summary()はASMbookの補助関数。</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4.6.2 | Stan  |  3ブロックの役割を理解</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μ：実数（制約なし）</a:t>
            </a:r>
          </a:p>
          <a:p>
            <a:pPr>
              <a:spcAft>
                <a:spcPts val="400"/>
              </a:spcAft>
              <a:defRPr sz="1500" b="0">
                <a:solidFill>
                  <a:srgbClr val="1C2A36"/>
                </a:solidFill>
                <a:latin typeface="Yu Gothic"/>
              </a:defRPr>
            </a:pPr>
            <a:r>
              <a:t>σ：正の実数</a:t>
            </a:r>
          </a:p>
          <a:p>
            <a:pPr>
              <a:spcAft>
                <a:spcPts val="400"/>
              </a:spcAft>
              <a:defRPr sz="1500" b="0">
                <a:solidFill>
                  <a:srgbClr val="1C2A36"/>
                </a:solidFill>
                <a:latin typeface="Yu Gothic"/>
              </a:defRPr>
            </a:pPr>
            <a:r>
              <a:t>yᵢ ~ Normal(μ,σ²)</a:t>
            </a:r>
          </a:p>
          <a:p>
            <a:pPr>
              <a:spcAft>
                <a:spcPts val="400"/>
              </a:spcAft>
              <a:defRPr sz="1500" b="0">
                <a:solidFill>
                  <a:srgbClr val="1C2A36"/>
                </a:solidFill>
                <a:latin typeface="Yu Gothic"/>
              </a:defRPr>
            </a:pPr>
            <a:r>
              <a:t>Stan normal(平均,標準偏差)</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data：型と配列長を宣言</a:t>
            </a:r>
          </a:p>
          <a:p>
            <a:pPr>
              <a:spcAft>
                <a:spcPts val="400"/>
              </a:spcAft>
              <a:defRPr sz="1400" b="0">
                <a:solidFill>
                  <a:srgbClr val="1C2A36"/>
                </a:solidFill>
                <a:latin typeface="Yu Gothic"/>
              </a:defRPr>
            </a:pPr>
            <a:r>
              <a:t>② parameters：未知量と制約</a:t>
            </a:r>
          </a:p>
          <a:p>
            <a:pPr>
              <a:spcAft>
                <a:spcPts val="400"/>
              </a:spcAft>
              <a:defRPr sz="1400" b="0">
                <a:solidFill>
                  <a:srgbClr val="1C2A36"/>
                </a:solidFill>
                <a:latin typeface="Yu Gothic"/>
              </a:defRPr>
            </a:pPr>
            <a:r>
              <a:t>③ model：事前分布と尤度</a:t>
            </a:r>
          </a:p>
          <a:p>
            <a:pPr>
              <a:spcAft>
                <a:spcPts val="400"/>
              </a:spcAft>
              <a:defRPr sz="1400" b="0">
                <a:solidFill>
                  <a:srgbClr val="1C2A36"/>
                </a:solidFill>
                <a:latin typeface="Yu Gothic"/>
              </a:defRPr>
            </a:pPr>
            <a:r>
              <a:t>④ dataListの名前がstanコードと一致</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150" b="0">
                <a:solidFill>
                  <a:srgbClr val="1C2A36"/>
                </a:solidFill>
                <a:latin typeface="Consolas"/>
              </a:defRPr>
            </a:pPr>
            <a:r>
              <a:t>data {</a:t>
            </a:r>
          </a:p>
          <a:p>
            <a:pPr>
              <a:spcAft>
                <a:spcPts val="400"/>
              </a:spcAft>
              <a:defRPr sz="1150" b="0">
                <a:solidFill>
                  <a:srgbClr val="1C2A36"/>
                </a:solidFill>
                <a:latin typeface="Consolas"/>
              </a:defRPr>
            </a:pPr>
            <a:r>
              <a:t>  int n;</a:t>
            </a:r>
          </a:p>
          <a:p>
            <a:pPr>
              <a:spcAft>
                <a:spcPts val="400"/>
              </a:spcAft>
              <a:defRPr sz="1150" b="0">
                <a:solidFill>
                  <a:srgbClr val="1C2A36"/>
                </a:solidFill>
                <a:latin typeface="Consolas"/>
              </a:defRPr>
            </a:pPr>
            <a:r>
              <a:t>  vector[n] mass;</a:t>
            </a:r>
          </a:p>
          <a:p>
            <a:pPr>
              <a:spcAft>
                <a:spcPts val="400"/>
              </a:spcAft>
              <a:defRPr sz="1150" b="0">
                <a:solidFill>
                  <a:srgbClr val="1C2A36"/>
                </a:solidFill>
                <a:latin typeface="Consolas"/>
              </a:defRPr>
            </a:pPr>
            <a:r>
              <a:t>}</a:t>
            </a:r>
          </a:p>
          <a:p>
            <a:pPr>
              <a:spcAft>
                <a:spcPts val="400"/>
              </a:spcAft>
              <a:defRPr sz="1150" b="0">
                <a:solidFill>
                  <a:srgbClr val="1C2A36"/>
                </a:solidFill>
                <a:latin typeface="Consolas"/>
              </a:defRPr>
            </a:pPr>
            <a:r>
              <a:t>parameters {</a:t>
            </a:r>
          </a:p>
          <a:p>
            <a:pPr>
              <a:spcAft>
                <a:spcPts val="400"/>
              </a:spcAft>
              <a:defRPr sz="1150" b="0">
                <a:solidFill>
                  <a:srgbClr val="1C2A36"/>
                </a:solidFill>
                <a:latin typeface="Consolas"/>
              </a:defRPr>
            </a:pPr>
            <a:r>
              <a:t>  real pop_mean;</a:t>
            </a:r>
          </a:p>
          <a:p>
            <a:pPr>
              <a:spcAft>
                <a:spcPts val="400"/>
              </a:spcAft>
              <a:defRPr sz="1150" b="0">
                <a:solidFill>
                  <a:srgbClr val="1C2A36"/>
                </a:solidFill>
                <a:latin typeface="Consolas"/>
              </a:defRPr>
            </a:pPr>
            <a:r>
              <a:t>  real&lt;lower=0&gt; pop_sd;</a:t>
            </a:r>
          </a:p>
          <a:p>
            <a:pPr>
              <a:spcAft>
                <a:spcPts val="400"/>
              </a:spcAft>
              <a:defRPr sz="1150" b="0">
                <a:solidFill>
                  <a:srgbClr val="1C2A36"/>
                </a:solidFill>
                <a:latin typeface="Consolas"/>
              </a:defRPr>
            </a:pPr>
            <a:r>
              <a:t>}</a:t>
            </a:r>
          </a:p>
          <a:p>
            <a:pPr>
              <a:spcAft>
                <a:spcPts val="400"/>
              </a:spcAft>
              <a:defRPr sz="1150" b="0">
                <a:solidFill>
                  <a:srgbClr val="1C2A36"/>
                </a:solidFill>
                <a:latin typeface="Consolas"/>
              </a:defRPr>
            </a:pPr>
            <a:r>
              <a:t>model {</a:t>
            </a:r>
          </a:p>
          <a:p>
            <a:pPr>
              <a:spcAft>
                <a:spcPts val="400"/>
              </a:spcAft>
              <a:defRPr sz="1150" b="0">
                <a:solidFill>
                  <a:srgbClr val="1C2A36"/>
                </a:solidFill>
                <a:latin typeface="Consolas"/>
              </a:defRPr>
            </a:pPr>
            <a:r>
              <a:t>  pop_mean ~ normal(0,1000);</a:t>
            </a:r>
          </a:p>
          <a:p>
            <a:pPr>
              <a:spcAft>
                <a:spcPts val="400"/>
              </a:spcAft>
              <a:defRPr sz="1150" b="0">
                <a:solidFill>
                  <a:srgbClr val="1C2A36"/>
                </a:solidFill>
                <a:latin typeface="Consolas"/>
              </a:defRPr>
            </a:pPr>
            <a:r>
              <a:t>  pop_sd ~ cauchy(0,10);</a:t>
            </a:r>
          </a:p>
          <a:p>
            <a:pPr>
              <a:spcAft>
                <a:spcPts val="400"/>
              </a:spcAft>
              <a:defRPr sz="1150" b="0">
                <a:solidFill>
                  <a:srgbClr val="1C2A36"/>
                </a:solidFill>
                <a:latin typeface="Consolas"/>
              </a:defRPr>
            </a:pPr>
            <a:r>
              <a:t>  for(i in 1:n)</a:t>
            </a:r>
          </a:p>
          <a:p>
            <a:pPr>
              <a:spcAft>
                <a:spcPts val="400"/>
              </a:spcAft>
              <a:defRPr sz="1150" b="0">
                <a:solidFill>
                  <a:srgbClr val="1C2A36"/>
                </a:solidFill>
                <a:latin typeface="Consolas"/>
              </a:defRPr>
            </a:pPr>
            <a:r>
              <a:t>    mass[i] ~ normal(pop_mean,pop_sd);</a:t>
            </a:r>
          </a:p>
          <a:p>
            <a:pPr>
              <a:spcAft>
                <a:spcPts val="400"/>
              </a:spcAft>
              <a:defRPr sz="1150" b="0">
                <a:solidFill>
                  <a:srgbClr val="1C2A36"/>
                </a:solidFill>
                <a:latin typeface="Consolas"/>
              </a:defRPr>
            </a:pPr>
            <a:r>
              <a:t>}</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normal(0,1000)の1000は標準偏差。</a:t>
            </a:r>
          </a:p>
          <a:p>
            <a:pPr>
              <a:spcAft>
                <a:spcPts val="400"/>
              </a:spcAft>
              <a:defRPr sz="1300" b="0">
                <a:solidFill>
                  <a:srgbClr val="1C2A36"/>
                </a:solidFill>
                <a:latin typeface="Yu Gothic"/>
              </a:defRPr>
            </a:pPr>
            <a:r>
              <a:t>&lt;lower=0&gt;とcauchyによりσは正側に制限される。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4.6.2 | Stan  |  JAGSと事前分布が異なる</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Stan：μ ~ Normal(0,1000²)</a:t>
            </a:r>
          </a:p>
          <a:p>
            <a:pPr>
              <a:spcAft>
                <a:spcPts val="400"/>
              </a:spcAft>
              <a:defRPr sz="1500" b="0">
                <a:solidFill>
                  <a:srgbClr val="1C2A36"/>
                </a:solidFill>
                <a:latin typeface="Yu Gothic"/>
              </a:defRPr>
            </a:pPr>
            <a:r>
              <a:t>σ ~ Half-Cauchy(0,10)</a:t>
            </a:r>
          </a:p>
          <a:p>
            <a:pPr>
              <a:spcAft>
                <a:spcPts val="400"/>
              </a:spcAft>
              <a:defRPr sz="1500" b="0">
                <a:solidFill>
                  <a:srgbClr val="1C2A36"/>
                </a:solidFill>
                <a:latin typeface="Yu Gothic"/>
              </a:defRPr>
            </a:pPr>
            <a:r>
              <a:t>JAGS：μ ~ U(0,5000)、σ ~ U(0,100)</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cat()がStanファイルを作成</a:t>
            </a:r>
          </a:p>
          <a:p>
            <a:pPr>
              <a:spcAft>
                <a:spcPts val="400"/>
              </a:spcAft>
              <a:defRPr sz="1400" b="0">
                <a:solidFill>
                  <a:srgbClr val="1C2A36"/>
                </a:solidFill>
                <a:latin typeface="Yu Gothic"/>
              </a:defRPr>
            </a:pPr>
            <a:r>
              <a:t>② StanコードはRではない別言語</a:t>
            </a:r>
          </a:p>
          <a:p>
            <a:pPr>
              <a:spcAft>
                <a:spcPts val="400"/>
              </a:spcAft>
              <a:defRPr sz="1400" b="0">
                <a:solidFill>
                  <a:srgbClr val="1C2A36"/>
                </a:solidFill>
                <a:latin typeface="Yu Gothic"/>
              </a:defRPr>
            </a:pPr>
            <a:r>
              <a:t>③ 型宣言と末尾のセミコロン</a:t>
            </a:r>
          </a:p>
          <a:p>
            <a:pPr>
              <a:spcAft>
                <a:spcPts val="400"/>
              </a:spcAft>
              <a:defRPr sz="1400" b="0">
                <a:solidFill>
                  <a:srgbClr val="1C2A36"/>
                </a:solidFill>
                <a:latin typeface="Yu Gothic"/>
              </a:defRPr>
            </a:pPr>
            <a:r>
              <a:t>④ priorをJAGSと比較</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cat(file="model4_6.stan", "</a:t>
            </a:r>
          </a:p>
          <a:p>
            <a:pPr>
              <a:spcAft>
                <a:spcPts val="400"/>
              </a:spcAft>
              <a:defRPr sz="1300" b="0">
                <a:solidFill>
                  <a:srgbClr val="1C2A36"/>
                </a:solidFill>
                <a:latin typeface="Consolas"/>
              </a:defRPr>
            </a:pPr>
            <a:r>
              <a:t>data { int n; vector[n] mass; }</a:t>
            </a:r>
          </a:p>
          <a:p>
            <a:pPr>
              <a:spcAft>
                <a:spcPts val="400"/>
              </a:spcAft>
              <a:defRPr sz="1300" b="0">
                <a:solidFill>
                  <a:srgbClr val="1C2A36"/>
                </a:solidFill>
                <a:latin typeface="Consolas"/>
              </a:defRPr>
            </a:pPr>
            <a:r>
              <a:t>parameters {</a:t>
            </a:r>
          </a:p>
          <a:p>
            <a:pPr>
              <a:spcAft>
                <a:spcPts val="400"/>
              </a:spcAft>
              <a:defRPr sz="1300" b="0">
                <a:solidFill>
                  <a:srgbClr val="1C2A36"/>
                </a:solidFill>
                <a:latin typeface="Consolas"/>
              </a:defRPr>
            </a:pPr>
            <a:r>
              <a:t>  real pop_mean;</a:t>
            </a:r>
          </a:p>
          <a:p>
            <a:pPr>
              <a:spcAft>
                <a:spcPts val="400"/>
              </a:spcAft>
              <a:defRPr sz="1300" b="0">
                <a:solidFill>
                  <a:srgbClr val="1C2A36"/>
                </a:solidFill>
                <a:latin typeface="Consolas"/>
              </a:defRPr>
            </a:pPr>
            <a:r>
              <a:t>  real&lt;lower=0&gt; pop_sd;</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model {</a:t>
            </a:r>
          </a:p>
          <a:p>
            <a:pPr>
              <a:spcAft>
                <a:spcPts val="400"/>
              </a:spcAft>
              <a:defRPr sz="1300" b="0">
                <a:solidFill>
                  <a:srgbClr val="1C2A36"/>
                </a:solidFill>
                <a:latin typeface="Consolas"/>
              </a:defRPr>
            </a:pPr>
            <a:r>
              <a:t>  pop_mean ~ normal(0,1000);</a:t>
            </a:r>
          </a:p>
          <a:p>
            <a:pPr>
              <a:spcAft>
                <a:spcPts val="400"/>
              </a:spcAft>
              <a:defRPr sz="1300" b="0">
                <a:solidFill>
                  <a:srgbClr val="1C2A36"/>
                </a:solidFill>
                <a:latin typeface="Consolas"/>
              </a:defRPr>
            </a:pPr>
            <a:r>
              <a:t>  pop_sd ~ cauchy(0,10);</a:t>
            </a:r>
          </a:p>
          <a:p>
            <a:pPr>
              <a:spcAft>
                <a:spcPts val="400"/>
              </a:spcAft>
              <a:defRPr sz="1300" b="0">
                <a:solidFill>
                  <a:srgbClr val="1C2A36"/>
                </a:solidFill>
                <a:latin typeface="Consolas"/>
              </a:defRPr>
            </a:pPr>
            <a:r>
              <a:t>  for(i in 1:n)</a:t>
            </a:r>
          </a:p>
          <a:p>
            <a:pPr>
              <a:spcAft>
                <a:spcPts val="400"/>
              </a:spcAft>
              <a:defRPr sz="1300" b="0">
                <a:solidFill>
                  <a:srgbClr val="1C2A36"/>
                </a:solidFill>
                <a:latin typeface="Consolas"/>
              </a:defRPr>
            </a:pPr>
            <a:r>
              <a:t>    mass[i] ~ normal(pop_mean,pop_sd);</a:t>
            </a:r>
          </a:p>
          <a:p>
            <a:pPr>
              <a:spcAft>
                <a:spcPts val="400"/>
              </a:spcAft>
              <a:defRPr sz="1300" b="0">
                <a:solidFill>
                  <a:srgbClr val="1C2A36"/>
                </a:solidFill>
                <a:latin typeface="Consolas"/>
              </a:defRPr>
            </a:pPr>
            <a:r>
              <a:t>}")</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事前分布が異なるため、同じデータでも理論上は同じ事後分布にはならない。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4.6.2 | Stan  |  HMC/NUTSによる実行</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4チェーン、各1200反復</a:t>
            </a:r>
          </a:p>
          <a:p>
            <a:pPr>
              <a:spcAft>
                <a:spcPts val="400"/>
              </a:spcAft>
              <a:defRPr sz="1500" b="0">
                <a:solidFill>
                  <a:srgbClr val="1C2A36"/>
                </a:solidFill>
                <a:latin typeface="Yu Gothic"/>
              </a:defRPr>
            </a:pPr>
            <a:r>
              <a:t>warmup=200、thin=1</a:t>
            </a:r>
          </a:p>
          <a:p>
            <a:pPr>
              <a:spcAft>
                <a:spcPts val="400"/>
              </a:spcAft>
              <a:defRPr sz="1500" b="0">
                <a:solidFill>
                  <a:srgbClr val="1C2A36"/>
                </a:solidFill>
                <a:latin typeface="Yu Gothic"/>
              </a:defRPr>
            </a:pPr>
            <a:r>
              <a:t>保存：4×1000=4000ドロー</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初回はStanモデルをコンパイル</a:t>
            </a:r>
          </a:p>
          <a:p>
            <a:pPr>
              <a:spcAft>
                <a:spcPts val="400"/>
              </a:spcAft>
              <a:defRPr sz="1400" b="0">
                <a:solidFill>
                  <a:srgbClr val="1C2A36"/>
                </a:solidFill>
                <a:latin typeface="Yu Gothic"/>
              </a:defRPr>
            </a:pPr>
            <a:r>
              <a:t>② stan()でHMC系MCMC実行</a:t>
            </a:r>
          </a:p>
          <a:p>
            <a:pPr>
              <a:spcAft>
                <a:spcPts val="400"/>
              </a:spcAft>
              <a:defRPr sz="1400" b="0">
                <a:solidFill>
                  <a:srgbClr val="1C2A36"/>
                </a:solidFill>
                <a:latin typeface="Yu Gothic"/>
              </a:defRPr>
            </a:pPr>
            <a:r>
              <a:t>③ traceplotで混合状態を確認</a:t>
            </a:r>
          </a:p>
          <a:p>
            <a:pPr>
              <a:spcAft>
                <a:spcPts val="400"/>
              </a:spcAft>
              <a:defRPr sz="1400" b="0">
                <a:solidFill>
                  <a:srgbClr val="1C2A36"/>
                </a:solidFill>
                <a:latin typeface="Yu Gothic"/>
              </a:defRPr>
            </a:pPr>
            <a:r>
              <a:t>④ print()でRhat等の要約を確認</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library(rstan)</a:t>
            </a:r>
          </a:p>
          <a:p>
            <a:pPr>
              <a:spcAft>
                <a:spcPts val="400"/>
              </a:spcAft>
              <a:defRPr sz="1300" b="0">
                <a:solidFill>
                  <a:srgbClr val="1C2A36"/>
                </a:solidFill>
                <a:latin typeface="Consolas"/>
              </a:defRPr>
            </a:pPr>
            <a:r>
              <a:t>dataList &lt;- list(n=length(y1000),</a:t>
            </a:r>
          </a:p>
          <a:p>
            <a:pPr>
              <a:spcAft>
                <a:spcPts val="400"/>
              </a:spcAft>
              <a:defRPr sz="1300" b="0">
                <a:solidFill>
                  <a:srgbClr val="1C2A36"/>
                </a:solidFill>
                <a:latin typeface="Consolas"/>
              </a:defRPr>
            </a:pPr>
            <a:r>
              <a:t>                 mass=y1000)</a:t>
            </a:r>
          </a:p>
          <a:p>
            <a:pPr>
              <a:spcAft>
                <a:spcPts val="400"/>
              </a:spcAft>
              <a:defRPr sz="1300" b="0">
                <a:solidFill>
                  <a:srgbClr val="1C2A36"/>
                </a:solidFill>
                <a:latin typeface="Consolas"/>
              </a:defRPr>
            </a:pPr>
            <a:r>
              <a:t>ni &lt;- 1200; nb &lt;- 200</a:t>
            </a:r>
          </a:p>
          <a:p>
            <a:pPr>
              <a:spcAft>
                <a:spcPts val="400"/>
              </a:spcAft>
              <a:defRPr sz="1300" b="0">
                <a:solidFill>
                  <a:srgbClr val="1C2A36"/>
                </a:solidFill>
                <a:latin typeface="Consolas"/>
              </a:defRPr>
            </a:pPr>
            <a:r>
              <a:t>nc &lt;- 4; nt &lt;- 1</a:t>
            </a:r>
          </a:p>
          <a:p>
            <a:pPr>
              <a:spcAft>
                <a:spcPts val="400"/>
              </a:spcAft>
              <a:defRPr sz="1300" b="0">
                <a:solidFill>
                  <a:srgbClr val="1C2A36"/>
                </a:solidFill>
                <a:latin typeface="Consolas"/>
              </a:defRPr>
            </a:pPr>
            <a:r>
              <a:t>out4.6 &lt;- stan(file="model4_6.stan",</a:t>
            </a:r>
          </a:p>
          <a:p>
            <a:pPr>
              <a:spcAft>
                <a:spcPts val="400"/>
              </a:spcAft>
              <a:defRPr sz="1300" b="0">
                <a:solidFill>
                  <a:srgbClr val="1C2A36"/>
                </a:solidFill>
                <a:latin typeface="Consolas"/>
              </a:defRPr>
            </a:pPr>
            <a:r>
              <a:t>  data=dataList, chains=nc,</a:t>
            </a:r>
          </a:p>
          <a:p>
            <a:pPr>
              <a:spcAft>
                <a:spcPts val="400"/>
              </a:spcAft>
              <a:defRPr sz="1300" b="0">
                <a:solidFill>
                  <a:srgbClr val="1C2A36"/>
                </a:solidFill>
                <a:latin typeface="Consolas"/>
              </a:defRPr>
            </a:pPr>
            <a:r>
              <a:t>  iter=ni,warmup=nb,thin=nt)</a:t>
            </a:r>
          </a:p>
          <a:p>
            <a:pPr>
              <a:spcAft>
                <a:spcPts val="400"/>
              </a:spcAft>
              <a:defRPr sz="1300" b="0">
                <a:solidFill>
                  <a:srgbClr val="1C2A36"/>
                </a:solidFill>
                <a:latin typeface="Consolas"/>
              </a:defRPr>
            </a:pPr>
            <a:r>
              <a:t>rstan::traceplot(out4.6)</a:t>
            </a:r>
          </a:p>
          <a:p>
            <a:pPr>
              <a:spcAft>
                <a:spcPts val="400"/>
              </a:spcAft>
              <a:defRPr sz="1300" b="0">
                <a:solidFill>
                  <a:srgbClr val="1C2A36"/>
                </a:solidFill>
                <a:latin typeface="Consolas"/>
              </a:defRPr>
            </a:pPr>
            <a:r>
              <a:t>print(out4.6)</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HMCではRhatとESSだけでなくdivergenceなどの診断も重要（補足）。</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4.6.2 | Stan  |  サンプルの抽出と比較</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推定対象：pop_mean、pop_sd</a:t>
            </a:r>
          </a:p>
          <a:p>
            <a:pPr>
              <a:spcAft>
                <a:spcPts val="400"/>
              </a:spcAft>
              <a:defRPr sz="1500" b="0">
                <a:solidFill>
                  <a:srgbClr val="1C2A36"/>
                </a:solidFill>
                <a:latin typeface="Yu Gothic"/>
              </a:defRPr>
            </a:pPr>
            <a:r>
              <a:t>抽出された配列・listから事後サンプルを確認</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summaryの平均列を取得</a:t>
            </a:r>
          </a:p>
          <a:p>
            <a:pPr>
              <a:spcAft>
                <a:spcPts val="400"/>
              </a:spcAft>
              <a:defRPr sz="1400" b="0">
                <a:solidFill>
                  <a:srgbClr val="1C2A36"/>
                </a:solidFill>
                <a:latin typeface="Yu Gothic"/>
              </a:defRPr>
            </a:pPr>
            <a:r>
              <a:t>② extract()でサンプルをリスト化</a:t>
            </a:r>
          </a:p>
          <a:p>
            <a:pPr>
              <a:spcAft>
                <a:spcPts val="400"/>
              </a:spcAft>
              <a:defRPr sz="1400" b="0">
                <a:solidFill>
                  <a:srgbClr val="1C2A36"/>
                </a:solidFill>
                <a:latin typeface="Yu Gothic"/>
              </a:defRPr>
            </a:pPr>
            <a:r>
              <a:t>③ As.mcmc.list()でcoda形式に変換</a:t>
            </a:r>
          </a:p>
          <a:p>
            <a:pPr>
              <a:spcAft>
                <a:spcPts val="400"/>
              </a:spcAft>
              <a:defRPr sz="1400" b="0">
                <a:solidFill>
                  <a:srgbClr val="1C2A36"/>
                </a:solidFill>
                <a:latin typeface="Yu Gothic"/>
              </a:defRPr>
            </a:pPr>
            <a:r>
              <a:t>④ codaでチェーンを描画</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stan_est &lt;- summary(out4.6)$summary[1:2,1]</a:t>
            </a:r>
          </a:p>
          <a:p>
            <a:pPr>
              <a:spcAft>
                <a:spcPts val="400"/>
              </a:spcAft>
              <a:defRPr sz="1300" b="0">
                <a:solidFill>
                  <a:srgbClr val="1C2A36"/>
                </a:solidFill>
                <a:latin typeface="Consolas"/>
              </a:defRPr>
            </a:pPr>
            <a:r>
              <a:t>str(out4.6)</a:t>
            </a:r>
          </a:p>
          <a:p>
            <a:pPr>
              <a:spcAft>
                <a:spcPts val="400"/>
              </a:spcAft>
              <a:defRPr sz="1300" b="0">
                <a:solidFill>
                  <a:srgbClr val="1C2A36"/>
                </a:solidFill>
                <a:latin typeface="Consolas"/>
              </a:defRPr>
            </a:pPr>
            <a:r>
              <a:t>sims &lt;- extract(out4.6)</a:t>
            </a:r>
          </a:p>
          <a:p>
            <a:pPr>
              <a:spcAft>
                <a:spcPts val="400"/>
              </a:spcAft>
              <a:defRPr sz="1300" b="0">
                <a:solidFill>
                  <a:srgbClr val="1C2A36"/>
                </a:solidFill>
                <a:latin typeface="Consolas"/>
              </a:defRPr>
            </a:pPr>
            <a:r>
              <a:t>lapply(sims,head)</a:t>
            </a:r>
          </a:p>
          <a:p>
            <a:pPr>
              <a:spcAft>
                <a:spcPts val="400"/>
              </a:spcAft>
              <a:defRPr sz="1300" b="0">
                <a:solidFill>
                  <a:srgbClr val="1C2A36"/>
                </a:solidFill>
                <a:latin typeface="Consolas"/>
              </a:defRPr>
            </a:pPr>
            <a:r>
              <a:t>sims &lt;- As.mcmc.list(out4.6)</a:t>
            </a:r>
          </a:p>
          <a:p>
            <a:pPr>
              <a:spcAft>
                <a:spcPts val="400"/>
              </a:spcAft>
              <a:defRPr sz="1300" b="0">
                <a:solidFill>
                  <a:srgbClr val="1C2A36"/>
                </a:solidFill>
                <a:latin typeface="Consolas"/>
              </a:defRPr>
            </a:pPr>
            <a:r>
              <a:t>lapply(sims,head)</a:t>
            </a:r>
          </a:p>
          <a:p>
            <a:pPr>
              <a:spcAft>
                <a:spcPts val="400"/>
              </a:spcAft>
              <a:defRPr sz="1300" b="0">
                <a:solidFill>
                  <a:srgbClr val="1C2A36"/>
                </a:solidFill>
                <a:latin typeface="Consolas"/>
              </a:defRPr>
            </a:pPr>
            <a:r>
              <a:t>coda::traceplot(sims)</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As.mcmc.listは原コード表記（大文字A）。</a:t>
            </a:r>
          </a:p>
          <a:p>
            <a:pPr>
              <a:spcAft>
                <a:spcPts val="400"/>
              </a:spcAft>
              <a:defRPr sz="1300" b="0">
                <a:solidFill>
                  <a:srgbClr val="1C2A36"/>
                </a:solidFill>
                <a:latin typeface="Yu Gothic"/>
              </a:defRPr>
            </a:pPr>
            <a:r>
              <a:t>summaryの行順に依存するためパラメータ名確認が必要。</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4.7.2 | MLE  |  密度・尤度・対数尤度</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L(μ,σ|y)=∏ᵢ f(yᵢ|μ,σ)</a:t>
            </a:r>
          </a:p>
          <a:p>
            <a:pPr>
              <a:spcAft>
                <a:spcPts val="400"/>
              </a:spcAft>
              <a:defRPr sz="1500" b="0">
                <a:solidFill>
                  <a:srgbClr val="1C2A36"/>
                </a:solidFill>
                <a:latin typeface="Yu Gothic"/>
              </a:defRPr>
            </a:pPr>
            <a:r>
              <a:t>LL(μ,σ)=Σᵢ log f(yᵢ|μ,σ)</a:t>
            </a:r>
          </a:p>
          <a:p>
            <a:pPr>
              <a:spcAft>
                <a:spcPts val="400"/>
              </a:spcAft>
              <a:defRPr sz="1500" b="0">
                <a:solidFill>
                  <a:srgbClr val="1C2A36"/>
                </a:solidFill>
                <a:latin typeface="Yu Gothic"/>
              </a:defRPr>
            </a:pPr>
            <a:r>
              <a:t>NLL(μ,σ)=−LL(μ,σ)</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個体の確率密度を評価</a:t>
            </a:r>
          </a:p>
          <a:p>
            <a:pPr>
              <a:spcAft>
                <a:spcPts val="400"/>
              </a:spcAft>
              <a:defRPr sz="1400" b="0">
                <a:solidFill>
                  <a:srgbClr val="1C2A36"/>
                </a:solidFill>
                <a:latin typeface="Yu Gothic"/>
              </a:defRPr>
            </a:pPr>
            <a:r>
              <a:t>② 全個体の密度を積にする</a:t>
            </a:r>
          </a:p>
          <a:p>
            <a:pPr>
              <a:spcAft>
                <a:spcPts val="400"/>
              </a:spcAft>
              <a:defRPr sz="1400" b="0">
                <a:solidFill>
                  <a:srgbClr val="1C2A36"/>
                </a:solidFill>
                <a:latin typeface="Yu Gothic"/>
              </a:defRPr>
            </a:pPr>
            <a:r>
              <a:t>③ 対数で積を和に変換</a:t>
            </a:r>
          </a:p>
          <a:p>
            <a:pPr>
              <a:spcAft>
                <a:spcPts val="400"/>
              </a:spcAft>
              <a:defRPr sz="1400" b="0">
                <a:solidFill>
                  <a:srgbClr val="1C2A36"/>
                </a:solidFill>
                <a:latin typeface="Yu Gothic"/>
              </a:defRPr>
            </a:pPr>
            <a:r>
              <a:t>④ 小さな密度の積の桁落ちを回避</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dnorm(y10[1],mean=600,sd=30)</a:t>
            </a:r>
          </a:p>
          <a:p>
            <a:pPr>
              <a:spcAft>
                <a:spcPts val="400"/>
              </a:spcAft>
              <a:defRPr sz="1300" b="0">
                <a:solidFill>
                  <a:srgbClr val="1C2A36"/>
                </a:solidFill>
                <a:latin typeface="Consolas"/>
              </a:defRPr>
            </a:pPr>
            <a:r>
              <a:t>dnorm(y10[1],mean=550,sd=25)</a:t>
            </a:r>
          </a:p>
          <a:p>
            <a:pPr>
              <a:spcAft>
                <a:spcPts val="400"/>
              </a:spcAft>
              <a:defRPr sz="1300" b="0">
                <a:solidFill>
                  <a:srgbClr val="1C2A36"/>
                </a:solidFill>
                <a:latin typeface="Consolas"/>
              </a:defRPr>
            </a:pPr>
            <a:r>
              <a:t>prod(dnorm(y10,mean=600,sd=30))</a:t>
            </a:r>
          </a:p>
          <a:p>
            <a:pPr>
              <a:spcAft>
                <a:spcPts val="400"/>
              </a:spcAft>
              <a:defRPr sz="1300" b="0">
                <a:solidFill>
                  <a:srgbClr val="1C2A36"/>
                </a:solidFill>
                <a:latin typeface="Consolas"/>
              </a:defRPr>
            </a:pPr>
            <a:r>
              <a:t>prod(dnorm(y10,mean=550,sd=25))</a:t>
            </a:r>
          </a:p>
          <a:p>
            <a:pPr>
              <a:spcAft>
                <a:spcPts val="400"/>
              </a:spcAft>
              <a:defRPr sz="1300" b="0">
                <a:solidFill>
                  <a:srgbClr val="1C2A36"/>
                </a:solidFill>
                <a:latin typeface="Consolas"/>
              </a:defRPr>
            </a:pPr>
            <a:r>
              <a:t>sum(dnorm(y10,mean=600,</a:t>
            </a:r>
          </a:p>
          <a:p>
            <a:pPr>
              <a:spcAft>
                <a:spcPts val="400"/>
              </a:spcAft>
              <a:defRPr sz="1300" b="0">
                <a:solidFill>
                  <a:srgbClr val="1C2A36"/>
                </a:solidFill>
                <a:latin typeface="Consolas"/>
              </a:defRPr>
            </a:pPr>
            <a:r>
              <a:t>          sd=30,log=TRUE))</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密度は連続変数の点確率ではない。</a:t>
            </a:r>
          </a:p>
          <a:p>
            <a:pPr>
              <a:spcAft>
                <a:spcPts val="400"/>
              </a:spcAft>
              <a:defRPr sz="1300" b="0">
                <a:solidFill>
                  <a:srgbClr val="1C2A36"/>
                </a:solidFill>
                <a:latin typeface="Yu Gothic"/>
              </a:defRPr>
            </a:pPr>
            <a:r>
              <a:t>prodは観測数が大きいとアンダーフローしやすい。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18</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4.7.2 | MLE  |  LL関数を自分で書く</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パラメータベクトル θ=(μ,σ)</a:t>
            </a:r>
          </a:p>
          <a:p>
            <a:pPr>
              <a:spcAft>
                <a:spcPts val="400"/>
              </a:spcAft>
              <a:defRPr sz="1500" b="0">
                <a:solidFill>
                  <a:srgbClr val="1C2A36"/>
                </a:solidFill>
                <a:latin typeface="Yu Gothic"/>
              </a:defRPr>
            </a:pPr>
            <a:r>
              <a:t>LL(θ)=Σᵢ log Normal(yᵢ|μ,σ)</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param[1]を平均に割り当て</a:t>
            </a:r>
          </a:p>
          <a:p>
            <a:pPr>
              <a:spcAft>
                <a:spcPts val="400"/>
              </a:spcAft>
              <a:defRPr sz="1400" b="0">
                <a:solidFill>
                  <a:srgbClr val="1C2A36"/>
                </a:solidFill>
                <a:latin typeface="Yu Gothic"/>
              </a:defRPr>
            </a:pPr>
            <a:r>
              <a:t>② param[2]をSDに割り当て</a:t>
            </a:r>
          </a:p>
          <a:p>
            <a:pPr>
              <a:spcAft>
                <a:spcPts val="400"/>
              </a:spcAft>
              <a:defRPr sz="1400" b="0">
                <a:solidFill>
                  <a:srgbClr val="1C2A36"/>
                </a:solidFill>
                <a:latin typeface="Yu Gothic"/>
              </a:defRPr>
            </a:pPr>
            <a:r>
              <a:t>③ log=TRUEで対数密度を足す</a:t>
            </a:r>
          </a:p>
          <a:p>
            <a:pPr>
              <a:spcAft>
                <a:spcPts val="400"/>
              </a:spcAft>
              <a:defRPr sz="1400" b="0">
                <a:solidFill>
                  <a:srgbClr val="1C2A36"/>
                </a:solidFill>
                <a:latin typeface="Yu Gothic"/>
              </a:defRPr>
            </a:pPr>
            <a:r>
              <a:t>④ 初期パラメータを指定</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LL &lt;- function(param,y) {</a:t>
            </a:r>
          </a:p>
          <a:p>
            <a:pPr>
              <a:spcAft>
                <a:spcPts val="400"/>
              </a:spcAft>
              <a:defRPr sz="1300" b="0">
                <a:solidFill>
                  <a:srgbClr val="1C2A36"/>
                </a:solidFill>
                <a:latin typeface="Consolas"/>
              </a:defRPr>
            </a:pPr>
            <a:r>
              <a:t>  pop.mean &lt;- param[1]</a:t>
            </a:r>
          </a:p>
          <a:p>
            <a:pPr>
              <a:spcAft>
                <a:spcPts val="400"/>
              </a:spcAft>
              <a:defRPr sz="1300" b="0">
                <a:solidFill>
                  <a:srgbClr val="1C2A36"/>
                </a:solidFill>
                <a:latin typeface="Consolas"/>
              </a:defRPr>
            </a:pPr>
            <a:r>
              <a:t>  pop.sd &lt;- param[2]</a:t>
            </a:r>
          </a:p>
          <a:p>
            <a:pPr>
              <a:spcAft>
                <a:spcPts val="400"/>
              </a:spcAft>
              <a:defRPr sz="1300" b="0">
                <a:solidFill>
                  <a:srgbClr val="1C2A36"/>
                </a:solidFill>
                <a:latin typeface="Consolas"/>
              </a:defRPr>
            </a:pPr>
            <a:r>
              <a:t>  sum(dnorm(y,mean=pop.mean,</a:t>
            </a:r>
          </a:p>
          <a:p>
            <a:pPr>
              <a:spcAft>
                <a:spcPts val="400"/>
              </a:spcAft>
              <a:defRPr sz="1300" b="0">
                <a:solidFill>
                  <a:srgbClr val="1C2A36"/>
                </a:solidFill>
                <a:latin typeface="Consolas"/>
              </a:defRPr>
            </a:pPr>
            <a:r>
              <a:t>            sd=pop.sd,log=TRUE))</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LL(c(600,30),y10)</a:t>
            </a:r>
          </a:p>
          <a:p>
            <a:pPr>
              <a:spcAft>
                <a:spcPts val="400"/>
              </a:spcAft>
              <a:defRPr sz="1300" b="0">
                <a:solidFill>
                  <a:srgbClr val="1C2A36"/>
                </a:solidFill>
                <a:latin typeface="Consolas"/>
              </a:defRPr>
            </a:pPr>
            <a:r>
              <a:t>starts &lt;- c(pop.mean=550,pop.sd=25)</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LLは最大化対象。</a:t>
            </a:r>
          </a:p>
          <a:p>
            <a:pPr>
              <a:spcAft>
                <a:spcPts val="400"/>
              </a:spcAft>
              <a:defRPr sz="1300" b="0">
                <a:solidFill>
                  <a:srgbClr val="1C2A36"/>
                </a:solidFill>
                <a:latin typeface="Yu Gothic"/>
              </a:defRPr>
            </a:pPr>
            <a:r>
              <a:t>optim()の既定は最小化なので、次のスライドで負号を付ける。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19</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4.7.2 | MLE  |  NLLとoptimの実行</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argminθ NLL(θ) = argmaxθ LL(θ)</a:t>
            </a:r>
          </a:p>
          <a:p>
            <a:pPr>
              <a:spcAft>
                <a:spcPts val="400"/>
              </a:spcAft>
              <a:defRPr sz="1500" b="0">
                <a:solidFill>
                  <a:srgbClr val="1C2A36"/>
                </a:solidFill>
                <a:latin typeface="Yu Gothic"/>
              </a:defRPr>
            </a:pPr>
            <a:r>
              <a:t>optimは初期値から局所的に探索</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LLに負符号を付けNLLを定義</a:t>
            </a:r>
          </a:p>
          <a:p>
            <a:pPr>
              <a:spcAft>
                <a:spcPts val="400"/>
              </a:spcAft>
              <a:defRPr sz="1400" b="0">
                <a:solidFill>
                  <a:srgbClr val="1C2A36"/>
                </a:solidFill>
                <a:latin typeface="Yu Gothic"/>
              </a:defRPr>
            </a:pPr>
            <a:r>
              <a:t>② optim()に目的関数とデータを渡す</a:t>
            </a:r>
          </a:p>
          <a:p>
            <a:pPr>
              <a:spcAft>
                <a:spcPts val="400"/>
              </a:spcAft>
              <a:defRPr sz="1400" b="0">
                <a:solidFill>
                  <a:srgbClr val="1C2A36"/>
                </a:solidFill>
                <a:latin typeface="Yu Gothic"/>
              </a:defRPr>
            </a:pPr>
            <a:r>
              <a:t>③ convergence=0は正常終了の目安</a:t>
            </a:r>
          </a:p>
          <a:p>
            <a:pPr>
              <a:spcAft>
                <a:spcPts val="400"/>
              </a:spcAft>
              <a:defRPr sz="1400" b="0">
                <a:solidFill>
                  <a:srgbClr val="1C2A36"/>
                </a:solidFill>
                <a:latin typeface="Yu Gothic"/>
              </a:defRPr>
            </a:pPr>
            <a:r>
              <a:t>④ $parで最尤推定値を得る</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NLL &lt;- function(param,y) {</a:t>
            </a:r>
          </a:p>
          <a:p>
            <a:pPr>
              <a:spcAft>
                <a:spcPts val="400"/>
              </a:spcAft>
              <a:defRPr sz="1300" b="0">
                <a:solidFill>
                  <a:srgbClr val="1C2A36"/>
                </a:solidFill>
                <a:latin typeface="Consolas"/>
              </a:defRPr>
            </a:pPr>
            <a:r>
              <a:t>  pop.mean &lt;- param[1]</a:t>
            </a:r>
          </a:p>
          <a:p>
            <a:pPr>
              <a:spcAft>
                <a:spcPts val="400"/>
              </a:spcAft>
              <a:defRPr sz="1300" b="0">
                <a:solidFill>
                  <a:srgbClr val="1C2A36"/>
                </a:solidFill>
                <a:latin typeface="Consolas"/>
              </a:defRPr>
            </a:pPr>
            <a:r>
              <a:t>  pop.sd &lt;- param[2]</a:t>
            </a:r>
          </a:p>
          <a:p>
            <a:pPr>
              <a:spcAft>
                <a:spcPts val="400"/>
              </a:spcAft>
              <a:defRPr sz="1300" b="0">
                <a:solidFill>
                  <a:srgbClr val="1C2A36"/>
                </a:solidFill>
                <a:latin typeface="Consolas"/>
              </a:defRPr>
            </a:pPr>
            <a:r>
              <a:t>  -sum(dnorm(y,mean=pop.mean,</a:t>
            </a:r>
          </a:p>
          <a:p>
            <a:pPr>
              <a:spcAft>
                <a:spcPts val="400"/>
              </a:spcAft>
              <a:defRPr sz="1300" b="0">
                <a:solidFill>
                  <a:srgbClr val="1C2A36"/>
                </a:solidFill>
                <a:latin typeface="Consolas"/>
              </a:defRPr>
            </a:pPr>
            <a:r>
              <a:t>             sd=pop.sd,log=TRUE))</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out4.7 &lt;- optim(starts,fn=NLL,</a:t>
            </a:r>
          </a:p>
          <a:p>
            <a:pPr>
              <a:spcAft>
                <a:spcPts val="400"/>
              </a:spcAft>
              <a:defRPr sz="1300" b="0">
                <a:solidFill>
                  <a:srgbClr val="1C2A36"/>
                </a:solidFill>
                <a:latin typeface="Consolas"/>
              </a:defRPr>
            </a:pPr>
            <a:r>
              <a:t>                hessian=TRUE,y=y1000)</a:t>
            </a:r>
          </a:p>
          <a:p>
            <a:pPr>
              <a:spcAft>
                <a:spcPts val="400"/>
              </a:spcAft>
              <a:defRPr sz="1300" b="0">
                <a:solidFill>
                  <a:srgbClr val="1C2A36"/>
                </a:solidFill>
                <a:latin typeface="Consolas"/>
              </a:defRPr>
            </a:pPr>
            <a:r>
              <a:t>out4.7$convergence</a:t>
            </a:r>
          </a:p>
          <a:p>
            <a:pPr>
              <a:spcAft>
                <a:spcPts val="400"/>
              </a:spcAft>
              <a:defRPr sz="1300" b="0">
                <a:solidFill>
                  <a:srgbClr val="1C2A36"/>
                </a:solidFill>
                <a:latin typeface="Consolas"/>
              </a:defRPr>
            </a:pPr>
            <a:r>
              <a:t>out4.7$par</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この原コードはσ&gt;0の制約を明示しない。</a:t>
            </a:r>
          </a:p>
          <a:p>
            <a:pPr>
              <a:spcAft>
                <a:spcPts val="400"/>
              </a:spcAft>
              <a:defRPr sz="1300" b="0">
                <a:solidFill>
                  <a:srgbClr val="1C2A36"/>
                </a:solidFill>
                <a:latin typeface="Yu Gothic"/>
              </a:defRPr>
            </a:pPr>
            <a:r>
              <a:t>頑健化にはlog(σ)で最適化する方法がある（補足）。</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4.7.2 | MLE  |  ヘッセ行列と標準誤差</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H = ∂²NLL(θ)/∂θ∂θᵀ</a:t>
            </a:r>
          </a:p>
          <a:p>
            <a:pPr>
              <a:spcAft>
                <a:spcPts val="400"/>
              </a:spcAft>
              <a:defRPr sz="1500" b="0">
                <a:solidFill>
                  <a:srgbClr val="1C2A36"/>
                </a:solidFill>
                <a:latin typeface="Yu Gothic"/>
              </a:defRPr>
            </a:pPr>
            <a:r>
              <a:t>Var(θ̂) ≈ H⁻¹</a:t>
            </a:r>
          </a:p>
          <a:p>
            <a:pPr>
              <a:spcAft>
                <a:spcPts val="400"/>
              </a:spcAft>
              <a:defRPr sz="1500" b="0">
                <a:solidFill>
                  <a:srgbClr val="1C2A36"/>
                </a:solidFill>
                <a:latin typeface="Yu Gothic"/>
              </a:defRPr>
            </a:pPr>
            <a:r>
              <a:t>SE(θ̂ⱼ) ≈ √(H⁻¹)ⱼⱼ</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optimで得たヘッセ行列</a:t>
            </a:r>
          </a:p>
          <a:p>
            <a:pPr>
              <a:spcAft>
                <a:spcPts val="400"/>
              </a:spcAft>
              <a:defRPr sz="1400" b="0">
                <a:solidFill>
                  <a:srgbClr val="1C2A36"/>
                </a:solidFill>
                <a:latin typeface="Yu Gothic"/>
              </a:defRPr>
            </a:pPr>
            <a:r>
              <a:t>② solveで逆行列</a:t>
            </a:r>
          </a:p>
          <a:p>
            <a:pPr>
              <a:spcAft>
                <a:spcPts val="400"/>
              </a:spcAft>
              <a:defRPr sz="1400" b="0">
                <a:solidFill>
                  <a:srgbClr val="1C2A36"/>
                </a:solidFill>
                <a:latin typeface="Yu Gothic"/>
              </a:defRPr>
            </a:pPr>
            <a:r>
              <a:t>③ diagで対角の推定分散</a:t>
            </a:r>
          </a:p>
          <a:p>
            <a:pPr>
              <a:spcAft>
                <a:spcPts val="400"/>
              </a:spcAft>
              <a:defRPr sz="1400" b="0">
                <a:solidFill>
                  <a:srgbClr val="1C2A36"/>
                </a:solidFill>
                <a:latin typeface="Yu Gothic"/>
              </a:defRPr>
            </a:pPr>
            <a:r>
              <a:t>④ sqrtで漸近標準誤差</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vcov &lt;- solve(out4.7$hessian)</a:t>
            </a:r>
          </a:p>
          <a:p>
            <a:pPr>
              <a:spcAft>
                <a:spcPts val="400"/>
              </a:spcAft>
              <a:defRPr sz="1300" b="0">
                <a:solidFill>
                  <a:srgbClr val="1C2A36"/>
                </a:solidFill>
                <a:latin typeface="Consolas"/>
              </a:defRPr>
            </a:pPr>
            <a:r>
              <a:t>ASE &lt;- sqrt(diag(vcov))</a:t>
            </a:r>
          </a:p>
          <a:p>
            <a:pPr>
              <a:spcAft>
                <a:spcPts val="400"/>
              </a:spcAft>
              <a:defRPr sz="1300" b="0">
                <a:solidFill>
                  <a:srgbClr val="1C2A36"/>
                </a:solidFill>
                <a:latin typeface="Consolas"/>
              </a:defRPr>
            </a:pPr>
            <a:r>
              <a:t>ASE</a:t>
            </a:r>
          </a:p>
          <a:p>
            <a:pPr>
              <a:spcAft>
                <a:spcPts val="400"/>
              </a:spcAft>
              <a:defRPr sz="1300" b="0">
                <a:solidFill>
                  <a:srgbClr val="1C2A36"/>
                </a:solidFill>
                <a:latin typeface="Consolas"/>
              </a:defRPr>
            </a:pPr>
            <a:r>
              <a:t>get_MLE(out4.7,5)</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逆行列が適切なのは最適点付近の曲率が十分で、Hが正定値などの条件を満たすとき。</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48ABD-9035-F081-AB53-3C87DE5E9A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63E567-1207-8452-E738-2D7EFE6A6A95}"/>
              </a:ext>
            </a:extLst>
          </p:cNvPr>
          <p:cNvSpPr>
            <a:spLocks noGrp="1"/>
          </p:cNvSpPr>
          <p:nvPr>
            <p:ph type="title"/>
          </p:nvPr>
        </p:nvSpPr>
        <p:spPr>
          <a:xfrm>
            <a:off x="838200" y="365126"/>
            <a:ext cx="10515600" cy="475384"/>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TMB</a:t>
            </a:r>
            <a:r>
              <a:rPr kumimoji="1" lang="ja-JP" altLang="en-US" sz="3200" dirty="0">
                <a:latin typeface="BIZ UDゴシック" panose="020B0400000000000000" pitchFamily="49" charset="-128"/>
                <a:ea typeface="BIZ UDゴシック" panose="020B0400000000000000" pitchFamily="49" charset="-128"/>
              </a:rPr>
              <a:t>による計算の準備</a:t>
            </a:r>
          </a:p>
        </p:txBody>
      </p:sp>
      <p:pic>
        <p:nvPicPr>
          <p:cNvPr id="5" name="図 4">
            <a:extLst>
              <a:ext uri="{FF2B5EF4-FFF2-40B4-BE49-F238E27FC236}">
                <a16:creationId xmlns:a16="http://schemas.microsoft.com/office/drawing/2014/main" id="{EA166711-D00D-C5F2-520B-AC25302AE1C7}"/>
              </a:ext>
            </a:extLst>
          </p:cNvPr>
          <p:cNvPicPr>
            <a:picLocks noChangeAspect="1"/>
          </p:cNvPicPr>
          <p:nvPr/>
        </p:nvPicPr>
        <p:blipFill>
          <a:blip r:embed="rId2"/>
          <a:stretch>
            <a:fillRect/>
          </a:stretch>
        </p:blipFill>
        <p:spPr>
          <a:xfrm>
            <a:off x="304799" y="1041401"/>
            <a:ext cx="7601527" cy="5701145"/>
          </a:xfrm>
          <a:prstGeom prst="rect">
            <a:avLst/>
          </a:prstGeom>
        </p:spPr>
      </p:pic>
      <p:sp>
        <p:nvSpPr>
          <p:cNvPr id="7" name="テキスト ボックス 6">
            <a:extLst>
              <a:ext uri="{FF2B5EF4-FFF2-40B4-BE49-F238E27FC236}">
                <a16:creationId xmlns:a16="http://schemas.microsoft.com/office/drawing/2014/main" id="{39455ECD-A97E-5023-B024-705F605F862C}"/>
              </a:ext>
            </a:extLst>
          </p:cNvPr>
          <p:cNvSpPr txBox="1"/>
          <p:nvPr/>
        </p:nvSpPr>
        <p:spPr>
          <a:xfrm>
            <a:off x="7998690" y="2535672"/>
            <a:ext cx="4110183" cy="3323987"/>
          </a:xfrm>
          <a:prstGeom prst="rect">
            <a:avLst/>
          </a:prstGeom>
          <a:noFill/>
        </p:spPr>
        <p:txBody>
          <a:bodyPr wrap="square">
            <a:spAutoFit/>
          </a:bodyPr>
          <a:lstStyle/>
          <a:p>
            <a:r>
              <a:rPr lang="en-US" altLang="ja-JP" sz="1400" dirty="0"/>
              <a:t>#include &lt;TMB.hpp&gt;</a:t>
            </a:r>
          </a:p>
          <a:p>
            <a:endParaRPr lang="en-US" altLang="ja-JP" sz="1400" dirty="0"/>
          </a:p>
          <a:p>
            <a:r>
              <a:rPr lang="en-US" altLang="ja-JP" sz="1400" dirty="0"/>
              <a:t>template&lt;class Type&gt;</a:t>
            </a:r>
          </a:p>
          <a:p>
            <a:r>
              <a:rPr lang="en-US" altLang="ja-JP" sz="1400" dirty="0"/>
              <a:t>Type </a:t>
            </a:r>
            <a:r>
              <a:rPr lang="en-US" altLang="ja-JP" sz="1400" dirty="0" err="1"/>
              <a:t>objective_function</a:t>
            </a:r>
            <a:r>
              <a:rPr lang="en-US" altLang="ja-JP" sz="1400" dirty="0"/>
              <a:t>&lt;Type&gt;::operator() ()</a:t>
            </a:r>
          </a:p>
          <a:p>
            <a:r>
              <a:rPr lang="en-US" altLang="ja-JP" sz="1400" dirty="0"/>
              <a:t>{</a:t>
            </a:r>
          </a:p>
          <a:p>
            <a:r>
              <a:rPr lang="en-US" altLang="ja-JP" sz="1400" dirty="0"/>
              <a:t>  PARAMETER(x);</a:t>
            </a:r>
          </a:p>
          <a:p>
            <a:r>
              <a:rPr lang="en-US" altLang="ja-JP" sz="1400" dirty="0"/>
              <a:t>  return x * x;</a:t>
            </a:r>
          </a:p>
          <a:p>
            <a:r>
              <a:rPr lang="en-US" altLang="ja-JP" sz="1400" dirty="0"/>
              <a:t>}</a:t>
            </a:r>
          </a:p>
          <a:p>
            <a:endParaRPr lang="en-US" altLang="ja-JP" sz="1400" dirty="0"/>
          </a:p>
          <a:p>
            <a:endParaRPr lang="en-US" altLang="ja-JP" sz="1400" dirty="0"/>
          </a:p>
          <a:p>
            <a:r>
              <a:rPr lang="ja-JP" altLang="en-US" sz="1400" dirty="0">
                <a:latin typeface="BIZ UDPゴシック" panose="020B0400000000000000" pitchFamily="50" charset="-128"/>
                <a:ea typeface="BIZ UDPゴシック" panose="020B0400000000000000" pitchFamily="50" charset="-128"/>
              </a:rPr>
              <a:t>これをエディタに張り付けて、</a:t>
            </a:r>
            <a:r>
              <a:rPr lang="en-US" altLang="ja-JP" sz="1400" dirty="0">
                <a:latin typeface="BIZ UDPゴシック" panose="020B0400000000000000" pitchFamily="50" charset="-128"/>
                <a:ea typeface="BIZ UDPゴシック" panose="020B0400000000000000" pitchFamily="50" charset="-128"/>
              </a:rPr>
              <a:t>test_tmb.cpp</a:t>
            </a:r>
            <a:br>
              <a:rPr lang="en-US" altLang="ja-JP" sz="1400" dirty="0">
                <a:latin typeface="BIZ UDPゴシック" panose="020B0400000000000000" pitchFamily="50" charset="-128"/>
                <a:ea typeface="BIZ UDPゴシック" panose="020B0400000000000000" pitchFamily="50" charset="-128"/>
              </a:rPr>
            </a:br>
            <a:br>
              <a:rPr lang="en-US" altLang="ja-JP" sz="1400" dirty="0">
                <a:latin typeface="BIZ UDPゴシック" panose="020B0400000000000000" pitchFamily="50" charset="-128"/>
                <a:ea typeface="BIZ UDPゴシック" panose="020B0400000000000000" pitchFamily="50" charset="-128"/>
              </a:rPr>
            </a:br>
            <a:r>
              <a:rPr lang="ja-JP" altLang="en-US" sz="1400" dirty="0">
                <a:latin typeface="BIZ UDPゴシック" panose="020B0400000000000000" pitchFamily="50" charset="-128"/>
                <a:ea typeface="BIZ UDPゴシック" panose="020B0400000000000000" pitchFamily="50" charset="-128"/>
              </a:rPr>
              <a:t>で保存し、作業フォルダにおいてください。</a:t>
            </a:r>
            <a:endParaRPr lang="en-US" altLang="ja-JP" sz="1400" dirty="0">
              <a:latin typeface="BIZ UDPゴシック" panose="020B0400000000000000" pitchFamily="50" charset="-128"/>
              <a:ea typeface="BIZ UDPゴシック" panose="020B0400000000000000" pitchFamily="50" charset="-128"/>
            </a:endParaRPr>
          </a:p>
          <a:p>
            <a:endParaRPr lang="en-US" altLang="ja-JP" sz="1400" dirty="0">
              <a:latin typeface="BIZ UDPゴシック" panose="020B0400000000000000" pitchFamily="50" charset="-128"/>
              <a:ea typeface="BIZ UDPゴシック" panose="020B0400000000000000" pitchFamily="50" charset="-128"/>
            </a:endParaRPr>
          </a:p>
          <a:p>
            <a:r>
              <a:rPr lang="ja-JP" altLang="en-US" sz="1400" dirty="0">
                <a:latin typeface="BIZ UDPゴシック" panose="020B0400000000000000" pitchFamily="50" charset="-128"/>
                <a:ea typeface="BIZ UDPゴシック" panose="020B0400000000000000" pitchFamily="50" charset="-128"/>
              </a:rPr>
              <a:t>拡張子</a:t>
            </a:r>
            <a:r>
              <a:rPr lang="en-US" altLang="ja-JP" sz="1400" dirty="0" err="1">
                <a:latin typeface="BIZ UDPゴシック" panose="020B0400000000000000" pitchFamily="50" charset="-128"/>
                <a:ea typeface="BIZ UDPゴシック" panose="020B0400000000000000" pitchFamily="50" charset="-128"/>
              </a:rPr>
              <a:t>cpp</a:t>
            </a:r>
            <a:r>
              <a:rPr lang="ja-JP" altLang="en-US" sz="1400" dirty="0">
                <a:latin typeface="BIZ UDPゴシック" panose="020B0400000000000000" pitchFamily="50" charset="-128"/>
                <a:ea typeface="BIZ UDPゴシック" panose="020B0400000000000000" pitchFamily="50" charset="-128"/>
              </a:rPr>
              <a:t>とは</a:t>
            </a:r>
            <a:r>
              <a:rPr lang="en-US" altLang="ja-JP" sz="1400" dirty="0">
                <a:latin typeface="BIZ UDPゴシック" panose="020B0400000000000000" pitchFamily="50" charset="-128"/>
                <a:ea typeface="BIZ UDPゴシック" panose="020B0400000000000000" pitchFamily="50" charset="-128"/>
              </a:rPr>
              <a:t>C++</a:t>
            </a:r>
            <a:r>
              <a:rPr lang="ja-JP" altLang="en-US" sz="1400" dirty="0">
                <a:latin typeface="BIZ UDPゴシック" panose="020B0400000000000000" pitchFamily="50" charset="-128"/>
                <a:ea typeface="BIZ UDPゴシック" panose="020B0400000000000000" pitchFamily="50" charset="-128"/>
              </a:rPr>
              <a:t>のファイルという意味です。</a:t>
            </a:r>
          </a:p>
        </p:txBody>
      </p:sp>
    </p:spTree>
    <p:extLst>
      <p:ext uri="{BB962C8B-B14F-4D97-AF65-F5344CB8AC3E}">
        <p14:creationId xmlns:p14="http://schemas.microsoft.com/office/powerpoint/2010/main" val="4946859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4.8.2 | TMB  |  TMBを理解するための役割分担</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C++：負の対数尤度NLLを定義</a:t>
            </a:r>
          </a:p>
          <a:p>
            <a:pPr>
              <a:spcAft>
                <a:spcPts val="400"/>
              </a:spcAft>
              <a:defRPr sz="1500" b="0">
                <a:solidFill>
                  <a:srgbClr val="1C2A36"/>
                </a:solidFill>
                <a:latin typeface="Yu Gothic"/>
              </a:defRPr>
            </a:pPr>
            <a:r>
              <a:t>R：コンパイル・自動微分・最適化</a:t>
            </a:r>
          </a:p>
          <a:p>
            <a:pPr>
              <a:spcAft>
                <a:spcPts val="400"/>
              </a:spcAft>
              <a:defRPr sz="1500" b="0">
                <a:solidFill>
                  <a:srgbClr val="1C2A36"/>
                </a:solidFill>
                <a:latin typeface="Yu Gothic"/>
              </a:defRPr>
            </a:pPr>
            <a:r>
              <a:t>TMB自体はこのコードではMCMCをしない</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cat()で.cppを出力</a:t>
            </a:r>
          </a:p>
          <a:p>
            <a:pPr>
              <a:spcAft>
                <a:spcPts val="400"/>
              </a:spcAft>
              <a:defRPr sz="1400" b="0">
                <a:solidFill>
                  <a:srgbClr val="1C2A36"/>
                </a:solidFill>
                <a:latin typeface="Yu Gothic"/>
              </a:defRPr>
            </a:pPr>
            <a:r>
              <a:t>② compileで共有ライブラリ作成</a:t>
            </a:r>
          </a:p>
          <a:p>
            <a:pPr>
              <a:spcAft>
                <a:spcPts val="400"/>
              </a:spcAft>
              <a:defRPr sz="1400" b="0">
                <a:solidFill>
                  <a:srgbClr val="1C2A36"/>
                </a:solidFill>
                <a:latin typeface="Yu Gothic"/>
              </a:defRPr>
            </a:pPr>
            <a:r>
              <a:t>③ dyn.loadでRに読み込み</a:t>
            </a:r>
          </a:p>
          <a:p>
            <a:pPr>
              <a:spcAft>
                <a:spcPts val="400"/>
              </a:spcAft>
              <a:defRPr sz="1400" b="0">
                <a:solidFill>
                  <a:srgbClr val="1C2A36"/>
                </a:solidFill>
                <a:latin typeface="Yu Gothic"/>
              </a:defRPr>
            </a:pPr>
            <a:r>
              <a:t>④ MakeADFunで目的関数と勾配を構築</a:t>
            </a:r>
          </a:p>
          <a:p>
            <a:pPr>
              <a:spcAft>
                <a:spcPts val="400"/>
              </a:spcAft>
              <a:defRPr sz="1400" b="0">
                <a:solidFill>
                  <a:srgbClr val="1C2A36"/>
                </a:solidFill>
                <a:latin typeface="Yu Gothic"/>
              </a:defRPr>
            </a:pPr>
            <a:r>
              <a:t>⑤ optimでパラメータ最適化</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 R creates C++ model file</a:t>
            </a:r>
          </a:p>
          <a:p>
            <a:pPr>
              <a:spcAft>
                <a:spcPts val="400"/>
              </a:spcAft>
              <a:defRPr sz="1300" b="0">
                <a:solidFill>
                  <a:srgbClr val="1C2A36"/>
                </a:solidFill>
                <a:latin typeface="Consolas"/>
              </a:defRPr>
            </a:pPr>
            <a:r>
              <a:t>cat(file="model4_8.cpp", " ... ")</a:t>
            </a:r>
          </a:p>
          <a:p>
            <a:pPr>
              <a:spcAft>
                <a:spcPts val="400"/>
              </a:spcAft>
              <a:defRPr sz="1300" b="0">
                <a:solidFill>
                  <a:srgbClr val="1C2A36"/>
                </a:solidFill>
                <a:latin typeface="Consolas"/>
              </a:defRPr>
            </a:pPr>
            <a:r>
              <a:t>compile("model4_8.cpp")</a:t>
            </a:r>
          </a:p>
          <a:p>
            <a:pPr>
              <a:spcAft>
                <a:spcPts val="400"/>
              </a:spcAft>
              <a:defRPr sz="1300" b="0">
                <a:solidFill>
                  <a:srgbClr val="1C2A36"/>
                </a:solidFill>
                <a:latin typeface="Consolas"/>
              </a:defRPr>
            </a:pPr>
            <a:r>
              <a:t>dyn.load(dynlib("model4_8"))</a:t>
            </a:r>
          </a:p>
          <a:p>
            <a:pPr>
              <a:spcAft>
                <a:spcPts val="400"/>
              </a:spcAft>
              <a:defRPr sz="1300" b="0">
                <a:solidFill>
                  <a:srgbClr val="1C2A36"/>
                </a:solidFill>
                <a:latin typeface="Consolas"/>
              </a:defRPr>
            </a:pPr>
            <a:r>
              <a:t>out4.8 &lt;- MakeADFun(...)</a:t>
            </a:r>
          </a:p>
          <a:p>
            <a:pPr>
              <a:spcAft>
                <a:spcPts val="400"/>
              </a:spcAft>
              <a:defRPr sz="1300" b="0">
                <a:solidFill>
                  <a:srgbClr val="1C2A36"/>
                </a:solidFill>
                <a:latin typeface="Consolas"/>
              </a:defRPr>
            </a:pPr>
            <a:r>
              <a:t>opt &lt;- optim(out4.8$par,</a:t>
            </a:r>
          </a:p>
          <a:p>
            <a:pPr>
              <a:spcAft>
                <a:spcPts val="400"/>
              </a:spcAft>
              <a:defRPr sz="1300" b="0">
                <a:solidFill>
                  <a:srgbClr val="1C2A36"/>
                </a:solidFill>
                <a:latin typeface="Consolas"/>
              </a:defRPr>
            </a:pPr>
            <a:r>
              <a:t>  fn=out4.8$fn,gr=out4.8$gr,</a:t>
            </a:r>
          </a:p>
          <a:p>
            <a:pPr>
              <a:spcAft>
                <a:spcPts val="400"/>
              </a:spcAft>
              <a:defRPr sz="1300" b="0">
                <a:solidFill>
                  <a:srgbClr val="1C2A36"/>
                </a:solidFill>
                <a:latin typeface="Consolas"/>
              </a:defRPr>
            </a:pPr>
            <a:r>
              <a:t>  method="BFGS",hessian=TRUE)</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TMBのcppは「推定を実行する完全なプログラム」ではなく目的関数の定義。</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4.8.2 | TMB  |  C++ファイル：データとパラメータ</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モデル：yᵢ ~ Normal(μ,σ²)</a:t>
            </a:r>
          </a:p>
          <a:p>
            <a:pPr>
              <a:spcAft>
                <a:spcPts val="400"/>
              </a:spcAft>
              <a:defRPr sz="1500" b="0">
                <a:solidFill>
                  <a:srgbClr val="1C2A36"/>
                </a:solidFill>
                <a:latin typeface="Yu Gothic"/>
              </a:defRPr>
            </a:pPr>
            <a:r>
              <a:t>未知：μ と λ=log σ</a:t>
            </a:r>
          </a:p>
          <a:p>
            <a:pPr>
              <a:spcAft>
                <a:spcPts val="400"/>
              </a:spcAft>
              <a:defRPr sz="1500" b="0">
                <a:solidFill>
                  <a:srgbClr val="1C2A36"/>
                </a:solidFill>
                <a:latin typeface="Yu Gothic"/>
              </a:defRPr>
            </a:pPr>
            <a:r>
              <a:t>σ=exp(λ)&gt;0</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TMB.hppを読み込む</a:t>
            </a:r>
          </a:p>
          <a:p>
            <a:pPr>
              <a:spcAft>
                <a:spcPts val="400"/>
              </a:spcAft>
              <a:defRPr sz="1400" b="0">
                <a:solidFill>
                  <a:srgbClr val="1C2A36"/>
                </a:solidFill>
                <a:latin typeface="Yu Gothic"/>
              </a:defRPr>
            </a:pPr>
            <a:r>
              <a:t>② objective_functionは定型構文</a:t>
            </a:r>
          </a:p>
          <a:p>
            <a:pPr>
              <a:spcAft>
                <a:spcPts val="400"/>
              </a:spcAft>
              <a:defRPr sz="1400" b="0">
                <a:solidFill>
                  <a:srgbClr val="1C2A36"/>
                </a:solidFill>
                <a:latin typeface="Yu Gothic"/>
              </a:defRPr>
            </a:pPr>
            <a:r>
              <a:t>③ DATA_*はRから渡す入力</a:t>
            </a:r>
          </a:p>
          <a:p>
            <a:pPr>
              <a:spcAft>
                <a:spcPts val="400"/>
              </a:spcAft>
              <a:defRPr sz="1400" b="0">
                <a:solidFill>
                  <a:srgbClr val="1C2A36"/>
                </a:solidFill>
                <a:latin typeface="Yu Gothic"/>
              </a:defRPr>
            </a:pPr>
            <a:r>
              <a:t>④ PARAMETERは最適化対象</a:t>
            </a:r>
          </a:p>
          <a:p>
            <a:pPr>
              <a:spcAft>
                <a:spcPts val="400"/>
              </a:spcAft>
              <a:defRPr sz="1400" b="0">
                <a:solidFill>
                  <a:srgbClr val="1C2A36"/>
                </a:solidFill>
                <a:latin typeface="Yu Gothic"/>
              </a:defRPr>
            </a:pPr>
            <a:r>
              <a:t>⑤ expでSDの正値制約</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#include &lt;TMB.hpp&gt;</a:t>
            </a:r>
          </a:p>
          <a:p>
            <a:pPr>
              <a:spcAft>
                <a:spcPts val="400"/>
              </a:spcAft>
              <a:defRPr sz="1300" b="0">
                <a:solidFill>
                  <a:srgbClr val="1C2A36"/>
                </a:solidFill>
                <a:latin typeface="Consolas"/>
              </a:defRPr>
            </a:pPr>
            <a:r>
              <a:t>template &lt;class Type&gt;</a:t>
            </a:r>
          </a:p>
          <a:p>
            <a:pPr>
              <a:spcAft>
                <a:spcPts val="400"/>
              </a:spcAft>
              <a:defRPr sz="1300" b="0">
                <a:solidFill>
                  <a:srgbClr val="1C2A36"/>
                </a:solidFill>
                <a:latin typeface="Consolas"/>
              </a:defRPr>
            </a:pPr>
            <a:r>
              <a:t>Type objective_function&lt;Type&gt;::operator() ()</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  DATA_INTEGER(n);</a:t>
            </a:r>
          </a:p>
          <a:p>
            <a:pPr>
              <a:spcAft>
                <a:spcPts val="400"/>
              </a:spcAft>
              <a:defRPr sz="1300" b="0">
                <a:solidFill>
                  <a:srgbClr val="1C2A36"/>
                </a:solidFill>
                <a:latin typeface="Consolas"/>
              </a:defRPr>
            </a:pPr>
            <a:r>
              <a:t>  DATA_VECTOR(y);</a:t>
            </a:r>
          </a:p>
          <a:p>
            <a:pPr>
              <a:spcAft>
                <a:spcPts val="400"/>
              </a:spcAft>
              <a:defRPr sz="1300" b="0">
                <a:solidFill>
                  <a:srgbClr val="1C2A36"/>
                </a:solidFill>
                <a:latin typeface="Consolas"/>
              </a:defRPr>
            </a:pPr>
            <a:r>
              <a:t>  PARAMETER(pop_mean);</a:t>
            </a:r>
          </a:p>
          <a:p>
            <a:pPr>
              <a:spcAft>
                <a:spcPts val="400"/>
              </a:spcAft>
              <a:defRPr sz="1300" b="0">
                <a:solidFill>
                  <a:srgbClr val="1C2A36"/>
                </a:solidFill>
                <a:latin typeface="Consolas"/>
              </a:defRPr>
            </a:pPr>
            <a:r>
              <a:t>  PARAMETER(log_pop_sd);</a:t>
            </a:r>
          </a:p>
          <a:p>
            <a:pPr>
              <a:spcAft>
                <a:spcPts val="400"/>
              </a:spcAft>
              <a:defRPr sz="1300" b="0">
                <a:solidFill>
                  <a:srgbClr val="1C2A36"/>
                </a:solidFill>
                <a:latin typeface="Consolas"/>
              </a:defRPr>
            </a:pPr>
            <a:r>
              <a:t>  Type pop_sd = exp(log_pop_sd);</a:t>
            </a:r>
          </a:p>
          <a:p>
            <a:pPr>
              <a:spcAft>
                <a:spcPts val="400"/>
              </a:spcAft>
              <a:defRPr sz="1300" b="0">
                <a:solidFill>
                  <a:srgbClr val="1C2A36"/>
                </a:solidFill>
                <a:latin typeface="Consolas"/>
              </a:defRPr>
            </a:pPr>
            <a:r>
              <a:t>  // ...</a:t>
            </a:r>
          </a:p>
          <a:p>
            <a:pPr>
              <a:spcAft>
                <a:spcPts val="400"/>
              </a:spcAft>
              <a:defRPr sz="1300" b="0">
                <a:solidFill>
                  <a:srgbClr val="1C2A36"/>
                </a:solidFill>
                <a:latin typeface="Consolas"/>
              </a:defRPr>
            </a:pPr>
            <a:r>
              <a:t>}</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Typeは自動微分に対応する数値型。</a:t>
            </a:r>
          </a:p>
          <a:p>
            <a:pPr>
              <a:spcAft>
                <a:spcPts val="400"/>
              </a:spcAft>
              <a:defRPr sz="1300" b="0">
                <a:solidFill>
                  <a:srgbClr val="1C2A36"/>
                </a:solidFill>
                <a:latin typeface="Yu Gothic"/>
              </a:defRPr>
            </a:pPr>
            <a:r>
              <a:t>C++コード内のコメントは講義用に抜粋。</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4.8.2 | TMB  |  C++ファイル：尤度の計算</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LL = Σᵢ log Normal(yᵢ|μ,σ)</a:t>
            </a:r>
          </a:p>
          <a:p>
            <a:pPr>
              <a:spcAft>
                <a:spcPts val="400"/>
              </a:spcAft>
              <a:defRPr sz="1500" b="0">
                <a:solidFill>
                  <a:srgbClr val="1C2A36"/>
                </a:solidFill>
                <a:latin typeface="Yu Gothic"/>
              </a:defRPr>
            </a:pPr>
            <a:r>
              <a:t>NLL = −LL</a:t>
            </a:r>
          </a:p>
          <a:p>
            <a:pPr>
              <a:spcAft>
                <a:spcPts val="400"/>
              </a:spcAft>
              <a:defRPr sz="1500" b="0">
                <a:solidFill>
                  <a:srgbClr val="1C2A36"/>
                </a:solidFill>
                <a:latin typeface="Yu Gothic"/>
              </a:defRPr>
            </a:pPr>
            <a:r>
              <a:t>C++の添字は0から開始</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LLを0で初期化</a:t>
            </a:r>
          </a:p>
          <a:p>
            <a:pPr>
              <a:spcAft>
                <a:spcPts val="400"/>
              </a:spcAft>
              <a:defRPr sz="1400" b="0">
                <a:solidFill>
                  <a:srgbClr val="1C2A36"/>
                </a:solidFill>
                <a:latin typeface="Yu Gothic"/>
              </a:defRPr>
            </a:pPr>
            <a:r>
              <a:t>② i=0,...,n−1で体重を読む</a:t>
            </a:r>
          </a:p>
          <a:p>
            <a:pPr>
              <a:spcAft>
                <a:spcPts val="400"/>
              </a:spcAft>
              <a:defRPr sz="1400" b="0">
                <a:solidFill>
                  <a:srgbClr val="1C2A36"/>
                </a:solidFill>
                <a:latin typeface="Yu Gothic"/>
              </a:defRPr>
            </a:pPr>
            <a:r>
              <a:t>③ trueで対数密度を指定</a:t>
            </a:r>
          </a:p>
          <a:p>
            <a:pPr>
              <a:spcAft>
                <a:spcPts val="400"/>
              </a:spcAft>
              <a:defRPr sz="1400" b="0">
                <a:solidFill>
                  <a:srgbClr val="1C2A36"/>
                </a:solidFill>
                <a:latin typeface="Yu Gothic"/>
              </a:defRPr>
            </a:pPr>
            <a:r>
              <a:t>④ 合計LLに負号を付けて返す</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Type LL = 0.0;</a:t>
            </a:r>
          </a:p>
          <a:p>
            <a:pPr>
              <a:spcAft>
                <a:spcPts val="400"/>
              </a:spcAft>
              <a:defRPr sz="1300" b="0">
                <a:solidFill>
                  <a:srgbClr val="1C2A36"/>
                </a:solidFill>
                <a:latin typeface="Consolas"/>
              </a:defRPr>
            </a:pPr>
            <a:r>
              <a:t>for (int i = 0; i &lt; n; i++) {</a:t>
            </a:r>
          </a:p>
          <a:p>
            <a:pPr>
              <a:spcAft>
                <a:spcPts val="400"/>
              </a:spcAft>
              <a:defRPr sz="1300" b="0">
                <a:solidFill>
                  <a:srgbClr val="1C2A36"/>
                </a:solidFill>
                <a:latin typeface="Consolas"/>
              </a:defRPr>
            </a:pPr>
            <a:r>
              <a:t>  LL += dnorm(y(i),</a:t>
            </a:r>
          </a:p>
          <a:p>
            <a:pPr>
              <a:spcAft>
                <a:spcPts val="400"/>
              </a:spcAft>
              <a:defRPr sz="1300" b="0">
                <a:solidFill>
                  <a:srgbClr val="1C2A36"/>
                </a:solidFill>
                <a:latin typeface="Consolas"/>
              </a:defRPr>
            </a:pPr>
            <a:r>
              <a:t>              pop_mean,</a:t>
            </a:r>
          </a:p>
          <a:p>
            <a:pPr>
              <a:spcAft>
                <a:spcPts val="400"/>
              </a:spcAft>
              <a:defRPr sz="1300" b="0">
                <a:solidFill>
                  <a:srgbClr val="1C2A36"/>
                </a:solidFill>
                <a:latin typeface="Consolas"/>
              </a:defRPr>
            </a:pPr>
            <a:r>
              <a:t>              pop_sd,</a:t>
            </a:r>
          </a:p>
          <a:p>
            <a:pPr>
              <a:spcAft>
                <a:spcPts val="400"/>
              </a:spcAft>
              <a:defRPr sz="1300" b="0">
                <a:solidFill>
                  <a:srgbClr val="1C2A36"/>
                </a:solidFill>
                <a:latin typeface="Consolas"/>
              </a:defRPr>
            </a:pPr>
            <a:r>
              <a:t>              true);</a:t>
            </a:r>
          </a:p>
          <a:p>
            <a:pPr>
              <a:spcAft>
                <a:spcPts val="400"/>
              </a:spcAft>
              <a:defRPr sz="1300" b="0">
                <a:solidFill>
                  <a:srgbClr val="1C2A36"/>
                </a:solidFill>
                <a:latin typeface="Consolas"/>
              </a:defRPr>
            </a:pPr>
            <a:r>
              <a:t>}</a:t>
            </a:r>
          </a:p>
          <a:p>
            <a:pPr>
              <a:spcAft>
                <a:spcPts val="400"/>
              </a:spcAft>
              <a:defRPr sz="1300" b="0">
                <a:solidFill>
                  <a:srgbClr val="1C2A36"/>
                </a:solidFill>
                <a:latin typeface="Consolas"/>
              </a:defRPr>
            </a:pPr>
            <a:r>
              <a:t>return -LL;</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この正規分布モデルにはランダム効果がないため、ラプラス近似は使われない。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4.8.2 | TMB  |  R側でC++を読み込む</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dataList：yとn</a:t>
            </a:r>
          </a:p>
          <a:p>
            <a:pPr>
              <a:spcAft>
                <a:spcPts val="400"/>
              </a:spcAft>
              <a:defRPr sz="1500" b="0">
                <a:solidFill>
                  <a:srgbClr val="1C2A36"/>
                </a:solidFill>
                <a:latin typeface="Yu Gothic"/>
              </a:defRPr>
            </a:pPr>
            <a:r>
              <a:t>params：μ, logσの初期値</a:t>
            </a:r>
          </a:p>
          <a:p>
            <a:pPr>
              <a:spcAft>
                <a:spcPts val="400"/>
              </a:spcAft>
              <a:defRPr sz="1500" b="0">
                <a:solidFill>
                  <a:srgbClr val="1C2A36"/>
                </a:solidFill>
                <a:latin typeface="Yu Gothic"/>
              </a:defRPr>
            </a:pPr>
            <a:r>
              <a:t>MakeADFun：fn（目的関数）・gr（勾配）</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.cppの名称とDLLを対応させる</a:t>
            </a:r>
          </a:p>
          <a:p>
            <a:pPr>
              <a:spcAft>
                <a:spcPts val="400"/>
              </a:spcAft>
              <a:defRPr sz="1400" b="0">
                <a:solidFill>
                  <a:srgbClr val="1C2A36"/>
                </a:solidFill>
                <a:latin typeface="Yu Gothic"/>
              </a:defRPr>
            </a:pPr>
            <a:r>
              <a:t>② データ名はDATA_*宣言と一致</a:t>
            </a:r>
          </a:p>
          <a:p>
            <a:pPr>
              <a:spcAft>
                <a:spcPts val="400"/>
              </a:spcAft>
              <a:defRPr sz="1400" b="0">
                <a:solidFill>
                  <a:srgbClr val="1C2A36"/>
                </a:solidFill>
                <a:latin typeface="Yu Gothic"/>
              </a:defRPr>
            </a:pPr>
            <a:r>
              <a:t>③ 初期値：μ=0, σ=exp(0)=1</a:t>
            </a:r>
          </a:p>
          <a:p>
            <a:pPr>
              <a:spcAft>
                <a:spcPts val="400"/>
              </a:spcAft>
              <a:defRPr sz="1400" b="0">
                <a:solidFill>
                  <a:srgbClr val="1C2A36"/>
                </a:solidFill>
                <a:latin typeface="Yu Gothic"/>
              </a:defRPr>
            </a:pPr>
            <a:r>
              <a:t>④ random=NULLで固定パラメータのみ</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dataList &lt;- list(y=y1000,</a:t>
            </a:r>
          </a:p>
          <a:p>
            <a:pPr>
              <a:spcAft>
                <a:spcPts val="400"/>
              </a:spcAft>
              <a:defRPr sz="1300" b="0">
                <a:solidFill>
                  <a:srgbClr val="1C2A36"/>
                </a:solidFill>
                <a:latin typeface="Consolas"/>
              </a:defRPr>
            </a:pPr>
            <a:r>
              <a:t>                 n=length(y1000))</a:t>
            </a:r>
          </a:p>
          <a:p>
            <a:pPr>
              <a:spcAft>
                <a:spcPts val="400"/>
              </a:spcAft>
              <a:defRPr sz="1300" b="0">
                <a:solidFill>
                  <a:srgbClr val="1C2A36"/>
                </a:solidFill>
                <a:latin typeface="Consolas"/>
              </a:defRPr>
            </a:pPr>
            <a:r>
              <a:t>compile("model4_8.cpp")</a:t>
            </a:r>
          </a:p>
          <a:p>
            <a:pPr>
              <a:spcAft>
                <a:spcPts val="400"/>
              </a:spcAft>
              <a:defRPr sz="1300" b="0">
                <a:solidFill>
                  <a:srgbClr val="1C2A36"/>
                </a:solidFill>
                <a:latin typeface="Consolas"/>
              </a:defRPr>
            </a:pPr>
            <a:r>
              <a:t>dyn.load(dynlib("model4_8"))</a:t>
            </a:r>
          </a:p>
          <a:p>
            <a:pPr>
              <a:spcAft>
                <a:spcPts val="400"/>
              </a:spcAft>
              <a:defRPr sz="1300" b="0">
                <a:solidFill>
                  <a:srgbClr val="1C2A36"/>
                </a:solidFill>
                <a:latin typeface="Consolas"/>
              </a:defRPr>
            </a:pPr>
            <a:r>
              <a:t>params &lt;- list(pop_mean=0,</a:t>
            </a:r>
          </a:p>
          <a:p>
            <a:pPr>
              <a:spcAft>
                <a:spcPts val="400"/>
              </a:spcAft>
              <a:defRPr sz="1300" b="0">
                <a:solidFill>
                  <a:srgbClr val="1C2A36"/>
                </a:solidFill>
                <a:latin typeface="Consolas"/>
              </a:defRPr>
            </a:pPr>
            <a:r>
              <a:t>               log_pop_sd=0)</a:t>
            </a:r>
          </a:p>
          <a:p>
            <a:pPr>
              <a:spcAft>
                <a:spcPts val="400"/>
              </a:spcAft>
              <a:defRPr sz="1300" b="0">
                <a:solidFill>
                  <a:srgbClr val="1C2A36"/>
                </a:solidFill>
                <a:latin typeface="Consolas"/>
              </a:defRPr>
            </a:pPr>
            <a:r>
              <a:t>out4.8 &lt;- MakeADFun(data=dataList,</a:t>
            </a:r>
          </a:p>
          <a:p>
            <a:pPr>
              <a:spcAft>
                <a:spcPts val="400"/>
              </a:spcAft>
              <a:defRPr sz="1300" b="0">
                <a:solidFill>
                  <a:srgbClr val="1C2A36"/>
                </a:solidFill>
                <a:latin typeface="Consolas"/>
              </a:defRPr>
            </a:pPr>
            <a:r>
              <a:t>  parameters=params,random=NULL,</a:t>
            </a:r>
          </a:p>
          <a:p>
            <a:pPr>
              <a:spcAft>
                <a:spcPts val="400"/>
              </a:spcAft>
              <a:defRPr sz="1300" b="0">
                <a:solidFill>
                  <a:srgbClr val="1C2A36"/>
                </a:solidFill>
                <a:latin typeface="Consolas"/>
              </a:defRPr>
            </a:pPr>
            <a:r>
              <a:t>  DLL="model4_8",silent=TRUE)</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原コードの初期値は真値から遠い。</a:t>
            </a:r>
          </a:p>
          <a:p>
            <a:pPr>
              <a:spcAft>
                <a:spcPts val="400"/>
              </a:spcAft>
              <a:defRPr sz="1300" b="0">
                <a:solidFill>
                  <a:srgbClr val="1C2A36"/>
                </a:solidFill>
                <a:latin typeface="Yu Gothic"/>
              </a:defRPr>
            </a:pPr>
            <a:r>
              <a:t>動作検証時は収束・複数初期値などを確かめるとよい。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4.8.2 | TMB  |  BFGS最適化と推定結果</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最適化対象：μ、logσ</a:t>
            </a:r>
          </a:p>
          <a:p>
            <a:pPr>
              <a:spcAft>
                <a:spcPts val="400"/>
              </a:spcAft>
              <a:defRPr sz="1500" b="0">
                <a:solidFill>
                  <a:srgbClr val="1C2A36"/>
                </a:solidFill>
                <a:latin typeface="Yu Gothic"/>
              </a:defRPr>
            </a:pPr>
            <a:r>
              <a:t>報告時にσ=exp(logσ)へ復元</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BFGS法でNLLを最小化</a:t>
            </a:r>
          </a:p>
          <a:p>
            <a:pPr>
              <a:spcAft>
                <a:spcPts val="400"/>
              </a:spcAft>
              <a:defRPr sz="1400" b="0">
                <a:solidFill>
                  <a:srgbClr val="1C2A36"/>
                </a:solidFill>
                <a:latin typeface="Yu Gothic"/>
              </a:defRPr>
            </a:pPr>
            <a:r>
              <a:t>② 自動微分勾配grを渡す</a:t>
            </a:r>
          </a:p>
          <a:p>
            <a:pPr>
              <a:spcAft>
                <a:spcPts val="400"/>
              </a:spcAft>
              <a:defRPr sz="1400" b="0">
                <a:solidFill>
                  <a:srgbClr val="1C2A36"/>
                </a:solidFill>
                <a:latin typeface="Yu Gothic"/>
              </a:defRPr>
            </a:pPr>
            <a:r>
              <a:t>③ sdreportで推定値・標準誤差</a:t>
            </a:r>
          </a:p>
          <a:p>
            <a:pPr>
              <a:spcAft>
                <a:spcPts val="400"/>
              </a:spcAft>
              <a:defRPr sz="1400" b="0">
                <a:solidFill>
                  <a:srgbClr val="1C2A36"/>
                </a:solidFill>
                <a:latin typeface="Yu Gothic"/>
              </a:defRPr>
            </a:pPr>
            <a:r>
              <a:t>④ logSDを元のSDに変換</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opt &lt;- optim(out4.8$par,</a:t>
            </a:r>
          </a:p>
          <a:p>
            <a:pPr>
              <a:spcAft>
                <a:spcPts val="400"/>
              </a:spcAft>
              <a:defRPr sz="1300" b="0">
                <a:solidFill>
                  <a:srgbClr val="1C2A36"/>
                </a:solidFill>
                <a:latin typeface="Consolas"/>
              </a:defRPr>
            </a:pPr>
            <a:r>
              <a:t>  fn=out4.8$fn,gr=out4.8$gr,</a:t>
            </a:r>
          </a:p>
          <a:p>
            <a:pPr>
              <a:spcAft>
                <a:spcPts val="400"/>
              </a:spcAft>
              <a:defRPr sz="1300" b="0">
                <a:solidFill>
                  <a:srgbClr val="1C2A36"/>
                </a:solidFill>
                <a:latin typeface="Consolas"/>
              </a:defRPr>
            </a:pPr>
            <a:r>
              <a:t>  method="BFGS",hessian=TRUE)</a:t>
            </a:r>
          </a:p>
          <a:p>
            <a:pPr>
              <a:spcAft>
                <a:spcPts val="400"/>
              </a:spcAft>
              <a:defRPr sz="1300" b="0">
                <a:solidFill>
                  <a:srgbClr val="1C2A36"/>
                </a:solidFill>
                <a:latin typeface="Consolas"/>
              </a:defRPr>
            </a:pPr>
            <a:r>
              <a:t>opt$par</a:t>
            </a:r>
          </a:p>
          <a:p>
            <a:pPr>
              <a:spcAft>
                <a:spcPts val="400"/>
              </a:spcAft>
              <a:defRPr sz="1300" b="0">
                <a:solidFill>
                  <a:srgbClr val="1C2A36"/>
                </a:solidFill>
                <a:latin typeface="Consolas"/>
              </a:defRPr>
            </a:pPr>
            <a:r>
              <a:t>summary(sdreport(out4.8))</a:t>
            </a:r>
          </a:p>
          <a:p>
            <a:pPr>
              <a:spcAft>
                <a:spcPts val="400"/>
              </a:spcAft>
              <a:defRPr sz="1300" b="0">
                <a:solidFill>
                  <a:srgbClr val="1C2A36"/>
                </a:solidFill>
                <a:latin typeface="Consolas"/>
              </a:defRPr>
            </a:pPr>
            <a:r>
              <a:t>tsum &lt;- tmb_summary(out4.8)</a:t>
            </a:r>
          </a:p>
          <a:p>
            <a:pPr>
              <a:spcAft>
                <a:spcPts val="400"/>
              </a:spcAft>
              <a:defRPr sz="1300" b="0">
                <a:solidFill>
                  <a:srgbClr val="1C2A36"/>
                </a:solidFill>
                <a:latin typeface="Consolas"/>
              </a:defRPr>
            </a:pPr>
            <a:r>
              <a:t>tmb_est &lt;- tsum[,1]</a:t>
            </a:r>
          </a:p>
          <a:p>
            <a:pPr>
              <a:spcAft>
                <a:spcPts val="400"/>
              </a:spcAft>
              <a:defRPr sz="1300" b="0">
                <a:solidFill>
                  <a:srgbClr val="1C2A36"/>
                </a:solidFill>
                <a:latin typeface="Consolas"/>
              </a:defRPr>
            </a:pPr>
            <a:r>
              <a:t>tmb_est[2] &lt;- exp(tmb_est[2])</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確認用：opt$convergence と opt$parを点検。</a:t>
            </a:r>
          </a:p>
          <a:p>
            <a:pPr>
              <a:spcAft>
                <a:spcPts val="400"/>
              </a:spcAft>
              <a:defRPr sz="1300" b="0">
                <a:solidFill>
                  <a:srgbClr val="1C2A36"/>
                </a:solidFill>
                <a:latin typeface="Yu Gothic"/>
              </a:defRPr>
            </a:pPr>
            <a:r>
              <a:t>sdreport(out4.8,par.fixed=opt$par)と明示する方法もある（補足）。</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4.9  |  複数エンジンの推定値比較</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真値：μ=600, σ=30</a:t>
            </a:r>
          </a:p>
          <a:p>
            <a:pPr>
              <a:spcAft>
                <a:spcPts val="400"/>
              </a:spcAft>
              <a:defRPr sz="1500" b="0">
                <a:solidFill>
                  <a:srgbClr val="1C2A36"/>
                </a:solidFill>
                <a:latin typeface="Yu Gothic"/>
              </a:defRPr>
            </a:pPr>
            <a:r>
              <a:t>比較対象：lm / JAGS / NIMBLE / Stan / DIY / TMB</a:t>
            </a:r>
          </a:p>
          <a:p>
            <a:pPr>
              <a:spcAft>
                <a:spcPts val="400"/>
              </a:spcAft>
              <a:defRPr sz="1500" b="0">
                <a:solidFill>
                  <a:srgbClr val="1C2A36"/>
                </a:solidFill>
                <a:latin typeface="Yu Gothic"/>
              </a:defRPr>
            </a:pPr>
            <a:r>
              <a:t>同じ「母平均・母標準偏差」に尺度を統一</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各方式で推定した2量を保存</a:t>
            </a:r>
          </a:p>
          <a:p>
            <a:pPr>
              <a:spcAft>
                <a:spcPts val="400"/>
              </a:spcAft>
              <a:defRPr sz="1400" b="0">
                <a:solidFill>
                  <a:srgbClr val="1C2A36"/>
                </a:solidFill>
                <a:latin typeface="Yu Gothic"/>
              </a:defRPr>
            </a:pPr>
            <a:r>
              <a:t>② TMBのlogσはexpで戻す</a:t>
            </a:r>
          </a:p>
          <a:p>
            <a:pPr>
              <a:spcAft>
                <a:spcPts val="400"/>
              </a:spcAft>
              <a:defRPr sz="1400" b="0">
                <a:solidFill>
                  <a:srgbClr val="1C2A36"/>
                </a:solidFill>
                <a:latin typeface="Yu Gothic"/>
              </a:defRPr>
            </a:pPr>
            <a:r>
              <a:t>③ cbindで列ごとに比較</a:t>
            </a:r>
          </a:p>
          <a:p>
            <a:pPr>
              <a:spcAft>
                <a:spcPts val="400"/>
              </a:spcAft>
              <a:defRPr sz="1400" b="0">
                <a:solidFill>
                  <a:srgbClr val="1C2A36"/>
                </a:solidFill>
                <a:latin typeface="Yu Gothic"/>
              </a:defRPr>
            </a:pPr>
            <a:r>
              <a:t>④ 事後平均とMLEの意味を区別</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comp &lt;- cbind(truth=truth,</a:t>
            </a:r>
          </a:p>
          <a:p>
            <a:pPr>
              <a:spcAft>
                <a:spcPts val="400"/>
              </a:spcAft>
              <a:defRPr sz="1300" b="0">
                <a:solidFill>
                  <a:srgbClr val="1C2A36"/>
                </a:solidFill>
                <a:latin typeface="Consolas"/>
              </a:defRPr>
            </a:pPr>
            <a:r>
              <a:t>  lm=lm_est, JAGS=jags_est,</a:t>
            </a:r>
          </a:p>
          <a:p>
            <a:pPr>
              <a:spcAft>
                <a:spcPts val="400"/>
              </a:spcAft>
              <a:defRPr sz="1300" b="0">
                <a:solidFill>
                  <a:srgbClr val="1C2A36"/>
                </a:solidFill>
                <a:latin typeface="Consolas"/>
              </a:defRPr>
            </a:pPr>
            <a:r>
              <a:t>  NIMBLE=nimble_est, Stan=stan_est,</a:t>
            </a:r>
          </a:p>
          <a:p>
            <a:pPr>
              <a:spcAft>
                <a:spcPts val="400"/>
              </a:spcAft>
              <a:defRPr sz="1300" b="0">
                <a:solidFill>
                  <a:srgbClr val="1C2A36"/>
                </a:solidFill>
                <a:latin typeface="Consolas"/>
              </a:defRPr>
            </a:pPr>
            <a:r>
              <a:t>  DIY=diy_est,TMB=tmb_est)</a:t>
            </a:r>
          </a:p>
          <a:p>
            <a:pPr>
              <a:spcAft>
                <a:spcPts val="400"/>
              </a:spcAft>
              <a:defRPr sz="1300" b="0">
                <a:solidFill>
                  <a:srgbClr val="1C2A36"/>
                </a:solidFill>
                <a:latin typeface="Consolas"/>
              </a:defRPr>
            </a:pPr>
            <a:r>
              <a:t>print(comp,5)</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実行結果は本資料に転記していない。</a:t>
            </a:r>
          </a:p>
          <a:p>
            <a:pPr>
              <a:spcAft>
                <a:spcPts val="400"/>
              </a:spcAft>
              <a:defRPr sz="1300" b="0">
                <a:solidFill>
                  <a:srgbClr val="1C2A36"/>
                </a:solidFill>
                <a:latin typeface="Yu Gothic"/>
              </a:defRPr>
            </a:pPr>
            <a:r>
              <a:t>ベイズ推定の事前分布はエンジン間で必ずしも一致しない。</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07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93776" y="274320"/>
            <a:ext cx="11064240" cy="347472"/>
          </a:xfrm>
          <a:prstGeom prst="rect">
            <a:avLst/>
          </a:prstGeom>
          <a:noFill/>
        </p:spPr>
        <p:txBody>
          <a:bodyPr wrap="square" lIns="45720" rIns="45720">
            <a:spAutoFit/>
          </a:bodyPr>
          <a:lstStyle/>
          <a:p>
            <a:pPr>
              <a:spcAft>
                <a:spcPts val="400"/>
              </a:spcAft>
              <a:defRPr sz="2300" b="1">
                <a:solidFill>
                  <a:srgbClr val="182B44"/>
                </a:solidFill>
                <a:latin typeface="Yu Gothic"/>
              </a:defRPr>
            </a:pPr>
            <a:r>
              <a:t>まとめ  |  JAGS・NIMBLE・Stan・MLE・TMBを読む鍵</a:t>
            </a:r>
          </a:p>
        </p:txBody>
      </p:sp>
      <p:sp>
        <p:nvSpPr>
          <p:cNvPr id="4" name="Rounded Rectangle 3"/>
          <p:cNvSpPr/>
          <p:nvPr/>
        </p:nvSpPr>
        <p:spPr>
          <a:xfrm>
            <a:off x="475488" y="822960"/>
            <a:ext cx="5166360"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797296" y="822960"/>
            <a:ext cx="5916168" cy="5193792"/>
          </a:xfrm>
          <a:prstGeom prst="round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950976"/>
            <a:ext cx="466344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統計モデル・数式</a:t>
            </a:r>
          </a:p>
        </p:txBody>
      </p:sp>
      <p:sp>
        <p:nvSpPr>
          <p:cNvPr id="7" name="TextBox 6"/>
          <p:cNvSpPr txBox="1"/>
          <p:nvPr/>
        </p:nvSpPr>
        <p:spPr>
          <a:xfrm>
            <a:off x="713232" y="1307592"/>
            <a:ext cx="4645152" cy="1133856"/>
          </a:xfrm>
          <a:prstGeom prst="rect">
            <a:avLst/>
          </a:prstGeom>
          <a:noFill/>
        </p:spPr>
        <p:txBody>
          <a:bodyPr wrap="square" lIns="45720" rIns="45720">
            <a:spAutoFit/>
          </a:bodyPr>
          <a:lstStyle/>
          <a:p>
            <a:pPr>
              <a:spcAft>
                <a:spcPts val="400"/>
              </a:spcAft>
              <a:defRPr sz="1500" b="0">
                <a:solidFill>
                  <a:srgbClr val="1C2A36"/>
                </a:solidFill>
                <a:latin typeface="Yu Gothic"/>
              </a:defRPr>
            </a:pPr>
            <a:r>
              <a:t>ベイズ：観測モデル + 事前分布 → 事後分布</a:t>
            </a:r>
          </a:p>
          <a:p>
            <a:pPr>
              <a:spcAft>
                <a:spcPts val="400"/>
              </a:spcAft>
              <a:defRPr sz="1500" b="0">
                <a:solidFill>
                  <a:srgbClr val="1C2A36"/>
                </a:solidFill>
                <a:latin typeface="Yu Gothic"/>
              </a:defRPr>
            </a:pPr>
            <a:r>
              <a:t>最尤：観測モデル → 負対数尤度 → 最小化</a:t>
            </a:r>
          </a:p>
        </p:txBody>
      </p:sp>
      <p:sp>
        <p:nvSpPr>
          <p:cNvPr id="8" name="TextBox 7"/>
          <p:cNvSpPr txBox="1"/>
          <p:nvPr/>
        </p:nvSpPr>
        <p:spPr>
          <a:xfrm>
            <a:off x="713232" y="2596896"/>
            <a:ext cx="466344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処理の流れ・確認事項</a:t>
            </a:r>
          </a:p>
        </p:txBody>
      </p:sp>
      <p:sp>
        <p:nvSpPr>
          <p:cNvPr id="9" name="TextBox 8"/>
          <p:cNvSpPr txBox="1"/>
          <p:nvPr/>
        </p:nvSpPr>
        <p:spPr>
          <a:xfrm>
            <a:off x="713232" y="2980944"/>
            <a:ext cx="4617720" cy="2121408"/>
          </a:xfrm>
          <a:prstGeom prst="rect">
            <a:avLst/>
          </a:prstGeom>
          <a:noFill/>
        </p:spPr>
        <p:txBody>
          <a:bodyPr wrap="square" lIns="45720" rIns="45720">
            <a:spAutoFit/>
          </a:bodyPr>
          <a:lstStyle/>
          <a:p>
            <a:pPr>
              <a:spcAft>
                <a:spcPts val="400"/>
              </a:spcAft>
              <a:defRPr sz="1400" b="0">
                <a:solidFill>
                  <a:srgbClr val="1C2A36"/>
                </a:solidFill>
                <a:latin typeface="Yu Gothic"/>
              </a:defRPr>
            </a:pPr>
            <a:r>
              <a:t>① データの意味を読む</a:t>
            </a:r>
          </a:p>
          <a:p>
            <a:pPr>
              <a:spcAft>
                <a:spcPts val="400"/>
              </a:spcAft>
              <a:defRPr sz="1400" b="0">
                <a:solidFill>
                  <a:srgbClr val="1C2A36"/>
                </a:solidFill>
                <a:latin typeface="Yu Gothic"/>
              </a:defRPr>
            </a:pPr>
            <a:r>
              <a:t>② 未知パラメータと制約を読む</a:t>
            </a:r>
          </a:p>
          <a:p>
            <a:pPr>
              <a:spcAft>
                <a:spcPts val="400"/>
              </a:spcAft>
              <a:defRPr sz="1400" b="0">
                <a:solidFill>
                  <a:srgbClr val="1C2A36"/>
                </a:solidFill>
                <a:latin typeface="Yu Gothic"/>
              </a:defRPr>
            </a:pPr>
            <a:r>
              <a:t>③ 尤度の定義を読む</a:t>
            </a:r>
          </a:p>
          <a:p>
            <a:pPr>
              <a:spcAft>
                <a:spcPts val="400"/>
              </a:spcAft>
              <a:defRPr sz="1400" b="0">
                <a:solidFill>
                  <a:srgbClr val="1C2A36"/>
                </a:solidFill>
                <a:latin typeface="Yu Gothic"/>
              </a:defRPr>
            </a:pPr>
            <a:r>
              <a:t>④ 計算エンジンを特定する</a:t>
            </a:r>
          </a:p>
          <a:p>
            <a:pPr>
              <a:spcAft>
                <a:spcPts val="400"/>
              </a:spcAft>
              <a:defRPr sz="1400" b="0">
                <a:solidFill>
                  <a:srgbClr val="1C2A36"/>
                </a:solidFill>
                <a:latin typeface="Yu Gothic"/>
              </a:defRPr>
            </a:pPr>
            <a:r>
              <a:t>⑤ 診断と推定値の尺度を確認</a:t>
            </a:r>
          </a:p>
        </p:txBody>
      </p:sp>
      <p:sp>
        <p:nvSpPr>
          <p:cNvPr id="10" name="TextBox 9"/>
          <p:cNvSpPr txBox="1"/>
          <p:nvPr/>
        </p:nvSpPr>
        <p:spPr>
          <a:xfrm>
            <a:off x="6035040" y="950976"/>
            <a:ext cx="5440680" cy="301752"/>
          </a:xfrm>
          <a:prstGeom prst="rect">
            <a:avLst/>
          </a:prstGeom>
          <a:noFill/>
        </p:spPr>
        <p:txBody>
          <a:bodyPr wrap="square" lIns="45720" rIns="45720">
            <a:spAutoFit/>
          </a:bodyPr>
          <a:lstStyle/>
          <a:p>
            <a:pPr>
              <a:spcAft>
                <a:spcPts val="400"/>
              </a:spcAft>
              <a:defRPr sz="1600" b="1">
                <a:solidFill>
                  <a:srgbClr val="205C86"/>
                </a:solidFill>
                <a:latin typeface="Yu Gothic"/>
              </a:defRPr>
            </a:pPr>
            <a:r>
              <a:t>R / BUGS / Stan / C++ コード（重要部分）</a:t>
            </a:r>
          </a:p>
        </p:txBody>
      </p:sp>
      <p:sp>
        <p:nvSpPr>
          <p:cNvPr id="11" name="TextBox 10"/>
          <p:cNvSpPr txBox="1"/>
          <p:nvPr/>
        </p:nvSpPr>
        <p:spPr>
          <a:xfrm>
            <a:off x="6044184" y="1335024"/>
            <a:ext cx="5431536" cy="2926080"/>
          </a:xfrm>
          <a:prstGeom prst="rect">
            <a:avLst/>
          </a:prstGeom>
          <a:noFill/>
        </p:spPr>
        <p:txBody>
          <a:bodyPr wrap="square" lIns="45720" rIns="45720">
            <a:spAutoFit/>
          </a:bodyPr>
          <a:lstStyle/>
          <a:p>
            <a:pPr>
              <a:spcAft>
                <a:spcPts val="400"/>
              </a:spcAft>
              <a:defRPr sz="1300" b="0">
                <a:solidFill>
                  <a:srgbClr val="1C2A36"/>
                </a:solidFill>
                <a:latin typeface="Consolas"/>
              </a:defRPr>
            </a:pPr>
            <a:r>
              <a:t>JAGS:    ~ / &lt;-, precision, jags()</a:t>
            </a:r>
          </a:p>
          <a:p>
            <a:pPr>
              <a:spcAft>
                <a:spcPts val="400"/>
              </a:spcAft>
              <a:defRPr sz="1300" b="0">
                <a:solidFill>
                  <a:srgbClr val="1C2A36"/>
                </a:solidFill>
                <a:latin typeface="Consolas"/>
              </a:defRPr>
            </a:pPr>
            <a:r>
              <a:t>NIMBLE:  nimbleCode(), compileNimble()</a:t>
            </a:r>
          </a:p>
          <a:p>
            <a:pPr>
              <a:spcAft>
                <a:spcPts val="400"/>
              </a:spcAft>
              <a:defRPr sz="1300" b="0">
                <a:solidFill>
                  <a:srgbClr val="1C2A36"/>
                </a:solidFill>
                <a:latin typeface="Consolas"/>
              </a:defRPr>
            </a:pPr>
            <a:r>
              <a:t>Stan:    data/parameters/model, stan()</a:t>
            </a:r>
          </a:p>
          <a:p>
            <a:pPr>
              <a:spcAft>
                <a:spcPts val="400"/>
              </a:spcAft>
              <a:defRPr sz="1300" b="0">
                <a:solidFill>
                  <a:srgbClr val="1C2A36"/>
                </a:solidFill>
                <a:latin typeface="Consolas"/>
              </a:defRPr>
            </a:pPr>
            <a:r>
              <a:t>DIY-MLE: dnorm(log=TRUE), optim()</a:t>
            </a:r>
          </a:p>
          <a:p>
            <a:pPr>
              <a:spcAft>
                <a:spcPts val="400"/>
              </a:spcAft>
              <a:defRPr sz="1300" b="0">
                <a:solidFill>
                  <a:srgbClr val="1C2A36"/>
                </a:solidFill>
                <a:latin typeface="Consolas"/>
              </a:defRPr>
            </a:pPr>
            <a:r>
              <a:t>TMB:     PARAMETER(), return -LL,</a:t>
            </a:r>
          </a:p>
          <a:p>
            <a:pPr>
              <a:spcAft>
                <a:spcPts val="400"/>
              </a:spcAft>
              <a:defRPr sz="1300" b="0">
                <a:solidFill>
                  <a:srgbClr val="1C2A36"/>
                </a:solidFill>
                <a:latin typeface="Consolas"/>
              </a:defRPr>
            </a:pPr>
            <a:r>
              <a:t>         MakeADFun(), optim()</a:t>
            </a:r>
          </a:p>
        </p:txBody>
      </p:sp>
      <p:sp>
        <p:nvSpPr>
          <p:cNvPr id="12" name="TextBox 11"/>
          <p:cNvSpPr txBox="1"/>
          <p:nvPr/>
        </p:nvSpPr>
        <p:spPr>
          <a:xfrm>
            <a:off x="6035040" y="4352544"/>
            <a:ext cx="5440680" cy="292608"/>
          </a:xfrm>
          <a:prstGeom prst="rect">
            <a:avLst/>
          </a:prstGeom>
          <a:noFill/>
        </p:spPr>
        <p:txBody>
          <a:bodyPr wrap="square" lIns="45720" rIns="45720">
            <a:spAutoFit/>
          </a:bodyPr>
          <a:lstStyle/>
          <a:p>
            <a:pPr>
              <a:spcAft>
                <a:spcPts val="400"/>
              </a:spcAft>
              <a:defRPr sz="1600" b="1">
                <a:solidFill>
                  <a:srgbClr val="205C86"/>
                </a:solidFill>
                <a:latin typeface="Yu Gothic"/>
              </a:defRPr>
            </a:pPr>
            <a:r>
              <a:t>理解すべきポイント</a:t>
            </a:r>
          </a:p>
        </p:txBody>
      </p:sp>
      <p:sp>
        <p:nvSpPr>
          <p:cNvPr id="13" name="TextBox 12"/>
          <p:cNvSpPr txBox="1"/>
          <p:nvPr/>
        </p:nvSpPr>
        <p:spPr>
          <a:xfrm>
            <a:off x="6035040" y="4700016"/>
            <a:ext cx="5404104" cy="1069848"/>
          </a:xfrm>
          <a:prstGeom prst="rect">
            <a:avLst/>
          </a:prstGeom>
          <a:noFill/>
        </p:spPr>
        <p:txBody>
          <a:bodyPr wrap="square" lIns="45720" rIns="45720">
            <a:spAutoFit/>
          </a:bodyPr>
          <a:lstStyle/>
          <a:p>
            <a:pPr>
              <a:spcAft>
                <a:spcPts val="400"/>
              </a:spcAft>
              <a:defRPr sz="1300" b="0">
                <a:solidFill>
                  <a:srgbClr val="1C2A36"/>
                </a:solidFill>
                <a:latin typeface="Yu Gothic"/>
              </a:defRPr>
            </a:pPr>
            <a:r>
              <a:t>原著の4章コードを基準に整理。実行結果は未検証。</a:t>
            </a:r>
          </a:p>
          <a:p>
            <a:pPr>
              <a:spcAft>
                <a:spcPts val="400"/>
              </a:spcAft>
              <a:defRPr sz="1300" b="0">
                <a:solidFill>
                  <a:srgbClr val="1C2A36"/>
                </a:solidFill>
                <a:latin typeface="Yu Gothic"/>
              </a:defRPr>
            </a:pPr>
            <a:r>
              <a:t>【補足】コード読解時は確率分布の「引数の意味」を毎回確認。</a:t>
            </a:r>
          </a:p>
        </p:txBody>
      </p:sp>
      <p:sp>
        <p:nvSpPr>
          <p:cNvPr id="14" name="Rectangle 13"/>
          <p:cNvSpPr/>
          <p:nvPr/>
        </p:nvSpPr>
        <p:spPr>
          <a:xfrm>
            <a:off x="475488" y="6126480"/>
            <a:ext cx="11228832" cy="42976"/>
          </a:xfrm>
          <a:prstGeom prst="rect">
            <a:avLst/>
          </a:prstGeom>
          <a:solidFill>
            <a:srgbClr val="D48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85216" y="6245352"/>
            <a:ext cx="10744200" cy="347472"/>
          </a:xfrm>
          <a:prstGeom prst="rect">
            <a:avLst/>
          </a:prstGeom>
          <a:noFill/>
        </p:spPr>
        <p:txBody>
          <a:bodyPr wrap="square" lIns="45720" rIns="45720">
            <a:spAutoFit/>
          </a:bodyPr>
          <a:lstStyle/>
          <a:p>
            <a:pPr>
              <a:spcAft>
                <a:spcPts val="400"/>
              </a:spcAft>
              <a:defRPr sz="1000" b="0">
                <a:solidFill>
                  <a:srgbClr val="62717C"/>
                </a:solidFill>
                <a:latin typeface="Yu Gothic"/>
              </a:defRPr>
            </a:pPr>
            <a:r>
              <a:t>原著Rコード・構造解説／計算結果は未実行・未検証</a:t>
            </a:r>
          </a:p>
        </p:txBody>
      </p:sp>
      <p:sp>
        <p:nvSpPr>
          <p:cNvPr id="16" name="TextBox 15"/>
          <p:cNvSpPr txBox="1"/>
          <p:nvPr/>
        </p:nvSpPr>
        <p:spPr>
          <a:xfrm>
            <a:off x="11192256" y="6281928"/>
            <a:ext cx="484632" cy="256032"/>
          </a:xfrm>
          <a:prstGeom prst="rect">
            <a:avLst/>
          </a:prstGeom>
          <a:noFill/>
        </p:spPr>
        <p:txBody>
          <a:bodyPr wrap="square" lIns="45720" rIns="45720">
            <a:spAutoFit/>
          </a:bodyPr>
          <a:lstStyle/>
          <a:p>
            <a:pPr>
              <a:spcAft>
                <a:spcPts val="400"/>
              </a:spcAft>
              <a:defRPr sz="1000" b="0">
                <a:solidFill>
                  <a:srgbClr val="62717C"/>
                </a:solidFill>
                <a:latin typeface="Yu Gothic"/>
              </a:defRPr>
            </a:pPr>
            <a: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5450</Words>
  <Application>Microsoft Office PowerPoint</Application>
  <PresentationFormat>ワイド画面</PresentationFormat>
  <Paragraphs>780</Paragraphs>
  <Slides>41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41</vt:i4>
      </vt:variant>
    </vt:vector>
  </HeadingPairs>
  <TitlesOfParts>
    <vt:vector size="49" baseType="lpstr">
      <vt:lpstr>BIZ UDPゴシック</vt:lpstr>
      <vt:lpstr>BIZ UDゴシック</vt:lpstr>
      <vt:lpstr>Yu Gothic</vt:lpstr>
      <vt:lpstr>Aptos</vt:lpstr>
      <vt:lpstr>Arial</vt:lpstr>
      <vt:lpstr>Calibri</vt:lpstr>
      <vt:lpstr>Cambria Math</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TMBによる計算の準備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2026-10-21T01:10:02Z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2026-10-21T00:52:40Z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c3330166-fff2-446c-90d6-ebab9839ae20</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