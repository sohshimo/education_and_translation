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9" r:id="rId3"/>
    <p:sldId id="276" r:id="rId4"/>
    <p:sldId id="277" r:id="rId5"/>
    <p:sldId id="278" r:id="rId6"/>
    <p:sldId id="279" r:id="rId7"/>
    <p:sldId id="280" r:id="rId8"/>
    <p:sldId id="281" r:id="rId9"/>
    <p:sldId id="282" r:id="rId10"/>
    <p:sldId id="283" r:id="rId11"/>
    <p:sldId id="284" r:id="rId12"/>
    <p:sldId id="285"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84" y="10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335158FE-64C3-6F17-9694-2F065DDD1F5F}"/>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a:latin typeface="BIZ UDゴシック" panose="020B0400000000000000" pitchFamily="49" charset="-128"/>
                <a:ea typeface="BIZ UDゴシック" panose="020B0400000000000000" pitchFamily="49" charset="-128"/>
              </a:rPr>
            </a:br>
            <a:r>
              <a:rPr kumimoji="1" lang="en-US" altLang="ja-JP" sz="360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5</a:t>
            </a:r>
            <a:br>
              <a:rPr lang="en-US" altLang="ja-JP" dirty="0">
                <a:latin typeface="BIZ UDゴシック" panose="020B0400000000000000" pitchFamily="49" charset="-128"/>
                <a:ea typeface="BIZ UDゴシック" panose="020B0400000000000000" pitchFamily="49" charset="-128"/>
              </a:rPr>
            </a:br>
            <a:r>
              <a:rPr lang="ja-JP" altLang="en-US" dirty="0">
                <a:latin typeface="BIZ UDゴシック" panose="020B0400000000000000" pitchFamily="49" charset="-128"/>
                <a:ea typeface="BIZ UDゴシック" panose="020B0400000000000000" pitchFamily="49" charset="-128"/>
              </a:rPr>
              <a:t>正規線形回帰モデル </a:t>
            </a:r>
            <a:r>
              <a:rPr lang="en-US" altLang="ja-JP" dirty="0">
                <a:latin typeface="BIZ UDゴシック" panose="020B0400000000000000" pitchFamily="49" charset="-128"/>
                <a:ea typeface="BIZ UDゴシック" panose="020B0400000000000000" pitchFamily="49" charset="-128"/>
              </a:rPr>
              <a:t>(Normal linear regression)</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AA0C3-719D-20CA-FB08-5B096BC6EA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08D5E8-3063-611E-FEFC-85D99C72585E}"/>
              </a:ext>
            </a:extLst>
          </p:cNvPr>
          <p:cNvSpPr>
            <a:spLocks noGrp="1"/>
          </p:cNvSpPr>
          <p:nvPr>
            <p:ph type="title"/>
          </p:nvPr>
        </p:nvSpPr>
        <p:spPr>
          <a:xfrm>
            <a:off x="1006764" y="365125"/>
            <a:ext cx="10347036" cy="415711"/>
          </a:xfrm>
        </p:spPr>
        <p:txBody>
          <a:bodyPr>
            <a:normAutofit fontScale="90000"/>
          </a:bodyPr>
          <a:lstStyle/>
          <a:p>
            <a:r>
              <a:rPr kumimoji="1" lang="ja-JP" altLang="en-US" sz="4000" dirty="0">
                <a:latin typeface="BIZ UDゴシック" panose="020B0400000000000000" pitchFamily="49" charset="-128"/>
                <a:ea typeface="BIZ UDゴシック" panose="020B0400000000000000" pitchFamily="49" charset="-128"/>
              </a:rPr>
              <a:t>全体構造</a:t>
            </a:r>
          </a:p>
        </p:txBody>
      </p:sp>
      <p:sp>
        <p:nvSpPr>
          <p:cNvPr id="3" name="コンテンツ プレースホルダー 2">
            <a:extLst>
              <a:ext uri="{FF2B5EF4-FFF2-40B4-BE49-F238E27FC236}">
                <a16:creationId xmlns:a16="http://schemas.microsoft.com/office/drawing/2014/main" id="{A884FEC3-C6B0-A23C-9928-58136051D0C6}"/>
              </a:ext>
            </a:extLst>
          </p:cNvPr>
          <p:cNvSpPr>
            <a:spLocks noGrp="1"/>
          </p:cNvSpPr>
          <p:nvPr>
            <p:ph idx="1"/>
          </p:nvPr>
        </p:nvSpPr>
        <p:spPr>
          <a:xfrm>
            <a:off x="5523344" y="1825625"/>
            <a:ext cx="5830455" cy="4351338"/>
          </a:xfrm>
        </p:spPr>
        <p:txBody>
          <a:bodyPr/>
          <a:lstStyle/>
          <a:p>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82CDFE7B-307B-1D16-9C77-B538C633A750}"/>
              </a:ext>
            </a:extLst>
          </p:cNvPr>
          <p:cNvPicPr>
            <a:picLocks noChangeAspect="1"/>
          </p:cNvPicPr>
          <p:nvPr/>
        </p:nvPicPr>
        <p:blipFill>
          <a:blip r:embed="rId2"/>
          <a:stretch>
            <a:fillRect/>
          </a:stretch>
        </p:blipFill>
        <p:spPr>
          <a:xfrm>
            <a:off x="856913" y="1052944"/>
            <a:ext cx="9953562" cy="5601855"/>
          </a:xfrm>
          <a:prstGeom prst="rect">
            <a:avLst/>
          </a:prstGeom>
        </p:spPr>
      </p:pic>
    </p:spTree>
    <p:extLst>
      <p:ext uri="{BB962C8B-B14F-4D97-AF65-F5344CB8AC3E}">
        <p14:creationId xmlns:p14="http://schemas.microsoft.com/office/powerpoint/2010/main" val="1362867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5.1  Introduction｜正規線形回帰の導入</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第4章の「平均モデル」はすべての観測値 yᵢ が共通の平均 μ、分散 σ² を持つ正規分布に従うと仮定した。第5章では連続的な共変量 xᵢ を導入し、各観測の期待値 μᵢ が xᵢ によって変わると考える。この拡張により、説明変数と応答の関係の方向および強さを評価できる。</a:t>
            </a:r>
          </a:p>
          <a:p>
            <a:pPr>
              <a:lnSpc>
                <a:spcPct val="115000"/>
              </a:lnSpc>
              <a:spcAft>
                <a:spcPts val="800"/>
              </a:spcAft>
              <a:defRPr sz="1720">
                <a:solidFill>
                  <a:srgbClr val="212B34"/>
                </a:solidFill>
                <a:latin typeface="Yu Gothic"/>
              </a:defRPr>
            </a:pPr>
            <a:r>
              <a:t>•  直線の式は μᵢ=α+βxᵢ である。α（切片）は x=0 のときの期待値、β（傾き）は x が1単位増加したときの期待値の変化量を表す。β&gt;0なら平均的には増加、β&lt;0なら減少する。観測モデルは yᵢ~Normal(α+βxᵢ, σ²) と表せる。</a:t>
            </a:r>
          </a:p>
          <a:p>
            <a:pPr>
              <a:lnSpc>
                <a:spcPct val="115000"/>
              </a:lnSpc>
              <a:spcAft>
                <a:spcPts val="800"/>
              </a:spcAft>
              <a:defRPr sz="1720">
                <a:solidFill>
                  <a:srgbClr val="212B34"/>
                </a:solidFill>
                <a:latin typeface="Yu Gothic"/>
              </a:defRPr>
            </a:pPr>
            <a:r>
              <a:t>•  同じモデルは yᵢ=α+βxᵢ+εᵢ、εᵢ~Normal(0,σ²) とも書ける。α+βxᵢ が決定論的な線形予測子であり、εᵢ は確率的な残差誤差である。主に推定するのは α・β・σ²（計算上は標準偏差 σ を用いることが多い）。</a:t>
            </a:r>
          </a:p>
          <a:p>
            <a:pPr>
              <a:lnSpc>
                <a:spcPct val="115000"/>
              </a:lnSpc>
              <a:spcAft>
                <a:spcPts val="800"/>
              </a:spcAft>
              <a:defRPr sz="1720">
                <a:solidFill>
                  <a:srgbClr val="212B34"/>
                </a:solidFill>
                <a:latin typeface="Yu Gothic"/>
              </a:defRPr>
            </a:pPr>
            <a:r>
              <a:t>•  題材はスイスのイワカベッコウ（wallcreeper）の分布率が1990～2005年に低下したという架空の調査である。各年の調査区画における確認割合（%）と年との関係を、単純な正規線形回帰の例として使う。</a:t>
            </a:r>
          </a:p>
          <a:p>
            <a:pPr>
              <a:lnSpc>
                <a:spcPct val="115000"/>
              </a:lnSpc>
              <a:spcAft>
                <a:spcPts val="800"/>
              </a:spcAft>
              <a:defRPr sz="1720">
                <a:solidFill>
                  <a:srgbClr val="212B34"/>
                </a:solidFill>
                <a:latin typeface="Yu Gothic"/>
              </a:defRPr>
            </a:pPr>
            <a:r>
              <a:t>•  占有区画数／調査区画数のような割合データには本来ロジスティック回帰や占有モデルが一般的であり、この例は説明用である。ただし、割合が0と1の境界から十分離れている場合には正規モデルが近似として妥当なこともある。</a:t>
            </a:r>
          </a:p>
          <a:p>
            <a:pPr>
              <a:lnSpc>
                <a:spcPct val="115000"/>
              </a:lnSpc>
              <a:spcAft>
                <a:spcPts val="800"/>
              </a:spcAft>
              <a:defRPr sz="1720">
                <a:solidFill>
                  <a:srgbClr val="212B34"/>
                </a:solidFill>
                <a:latin typeface="Yu Gothic"/>
              </a:defRPr>
            </a:pPr>
            <a:r>
              <a:t>•  この章は推定だけでなく、残差・モデル適合度（GOF）・事後予測チェック（PPC）・ベイズp値・予測値を扱う。統計モデルが何を仮定し、その仮定とデータの整合性をどう確かめるかが中心課題となる。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01 / 10  |  原著 pp.147–170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5.2  Data generation｜データの生成</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原著は真のパラメータを既知にした人工データを作る。観測年数 n=16、切片 α=40、傾き β=−0.5、残差分散 σ²=25（標準偏差 σ=5）を設定する。乱数の種を5に固定することで、同じ計算環境では同じ乱数系列を再現できる。</a:t>
            </a:r>
          </a:p>
          <a:p>
            <a:pPr>
              <a:lnSpc>
                <a:spcPct val="115000"/>
              </a:lnSpc>
              <a:spcAft>
                <a:spcPts val="800"/>
              </a:spcAft>
              <a:defRPr sz="1720">
                <a:solidFill>
                  <a:srgbClr val="212B34"/>
                </a:solidFill>
                <a:latin typeface="Yu Gothic"/>
              </a:defRPr>
            </a:pPr>
            <a:r>
              <a:t>•  共変量 x は1～16とするが、図では x+1989 に変換し1990～2005年として表示する。各年の残差 εᵢ を平均0・標準偏差5の正規分布から生成し、yᵢ=40−0.5xᵢ+εᵢ として年別確認割合を作る。</a:t>
            </a:r>
          </a:p>
          <a:p>
            <a:pPr>
              <a:lnSpc>
                <a:spcPct val="115000"/>
              </a:lnSpc>
              <a:spcAft>
                <a:spcPts val="800"/>
              </a:spcAft>
              <a:defRPr sz="1720">
                <a:solidFill>
                  <a:srgbClr val="212B34"/>
                </a:solidFill>
                <a:latin typeface="Yu Gothic"/>
              </a:defRPr>
            </a:pPr>
            <a:r>
              <a:t>•  β=−0.5は、平均的な占有率が1年あたり0.5パーセントポイント低下することを意味する。観測値の年変化は直線そのものにはならず、独立に生成した残差によって上下に散らばる。</a:t>
            </a:r>
          </a:p>
          <a:p>
            <a:pPr>
              <a:lnSpc>
                <a:spcPct val="115000"/>
              </a:lnSpc>
              <a:spcAft>
                <a:spcPts val="800"/>
              </a:spcAft>
              <a:defRPr sz="1720">
                <a:solidFill>
                  <a:srgbClr val="212B34"/>
                </a:solidFill>
                <a:latin typeface="Yu Gothic"/>
              </a:defRPr>
            </a:pPr>
            <a:r>
              <a:t>•  生成時の α・β・σ を「真値」として保持し、後の lm()、JAGS、NIMBLE、Stan、自作の最尤推定、TMBで得る推定値と比較する。推定値は有限標本の偶然変動により真値と一致するとは限らない。</a:t>
            </a:r>
          </a:p>
          <a:p>
            <a:pPr>
              <a:lnSpc>
                <a:spcPct val="115000"/>
              </a:lnSpc>
              <a:spcAft>
                <a:spcPts val="800"/>
              </a:spcAft>
              <a:defRPr sz="1720">
                <a:solidFill>
                  <a:srgbClr val="212B34"/>
                </a:solidFill>
                <a:latin typeface="Yu Gothic"/>
              </a:defRPr>
            </a:pPr>
            <a:r>
              <a:t>•  原著は、数式で定義した確率モデルと、そのモデルに従って人工データを作る処理との対応を強調する。単純な散布図でも、系統的な年変化と確率的なばらつきを区別する出発点となる。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02 / 10  |  原著 pp.147–170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5.3  Analysis with canned functions in R｜Rの既存関数</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【5.3.1 モデルの当てはめ】正規線形モデルを lm() で推定する。lm() は最小二乗法を用い、厳密には最尤推定ではないが、正規線形回帰における切片と傾きの推定値は最尤推定と一致する。原著の例では α̂=40.7426、β̂=−0.6907、残差標準誤差=4.58であり、傾きのp値は0.0147である。</a:t>
            </a:r>
          </a:p>
          <a:p>
            <a:pPr>
              <a:lnSpc>
                <a:spcPct val="115000"/>
              </a:lnSpc>
              <a:spcAft>
                <a:spcPts val="800"/>
              </a:spcAft>
              <a:defRPr sz="1720">
                <a:solidFill>
                  <a:srgbClr val="212B34"/>
                </a:solidFill>
                <a:latin typeface="Yu Gothic"/>
              </a:defRPr>
            </a:pPr>
            <a:r>
              <a:t>•  【5.3.2 生残差】残差は観測値から当てはめ値を引いた eᵢ=yᵢ−ŷᵢ で、モデルが説明しきれなかった部分を示す。残差のヒストグラム・QQ図・予測値との散布図を用いて正規性、外れ値、等分散性などを診断する。ただし n=16 のような小標本では診断の検出力に限界がある。</a:t>
            </a:r>
          </a:p>
          <a:p>
            <a:pPr>
              <a:lnSpc>
                <a:spcPct val="115000"/>
              </a:lnSpc>
              <a:spcAft>
                <a:spcPts val="800"/>
              </a:spcAft>
              <a:defRPr sz="1720">
                <a:solidFill>
                  <a:srgbClr val="212B34"/>
                </a:solidFill>
                <a:latin typeface="Yu Gothic"/>
              </a:defRPr>
            </a:pPr>
            <a:r>
              <a:t>•  【5.3.2 分位点残差】無作為化分位点残差は、観測値がモデル下の応答分布の何パーセント点に相当するかでずれを表す。モデルが適切なら0～1の一様分布に近づき、標準正規分布に変換して評価することもできる。離散分布やGLM・階層モデルにも一般化しやすい。</a:t>
            </a:r>
          </a:p>
          <a:p>
            <a:pPr>
              <a:lnSpc>
                <a:spcPct val="115000"/>
              </a:lnSpc>
              <a:spcAft>
                <a:spcPts val="800"/>
              </a:spcAft>
              <a:defRPr sz="1720">
                <a:solidFill>
                  <a:srgbClr val="212B34"/>
                </a:solidFill>
                <a:latin typeface="Yu Gothic"/>
              </a:defRPr>
            </a:pPr>
            <a:r>
              <a:t>•  DHARMaは当てはめモデルから1,000組のデータを模擬生成し、各観測の経験的累積分布に基づく残差を計算する。QQ図、残差と予測値の関係、過分散・過小分散などを調べる。原著は過分散検定がとくに非正規GLMで意味を持つことにも注意している。</a:t>
            </a:r>
          </a:p>
          <a:p>
            <a:pPr>
              <a:lnSpc>
                <a:spcPct val="115000"/>
              </a:lnSpc>
              <a:spcAft>
                <a:spcPts val="800"/>
              </a:spcAft>
              <a:defRPr sz="1720">
                <a:solidFill>
                  <a:srgbClr val="212B34"/>
                </a:solidFill>
                <a:latin typeface="Yu Gothic"/>
              </a:defRPr>
            </a:pPr>
            <a:r>
              <a:t>•  【5.3.3 予測】ŷ(x)=α̂+β̂x へ任意の x を代入すれば平均応答の予測値を求められる。原著は x=1～16の範囲に100点を設け、各点の予測値と標準誤差を算出し、推定された回帰直線と95%信頼区間を描く。</a:t>
            </a:r>
          </a:p>
          <a:p>
            <a:pPr>
              <a:lnSpc>
                <a:spcPct val="115000"/>
              </a:lnSpc>
              <a:spcAft>
                <a:spcPts val="800"/>
              </a:spcAft>
              <a:defRPr sz="1720">
                <a:solidFill>
                  <a:srgbClr val="212B34"/>
                </a:solidFill>
                <a:latin typeface="Yu Gothic"/>
              </a:defRPr>
            </a:pPr>
            <a:r>
              <a:t>•  予測値をグラフで示すことは、モデルが推定した共変量効果を伝える基本的方法である。多変数・交互作用を含む複雑なモデルでは係数だけを読むよりも、適切な説明変数の値で予測を計算することが重要にな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03 / 10  |  原著 pp.147–170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5.4  Bayesian analysis with JAGS｜JAGSによるベイズ解析</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500"/>
              </a:spcAft>
              <a:defRPr sz="1660">
                <a:solidFill>
                  <a:srgbClr val="212B34"/>
                </a:solidFill>
                <a:latin typeface="Yu Gothic"/>
              </a:defRPr>
            </a:pPr>
            <a:r>
              <a:t>•  【5.4.1 モデルの当てはめ】観測応答 y、共変量 x、標本数 n を渡し、線形予測子 μᵢ=α+βxᵢ と yᵢ~Normal(μᵢ,σ²) を記述する。事前分布は α・β に平均0・精度0.0001の正規分布、σ に一様分布 U(0,100) を置く。JAGSの正規分布には標準偏差でなく精度 τ=1/σ² を指定する。</a:t>
            </a:r>
          </a:p>
          <a:p>
            <a:pPr>
              <a:lnSpc>
                <a:spcPct val="115000"/>
              </a:lnSpc>
              <a:spcAft>
                <a:spcPts val="500"/>
              </a:spcAft>
              <a:defRPr sz="1660">
                <a:solidFill>
                  <a:srgbClr val="212B34"/>
                </a:solidFill>
                <a:latin typeface="Yu Gothic"/>
              </a:defRPr>
            </a:pPr>
            <a:r>
              <a:t>•  MCMCは4チェーン、各6,000反復、burn-in 1,000、間引き1、適応期間1,000とする。原著掲載の事後平均は α≈40.66、β≈−0.68、σ≈5.06で、lm() と傾きの推定が近い。トレースプロット、R-hat、有効標本サイズを用いて連鎖を評価する。</a:t>
            </a:r>
          </a:p>
          <a:p>
            <a:pPr>
              <a:lnSpc>
                <a:spcPct val="115000"/>
              </a:lnSpc>
              <a:spcAft>
                <a:spcPts val="500"/>
              </a:spcAft>
              <a:defRPr sz="1660">
                <a:solidFill>
                  <a:srgbClr val="212B34"/>
                </a:solidFill>
                <a:latin typeface="Yu Gothic"/>
              </a:defRPr>
            </a:pPr>
            <a:r>
              <a:t>•  【5.4.2 適合度評価】ベイズ法でも正規性や等分散などモデルの仮定が免除されるわけではない。残差対予測値の散布図に構造や扇形のばらつきがないか調べる。さらに事後予測チェック（PPC）では、各MCMC反復で推定パラメータに従う複製データを生成する。</a:t>
            </a:r>
          </a:p>
          <a:p>
            <a:pPr>
              <a:lnSpc>
                <a:spcPct val="115000"/>
              </a:lnSpc>
              <a:spcAft>
                <a:spcPts val="500"/>
              </a:spcAft>
              <a:defRPr sz="1660">
                <a:solidFill>
                  <a:srgbClr val="212B34"/>
                </a:solidFill>
                <a:latin typeface="Yu Gothic"/>
              </a:defRPr>
            </a:pPr>
            <a:r>
              <a:t>•  実データと複製データについてそれぞれ残差平方和 SSQ を計算し、複製データのSSQが実データのSSQを超える割合をベイズp値とする。原著では0.5565で、0.5に近く明瞭な不適合を示さない。極端な0または1は不適合を示唆するが、PPCはモデル選択の道具ではない。</a:t>
            </a:r>
          </a:p>
          <a:p>
            <a:pPr>
              <a:lnSpc>
                <a:spcPct val="115000"/>
              </a:lnSpc>
              <a:spcAft>
                <a:spcPts val="500"/>
              </a:spcAft>
              <a:defRPr sz="1660">
                <a:solidFill>
                  <a:srgbClr val="212B34"/>
                </a:solidFill>
                <a:latin typeface="Yu Gothic"/>
              </a:defRPr>
            </a:pPr>
            <a:r>
              <a:t>•  【5.4.3 予測】事後サンプルの α と β を各 x に代入して μ(x) の事後分布を作り、その平均と2.5%、97.5%分位点から回帰直線と95%信用区間を得る。原著は頻度論の信頼区間と同じ図に重ね、両者が概ね近いことを示す。</a:t>
            </a:r>
          </a:p>
          <a:p>
            <a:pPr>
              <a:lnSpc>
                <a:spcPct val="115000"/>
              </a:lnSpc>
              <a:spcAft>
                <a:spcPts val="500"/>
              </a:spcAft>
              <a:defRPr sz="1660">
                <a:solidFill>
                  <a:srgbClr val="212B34"/>
                </a:solidFill>
                <a:latin typeface="Yu Gothic"/>
              </a:defRPr>
            </a:pPr>
            <a:r>
              <a:t>•  【5.4.4 区間の解釈】頻度論の95%信頼区間は、仮想的な反復標本における区間生成手続きの被覆率を意味する。一方、ベイズの95%信用区間はモデル・データ・事前分布を条件としたパラメータの事後確率の範囲である。傾きが負となる事後確率は原著で0.9893である。</a:t>
            </a:r>
          </a:p>
          <a:p>
            <a:pPr>
              <a:lnSpc>
                <a:spcPct val="115000"/>
              </a:lnSpc>
              <a:spcAft>
                <a:spcPts val="500"/>
              </a:spcAft>
              <a:defRPr sz="1660">
                <a:solidFill>
                  <a:srgbClr val="212B34"/>
                </a:solidFill>
                <a:latin typeface="Yu Gothic"/>
              </a:defRPr>
            </a:pPr>
            <a:r>
              <a:t>•  【5.4.5 予測区間】平均 μ(x) の信頼／信用区間と、新しい観測値 ỹ に対する予測区間は別物である。予測区間には係数推定の不確実性に加えて新しい観測の残差変動 σ² も含まれるため、通常は幅が広くなる。原著は1,000個の x に対して事後予測分布を生成し図5.6に示す。</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04 / 10  |  原著 pp.147–170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5.5  Bayesian analysis with NIMBLE｜NIMBLEによるベイズ解析</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第5章の本文では、NIMBLEによる正規線形回帰モデルのコードは書籍の補助ウェブサイトに収録されていると案内するのみであり、この節の本文自体には詳しい手順・結果表は示されない。</a:t>
            </a:r>
          </a:p>
          <a:p>
            <a:pPr>
              <a:lnSpc>
                <a:spcPct val="115000"/>
              </a:lnSpc>
              <a:spcAft>
                <a:spcPts val="800"/>
              </a:spcAft>
              <a:defRPr sz="1720">
                <a:solidFill>
                  <a:srgbClr val="212B34"/>
                </a:solidFill>
                <a:latin typeface="Yu Gothic"/>
              </a:defRPr>
            </a:pPr>
            <a:r>
              <a:t>•  対応する書籍配布コードでは、JAGSと同じ μᵢ=α+βxᵢ、yᵢ~Normal(μᵢ,σ²) をNIMBLEの形式で記述する。αとβには標準偏差100の正規事前分布、σには U(0,100)を置き、実データと複製データの残差平方和を計算する。</a:t>
            </a:r>
          </a:p>
          <a:p>
            <a:pPr>
              <a:lnSpc>
                <a:spcPct val="115000"/>
              </a:lnSpc>
              <a:spcAft>
                <a:spcPts val="800"/>
              </a:spcAft>
              <a:defRPr sz="1720">
                <a:solidFill>
                  <a:srgbClr val="212B34"/>
                </a:solidFill>
                <a:latin typeface="Yu Gothic"/>
              </a:defRPr>
            </a:pPr>
            <a:r>
              <a:t>•  NIMBLEはBUGSに近いモデル記法を使いつつ、MCMCの設定や構築・コンパイルを柔軟に扱える。第5章の配布コードは nimbleMCMC() による一括実行例であり、モデル構築・MCMC構築・コンパイルを個別に明示して実行する例ではない。</a:t>
            </a:r>
          </a:p>
          <a:p>
            <a:pPr>
              <a:lnSpc>
                <a:spcPct val="115000"/>
              </a:lnSpc>
              <a:spcAft>
                <a:spcPts val="800"/>
              </a:spcAft>
              <a:defRPr sz="1720">
                <a:solidFill>
                  <a:srgbClr val="212B34"/>
                </a:solidFill>
                <a:latin typeface="Yu Gothic"/>
              </a:defRPr>
            </a:pPr>
            <a:r>
              <a:t>•  配布コードでは4チェーン、各6,000反復、burn-in 1,000、間引き1とし、事後サンプルのトレースプロットと要約、複製データのSSQとの比較によるベイズp値を用意する。5.9節の比較表では α≈40.670、β≈−0.682、σ≈5.037が掲載されている。</a:t>
            </a:r>
          </a:p>
          <a:p>
            <a:pPr>
              <a:lnSpc>
                <a:spcPct val="115000"/>
              </a:lnSpc>
              <a:spcAft>
                <a:spcPts val="800"/>
              </a:spcAft>
              <a:defRPr sz="1720">
                <a:solidFill>
                  <a:srgbClr val="212B34"/>
                </a:solidFill>
                <a:latin typeface="Yu Gothic"/>
              </a:defRPr>
            </a:pPr>
            <a:r>
              <a:t>•  この節の役割は、同じ確率モデルでも推定エンジンの記法や実行方法が異なることを確認する点にある。原著本文にないアルゴリズムの詳細を、原著の説明として扱わないことが重要である。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05 / 10  |  原著 pp.147–170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5.6  Bayesian analysis with Stan｜Stanによるベイズ解析</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Stanでも入力は y、x、nであり、正規線形回帰の確率モデル自体は変わらない。Stan言語ではデータ・パラメータ・計算途中の量・生成量を、役割別のブロックに分けることがJAGSやNIMBLEとの主な構文上の違いになる。</a:t>
            </a:r>
          </a:p>
          <a:p>
            <a:pPr>
              <a:lnSpc>
                <a:spcPct val="115000"/>
              </a:lnSpc>
              <a:spcAft>
                <a:spcPts val="800"/>
              </a:spcAft>
              <a:defRPr sz="1720">
                <a:solidFill>
                  <a:srgbClr val="212B34"/>
                </a:solidFill>
                <a:latin typeface="Yu Gothic"/>
              </a:defRPr>
            </a:pPr>
            <a:r>
              <a:t>•  dataでは標本数や応答・共変量の型と次元を、parametersでは α、β、σを宣言し、σに非負制約を与える。transformed parametersでは各観測の μᵢ=α+βxᵢ を計算する。modelには事前分布と正規尤度を記述する。</a:t>
            </a:r>
          </a:p>
          <a:p>
            <a:pPr>
              <a:lnSpc>
                <a:spcPct val="115000"/>
              </a:lnSpc>
              <a:spcAft>
                <a:spcPts val="800"/>
              </a:spcAft>
              <a:defRPr sz="1720">
                <a:solidFill>
                  <a:srgbClr val="212B34"/>
                </a:solidFill>
                <a:latin typeface="Yu Gothic"/>
              </a:defRPr>
            </a:pPr>
            <a:r>
              <a:t>•  事前分布は α・β に N(0,100²) を、σに尺度10の正の半Cauchy分布に相当する指定を用いる。Stanの正規分布は平均と標準偏差で記述し、JAGSのような精度 τ を用いない。</a:t>
            </a:r>
          </a:p>
          <a:p>
            <a:pPr>
              <a:lnSpc>
                <a:spcPct val="115000"/>
              </a:lnSpc>
              <a:spcAft>
                <a:spcPts val="800"/>
              </a:spcAft>
              <a:defRPr sz="1720">
                <a:solidFill>
                  <a:srgbClr val="212B34"/>
                </a:solidFill>
                <a:latin typeface="Yu Gothic"/>
              </a:defRPr>
            </a:pPr>
            <a:r>
              <a:t>•  generated quantitiesでは観測値の残差と平方、正規乱数から生成した複製データとその平方和を計算する。これは5.4節のJAGSと同じ事後予測チェックの考え方であり、Stanでは計算後の生成量をまとめるための専用ブロックに置く。</a:t>
            </a:r>
          </a:p>
          <a:p>
            <a:pPr>
              <a:lnSpc>
                <a:spcPct val="115000"/>
              </a:lnSpc>
              <a:spcAft>
                <a:spcPts val="800"/>
              </a:spcAft>
              <a:defRPr sz="1720">
                <a:solidFill>
                  <a:srgbClr val="212B34"/>
                </a:solidFill>
                <a:latin typeface="Yu Gothic"/>
              </a:defRPr>
            </a:pPr>
            <a:r>
              <a:t>•  原著ではHMCによる4チェーン×3,000反復（各チェーンのウォームアップ1,000、間引きなし）を実施する。トレースプロットと要約値を確認し、5.9節の比較表では α≈40.7383、β≈−0.6894、σ≈4.9657となる。</a:t>
            </a:r>
          </a:p>
          <a:p>
            <a:pPr>
              <a:lnSpc>
                <a:spcPct val="115000"/>
              </a:lnSpc>
              <a:spcAft>
                <a:spcPts val="800"/>
              </a:spcAft>
              <a:defRPr sz="1720">
                <a:solidFill>
                  <a:srgbClr val="212B34"/>
                </a:solidFill>
                <a:latin typeface="Yu Gothic"/>
              </a:defRPr>
            </a:pPr>
            <a:r>
              <a:t>•  StanはHMC系のMCMCで事後分布を探索する。具体的なサンプリングアルゴリズムの細部よりも、原著の第5章ではモデルの各構成要素を正しくブロックに配置することが学習の中心である。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06 / 10  |  原著 pp.147–170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5.7  Do-it-yourself maximum likelihood｜最尤推定の自作</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第4章で行った平均モデルの最尤推定を、共変量がある正規線形回帰に拡張する。推定する未知パラメータは α（切片）、β（傾き）、σ（残差標準偏差）であり、各観測の平均を共通の μ から μᵢ=α+βxᵢ に置き換える。</a:t>
            </a:r>
          </a:p>
          <a:p>
            <a:pPr>
              <a:lnSpc>
                <a:spcPct val="115000"/>
              </a:lnSpc>
              <a:spcAft>
                <a:spcPts val="800"/>
              </a:spcAft>
              <a:defRPr sz="1720">
                <a:solidFill>
                  <a:srgbClr val="212B34"/>
                </a:solidFill>
                <a:latin typeface="Yu Gothic"/>
              </a:defRPr>
            </a:pPr>
            <a:r>
              <a:t>•  独立な観測の尤度は L(α,β,σ|y,x)=∏ᵢ[1/(σ√(2π))] exp{−(yᵢ−α−βxᵢ)²/(2σ²)}。計算では対数尤度を観測ごとに足し、符号を反転した負の対数尤度（NLL）を最小化する。</a:t>
            </a:r>
          </a:p>
          <a:p>
            <a:pPr>
              <a:lnSpc>
                <a:spcPct val="115000"/>
              </a:lnSpc>
              <a:spcAft>
                <a:spcPts val="800"/>
              </a:spcAft>
              <a:defRPr sz="1720">
                <a:solidFill>
                  <a:srgbClr val="212B34"/>
                </a:solidFill>
                <a:latin typeface="Yu Gothic"/>
              </a:defRPr>
            </a:pPr>
            <a:r>
              <a:t>•  σは正でなければならないため、最適化では log(σ) を未知パラメータにし、σ=exp(log σ)と戻して尤度を評価する。最小化にはBFGS法を用い、Hessianから近似標準誤差と区間を得る。</a:t>
            </a:r>
          </a:p>
          <a:p>
            <a:pPr>
              <a:lnSpc>
                <a:spcPct val="115000"/>
              </a:lnSpc>
              <a:spcAft>
                <a:spcPts val="800"/>
              </a:spcAft>
              <a:defRPr sz="1720">
                <a:solidFill>
                  <a:srgbClr val="212B34"/>
                </a:solidFill>
                <a:latin typeface="Yu Gothic"/>
              </a:defRPr>
            </a:pPr>
            <a:r>
              <a:t>•  原著に掲載された自作最尤推定の結果は α̂=40.7426、β̂=−0.6907、log(σ̂)=1.4549（σ̂≈4.284）である。切片と傾きはlm()と同じだが、残差標準偏差はlm()の4.58より小さい。</a:t>
            </a:r>
          </a:p>
          <a:p>
            <a:pPr>
              <a:lnSpc>
                <a:spcPct val="115000"/>
              </a:lnSpc>
              <a:spcAft>
                <a:spcPts val="800"/>
              </a:spcAft>
              <a:defRPr sz="1720">
                <a:solidFill>
                  <a:srgbClr val="212B34"/>
                </a:solidFill>
                <a:latin typeface="Yu Gothic"/>
              </a:defRPr>
            </a:pPr>
            <a:r>
              <a:t>•  この差は最適化の失敗ではない。lm()は残差平方和を残差自由度 n−2=14 で割って残差分散を推定するのに対し、正規尤度の最尤推定量では n=16 で割る。分母の違いが小標本で明瞭に現れる。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07 / 10  |  原著 pp.147–170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5.8  Likelihood analysis with TMB｜TMBによる尤度解析</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TMB（Template Model Builder）でも、5.7節と同じ正規線形回帰の負の対数尤度を最小化する。ただし計算部分はRで直接書くのではなくC++で記述し、自動微分により勾配を効率的に求める。</a:t>
            </a:r>
          </a:p>
          <a:p>
            <a:pPr>
              <a:lnSpc>
                <a:spcPct val="115000"/>
              </a:lnSpc>
              <a:spcAft>
                <a:spcPts val="800"/>
              </a:spcAft>
              <a:defRPr sz="1720">
                <a:solidFill>
                  <a:srgbClr val="212B34"/>
                </a:solidFill>
                <a:latin typeface="Yu Gothic"/>
              </a:defRPr>
            </a:pPr>
            <a:r>
              <a:t>•  モデルファイルの構成は、①TMBの定型コード、②入力データ（y、x、n）の宣言、③推定パラメータ（α、β、log σ）の宣言、④対数尤度の計算、の4部分である。α+βxᵢ を各観測の平均とし、正規対数密度を足し合わせてその負値を返す。</a:t>
            </a:r>
          </a:p>
          <a:p>
            <a:pPr>
              <a:lnSpc>
                <a:spcPct val="115000"/>
              </a:lnSpc>
              <a:spcAft>
                <a:spcPts val="800"/>
              </a:spcAft>
              <a:defRPr sz="1720">
                <a:solidFill>
                  <a:srgbClr val="212B34"/>
                </a:solidFill>
                <a:latin typeface="Yu Gothic"/>
              </a:defRPr>
            </a:pPr>
            <a:r>
              <a:t>•  原著はRの文字列出力関数で model5_8.cpp を作り、それをコンパイル・動的ロードする。この処理はモデルファイルの準備であり、C++の内容をRで直接実行するわけではない。コンパイルされたコードを通じてRから尤度計算を利用する。</a:t>
            </a:r>
          </a:p>
          <a:p>
            <a:pPr>
              <a:lnSpc>
                <a:spcPct val="115000"/>
              </a:lnSpc>
              <a:spcAft>
                <a:spcPts val="800"/>
              </a:spcAft>
              <a:defRPr sz="1720">
                <a:solidFill>
                  <a:srgbClr val="212B34"/>
                </a:solidFill>
                <a:latin typeface="Yu Gothic"/>
              </a:defRPr>
            </a:pPr>
            <a:r>
              <a:t>•  TMBのモデルオブジェクトにはNLLを計算する関数と自動微分された勾配関数が用意され、これらをBFGS最適化に渡す。推定後の log(σ) は指数変換して元の標準偏差の尺度に戻し、他のエンジンの結果と比較する。</a:t>
            </a:r>
          </a:p>
          <a:p>
            <a:pPr>
              <a:lnSpc>
                <a:spcPct val="115000"/>
              </a:lnSpc>
              <a:spcAft>
                <a:spcPts val="800"/>
              </a:spcAft>
              <a:defRPr sz="1720">
                <a:solidFill>
                  <a:srgbClr val="212B34"/>
                </a:solidFill>
                <a:latin typeface="Yu Gothic"/>
              </a:defRPr>
            </a:pPr>
            <a:r>
              <a:t>•  原著の比較表ではTMBの推定値 α≈40.7429、β≈−0.6907、σ≈4.2840で、5.7節の自作最尤推定とほぼ一致する。TMBは異なる統計的推定原理ではなく、同じ尤度をより効率的に計算・最適化する実装方法である。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08 / 10  |  原著 pp.147–170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5.9  Comparison of parameter estimates｜推定値の比較</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原著は真値と lm()、JAGS、NIMBLE、Stan、自作最尤推定、TMBの推定値を比較する。真値は α=40、β=−0.5、σ=5。掲載表では切片 α は約40.66～40.74、傾き β は約−0.68～−0.69に集まり、傾向の推定はエンジン間でほぼ同じになる。</a:t>
            </a:r>
          </a:p>
          <a:p>
            <a:pPr>
              <a:lnSpc>
                <a:spcPct val="115000"/>
              </a:lnSpc>
              <a:spcAft>
                <a:spcPts val="800"/>
              </a:spcAft>
              <a:defRPr sz="1720">
                <a:solidFill>
                  <a:srgbClr val="212B34"/>
                </a:solidFill>
                <a:latin typeface="Yu Gothic"/>
              </a:defRPr>
            </a:pPr>
            <a:r>
              <a:t>•  残差標準偏差 σ の推定値は lm()=4.5798、JAGS=5.0598、NIMBLE=5.037、Stan=4.9657、自作最尤推定=4.2840、TMB=4.2840と相違する。この差は推定エンジンの良し悪しだけで説明できるものではない。</a:t>
            </a:r>
          </a:p>
          <a:p>
            <a:pPr>
              <a:lnSpc>
                <a:spcPct val="115000"/>
              </a:lnSpc>
              <a:spcAft>
                <a:spcPts val="800"/>
              </a:spcAft>
              <a:defRPr sz="1720">
                <a:solidFill>
                  <a:srgbClr val="212B34"/>
                </a:solidFill>
                <a:latin typeface="Yu Gothic"/>
              </a:defRPr>
            </a:pPr>
            <a:r>
              <a:t>•  第1の理由は分散推定の分母である。残差平方和は約293.65で、最小二乗の不偏分散推定では自由度14で割るため √(293.65/14)≈4.58となる。一方、通常の正規尤度の最尤推定では標本数16で割るので √(293.65/16)≈4.28となる。</a:t>
            </a:r>
          </a:p>
          <a:p>
            <a:pPr>
              <a:lnSpc>
                <a:spcPct val="115000"/>
              </a:lnSpc>
              <a:spcAft>
                <a:spcPts val="800"/>
              </a:spcAft>
              <a:defRPr sz="1720">
                <a:solidFill>
                  <a:srgbClr val="212B34"/>
                </a:solidFill>
                <a:latin typeface="Yu Gothic"/>
              </a:defRPr>
            </a:pPr>
            <a:r>
              <a:t>•  第2の理由はベイズ事前分布の影響である。標本数が16と小さいため、JAGSとNIMBLEの σ~U(0,100)、Stanの半Cauchy型事前分布は曖昧に見えても事後推定に影響し得る。原著は σの事前分布をU(0,10)に変える感度分析を提案している。</a:t>
            </a:r>
          </a:p>
          <a:p>
            <a:pPr>
              <a:lnSpc>
                <a:spcPct val="115000"/>
              </a:lnSpc>
              <a:spcAft>
                <a:spcPts val="800"/>
              </a:spcAft>
              <a:defRPr sz="1720">
                <a:solidFill>
                  <a:srgbClr val="212B34"/>
                </a:solidFill>
                <a:latin typeface="Yu Gothic"/>
              </a:defRPr>
            </a:pPr>
            <a:r>
              <a:t>•  一つの人工データで真値に近い推定を得たことは、ある方法が一般に優れる証拠ではない。原著が示す要点は、同じモデルでも推定原理、分散の推定式、小標本、事前分布によって結果が多少異なるということであ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09 / 10  |  原著 pp.147–170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1018520" cy="640080"/>
          </a:xfrm>
          <a:prstGeom prst="rect">
            <a:avLst/>
          </a:prstGeom>
          <a:noFill/>
        </p:spPr>
        <p:txBody>
          <a:bodyPr wrap="square">
            <a:spAutoFit/>
          </a:bodyPr>
          <a:lstStyle/>
          <a:p>
            <a:pPr>
              <a:defRPr sz="2300" b="1">
                <a:solidFill>
                  <a:srgbClr val="1D3047"/>
                </a:solidFill>
                <a:latin typeface="Yu Gothic"/>
              </a:defRPr>
            </a:pPr>
            <a:r>
              <a:t>5.10  Summary and outlook｜まとめと展望</a:t>
            </a:r>
          </a:p>
        </p:txBody>
      </p:sp>
      <p:sp>
        <p:nvSpPr>
          <p:cNvPr id="3" name="Rectangle 2"/>
          <p:cNvSpPr/>
          <p:nvPr/>
        </p:nvSpPr>
        <p:spPr>
          <a:xfrm>
            <a:off x="621792" y="978408"/>
            <a:ext cx="10963656" cy="16459"/>
          </a:xfrm>
          <a:prstGeom prst="rect">
            <a:avLst/>
          </a:prstGeom>
          <a:solidFill>
            <a:srgbClr val="C4C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078992"/>
            <a:ext cx="10817352" cy="5330952"/>
          </a:xfrm>
          <a:prstGeom prst="rect">
            <a:avLst/>
          </a:prstGeom>
          <a:noFill/>
        </p:spPr>
        <p:txBody>
          <a:bodyPr wrap="square" lIns="0" tIns="0" rIns="0">
            <a:spAutoFit/>
          </a:bodyPr>
          <a:lstStyle/>
          <a:p>
            <a:pPr>
              <a:lnSpc>
                <a:spcPct val="115000"/>
              </a:lnSpc>
              <a:spcAft>
                <a:spcPts val="800"/>
              </a:spcAft>
              <a:defRPr sz="1720">
                <a:solidFill>
                  <a:srgbClr val="212B34"/>
                </a:solidFill>
                <a:latin typeface="Yu Gothic"/>
              </a:defRPr>
            </a:pPr>
            <a:r>
              <a:t>•  第5章では正規線形回帰を、Rの既存関数による最小二乗法、JAGS・NIMBLE・Stanによるベイズ推定、自作最尤推定、TMBによる最尤推定で扱った。各方法は同じ観測モデルを出発点にしているが、パラメータと不確実性を計算・表現する仕組みが異なる。</a:t>
            </a:r>
          </a:p>
          <a:p>
            <a:pPr>
              <a:lnSpc>
                <a:spcPct val="115000"/>
              </a:lnSpc>
              <a:spcAft>
                <a:spcPts val="800"/>
              </a:spcAft>
              <a:defRPr sz="1720">
                <a:solidFill>
                  <a:srgbClr val="212B34"/>
                </a:solidFill>
                <a:latin typeface="Yu Gothic"/>
              </a:defRPr>
            </a:pPr>
            <a:r>
              <a:t>•  モデル適合度の評価には残差が重要である。生残差に加え、模擬生成データの経験的分布を利用する分位点残差を導入した。DHARMaは正規回帰だけでなく、非正規GLMや階層モデルへ共通する診断の枠組みを提供する。</a:t>
            </a:r>
          </a:p>
          <a:p>
            <a:pPr>
              <a:lnSpc>
                <a:spcPct val="115000"/>
              </a:lnSpc>
              <a:spcAft>
                <a:spcPts val="800"/>
              </a:spcAft>
              <a:defRPr sz="1720">
                <a:solidFill>
                  <a:srgbClr val="212B34"/>
                </a:solidFill>
                <a:latin typeface="Yu Gothic"/>
              </a:defRPr>
            </a:pPr>
            <a:r>
              <a:t>•  ベイズ推定では、パラメータの事後分布から複製データを生成し、観測データと複製データの乖離量を比較するPPCおよびベイズp値を説明した。これは絶対的な適合度を確かめる柔軟な方法だが、弱点もありモデル選択の基準として用いるべきではない。</a:t>
            </a:r>
          </a:p>
          <a:p>
            <a:pPr>
              <a:lnSpc>
                <a:spcPct val="115000"/>
              </a:lnSpc>
              <a:spcAft>
                <a:spcPts val="800"/>
              </a:spcAft>
              <a:defRPr sz="1720">
                <a:solidFill>
                  <a:srgbClr val="212B34"/>
                </a:solidFill>
                <a:latin typeface="Yu Gothic"/>
              </a:defRPr>
            </a:pPr>
            <a:r>
              <a:t>•  95%信頼区間（CI）は反復標本で構成した区間が真値を覆う長期的な割合に関わり、95%信用区間（CrI）はパラメータの事後確率を表す。さらに、新しい観測値の95%予測区間は残差変動も含むため、平均応答のCI・CrIより広くなる。</a:t>
            </a:r>
          </a:p>
          <a:p>
            <a:pPr>
              <a:lnSpc>
                <a:spcPct val="115000"/>
              </a:lnSpc>
              <a:spcAft>
                <a:spcPts val="800"/>
              </a:spcAft>
              <a:defRPr sz="1720">
                <a:solidFill>
                  <a:srgbClr val="212B34"/>
                </a:solidFill>
                <a:latin typeface="Yu Gothic"/>
              </a:defRPr>
            </a:pPr>
            <a:r>
              <a:t>•  小標本では最尤分散推定のバイアスや、曖昧な事前分布でも結果に与える影響が無視できない。推定結果を読む際は、数値の一致だけでなく推定量の定義、区間の意味、モデルの仮定を確認する必要がある。</a:t>
            </a:r>
          </a:p>
          <a:p>
            <a:pPr>
              <a:lnSpc>
                <a:spcPct val="115000"/>
              </a:lnSpc>
              <a:spcAft>
                <a:spcPts val="800"/>
              </a:spcAft>
              <a:defRPr sz="1720">
                <a:solidFill>
                  <a:srgbClr val="212B34"/>
                </a:solidFill>
                <a:latin typeface="Yu Gothic"/>
              </a:defRPr>
            </a:pPr>
            <a:r>
              <a:t>•  重回帰への拡張は線形予測子に β₂x₂,ᵢ など新たな項を加えることで実現できる。2つの連続共変量を含む場合、期待値の幾何学的な形は直線から平面へ拡張されるが、基本的な考え方は同じである。</a:t>
            </a:r>
          </a:p>
        </p:txBody>
      </p:sp>
      <p:sp>
        <p:nvSpPr>
          <p:cNvPr id="5" name="TextBox 4"/>
          <p:cNvSpPr txBox="1"/>
          <p:nvPr/>
        </p:nvSpPr>
        <p:spPr>
          <a:xfrm>
            <a:off x="713232" y="6510528"/>
            <a:ext cx="10881360" cy="219456"/>
          </a:xfrm>
          <a:prstGeom prst="rect">
            <a:avLst/>
          </a:prstGeom>
          <a:noFill/>
        </p:spPr>
        <p:txBody>
          <a:bodyPr wrap="none">
            <a:spAutoFit/>
          </a:bodyPr>
          <a:lstStyle/>
          <a:p>
            <a:pPr>
              <a:defRPr sz="900">
                <a:solidFill>
                  <a:srgbClr val="64717E"/>
                </a:solidFill>
                <a:latin typeface="Arial"/>
              </a:defRPr>
            </a:pPr>
            <a:r>
              <a:t>Applied Statistical Modelling for Ecologists  |  Chapter 5  |  10 / 10  |  原著 pp.147–170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5.1  はじめに</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第4章の平均モデルを、説明変数に依存する平均へ拡張する。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従来はすべての観測に共通の平均 μ を仮定していた。</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連続共変量 x により期待値 μᵢ が変化すると考え、切片 α と傾き β を導入する。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回帰直線が決定論的部分、正規分布の誤差が確率論的部分を表す。</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μᵢ = α + βxᵢ　　yᵢ = μᵢ + εᵢ,  εᵢ ~ N(0, σ²)</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 5.1: コードなし</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事例：スイスのカベバシリの分布占有率（1990–2005年）を仮想的に扱う。割合データには通常、ロジスティック回帰や占有モデルが候補。</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要点：推定対象は α、β、σ²。さらに適合度・予測を学ぶ。</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147–149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5.2  データ生成</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同じモデルから人工データを発生させ、後段で推定方法を比較する。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観測年数 n=16、α=40、β=−0.5、残差分散 σ²=25 を真値とする。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x=1,…,16とし、独立な正規残差 εᵢ を付与して y を生成する。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乱数種を固定し、後の推定値と真値を比較できるよう保存する。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yᵢ = 40 − 0.5 xᵢ + εᵢ,　εᵢ ~ N(0, 25)</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set.seed(5); n &lt;- 16</a:t>
            </a:r>
          </a:p>
          <a:p>
            <a:pPr>
              <a:spcAft>
                <a:spcPts val="300"/>
              </a:spcAft>
              <a:defRPr sz="1300" b="0">
                <a:solidFill>
                  <a:srgbClr val="1C2B38"/>
                </a:solidFill>
                <a:latin typeface="Consolas"/>
              </a:defRPr>
            </a:pPr>
            <a:r>
              <a:t>a &lt;- 40; b &lt;- -0.5; sigma2 &lt;- 25</a:t>
            </a:r>
          </a:p>
          <a:p>
            <a:pPr>
              <a:spcAft>
                <a:spcPts val="300"/>
              </a:spcAft>
              <a:defRPr sz="1300" b="0">
                <a:solidFill>
                  <a:srgbClr val="1C2B38"/>
                </a:solidFill>
                <a:latin typeface="Consolas"/>
              </a:defRPr>
            </a:pPr>
            <a:r>
              <a:t>x &lt;- 1:16</a:t>
            </a:r>
          </a:p>
          <a:p>
            <a:pPr>
              <a:spcAft>
                <a:spcPts val="300"/>
              </a:spcAft>
              <a:defRPr sz="1300" b="0">
                <a:solidFill>
                  <a:srgbClr val="1C2B38"/>
                </a:solidFill>
                <a:latin typeface="Consolas"/>
              </a:defRPr>
            </a:pPr>
            <a:r>
              <a:t>eps &lt;- rnorm(n, 0, sqrt(sigma2))</a:t>
            </a:r>
          </a:p>
          <a:p>
            <a:pPr>
              <a:spcAft>
                <a:spcPts val="300"/>
              </a:spcAft>
              <a:defRPr sz="1300" b="0">
                <a:solidFill>
                  <a:srgbClr val="1C2B38"/>
                </a:solidFill>
                <a:latin typeface="Consolas"/>
              </a:defRPr>
            </a:pPr>
            <a:r>
              <a:t>y &lt;- a + b*x + eps</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図では x+1989 を暦年として表示。コードの x 自体は1～16であり、回帰切片の解釈時にはこの違いに注意する。</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要点：シミュレーションコードが統計モデルの定義を具体化する。</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149–150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5.3  Rの既存関数による解析</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最小二乗法による推定、残差診断、予測を一連の手順として学ぶ。</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R標準関数 lm() は通常の正規線形回帰を最小二乗法で当てはめる。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適合度確認には従来の残差とシミュレーションに基づく分位点残差を使用する。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説明変数の任意の値に対して予測平均とその不確実性を得る。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ŷᵢ = α̂ + β̂ xᵢ　　eᵢ = yᵢ − ŷᵢ</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out5.3 &lt;- lm(y ~ x)</a:t>
            </a:r>
          </a:p>
          <a:p>
            <a:pPr>
              <a:spcAft>
                <a:spcPts val="300"/>
              </a:spcAft>
              <a:defRPr sz="1300" b="0">
                <a:solidFill>
                  <a:srgbClr val="1C2B38"/>
                </a:solidFill>
                <a:latin typeface="Consolas"/>
              </a:defRPr>
            </a:pPr>
            <a:r>
              <a:t>summary(out5.3)</a:t>
            </a:r>
          </a:p>
          <a:p>
            <a:pPr>
              <a:spcAft>
                <a:spcPts val="300"/>
              </a:spcAft>
              <a:defRPr sz="1300" b="0">
                <a:solidFill>
                  <a:srgbClr val="1C2B38"/>
                </a:solidFill>
                <a:latin typeface="Consolas"/>
              </a:defRPr>
            </a:pPr>
            <a:r>
              <a:t>residuals(out5.3)</a:t>
            </a:r>
          </a:p>
          <a:p>
            <a:pPr>
              <a:spcAft>
                <a:spcPts val="300"/>
              </a:spcAft>
              <a:defRPr sz="1300" b="0">
                <a:solidFill>
                  <a:srgbClr val="1C2B38"/>
                </a:solidFill>
                <a:latin typeface="Consolas"/>
              </a:defRPr>
            </a:pPr>
            <a:r>
              <a:t>predict(out5.3, newdata=...)</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以降の5.3.1～5.3.3で、当てはめ→残差による診断→予測の順に示す。</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要点：パラメータ推定だけで解析を終えず、仮定と予測を確認する。</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150–154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5.3.1  モデルの当てはめ</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lm() の出力から切片・傾き・残差標準偏差を取得する。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切片と傾きは、正規誤差のもとで最尤推定値と一致する。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lm() が報告する残差標準誤差は σ の推定値（自由度調整あり）。</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原著掲載の傾き推定値は −0.6907（SE 0.2484）である。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α̂ = 40.7426,　β̂ = −0.6907,　σ̂(lm) ≈ 4.58</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summary(out5.3 &lt;- lm(y ~ x))</a:t>
            </a:r>
          </a:p>
          <a:p>
            <a:pPr>
              <a:spcAft>
                <a:spcPts val="300"/>
              </a:spcAft>
              <a:defRPr sz="1300" b="0">
                <a:solidFill>
                  <a:srgbClr val="1C2B38"/>
                </a:solidFill>
                <a:latin typeface="Consolas"/>
              </a:defRPr>
            </a:pPr>
            <a:r>
              <a:t>lm_est &lt;- c(coef(out5.3),</a:t>
            </a:r>
          </a:p>
          <a:p>
            <a:pPr>
              <a:spcAft>
                <a:spcPts val="300"/>
              </a:spcAft>
              <a:defRPr sz="1300" b="0">
                <a:solidFill>
                  <a:srgbClr val="1C2B38"/>
                </a:solidFill>
                <a:latin typeface="Consolas"/>
              </a:defRPr>
            </a:pPr>
            <a:r>
              <a:t>            sigma=sigma(out5.3))</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原著掲載出力：傾きのp値 0.0147、R² 0.3558。これらは原著の固定乱数データに対する結果であり、今回のR実行結果ではない。</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要点：最小二乗法と最尤法では、残差分散の推定式が異なる。</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150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5.3.2  残差と分位点残差による適合度評価</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残差を通して、正規性や等分散性などのモデル仮定を検討する。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生残差 eᵢ は観測値と当てはめ値の差で、未説明部分を表す。</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正規線形回帰では、残差ヒストグラム・QQ図・予測値との関係を確認する。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DHARMaの分位点残差はモデルから再生成したデータの経験分布に基づく。</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eᵢ = yᵢ − ŷᵢ　　適切なモデルなら分位点残差は U(0,1) に近い</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residuals(out5.3)</a:t>
            </a:r>
          </a:p>
          <a:p>
            <a:pPr>
              <a:spcAft>
                <a:spcPts val="300"/>
              </a:spcAft>
              <a:defRPr sz="1300" b="0">
                <a:solidFill>
                  <a:srgbClr val="1C2B38"/>
                </a:solidFill>
                <a:latin typeface="Consolas"/>
              </a:defRPr>
            </a:pPr>
            <a:r>
              <a:t>hist(residuals(out5.3))</a:t>
            </a:r>
          </a:p>
          <a:p>
            <a:pPr>
              <a:spcAft>
                <a:spcPts val="300"/>
              </a:spcAft>
              <a:defRPr sz="1300" b="0">
                <a:solidFill>
                  <a:srgbClr val="1C2B38"/>
                </a:solidFill>
                <a:latin typeface="Consolas"/>
              </a:defRPr>
            </a:pPr>
            <a:r>
              <a:t>simOut &lt;- simulateResiduals(out5.3,n=1000)</a:t>
            </a:r>
          </a:p>
          <a:p>
            <a:pPr>
              <a:spcAft>
                <a:spcPts val="300"/>
              </a:spcAft>
              <a:defRPr sz="1300" b="0">
                <a:solidFill>
                  <a:srgbClr val="1C2B38"/>
                </a:solidFill>
                <a:latin typeface="Consolas"/>
              </a:defRPr>
            </a:pPr>
            <a:r>
              <a:t>plotQQunif(simOut)</a:t>
            </a:r>
          </a:p>
          <a:p>
            <a:pPr>
              <a:spcAft>
                <a:spcPts val="300"/>
              </a:spcAft>
              <a:defRPr sz="1300" b="0">
                <a:solidFill>
                  <a:srgbClr val="1C2B38"/>
                </a:solidFill>
                <a:latin typeface="Consolas"/>
              </a:defRPr>
            </a:pPr>
            <a:r>
              <a:t>plotResiduals(simOut,rank=FALSE)</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標準正規分位点への変換には qnorm を使用。標本数16と小さいため、残差診断の判断力は限定的である。</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要点：DHARMaの分位点残差は非正規GLMや階層モデルへも応用できる。</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151–153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5.3.3  予測値の計算</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推定した回帰式に新しい x を代入して期待応答を求める。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予測値は選んだ共変量 x に対する期待応答 μ̂(x) である。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100個の x 値で滑らかな回帰線を作り、予測平均の標準誤差を得る。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原著は 予測平均 ± 1.96×SE で近似95%信頼区間を示す。</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μ̂(x) = α̂ + β̂ x　　LCL/UCL = μ̂(x) ± 1.96 SE</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xpred &lt;- seq(1,16,length.out=100)</a:t>
            </a:r>
          </a:p>
          <a:p>
            <a:pPr>
              <a:spcAft>
                <a:spcPts val="300"/>
              </a:spcAft>
              <a:defRPr sz="1300" b="0">
                <a:solidFill>
                  <a:srgbClr val="1C2B38"/>
                </a:solidFill>
                <a:latin typeface="Consolas"/>
              </a:defRPr>
            </a:pPr>
            <a:r>
              <a:t>pred &lt;- predict(out5.3,</a:t>
            </a:r>
          </a:p>
          <a:p>
            <a:pPr>
              <a:spcAft>
                <a:spcPts val="300"/>
              </a:spcAft>
              <a:defRPr sz="1300" b="0">
                <a:solidFill>
                  <a:srgbClr val="1C2B38"/>
                </a:solidFill>
                <a:latin typeface="Consolas"/>
              </a:defRPr>
            </a:pPr>
            <a:r>
              <a:t>  newdata=list(x=xpred),se.fit=TRUE)</a:t>
            </a:r>
          </a:p>
          <a:p>
            <a:pPr>
              <a:spcAft>
                <a:spcPts val="300"/>
              </a:spcAft>
              <a:defRPr sz="1300" b="0">
                <a:solidFill>
                  <a:srgbClr val="1C2B38"/>
                </a:solidFill>
                <a:latin typeface="Consolas"/>
              </a:defRPr>
            </a:pPr>
            <a:r>
              <a:t>LCL &lt;- pred$fit-1.96*pred$se.fit</a:t>
            </a:r>
          </a:p>
          <a:p>
            <a:pPr>
              <a:spcAft>
                <a:spcPts val="300"/>
              </a:spcAft>
              <a:defRPr sz="1300" b="0">
                <a:solidFill>
                  <a:srgbClr val="1C2B38"/>
                </a:solidFill>
                <a:latin typeface="Consolas"/>
              </a:defRPr>
            </a:pPr>
            <a:r>
              <a:t>UCL &lt;- pred$fit+1.96*pred$se.fit</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予測平均の信頼区間は個々の新たな観測値の予測区間とは異なる。原著の近似法をそのまま要約。</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要点：回帰式の結果は係数だけでなく予測曲線として提示すると理解しやすい。</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153–154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5.4  JAGSによるベイズ解析</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同じ線形回帰を事前分布・尤度・MCMCで推定する。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パラメータ α、β、σ に事前分布を設定する。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JAGS の正規分布 dnorm は標準偏差ではなく精度 τ=1/σ²を指定する。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事後予測用の再現データを同時に生成し、適合度の確認に利用する。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p(α,β,σ | y,x) ∝ p(y|α,β,σ,x) p(α)p(β)p(σ)</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alpha ~ dnorm(0,0.0001)</a:t>
            </a:r>
          </a:p>
          <a:p>
            <a:pPr>
              <a:spcAft>
                <a:spcPts val="300"/>
              </a:spcAft>
              <a:defRPr sz="1300" b="0">
                <a:solidFill>
                  <a:srgbClr val="1C2B38"/>
                </a:solidFill>
                <a:latin typeface="Consolas"/>
              </a:defRPr>
            </a:pPr>
            <a:r>
              <a:t>beta ~ dnorm(0,0.0001)</a:t>
            </a:r>
          </a:p>
          <a:p>
            <a:pPr>
              <a:spcAft>
                <a:spcPts val="300"/>
              </a:spcAft>
              <a:defRPr sz="1300" b="0">
                <a:solidFill>
                  <a:srgbClr val="1C2B38"/>
                </a:solidFill>
                <a:latin typeface="Consolas"/>
              </a:defRPr>
            </a:pPr>
            <a:r>
              <a:t>sigma ~ dunif(0,100)</a:t>
            </a:r>
          </a:p>
          <a:p>
            <a:pPr>
              <a:spcAft>
                <a:spcPts val="300"/>
              </a:spcAft>
              <a:defRPr sz="1300" b="0">
                <a:solidFill>
                  <a:srgbClr val="1C2B38"/>
                </a:solidFill>
                <a:latin typeface="Consolas"/>
              </a:defRPr>
            </a:pPr>
            <a:r>
              <a:t>tau &lt;- pow(sigma,-2)</a:t>
            </a:r>
          </a:p>
          <a:p>
            <a:pPr>
              <a:spcAft>
                <a:spcPts val="300"/>
              </a:spcAft>
              <a:defRPr sz="1300" b="0">
                <a:solidFill>
                  <a:srgbClr val="1C2B38"/>
                </a:solidFill>
                <a:latin typeface="Consolas"/>
              </a:defRPr>
            </a:pPr>
            <a:r>
              <a:t>y[i] ~ dnorm(mu[i],tau)</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JAGSではモデル定義を外部テキスト model5.4.txt に出力して jags() に渡す。</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要点：原著は事後推定に加え、残差・PPC・予測を扱う。</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154–156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5.4.1  JAGS：モデルの当てはめ</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データの準備、BUGSモデル、MCMC設定と出力確認。</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入力は y、x、n の3項目。初期値を定義し、保存パラメータを指定する。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観測値・再現値の残差平方和 fit と fit.new もMCMCごとに求める。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原著設定は4チェーン×6000反復、各1000バーンイン、間引き1。</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μᵢ = α + βxᵢ;　fit = Σ(yᵢ−μᵢ)²</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dataList &lt;- list(y=y,x=x,n=n)</a:t>
            </a:r>
          </a:p>
          <a:p>
            <a:pPr>
              <a:spcAft>
                <a:spcPts val="300"/>
              </a:spcAft>
              <a:defRPr sz="1300" b="0">
                <a:solidFill>
                  <a:srgbClr val="1C2B38"/>
                </a:solidFill>
                <a:latin typeface="Consolas"/>
              </a:defRPr>
            </a:pPr>
            <a:r>
              <a:t>na&lt;-1000; ni&lt;-6000; nb&lt;-1000</a:t>
            </a:r>
          </a:p>
          <a:p>
            <a:pPr>
              <a:spcAft>
                <a:spcPts val="300"/>
              </a:spcAft>
              <a:defRPr sz="1300" b="0">
                <a:solidFill>
                  <a:srgbClr val="1C2B38"/>
                </a:solidFill>
                <a:latin typeface="Consolas"/>
              </a:defRPr>
            </a:pPr>
            <a:r>
              <a:t>nc&lt;-4; nt&lt;-1</a:t>
            </a:r>
          </a:p>
          <a:p>
            <a:pPr>
              <a:spcAft>
                <a:spcPts val="300"/>
              </a:spcAft>
              <a:defRPr sz="1300" b="0">
                <a:solidFill>
                  <a:srgbClr val="1C2B38"/>
                </a:solidFill>
                <a:latin typeface="Consolas"/>
              </a:defRPr>
            </a:pPr>
            <a:r>
              <a:t>out5.4 &lt;- jags(dataList,inits,params,</a:t>
            </a:r>
          </a:p>
          <a:p>
            <a:pPr>
              <a:spcAft>
                <a:spcPts val="300"/>
              </a:spcAft>
              <a:defRPr sz="1300" b="0">
                <a:solidFill>
                  <a:srgbClr val="1C2B38"/>
                </a:solidFill>
                <a:latin typeface="Consolas"/>
              </a:defRPr>
            </a:pPr>
            <a:r>
              <a:t> "model5.4.txt",n.iter=ni,</a:t>
            </a:r>
          </a:p>
          <a:p>
            <a:pPr>
              <a:spcAft>
                <a:spcPts val="300"/>
              </a:spcAft>
              <a:defRPr sz="1300" b="0">
                <a:solidFill>
                  <a:srgbClr val="1C2B38"/>
                </a:solidFill>
                <a:latin typeface="Consolas"/>
              </a:defRPr>
            </a:pPr>
            <a:r>
              <a:t> n.burnin=nb,n.chains=nc)</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原著には事後平均 α≈40.66、β≈−0.68、σ≈5.06 が掲載。収束確認には traceplot と Rhat/n.eff を用いる。</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要点：真値とlm()の推定値と、JAGSの事後平均を比較する。</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155–157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5.4.2  JAGS：ベイズ解析の適合度評価</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観測データと事後予測データの乖離度を比較する。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ベイズ推定であっても残差診断は必要である。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MCMC各反復で再現データ y.new を生成し、残差平方和を観測データと比較する。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ベイズp値は再現データの乖離量が観測データより大きい割合である。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Bayesian p = P(fit.new &gt; fit | データ・モデル)</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y.new[i] ~ dnorm(mu[i],tau)</a:t>
            </a:r>
          </a:p>
          <a:p>
            <a:pPr>
              <a:spcAft>
                <a:spcPts val="300"/>
              </a:spcAft>
              <a:defRPr sz="1300" b="0">
                <a:solidFill>
                  <a:srgbClr val="1C2B38"/>
                </a:solidFill>
                <a:latin typeface="Consolas"/>
              </a:defRPr>
            </a:pPr>
            <a:r>
              <a:t>fit &lt;- sum(sq[])</a:t>
            </a:r>
          </a:p>
          <a:p>
            <a:pPr>
              <a:spcAft>
                <a:spcPts val="300"/>
              </a:spcAft>
              <a:defRPr sz="1300" b="0">
                <a:solidFill>
                  <a:srgbClr val="1C2B38"/>
                </a:solidFill>
                <a:latin typeface="Consolas"/>
              </a:defRPr>
            </a:pPr>
            <a:r>
              <a:t>fit.new &lt;- sum(sq.new[])</a:t>
            </a:r>
          </a:p>
          <a:p>
            <a:pPr>
              <a:spcAft>
                <a:spcPts val="300"/>
              </a:spcAft>
              <a:defRPr sz="1300" b="0">
                <a:solidFill>
                  <a:srgbClr val="1C2B38"/>
                </a:solidFill>
                <a:latin typeface="Consolas"/>
              </a:defRPr>
            </a:pPr>
            <a:r>
              <a:t>mean(out5.4$sims.list$fit.new &gt;</a:t>
            </a:r>
          </a:p>
          <a:p>
            <a:pPr>
              <a:spcAft>
                <a:spcPts val="300"/>
              </a:spcAft>
              <a:defRPr sz="1300" b="0">
                <a:solidFill>
                  <a:srgbClr val="1C2B38"/>
                </a:solidFill>
                <a:latin typeface="Consolas"/>
              </a:defRPr>
            </a:pPr>
            <a:r>
              <a:t>     out5.4$sims.list$fit)</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原著のp値は 0.5565。約0.5で適合は良好と判断。PPCはモデル選択法として用いないと原著は注意する。</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要点：PPCはモデル全体の適合度を事後予測分布と比較する方法。</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157–160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5.4.3  JAGS：ベイズ予測</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事後サンプルごとに回帰式を計算し、期待値の事後分布を得る。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各xに対し、事後分布から抽出した α と β を回帰式へ代入する。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事後平均 BPE を点推定、2.5％・97.5％分位点を95％信用区間とする。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頻度論の回帰線と95％信頼区間を同じ図上に描いて比較する。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μ(x)⁽ˢ⁾ = α⁽ˢ⁾ + β⁽ˢ⁾ x　　CRI = [q.025, q.975]</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sims &lt;- out5.4$sims.list</a:t>
            </a:r>
          </a:p>
          <a:p>
            <a:pPr>
              <a:spcAft>
                <a:spcPts val="300"/>
              </a:spcAft>
              <a:defRPr sz="1300" b="0">
                <a:solidFill>
                  <a:srgbClr val="1C2B38"/>
                </a:solidFill>
                <a:latin typeface="Consolas"/>
              </a:defRPr>
            </a:pPr>
            <a:r>
              <a:t>predictions[i,] &lt;- sims$alpha +</a:t>
            </a:r>
          </a:p>
          <a:p>
            <a:pPr>
              <a:spcAft>
                <a:spcPts val="300"/>
              </a:spcAft>
              <a:defRPr sz="1300" b="0">
                <a:solidFill>
                  <a:srgbClr val="1C2B38"/>
                </a:solidFill>
                <a:latin typeface="Consolas"/>
              </a:defRPr>
            </a:pPr>
            <a:r>
              <a:t>                  sims$beta*xpred[i]</a:t>
            </a:r>
          </a:p>
          <a:p>
            <a:pPr>
              <a:spcAft>
                <a:spcPts val="300"/>
              </a:spcAft>
              <a:defRPr sz="1300" b="0">
                <a:solidFill>
                  <a:srgbClr val="1C2B38"/>
                </a:solidFill>
                <a:latin typeface="Consolas"/>
              </a:defRPr>
            </a:pPr>
            <a:r>
              <a:t>BPE &lt;- rowMeans(predictions)</a:t>
            </a:r>
          </a:p>
          <a:p>
            <a:pPr>
              <a:spcAft>
                <a:spcPts val="300"/>
              </a:spcAft>
              <a:defRPr sz="1300" b="0">
                <a:solidFill>
                  <a:srgbClr val="1C2B38"/>
                </a:solidFill>
                <a:latin typeface="Consolas"/>
              </a:defRPr>
            </a:pPr>
            <a:r>
              <a:t>LPB &lt;- apply(predictions,1,quantile,.025)</a:t>
            </a:r>
          </a:p>
          <a:p>
            <a:pPr>
              <a:spcAft>
                <a:spcPts val="300"/>
              </a:spcAft>
              <a:defRPr sz="1300" b="0">
                <a:solidFill>
                  <a:srgbClr val="1C2B38"/>
                </a:solidFill>
                <a:latin typeface="Consolas"/>
              </a:defRPr>
            </a:pPr>
            <a:r>
              <a:t>UPB &lt;- apply(predictions,1,quantile,.975)</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ここで求めるのは「期待応答の不確実性」であり、新しい観測値を生成する事後予測分布ではない。</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要点：期待値の信用区間と観測値の予測区間を混同しない。</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160–162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5.4.4  信頼区間と信用区間の解釈</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同じ95％でも、推定対象への確率の意味は異なる。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頻度論の95％信頼区間：繰り返し標本抽出したとき、作成した区間の約95％が真値を含む。</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ベイズの95％信用区間：データ・事前分布・モデルを条件にパラメータの事後確率を表す。</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β&lt;0 の事後確率をMCMCサンプルの割合として計算できる。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P(β&lt;0 | y,x) ≈ mean(βの事後標本 &lt; 0)</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hist(out5.4$sims.list$beta)</a:t>
            </a:r>
          </a:p>
          <a:p>
            <a:pPr>
              <a:spcAft>
                <a:spcPts val="300"/>
              </a:spcAft>
              <a:defRPr sz="1300" b="0">
                <a:solidFill>
                  <a:srgbClr val="1C2B38"/>
                </a:solidFill>
                <a:latin typeface="Consolas"/>
              </a:defRPr>
            </a:pPr>
            <a:r>
              <a:t>abline(v=0,lty=3)</a:t>
            </a:r>
          </a:p>
          <a:p>
            <a:pPr>
              <a:spcAft>
                <a:spcPts val="300"/>
              </a:spcAft>
              <a:defRPr sz="1300" b="0">
                <a:solidFill>
                  <a:srgbClr val="1C2B38"/>
                </a:solidFill>
                <a:latin typeface="Consolas"/>
              </a:defRPr>
            </a:pPr>
            <a:r>
              <a:t>mean(out5.4$sims.list$beta &lt; 0)</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原著掲載値は0.9893（傾きが負である事後確率）。頻度論CIから同様の直接的確率主張はできない。</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要点：CIとCRIは区間の形式が似ていても統計的解釈は同一でない。</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162–163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5.4.5  予測区間は何を表すか</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推定平均ではなく、新しい観測値 ỹ のばらつきを扱う。</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信頼区間・信用区間は平均 μ(x) の不確実性を表す。</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新しい観測値には残差の偶然変動 σ²も加わるため、予測区間は通常より広い。</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事後標本 α、β、σ から新しい ỹ を繰り返し生成する。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ỹ(x)⁽ˢ⁾ ~ N(α⁽ˢ⁾+β⁽ˢ⁾x, [σ⁽ˢ⁾]²)</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xpred &lt;- seq(1,16,length.out=1000)</a:t>
            </a:r>
          </a:p>
          <a:p>
            <a:pPr>
              <a:spcAft>
                <a:spcPts val="300"/>
              </a:spcAft>
              <a:defRPr sz="1300" b="0">
                <a:solidFill>
                  <a:srgbClr val="1C2B38"/>
                </a:solidFill>
                <a:latin typeface="Consolas"/>
              </a:defRPr>
            </a:pPr>
            <a:r>
              <a:t>mu_k &lt;- sims$alpha+sims$beta*xpred[k]</a:t>
            </a:r>
          </a:p>
          <a:p>
            <a:pPr>
              <a:spcAft>
                <a:spcPts val="300"/>
              </a:spcAft>
              <a:defRPr sz="1300" b="0">
                <a:solidFill>
                  <a:srgbClr val="1C2B38"/>
                </a:solidFill>
                <a:latin typeface="Consolas"/>
              </a:defRPr>
            </a:pPr>
            <a:r>
              <a:t>y_tilde[k,] &lt;- rnorm(20000,</a:t>
            </a:r>
          </a:p>
          <a:p>
            <a:pPr>
              <a:spcAft>
                <a:spcPts val="300"/>
              </a:spcAft>
              <a:defRPr sz="1300" b="0">
                <a:solidFill>
                  <a:srgbClr val="1C2B38"/>
                </a:solidFill>
                <a:latin typeface="Consolas"/>
              </a:defRPr>
            </a:pPr>
            <a:r>
              <a:t>  mean=mu_k,sd=sims$sigma)</a:t>
            </a:r>
          </a:p>
          <a:p>
            <a:pPr>
              <a:spcAft>
                <a:spcPts val="300"/>
              </a:spcAft>
              <a:defRPr sz="1300" b="0">
                <a:solidFill>
                  <a:srgbClr val="1C2B38"/>
                </a:solidFill>
                <a:latin typeface="Consolas"/>
              </a:defRPr>
            </a:pPr>
            <a:r>
              <a:t>LPI &lt;- apply(y_tilde,1,quantile,.025)</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原著図5.6の95％予測区間は、図5.4の平均のCI/CRIより広い。</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要点：「平均への予測」と「新規観測値の予測」は別物。</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163–164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5.5  NIMBLEによるベイズ解析</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同じ正規回帰をNIMBLEで実装し、JAGSとの対応を確認する。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原著本文は短く、詳細コードは付属Webサイトに掲載される。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事前分布・尤度・再現データと残差平方和を定義する。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MCMCの実行後、事後分布とベイズp値を確認する。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yᵢ ~ N(α+βxᵢ, σ²)</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model5.5 &lt;- nimbleCode({</a:t>
            </a:r>
          </a:p>
          <a:p>
            <a:pPr>
              <a:spcAft>
                <a:spcPts val="300"/>
              </a:spcAft>
              <a:defRPr sz="1300" b="0">
                <a:solidFill>
                  <a:srgbClr val="1C2B38"/>
                </a:solidFill>
                <a:latin typeface="Consolas"/>
              </a:defRPr>
            </a:pPr>
            <a:r>
              <a:t> alpha ~ dnorm(0,sd=100)</a:t>
            </a:r>
          </a:p>
          <a:p>
            <a:pPr>
              <a:spcAft>
                <a:spcPts val="300"/>
              </a:spcAft>
              <a:defRPr sz="1300" b="0">
                <a:solidFill>
                  <a:srgbClr val="1C2B38"/>
                </a:solidFill>
                <a:latin typeface="Consolas"/>
              </a:defRPr>
            </a:pPr>
            <a:r>
              <a:t> beta  ~ dnorm(0,sd=100)</a:t>
            </a:r>
          </a:p>
          <a:p>
            <a:pPr>
              <a:spcAft>
                <a:spcPts val="300"/>
              </a:spcAft>
              <a:defRPr sz="1300" b="0">
                <a:solidFill>
                  <a:srgbClr val="1C2B38"/>
                </a:solidFill>
                <a:latin typeface="Consolas"/>
              </a:defRPr>
            </a:pPr>
            <a:r>
              <a:t> sigma ~ dunif(0,100)</a:t>
            </a:r>
          </a:p>
          <a:p>
            <a:pPr>
              <a:spcAft>
                <a:spcPts val="300"/>
              </a:spcAft>
              <a:defRPr sz="1300" b="0">
                <a:solidFill>
                  <a:srgbClr val="1C2B38"/>
                </a:solidFill>
                <a:latin typeface="Consolas"/>
              </a:defRPr>
            </a:pPr>
            <a:r>
              <a:t> y[i] ~ dnorm(mu[i],sd=sigma)</a:t>
            </a:r>
          </a:p>
          <a:p>
            <a:pPr>
              <a:spcAft>
                <a:spcPts val="300"/>
              </a:spcAft>
              <a:defRPr sz="1300" b="0">
                <a:solidFill>
                  <a:srgbClr val="1C2B38"/>
                </a:solidFill>
                <a:latin typeface="Consolas"/>
              </a:defRPr>
            </a:pPr>
            <a:r>
              <a:t>})</a:t>
            </a:r>
          </a:p>
          <a:p>
            <a:pPr>
              <a:spcAft>
                <a:spcPts val="300"/>
              </a:spcAft>
              <a:defRPr sz="1300" b="0">
                <a:solidFill>
                  <a:srgbClr val="1C2B38"/>
                </a:solidFill>
                <a:latin typeface="Consolas"/>
              </a:defRPr>
            </a:pPr>
            <a:r>
              <a:t>out5.5 &lt;- nimbleMCMC(...)</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コード補足：ユーザー提供の章別Rスクリプトに基づく（原著本文には掲載なし）。原著の推定値比較にはNIMBLEが含まれる。</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要点：NIMBLEは正規分布にsdを指定し、nimbleMCMC()で推定する。</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164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5.6  Stanによるベイズ解析</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明示的な型宣言とブロック分割で同じモデルを記述する。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dataとparametersにデータ構造・未知パラメータと制約を記述する。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線形予測子 μ は transformed parameters、事前分布と尤度は model に置く。</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generated quantitiesで残差・再現データ・適合度統計量を計算する。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alpha, beta ~ Normal(0,100);  sigma ~ Half-Cauchy(0,10)</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data { ... }</a:t>
            </a:r>
          </a:p>
          <a:p>
            <a:pPr>
              <a:spcAft>
                <a:spcPts val="300"/>
              </a:spcAft>
              <a:defRPr sz="1300" b="0">
                <a:solidFill>
                  <a:srgbClr val="1C2B38"/>
                </a:solidFill>
                <a:latin typeface="Consolas"/>
              </a:defRPr>
            </a:pPr>
            <a:r>
              <a:t>parameters { real alpha; real beta;</a:t>
            </a:r>
          </a:p>
          <a:p>
            <a:pPr>
              <a:spcAft>
                <a:spcPts val="300"/>
              </a:spcAft>
              <a:defRPr sz="1300" b="0">
                <a:solidFill>
                  <a:srgbClr val="1C2B38"/>
                </a:solidFill>
                <a:latin typeface="Consolas"/>
              </a:defRPr>
            </a:pPr>
            <a:r>
              <a:t>  real&lt;lower=0&gt; sigma; }</a:t>
            </a:r>
          </a:p>
          <a:p>
            <a:pPr>
              <a:spcAft>
                <a:spcPts val="300"/>
              </a:spcAft>
              <a:defRPr sz="1300" b="0">
                <a:solidFill>
                  <a:srgbClr val="1C2B38"/>
                </a:solidFill>
                <a:latin typeface="Consolas"/>
              </a:defRPr>
            </a:pPr>
            <a:r>
              <a:t>transformed parameters { ... }</a:t>
            </a:r>
          </a:p>
          <a:p>
            <a:pPr>
              <a:spcAft>
                <a:spcPts val="300"/>
              </a:spcAft>
              <a:defRPr sz="1300" b="0">
                <a:solidFill>
                  <a:srgbClr val="1C2B38"/>
                </a:solidFill>
                <a:latin typeface="Consolas"/>
              </a:defRPr>
            </a:pPr>
            <a:r>
              <a:t>model { y[i] ~ normal(mu[i],sigma); }</a:t>
            </a:r>
          </a:p>
          <a:p>
            <a:pPr>
              <a:spcAft>
                <a:spcPts val="300"/>
              </a:spcAft>
              <a:defRPr sz="1300" b="0">
                <a:solidFill>
                  <a:srgbClr val="1C2B38"/>
                </a:solidFill>
                <a:latin typeface="Consolas"/>
              </a:defRPr>
            </a:pPr>
            <a:r>
              <a:t>generated quantities { ... }</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原著設定：4チェーン、反復3000・warmup1000、間引き1。StanはHMC系のサンプラーを使用する。</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要点：JAGSの精度指定とは異なりStanのnormalは標準偏差を使う。</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164–166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5.7  自作の最尤推定</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正規密度の対数尤度をR関数で定義し、optim()で最小化する。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期待値だけを μᵢ=α+βxᵢ に変更し、正規分布の尤度を組み立てる。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σ&gt;0 の制約のため log_sigma を最適化し、σ=exp(log_sigma)に戻す。</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観測ごとの対数密度を足し、負号を付けてoptim()に渡す。</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−log L = −Σ log fN(yᵢ | α+βxᵢ, σ)</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NLL &lt;- function(params,y,x){</a:t>
            </a:r>
          </a:p>
          <a:p>
            <a:pPr>
              <a:spcAft>
                <a:spcPts val="300"/>
              </a:spcAft>
              <a:defRPr sz="1300" b="0">
                <a:solidFill>
                  <a:srgbClr val="1C2B38"/>
                </a:solidFill>
                <a:latin typeface="Consolas"/>
              </a:defRPr>
            </a:pPr>
            <a:r>
              <a:t> sigma &lt;- exp(params[3])</a:t>
            </a:r>
          </a:p>
          <a:p>
            <a:pPr>
              <a:spcAft>
                <a:spcPts val="300"/>
              </a:spcAft>
              <a:defRPr sz="1300" b="0">
                <a:solidFill>
                  <a:srgbClr val="1C2B38"/>
                </a:solidFill>
                <a:latin typeface="Consolas"/>
              </a:defRPr>
            </a:pPr>
            <a:r>
              <a:t> mu &lt;- params[1]+params[2]*x</a:t>
            </a:r>
          </a:p>
          <a:p>
            <a:pPr>
              <a:spcAft>
                <a:spcPts val="300"/>
              </a:spcAft>
              <a:defRPr sz="1300" b="0">
                <a:solidFill>
                  <a:srgbClr val="1C2B38"/>
                </a:solidFill>
                <a:latin typeface="Consolas"/>
              </a:defRPr>
            </a:pPr>
            <a:r>
              <a:t> -sum(dnorm(y,mu,sigma,log=TRUE))</a:t>
            </a:r>
          </a:p>
          <a:p>
            <a:pPr>
              <a:spcAft>
                <a:spcPts val="300"/>
              </a:spcAft>
              <a:defRPr sz="1300" b="0">
                <a:solidFill>
                  <a:srgbClr val="1C2B38"/>
                </a:solidFill>
                <a:latin typeface="Consolas"/>
              </a:defRPr>
            </a:pPr>
            <a:r>
              <a:t>}</a:t>
            </a:r>
          </a:p>
          <a:p>
            <a:pPr>
              <a:spcAft>
                <a:spcPts val="300"/>
              </a:spcAft>
              <a:defRPr sz="1300" b="0">
                <a:solidFill>
                  <a:srgbClr val="1C2B38"/>
                </a:solidFill>
                <a:latin typeface="Consolas"/>
              </a:defRPr>
            </a:pPr>
            <a:r>
              <a:t>optim(inits,NLL,y=y,x=x,</a:t>
            </a:r>
          </a:p>
          <a:p>
            <a:pPr>
              <a:spcAft>
                <a:spcPts val="300"/>
              </a:spcAft>
              <a:defRPr sz="1300" b="0">
                <a:solidFill>
                  <a:srgbClr val="1C2B38"/>
                </a:solidFill>
                <a:latin typeface="Consolas"/>
              </a:defRPr>
            </a:pPr>
            <a:r>
              <a:t> method="BFGS",hessian=TRUE)</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原著掲載推定：α=40.7426、β=−0.6907、log(σ)=1.4549。コード例は原著ループを同値なベクトル形に短縮したもの（AI補足）。</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要点：最尤法の目的関数は負の対数尤度。</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166–167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5.8  TMBによる尤度解析</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C++で負の対数尤度を記述し、自動微分の勾配とoptim()を利用する。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入力データ y、x、n と未知パラメータ alpha、beta、log_sigma をC++で宣言する。</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観測ごとの正規対数密度をLLへ加算し、return -LL とする。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Rのcat()でmodel5_8.cppを出力し、compile→dyn.load→MakeADFun→optimの順に処理する。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LL = Σ log fN(yᵢ | α+βxᵢ, σ),  σ=exp(log_sigma)</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DATA_VECTOR(y); DATA_VECTOR(x);</a:t>
            </a:r>
          </a:p>
          <a:p>
            <a:pPr>
              <a:spcAft>
                <a:spcPts val="300"/>
              </a:spcAft>
              <a:defRPr sz="1300" b="0">
                <a:solidFill>
                  <a:srgbClr val="1C2B38"/>
                </a:solidFill>
                <a:latin typeface="Consolas"/>
              </a:defRPr>
            </a:pPr>
            <a:r>
              <a:t>PARAMETER(alpha); PARAMETER(beta);</a:t>
            </a:r>
          </a:p>
          <a:p>
            <a:pPr>
              <a:spcAft>
                <a:spcPts val="300"/>
              </a:spcAft>
              <a:defRPr sz="1300" b="0">
                <a:solidFill>
                  <a:srgbClr val="1C2B38"/>
                </a:solidFill>
                <a:latin typeface="Consolas"/>
              </a:defRPr>
            </a:pPr>
            <a:r>
              <a:t>PARAMETER(log_sigma);</a:t>
            </a:r>
          </a:p>
          <a:p>
            <a:pPr>
              <a:spcAft>
                <a:spcPts val="300"/>
              </a:spcAft>
              <a:defRPr sz="1300" b="0">
                <a:solidFill>
                  <a:srgbClr val="1C2B38"/>
                </a:solidFill>
                <a:latin typeface="Consolas"/>
              </a:defRPr>
            </a:pPr>
            <a:r>
              <a:t>LL += dnorm(y(i),mu,sigma,true);</a:t>
            </a:r>
          </a:p>
          <a:p>
            <a:pPr>
              <a:spcAft>
                <a:spcPts val="300"/>
              </a:spcAft>
              <a:defRPr sz="1300" b="0">
                <a:solidFill>
                  <a:srgbClr val="1C2B38"/>
                </a:solidFill>
                <a:latin typeface="Consolas"/>
              </a:defRPr>
            </a:pPr>
            <a:r>
              <a:t>return -LL;</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原著はcppファイルの作成をRのcat()で行う。最適化勾配は out5.8$gr、自作R尤度と同じ最大化問題。</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要点：高速化の主体はC++計算と自動微分。</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167–169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5.9  パラメータ推定値の比較</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原著掲載の方法別推定値を比較し、相違の理由を説明する。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βの推定値は各エンジンでほぼ一致する（およそ −0.69）。</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残差標準偏差 σ は推定方法の違いが目立つ（lm 4.5798、DIY/TMB 4.2840）。</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最小二乗法は残差自由度14で除し、最尤法はn=16で除す。事前分布も小標本では影響する。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σ̂(lm) = √(RSS/14),　σ̂(MLE) = √(RSS/16)</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comp &lt;- cbind(truth=truth,</a:t>
            </a:r>
          </a:p>
          <a:p>
            <a:pPr>
              <a:spcAft>
                <a:spcPts val="300"/>
              </a:spcAft>
              <a:defRPr sz="1300" b="0">
                <a:solidFill>
                  <a:srgbClr val="1C2B38"/>
                </a:solidFill>
                <a:latin typeface="Consolas"/>
              </a:defRPr>
            </a:pPr>
            <a:r>
              <a:t> lm=lm_est,JAGS=jags_est,</a:t>
            </a:r>
          </a:p>
          <a:p>
            <a:pPr>
              <a:spcAft>
                <a:spcPts val="300"/>
              </a:spcAft>
              <a:defRPr sz="1300" b="0">
                <a:solidFill>
                  <a:srgbClr val="1C2B38"/>
                </a:solidFill>
                <a:latin typeface="Consolas"/>
              </a:defRPr>
            </a:pPr>
            <a:r>
              <a:t> NIMBLE=nimble_est,Stan=stan_est,</a:t>
            </a:r>
          </a:p>
          <a:p>
            <a:pPr>
              <a:spcAft>
                <a:spcPts val="300"/>
              </a:spcAft>
              <a:defRPr sz="1300" b="0">
                <a:solidFill>
                  <a:srgbClr val="1C2B38"/>
                </a:solidFill>
                <a:latin typeface="Consolas"/>
              </a:defRPr>
            </a:pPr>
            <a:r>
              <a:t> DIY=diy_est,TMB=tmb_est)</a:t>
            </a:r>
          </a:p>
          <a:p>
            <a:pPr>
              <a:spcAft>
                <a:spcPts val="300"/>
              </a:spcAft>
              <a:defRPr sz="1300" b="0">
                <a:solidFill>
                  <a:srgbClr val="1C2B38"/>
                </a:solidFill>
                <a:latin typeface="Consolas"/>
              </a:defRPr>
            </a:pPr>
            <a:r>
              <a:t>print(comp,4)</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原著表：真値 (40,−0.5,5)。α推定は約40.7で一致。原著の数値であり、今回の再実行値ではない。</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要点：平均パラメータと分散パラメータで推定法間の一致度が異なる。</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169–170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0584"/>
            <a:ext cx="11430000" cy="530352"/>
          </a:xfrm>
          <a:prstGeom prst="rect">
            <a:avLst/>
          </a:prstGeom>
          <a:noFill/>
        </p:spPr>
        <p:txBody>
          <a:bodyPr wrap="square" lIns="50292" tIns="36576" rIns="50292">
            <a:spAutoFit/>
          </a:bodyPr>
          <a:lstStyle/>
          <a:p>
            <a:pPr>
              <a:spcAft>
                <a:spcPts val="800"/>
              </a:spcAft>
              <a:defRPr sz="2500" b="1">
                <a:solidFill>
                  <a:srgbClr val="FFFFFF"/>
                </a:solidFill>
                <a:latin typeface="Yu Gothic"/>
              </a:defRPr>
            </a:pPr>
            <a:r>
              <a:t>5.10  まとめと展望</a:t>
            </a:r>
          </a:p>
        </p:txBody>
      </p:sp>
      <p:sp>
        <p:nvSpPr>
          <p:cNvPr id="4" name="TextBox 3"/>
          <p:cNvSpPr txBox="1"/>
          <p:nvPr/>
        </p:nvSpPr>
        <p:spPr>
          <a:xfrm>
            <a:off x="365760" y="932688"/>
            <a:ext cx="11475720" cy="502920"/>
          </a:xfrm>
          <a:prstGeom prst="rect">
            <a:avLst/>
          </a:prstGeom>
          <a:noFill/>
        </p:spPr>
        <p:txBody>
          <a:bodyPr wrap="square" lIns="50292" tIns="36576" rIns="50292">
            <a:spAutoFit/>
          </a:bodyPr>
          <a:lstStyle/>
          <a:p>
            <a:pPr>
              <a:spcAft>
                <a:spcPts val="800"/>
              </a:spcAft>
              <a:defRPr sz="1700" b="0">
                <a:solidFill>
                  <a:srgbClr val="5A6B76"/>
                </a:solidFill>
                <a:latin typeface="Yu Gothic"/>
              </a:defRPr>
            </a:pPr>
            <a:r>
              <a:t>同一の正規線形回帰を複数のエンジンで推定して理解を深める。</a:t>
            </a:r>
          </a:p>
        </p:txBody>
      </p:sp>
      <p:sp>
        <p:nvSpPr>
          <p:cNvPr id="5" name="Rounded Rectangle 4"/>
          <p:cNvSpPr/>
          <p:nvPr/>
        </p:nvSpPr>
        <p:spPr>
          <a:xfrm>
            <a:off x="347472" y="1591056"/>
            <a:ext cx="6784848" cy="4233672"/>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87768" y="1591056"/>
            <a:ext cx="4544568" cy="4233672"/>
          </a:xfrm>
          <a:prstGeom prst="roundRect">
            <a:avLst/>
          </a:prstGeom>
          <a:solidFill>
            <a:srgbClr val="EF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737360"/>
            <a:ext cx="6309360" cy="310896"/>
          </a:xfrm>
          <a:prstGeom prst="rect">
            <a:avLst/>
          </a:prstGeom>
          <a:noFill/>
        </p:spPr>
        <p:txBody>
          <a:bodyPr wrap="square" lIns="50292" tIns="36576" rIns="50292">
            <a:spAutoFit/>
          </a:bodyPr>
          <a:lstStyle/>
          <a:p>
            <a:pPr>
              <a:spcAft>
                <a:spcPts val="800"/>
              </a:spcAft>
              <a:defRPr sz="1700" b="1">
                <a:solidFill>
                  <a:srgbClr val="2169A9"/>
                </a:solidFill>
                <a:latin typeface="Yu Gothic"/>
              </a:defRPr>
            </a:pPr>
            <a:r>
              <a:t>統計モデル・原著の要点</a:t>
            </a:r>
          </a:p>
        </p:txBody>
      </p:sp>
      <p:sp>
        <p:nvSpPr>
          <p:cNvPr id="8" name="TextBox 7"/>
          <p:cNvSpPr txBox="1"/>
          <p:nvPr/>
        </p:nvSpPr>
        <p:spPr>
          <a:xfrm>
            <a:off x="521207" y="2176272"/>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最小二乗、ベイズMCMC、R自作最尤法、TMBの共通モデルと相違を確認した。</a:t>
            </a:r>
          </a:p>
        </p:txBody>
      </p:sp>
      <p:sp>
        <p:nvSpPr>
          <p:cNvPr id="9" name="TextBox 8"/>
          <p:cNvSpPr txBox="1"/>
          <p:nvPr/>
        </p:nvSpPr>
        <p:spPr>
          <a:xfrm>
            <a:off x="521207" y="3035808"/>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残差・DHARMa・PPCは推定後の適合度評価に有用である。</a:t>
            </a:r>
          </a:p>
        </p:txBody>
      </p:sp>
      <p:sp>
        <p:nvSpPr>
          <p:cNvPr id="10" name="TextBox 9"/>
          <p:cNvSpPr txBox="1"/>
          <p:nvPr/>
        </p:nvSpPr>
        <p:spPr>
          <a:xfrm>
            <a:off x="521207" y="3895344"/>
            <a:ext cx="6364224" cy="804672"/>
          </a:xfrm>
          <a:prstGeom prst="rect">
            <a:avLst/>
          </a:prstGeom>
          <a:noFill/>
        </p:spPr>
        <p:txBody>
          <a:bodyPr wrap="square" lIns="50292" tIns="36576" rIns="50292">
            <a:spAutoFit/>
          </a:bodyPr>
          <a:lstStyle/>
          <a:p>
            <a:pPr>
              <a:spcAft>
                <a:spcPts val="300"/>
              </a:spcAft>
              <a:defRPr sz="1550" b="0">
                <a:solidFill>
                  <a:srgbClr val="1C2B38"/>
                </a:solidFill>
                <a:latin typeface="Yu Gothic"/>
              </a:defRPr>
            </a:pPr>
            <a:r>
              <a:t>• 信頼区間、信用区間、予測区間は意味の異なる不確実性の表現である。</a:t>
            </a:r>
          </a:p>
        </p:txBody>
      </p:sp>
      <p:sp>
        <p:nvSpPr>
          <p:cNvPr id="11" name="Rounded Rectangle 10"/>
          <p:cNvSpPr/>
          <p:nvPr/>
        </p:nvSpPr>
        <p:spPr>
          <a:xfrm>
            <a:off x="585216" y="4690872"/>
            <a:ext cx="6336792" cy="758952"/>
          </a:xfrm>
          <a:prstGeom prst="roundRect">
            <a:avLst/>
          </a:prstGeom>
          <a:solidFill>
            <a:srgbClr val="E5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818888"/>
            <a:ext cx="5989320" cy="530352"/>
          </a:xfrm>
          <a:prstGeom prst="rect">
            <a:avLst/>
          </a:prstGeom>
          <a:noFill/>
        </p:spPr>
        <p:txBody>
          <a:bodyPr wrap="square" lIns="50292" tIns="36576" rIns="50292">
            <a:spAutoFit/>
          </a:bodyPr>
          <a:lstStyle/>
          <a:p>
            <a:pPr>
              <a:spcAft>
                <a:spcPts val="800"/>
              </a:spcAft>
              <a:defRPr sz="1700" b="1">
                <a:solidFill>
                  <a:srgbClr val="143558"/>
                </a:solidFill>
                <a:latin typeface="Yu Gothic"/>
              </a:defRPr>
            </a:pPr>
            <a:r>
              <a:t>多重回帰への拡張： μᵢ = α + β₁x₁ᵢ + β₂x₂ᵢ</a:t>
            </a:r>
          </a:p>
        </p:txBody>
      </p:sp>
      <p:sp>
        <p:nvSpPr>
          <p:cNvPr id="13" name="TextBox 12"/>
          <p:cNvSpPr txBox="1"/>
          <p:nvPr/>
        </p:nvSpPr>
        <p:spPr>
          <a:xfrm>
            <a:off x="7479792" y="1764792"/>
            <a:ext cx="4151376" cy="338328"/>
          </a:xfrm>
          <a:prstGeom prst="rect">
            <a:avLst/>
          </a:prstGeom>
          <a:noFill/>
        </p:spPr>
        <p:txBody>
          <a:bodyPr wrap="square" lIns="50292" tIns="36576" rIns="50292">
            <a:spAutoFit/>
          </a:bodyPr>
          <a:lstStyle/>
          <a:p>
            <a:pPr>
              <a:spcAft>
                <a:spcPts val="800"/>
              </a:spcAft>
              <a:defRPr sz="1700" b="1">
                <a:solidFill>
                  <a:srgbClr val="247D69"/>
                </a:solidFill>
                <a:latin typeface="Yu Gothic"/>
              </a:defRPr>
            </a:pPr>
            <a:r>
              <a:t>主要Rコード・処理</a:t>
            </a:r>
          </a:p>
        </p:txBody>
      </p:sp>
      <p:sp>
        <p:nvSpPr>
          <p:cNvPr id="14" name="TextBox 13"/>
          <p:cNvSpPr txBox="1"/>
          <p:nvPr/>
        </p:nvSpPr>
        <p:spPr>
          <a:xfrm>
            <a:off x="7498079" y="2194560"/>
            <a:ext cx="4078224" cy="1554480"/>
          </a:xfrm>
          <a:prstGeom prst="rect">
            <a:avLst/>
          </a:prstGeom>
          <a:noFill/>
        </p:spPr>
        <p:txBody>
          <a:bodyPr wrap="square" lIns="50292" tIns="36576" rIns="50292">
            <a:spAutoFit/>
          </a:bodyPr>
          <a:lstStyle/>
          <a:p>
            <a:pPr>
              <a:spcAft>
                <a:spcPts val="300"/>
              </a:spcAft>
              <a:defRPr sz="1300" b="0">
                <a:solidFill>
                  <a:srgbClr val="1C2B38"/>
                </a:solidFill>
                <a:latin typeface="Consolas"/>
              </a:defRPr>
            </a:pPr>
            <a:r>
              <a:t># 5.10: コードなし</a:t>
            </a:r>
          </a:p>
        </p:txBody>
      </p:sp>
      <p:sp>
        <p:nvSpPr>
          <p:cNvPr id="15" name="TextBox 14"/>
          <p:cNvSpPr txBox="1"/>
          <p:nvPr/>
        </p:nvSpPr>
        <p:spPr>
          <a:xfrm>
            <a:off x="7488936" y="3840480"/>
            <a:ext cx="4151376" cy="1682496"/>
          </a:xfrm>
          <a:prstGeom prst="rect">
            <a:avLst/>
          </a:prstGeom>
          <a:noFill/>
        </p:spPr>
        <p:txBody>
          <a:bodyPr wrap="square" lIns="50292" tIns="36576" rIns="50292">
            <a:spAutoFit/>
          </a:bodyPr>
          <a:lstStyle/>
          <a:p>
            <a:pPr>
              <a:spcAft>
                <a:spcPts val="300"/>
              </a:spcAft>
              <a:defRPr sz="1500" b="0">
                <a:solidFill>
                  <a:srgbClr val="1C2B38"/>
                </a:solidFill>
                <a:latin typeface="Yu Gothic"/>
              </a:defRPr>
            </a:pPr>
            <a:r>
              <a:t>少数データでは分散MLEの偏りや「弱い」事前分布の影響を無視できない。共変量を追加すると重回帰へ拡張する。</a:t>
            </a:r>
          </a:p>
        </p:txBody>
      </p:sp>
      <p:sp>
        <p:nvSpPr>
          <p:cNvPr id="16" name="Rounded Rectangle 15"/>
          <p:cNvSpPr/>
          <p:nvPr/>
        </p:nvSpPr>
        <p:spPr>
          <a:xfrm>
            <a:off x="356616" y="5961888"/>
            <a:ext cx="11475720" cy="557784"/>
          </a:xfrm>
          <a:prstGeom prst="roundRect">
            <a:avLst/>
          </a:prstGeom>
          <a:solidFill>
            <a:srgbClr val="E1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 y="6044184"/>
            <a:ext cx="11064240" cy="365760"/>
          </a:xfrm>
          <a:prstGeom prst="rect">
            <a:avLst/>
          </a:prstGeom>
          <a:noFill/>
        </p:spPr>
        <p:txBody>
          <a:bodyPr wrap="square" lIns="50292" tIns="36576" rIns="50292">
            <a:spAutoFit/>
          </a:bodyPr>
          <a:lstStyle/>
          <a:p>
            <a:pPr>
              <a:spcAft>
                <a:spcPts val="300"/>
              </a:spcAft>
              <a:defRPr sz="1500" b="1">
                <a:solidFill>
                  <a:srgbClr val="145649"/>
                </a:solidFill>
                <a:latin typeface="Yu Gothic"/>
              </a:defRPr>
            </a:pPr>
            <a:r>
              <a:t>要点：第5章はより複雑な回帰・階層モデルを理解する出発点。</a:t>
            </a:r>
          </a:p>
        </p:txBody>
      </p:sp>
      <p:sp>
        <p:nvSpPr>
          <p:cNvPr id="18" name="TextBox 17"/>
          <p:cNvSpPr txBox="1"/>
          <p:nvPr/>
        </p:nvSpPr>
        <p:spPr>
          <a:xfrm>
            <a:off x="384048" y="6583680"/>
            <a:ext cx="10515600" cy="201168"/>
          </a:xfrm>
          <a:prstGeom prst="rect">
            <a:avLst/>
          </a:prstGeom>
          <a:noFill/>
        </p:spPr>
        <p:txBody>
          <a:bodyPr wrap="square" lIns="50292" tIns="36576" rIns="50292">
            <a:spAutoFit/>
          </a:bodyPr>
          <a:lstStyle/>
          <a:p>
            <a:pPr>
              <a:spcAft>
                <a:spcPts val="300"/>
              </a:spcAft>
              <a:defRPr sz="900" b="0">
                <a:solidFill>
                  <a:srgbClr val="5A6B76"/>
                </a:solidFill>
                <a:latin typeface="Yu Gothic"/>
              </a:defRPr>
            </a:pPr>
            <a:r>
              <a:t>Kéry &amp; Kellner (2024), Chapter 5, pp. 170  |  原著要約（AI補足は明示）</a:t>
            </a:r>
          </a:p>
        </p:txBody>
      </p:sp>
      <p:sp>
        <p:nvSpPr>
          <p:cNvPr id="19" name="TextBox 18"/>
          <p:cNvSpPr txBox="1"/>
          <p:nvPr/>
        </p:nvSpPr>
        <p:spPr>
          <a:xfrm>
            <a:off x="11109960" y="6574536"/>
            <a:ext cx="640080" cy="210312"/>
          </a:xfrm>
          <a:prstGeom prst="rect">
            <a:avLst/>
          </a:prstGeom>
          <a:noFill/>
        </p:spPr>
        <p:txBody>
          <a:bodyPr wrap="square" lIns="50292" tIns="36576" rIns="50292">
            <a:spAutoFit/>
          </a:bodyPr>
          <a:lstStyle/>
          <a:p>
            <a:pPr algn="r">
              <a:spcAft>
                <a:spcPts val="300"/>
              </a:spcAft>
              <a:defRPr sz="1000" b="0">
                <a:solidFill>
                  <a:srgbClr val="5A6B76"/>
                </a:solidFill>
                <a:latin typeface="Yu Gothic"/>
              </a:defRPr>
            </a:pPr>
            <a:r>
              <a:t>19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68096"/>
          </a:xfrm>
          <a:prstGeom prst="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10972800" cy="548640"/>
          </a:xfrm>
          <a:prstGeom prst="rect">
            <a:avLst/>
          </a:prstGeom>
          <a:noFill/>
        </p:spPr>
        <p:txBody>
          <a:bodyPr wrap="square" lIns="50292" tIns="36576" rIns="50292">
            <a:spAutoFit/>
          </a:bodyPr>
          <a:lstStyle/>
          <a:p>
            <a:pPr>
              <a:spcAft>
                <a:spcPts val="800"/>
              </a:spcAft>
              <a:defRPr sz="2400" b="1">
                <a:solidFill>
                  <a:srgbClr val="FFFFFF"/>
                </a:solidFill>
                <a:latin typeface="Yu Gothic"/>
              </a:defRPr>
            </a:pPr>
            <a:r>
              <a:t>参考：原著5.9節の推定値比較（原著掲載値）</a:t>
            </a:r>
          </a:p>
        </p:txBody>
      </p:sp>
      <p:sp>
        <p:nvSpPr>
          <p:cNvPr id="4" name="Rounded Rectangle 3"/>
          <p:cNvSpPr/>
          <p:nvPr/>
        </p:nvSpPr>
        <p:spPr>
          <a:xfrm>
            <a:off x="594360" y="1280160"/>
            <a:ext cx="11000232" cy="539496"/>
          </a:xfrm>
          <a:prstGeom prst="roundRect">
            <a:avLst/>
          </a:prstGeom>
          <a:solidFill>
            <a:srgbClr val="143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344168"/>
            <a:ext cx="2532888" cy="411480"/>
          </a:xfrm>
          <a:prstGeom prst="rect">
            <a:avLst/>
          </a:prstGeom>
          <a:noFill/>
        </p:spPr>
        <p:txBody>
          <a:bodyPr wrap="square" lIns="50292" tIns="36576" rIns="50292">
            <a:spAutoFit/>
          </a:bodyPr>
          <a:lstStyle/>
          <a:p>
            <a:pPr>
              <a:spcAft>
                <a:spcPts val="800"/>
              </a:spcAft>
              <a:defRPr sz="1700" b="1">
                <a:solidFill>
                  <a:srgbClr val="FFFFFF"/>
                </a:solidFill>
                <a:latin typeface="Yu Gothic"/>
              </a:defRPr>
            </a:pPr>
            <a:r>
              <a:t>方法</a:t>
            </a:r>
          </a:p>
        </p:txBody>
      </p:sp>
      <p:sp>
        <p:nvSpPr>
          <p:cNvPr id="6" name="TextBox 5"/>
          <p:cNvSpPr txBox="1"/>
          <p:nvPr/>
        </p:nvSpPr>
        <p:spPr>
          <a:xfrm>
            <a:off x="3538728" y="1344168"/>
            <a:ext cx="2532888" cy="411480"/>
          </a:xfrm>
          <a:prstGeom prst="rect">
            <a:avLst/>
          </a:prstGeom>
          <a:noFill/>
        </p:spPr>
        <p:txBody>
          <a:bodyPr wrap="square" lIns="50292" tIns="36576" rIns="50292">
            <a:spAutoFit/>
          </a:bodyPr>
          <a:lstStyle/>
          <a:p>
            <a:pPr>
              <a:spcAft>
                <a:spcPts val="800"/>
              </a:spcAft>
              <a:defRPr sz="1700" b="1">
                <a:solidFill>
                  <a:srgbClr val="FFFFFF"/>
                </a:solidFill>
                <a:latin typeface="Yu Gothic"/>
              </a:defRPr>
            </a:pPr>
            <a:r>
              <a:t>α（切片）</a:t>
            </a:r>
          </a:p>
        </p:txBody>
      </p:sp>
      <p:sp>
        <p:nvSpPr>
          <p:cNvPr id="7" name="TextBox 6"/>
          <p:cNvSpPr txBox="1"/>
          <p:nvPr/>
        </p:nvSpPr>
        <p:spPr>
          <a:xfrm>
            <a:off x="6281928" y="1344168"/>
            <a:ext cx="2532888" cy="411480"/>
          </a:xfrm>
          <a:prstGeom prst="rect">
            <a:avLst/>
          </a:prstGeom>
          <a:noFill/>
        </p:spPr>
        <p:txBody>
          <a:bodyPr wrap="square" lIns="50292" tIns="36576" rIns="50292">
            <a:spAutoFit/>
          </a:bodyPr>
          <a:lstStyle/>
          <a:p>
            <a:pPr>
              <a:spcAft>
                <a:spcPts val="800"/>
              </a:spcAft>
              <a:defRPr sz="1700" b="1">
                <a:solidFill>
                  <a:srgbClr val="FFFFFF"/>
                </a:solidFill>
                <a:latin typeface="Yu Gothic"/>
              </a:defRPr>
            </a:pPr>
            <a:r>
              <a:t>β（傾き）</a:t>
            </a:r>
          </a:p>
        </p:txBody>
      </p:sp>
      <p:sp>
        <p:nvSpPr>
          <p:cNvPr id="8" name="TextBox 7"/>
          <p:cNvSpPr txBox="1"/>
          <p:nvPr/>
        </p:nvSpPr>
        <p:spPr>
          <a:xfrm>
            <a:off x="9025128" y="1344168"/>
            <a:ext cx="2532888" cy="411480"/>
          </a:xfrm>
          <a:prstGeom prst="rect">
            <a:avLst/>
          </a:prstGeom>
          <a:noFill/>
        </p:spPr>
        <p:txBody>
          <a:bodyPr wrap="square" lIns="50292" tIns="36576" rIns="50292">
            <a:spAutoFit/>
          </a:bodyPr>
          <a:lstStyle/>
          <a:p>
            <a:pPr>
              <a:spcAft>
                <a:spcPts val="800"/>
              </a:spcAft>
              <a:defRPr sz="1700" b="1">
                <a:solidFill>
                  <a:srgbClr val="FFFFFF"/>
                </a:solidFill>
                <a:latin typeface="Yu Gothic"/>
              </a:defRPr>
            </a:pPr>
            <a:r>
              <a:t>σ（残差SD）</a:t>
            </a:r>
          </a:p>
        </p:txBody>
      </p:sp>
      <p:sp>
        <p:nvSpPr>
          <p:cNvPr id="9" name="Rounded Rectangle 8"/>
          <p:cNvSpPr/>
          <p:nvPr/>
        </p:nvSpPr>
        <p:spPr>
          <a:xfrm>
            <a:off x="594360" y="1856231"/>
            <a:ext cx="11000232" cy="539496"/>
          </a:xfrm>
          <a:prstGeom prst="roundRect">
            <a:avLst/>
          </a:prstGeom>
          <a:solidFill>
            <a:srgbClr val="EC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920239"/>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真値</a:t>
            </a:r>
          </a:p>
        </p:txBody>
      </p:sp>
      <p:sp>
        <p:nvSpPr>
          <p:cNvPr id="11" name="TextBox 10"/>
          <p:cNvSpPr txBox="1"/>
          <p:nvPr/>
        </p:nvSpPr>
        <p:spPr>
          <a:xfrm>
            <a:off x="3538728" y="1920239"/>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40.0000</a:t>
            </a:r>
          </a:p>
        </p:txBody>
      </p:sp>
      <p:sp>
        <p:nvSpPr>
          <p:cNvPr id="12" name="TextBox 11"/>
          <p:cNvSpPr txBox="1"/>
          <p:nvPr/>
        </p:nvSpPr>
        <p:spPr>
          <a:xfrm>
            <a:off x="6281928" y="1920239"/>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−0.5000</a:t>
            </a:r>
          </a:p>
        </p:txBody>
      </p:sp>
      <p:sp>
        <p:nvSpPr>
          <p:cNvPr id="13" name="TextBox 12"/>
          <p:cNvSpPr txBox="1"/>
          <p:nvPr/>
        </p:nvSpPr>
        <p:spPr>
          <a:xfrm>
            <a:off x="9025128" y="1920239"/>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5.0000</a:t>
            </a:r>
          </a:p>
        </p:txBody>
      </p:sp>
      <p:sp>
        <p:nvSpPr>
          <p:cNvPr id="14" name="Rounded Rectangle 13"/>
          <p:cNvSpPr/>
          <p:nvPr/>
        </p:nvSpPr>
        <p:spPr>
          <a:xfrm>
            <a:off x="594360" y="2432304"/>
            <a:ext cx="11000232" cy="539496"/>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2496312"/>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lm()</a:t>
            </a:r>
          </a:p>
        </p:txBody>
      </p:sp>
      <p:sp>
        <p:nvSpPr>
          <p:cNvPr id="16" name="TextBox 15"/>
          <p:cNvSpPr txBox="1"/>
          <p:nvPr/>
        </p:nvSpPr>
        <p:spPr>
          <a:xfrm>
            <a:off x="3538728" y="2496312"/>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40.7426</a:t>
            </a:r>
          </a:p>
        </p:txBody>
      </p:sp>
      <p:sp>
        <p:nvSpPr>
          <p:cNvPr id="17" name="TextBox 16"/>
          <p:cNvSpPr txBox="1"/>
          <p:nvPr/>
        </p:nvSpPr>
        <p:spPr>
          <a:xfrm>
            <a:off x="6281928" y="2496312"/>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−0.6907</a:t>
            </a:r>
          </a:p>
        </p:txBody>
      </p:sp>
      <p:sp>
        <p:nvSpPr>
          <p:cNvPr id="18" name="TextBox 17"/>
          <p:cNvSpPr txBox="1"/>
          <p:nvPr/>
        </p:nvSpPr>
        <p:spPr>
          <a:xfrm>
            <a:off x="9025128" y="2496312"/>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4.5798</a:t>
            </a:r>
          </a:p>
        </p:txBody>
      </p:sp>
      <p:sp>
        <p:nvSpPr>
          <p:cNvPr id="19" name="Rounded Rectangle 18"/>
          <p:cNvSpPr/>
          <p:nvPr/>
        </p:nvSpPr>
        <p:spPr>
          <a:xfrm>
            <a:off x="594360" y="3008376"/>
            <a:ext cx="11000232" cy="539496"/>
          </a:xfrm>
          <a:prstGeom prst="roundRect">
            <a:avLst/>
          </a:prstGeom>
          <a:solidFill>
            <a:srgbClr val="EC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8" y="3072384"/>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JAGS</a:t>
            </a:r>
          </a:p>
        </p:txBody>
      </p:sp>
      <p:sp>
        <p:nvSpPr>
          <p:cNvPr id="21" name="TextBox 20"/>
          <p:cNvSpPr txBox="1"/>
          <p:nvPr/>
        </p:nvSpPr>
        <p:spPr>
          <a:xfrm>
            <a:off x="3538728" y="3072384"/>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40.6590</a:t>
            </a:r>
          </a:p>
        </p:txBody>
      </p:sp>
      <p:sp>
        <p:nvSpPr>
          <p:cNvPr id="22" name="TextBox 21"/>
          <p:cNvSpPr txBox="1"/>
          <p:nvPr/>
        </p:nvSpPr>
        <p:spPr>
          <a:xfrm>
            <a:off x="6281928" y="3072384"/>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−0.6827</a:t>
            </a:r>
          </a:p>
        </p:txBody>
      </p:sp>
      <p:sp>
        <p:nvSpPr>
          <p:cNvPr id="23" name="TextBox 22"/>
          <p:cNvSpPr txBox="1"/>
          <p:nvPr/>
        </p:nvSpPr>
        <p:spPr>
          <a:xfrm>
            <a:off x="9025128" y="3072384"/>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5.0598</a:t>
            </a:r>
          </a:p>
        </p:txBody>
      </p:sp>
      <p:sp>
        <p:nvSpPr>
          <p:cNvPr id="24" name="Rounded Rectangle 23"/>
          <p:cNvSpPr/>
          <p:nvPr/>
        </p:nvSpPr>
        <p:spPr>
          <a:xfrm>
            <a:off x="594360" y="3584448"/>
            <a:ext cx="11000232" cy="539496"/>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5528" y="3648456"/>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NIMBLE</a:t>
            </a:r>
          </a:p>
        </p:txBody>
      </p:sp>
      <p:sp>
        <p:nvSpPr>
          <p:cNvPr id="26" name="TextBox 25"/>
          <p:cNvSpPr txBox="1"/>
          <p:nvPr/>
        </p:nvSpPr>
        <p:spPr>
          <a:xfrm>
            <a:off x="3538728" y="3648456"/>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40.6700</a:t>
            </a:r>
          </a:p>
        </p:txBody>
      </p:sp>
      <p:sp>
        <p:nvSpPr>
          <p:cNvPr id="27" name="TextBox 26"/>
          <p:cNvSpPr txBox="1"/>
          <p:nvPr/>
        </p:nvSpPr>
        <p:spPr>
          <a:xfrm>
            <a:off x="6281928" y="3648456"/>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−0.6820</a:t>
            </a:r>
          </a:p>
        </p:txBody>
      </p:sp>
      <p:sp>
        <p:nvSpPr>
          <p:cNvPr id="28" name="TextBox 27"/>
          <p:cNvSpPr txBox="1"/>
          <p:nvPr/>
        </p:nvSpPr>
        <p:spPr>
          <a:xfrm>
            <a:off x="9025128" y="3648456"/>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5.0370</a:t>
            </a:r>
          </a:p>
        </p:txBody>
      </p:sp>
      <p:sp>
        <p:nvSpPr>
          <p:cNvPr id="29" name="Rounded Rectangle 28"/>
          <p:cNvSpPr/>
          <p:nvPr/>
        </p:nvSpPr>
        <p:spPr>
          <a:xfrm>
            <a:off x="594360" y="4160520"/>
            <a:ext cx="11000232" cy="539496"/>
          </a:xfrm>
          <a:prstGeom prst="roundRect">
            <a:avLst/>
          </a:prstGeom>
          <a:solidFill>
            <a:srgbClr val="EC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95528" y="4224528"/>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Stan</a:t>
            </a:r>
          </a:p>
        </p:txBody>
      </p:sp>
      <p:sp>
        <p:nvSpPr>
          <p:cNvPr id="31" name="TextBox 30"/>
          <p:cNvSpPr txBox="1"/>
          <p:nvPr/>
        </p:nvSpPr>
        <p:spPr>
          <a:xfrm>
            <a:off x="3538728" y="4224528"/>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40.7383</a:t>
            </a:r>
          </a:p>
        </p:txBody>
      </p:sp>
      <p:sp>
        <p:nvSpPr>
          <p:cNvPr id="32" name="TextBox 31"/>
          <p:cNvSpPr txBox="1"/>
          <p:nvPr/>
        </p:nvSpPr>
        <p:spPr>
          <a:xfrm>
            <a:off x="6281928" y="4224528"/>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−0.6894</a:t>
            </a:r>
          </a:p>
        </p:txBody>
      </p:sp>
      <p:sp>
        <p:nvSpPr>
          <p:cNvPr id="33" name="TextBox 32"/>
          <p:cNvSpPr txBox="1"/>
          <p:nvPr/>
        </p:nvSpPr>
        <p:spPr>
          <a:xfrm>
            <a:off x="9025128" y="4224528"/>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4.9657</a:t>
            </a:r>
          </a:p>
        </p:txBody>
      </p:sp>
      <p:sp>
        <p:nvSpPr>
          <p:cNvPr id="34" name="Rounded Rectangle 33"/>
          <p:cNvSpPr/>
          <p:nvPr/>
        </p:nvSpPr>
        <p:spPr>
          <a:xfrm>
            <a:off x="594360" y="4736592"/>
            <a:ext cx="11000232" cy="539496"/>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5528" y="4800600"/>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自作最尤法</a:t>
            </a:r>
          </a:p>
        </p:txBody>
      </p:sp>
      <p:sp>
        <p:nvSpPr>
          <p:cNvPr id="36" name="TextBox 35"/>
          <p:cNvSpPr txBox="1"/>
          <p:nvPr/>
        </p:nvSpPr>
        <p:spPr>
          <a:xfrm>
            <a:off x="3538728" y="4800600"/>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40.7426</a:t>
            </a:r>
          </a:p>
        </p:txBody>
      </p:sp>
      <p:sp>
        <p:nvSpPr>
          <p:cNvPr id="37" name="TextBox 36"/>
          <p:cNvSpPr txBox="1"/>
          <p:nvPr/>
        </p:nvSpPr>
        <p:spPr>
          <a:xfrm>
            <a:off x="6281928" y="4800600"/>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−0.6907</a:t>
            </a:r>
          </a:p>
        </p:txBody>
      </p:sp>
      <p:sp>
        <p:nvSpPr>
          <p:cNvPr id="38" name="TextBox 37"/>
          <p:cNvSpPr txBox="1"/>
          <p:nvPr/>
        </p:nvSpPr>
        <p:spPr>
          <a:xfrm>
            <a:off x="9025128" y="4800600"/>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4.2840</a:t>
            </a:r>
          </a:p>
        </p:txBody>
      </p:sp>
      <p:sp>
        <p:nvSpPr>
          <p:cNvPr id="39" name="Rounded Rectangle 38"/>
          <p:cNvSpPr/>
          <p:nvPr/>
        </p:nvSpPr>
        <p:spPr>
          <a:xfrm>
            <a:off x="594360" y="5312664"/>
            <a:ext cx="11000232" cy="539496"/>
          </a:xfrm>
          <a:prstGeom prst="roundRect">
            <a:avLst/>
          </a:prstGeom>
          <a:solidFill>
            <a:srgbClr val="EC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5528" y="5376672"/>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TMB</a:t>
            </a:r>
          </a:p>
        </p:txBody>
      </p:sp>
      <p:sp>
        <p:nvSpPr>
          <p:cNvPr id="41" name="TextBox 40"/>
          <p:cNvSpPr txBox="1"/>
          <p:nvPr/>
        </p:nvSpPr>
        <p:spPr>
          <a:xfrm>
            <a:off x="3538728" y="5376672"/>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40.7429</a:t>
            </a:r>
          </a:p>
        </p:txBody>
      </p:sp>
      <p:sp>
        <p:nvSpPr>
          <p:cNvPr id="42" name="TextBox 41"/>
          <p:cNvSpPr txBox="1"/>
          <p:nvPr/>
        </p:nvSpPr>
        <p:spPr>
          <a:xfrm>
            <a:off x="6281928" y="5376672"/>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−0.6907</a:t>
            </a:r>
          </a:p>
        </p:txBody>
      </p:sp>
      <p:sp>
        <p:nvSpPr>
          <p:cNvPr id="43" name="TextBox 42"/>
          <p:cNvSpPr txBox="1"/>
          <p:nvPr/>
        </p:nvSpPr>
        <p:spPr>
          <a:xfrm>
            <a:off x="9025128" y="5376672"/>
            <a:ext cx="2532888" cy="411480"/>
          </a:xfrm>
          <a:prstGeom prst="rect">
            <a:avLst/>
          </a:prstGeom>
          <a:noFill/>
        </p:spPr>
        <p:txBody>
          <a:bodyPr wrap="square" lIns="50292" tIns="36576" rIns="50292">
            <a:spAutoFit/>
          </a:bodyPr>
          <a:lstStyle/>
          <a:p>
            <a:pPr>
              <a:spcAft>
                <a:spcPts val="800"/>
              </a:spcAft>
              <a:defRPr sz="1700" b="0">
                <a:solidFill>
                  <a:srgbClr val="1C2B38"/>
                </a:solidFill>
                <a:latin typeface="Yu Gothic"/>
              </a:defRPr>
            </a:pPr>
            <a:r>
              <a:t>4.2840</a:t>
            </a:r>
          </a:p>
        </p:txBody>
      </p:sp>
      <p:sp>
        <p:nvSpPr>
          <p:cNvPr id="44" name="TextBox 43"/>
          <p:cNvSpPr txBox="1"/>
          <p:nvPr/>
        </p:nvSpPr>
        <p:spPr>
          <a:xfrm>
            <a:off x="731520" y="6144768"/>
            <a:ext cx="10789920" cy="347472"/>
          </a:xfrm>
          <a:prstGeom prst="rect">
            <a:avLst/>
          </a:prstGeom>
          <a:noFill/>
        </p:spPr>
        <p:txBody>
          <a:bodyPr wrap="square" lIns="50292" tIns="36576" rIns="50292">
            <a:spAutoFit/>
          </a:bodyPr>
          <a:lstStyle/>
          <a:p>
            <a:pPr>
              <a:spcAft>
                <a:spcPts val="300"/>
              </a:spcAft>
              <a:defRPr sz="1300" b="0">
                <a:solidFill>
                  <a:srgbClr val="5A6B76"/>
                </a:solidFill>
                <a:latin typeface="Yu Gothic"/>
              </a:defRPr>
            </a:pPr>
            <a:r>
              <a:t>注：原著 p.169 に掲載された数値。R・JAGS・NIMBLE・Stan・TMBは今回実行していません。</a:t>
            </a:r>
          </a:p>
        </p:txBody>
      </p:sp>
      <p:sp>
        <p:nvSpPr>
          <p:cNvPr id="45" name="TextBox 44"/>
          <p:cNvSpPr txBox="1"/>
          <p:nvPr/>
        </p:nvSpPr>
        <p:spPr>
          <a:xfrm>
            <a:off x="11155680" y="6565392"/>
            <a:ext cx="457200" cy="210312"/>
          </a:xfrm>
          <a:prstGeom prst="rect">
            <a:avLst/>
          </a:prstGeom>
          <a:noFill/>
        </p:spPr>
        <p:txBody>
          <a:bodyPr wrap="square" lIns="50292" tIns="36576" rIns="50292">
            <a:spAutoFit/>
          </a:bodyPr>
          <a:lstStyle/>
          <a:p>
            <a:pPr>
              <a:spcAft>
                <a:spcPts val="300"/>
              </a:spcAft>
              <a:defRPr sz="1000" b="0">
                <a:solidFill>
                  <a:srgbClr val="5A6B76"/>
                </a:solidFill>
                <a:latin typeface="Yu Gothic"/>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4556</Words>
  <Application>Microsoft Office PowerPoint</Application>
  <PresentationFormat>ワイド画面</PresentationFormat>
  <Paragraphs>414</Paragraphs>
  <Slides>31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31</vt:i4>
      </vt:variant>
    </vt:vector>
  </HeadingPairs>
  <TitlesOfParts>
    <vt:vector size="36" baseType="lpstr">
      <vt:lpstr>BIZ UDゴシック</vt:lpstr>
      <vt:lpstr>Aptos</vt:lpstr>
      <vt:lpstr>Arial</vt:lpstr>
      <vt:lpstr>Calibri</vt:lpstr>
      <vt:lpstr>Office Theme</vt:lpstr>
      <vt:lpstr>Applied Statistical Modelling for Ecologists  ASME</vt:lpstr>
      <vt:lpstr>全体構造</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2</cp:revision>
  <dcterms:created xsi:type="dcterms:W3CDTF">2013-01-27T09:14:16Z</dcterms:created>
  <dcterms:modified xsi:type="dcterms:W3CDTF">2026-10-22T02:40:23Z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2026-10-21T01:28:56Z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3cfaa4ff-ec1c-4117-90cb-4d8216af7aa0</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