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8" r:id="rId2"/>
    <p:sldId id="256" r:id="rId3"/>
    <p:sldId id="257" r:id="rId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6B28600-7702-4147-9113-2067C7335ED6}" v="1" dt="2026-10-23T02:06:20.20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4" d="100"/>
          <a:sy n="104" d="100"/>
        </p:scale>
        <p:origin x="834"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10" Type="http://schemas.microsoft.com/office/2015/10/relationships/revisionInfo" Target="revisionInfo.xml"/><Relationship Id="rId4" Type="http://schemas.openxmlformats.org/officeDocument/2006/relationships/slide" Target="slides/slide3.xml"/><Relationship Id="rId9"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大下　誠二" userId="e5774685-19fa-48b9-bec1-68eebf9ac578" providerId="ADAL" clId="{CDBA04F6-D5A6-4F8F-A920-1860374E7F12}"/>
    <pc:docChg chg="mod addSld delSld modSld sldOrd modMainMaster">
      <pc:chgData name="大下　誠二" userId="e5774685-19fa-48b9-bec1-68eebf9ac578" providerId="ADAL" clId="{CDBA04F6-D5A6-4F8F-A920-1860374E7F12}" dt="2026-10-23T02:06:48.795" v="7" actId="20577"/>
      <pc:docMkLst>
        <pc:docMk/>
      </pc:docMkLst>
      <pc:sldChg chg="ord">
        <pc:chgData name="大下　誠二" userId="e5774685-19fa-48b9-bec1-68eebf9ac578" providerId="ADAL" clId="{CDBA04F6-D5A6-4F8F-A920-1860374E7F12}" dt="2026-10-23T02:06:22.164" v="2"/>
        <pc:sldMkLst>
          <pc:docMk/>
          <pc:sldMk cId="0" sldId="256"/>
        </pc:sldMkLst>
      </pc:sldChg>
      <pc:sldChg chg="modSp add mod">
        <pc:chgData name="大下　誠二" userId="e5774685-19fa-48b9-bec1-68eebf9ac578" providerId="ADAL" clId="{CDBA04F6-D5A6-4F8F-A920-1860374E7F12}" dt="2026-10-23T02:06:48.795" v="7" actId="20577"/>
        <pc:sldMkLst>
          <pc:docMk/>
          <pc:sldMk cId="1006064969" sldId="258"/>
        </pc:sldMkLst>
        <pc:spChg chg="mod">
          <ac:chgData name="大下　誠二" userId="e5774685-19fa-48b9-bec1-68eebf9ac578" providerId="ADAL" clId="{CDBA04F6-D5A6-4F8F-A920-1860374E7F12}" dt="2026-10-23T02:06:48.795" v="7" actId="20577"/>
          <ac:spMkLst>
            <pc:docMk/>
            <pc:sldMk cId="1006064969" sldId="258"/>
            <ac:spMk id="3" creationId="{0EC5D841-2E60-B1EB-3102-76804FA3912E}"/>
          </ac:spMkLst>
        </pc:spChg>
      </pc:sldChg>
      <pc:sldChg chg="add del">
        <pc:chgData name="大下　誠二" userId="e5774685-19fa-48b9-bec1-68eebf9ac578" providerId="ADAL" clId="{CDBA04F6-D5A6-4F8F-A920-1860374E7F12}" dt="2026-10-23T02:06:43.250" v="5" actId="2696"/>
        <pc:sldMkLst>
          <pc:docMk/>
          <pc:sldMk cId="2683881835" sldId="259"/>
        </pc:sldMkLst>
      </pc:sldChg>
      <pc:sldMasterChg chg="addSp mod">
        <pc:chgData name="大下　誠二" userId="e5774685-19fa-48b9-bec1-68eebf9ac578" providerId="ADAL" clId="{CDBA04F6-D5A6-4F8F-A920-1860374E7F12}" dt="2026-10-23T02:06:30.937" v="3" actId="33475"/>
        <pc:sldMasterMkLst>
          <pc:docMk/>
          <pc:sldMasterMk cId="2209977519" sldId="2147483648"/>
        </pc:sldMasterMkLst>
        <pc:spChg chg="add">
          <ac:chgData name="大下　誠二" userId="e5774685-19fa-48b9-bec1-68eebf9ac578" providerId="ADAL" clId="{CDBA04F6-D5A6-4F8F-A920-1860374E7F12}" dt="2026-10-23T02:06:30.937" v="3" actId="33475"/>
          <ac:spMkLst>
            <pc:docMk/>
            <pc:sldMasterMk cId="2209977519" sldId="2147483648"/>
            <ac:spMk id="8" creationId="{0EDC23D1-CB9A-6F05-E1BA-05A7DA819749}"/>
          </ac:spMkLst>
        </pc:sp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
        <p:nvSpPr>
          <p:cNvPr id="8" name="テキスト ボックス 7">
            <a:extLst>
              <a:ext uri="{FF2B5EF4-FFF2-40B4-BE49-F238E27FC236}">
                <a16:creationId xmlns:a16="http://schemas.microsoft.com/office/drawing/2014/main" id="{0EDC23D1-CB9A-6F05-E1BA-05A7DA819749}"/>
              </a:ext>
            </a:extLst>
          </p:cNvPr>
          <p:cNvSpPr txBox="1"/>
          <p:nvPr userDrawn="1">
            <p:extLst>
              <p:ext uri="{1162E1C5-73C7-4A58-AE30-91384D911F3F}">
                <p184:classification xmlns:p184="http://schemas.microsoft.com/office/powerpoint/2018/4/main" val="hdr"/>
              </p:ext>
            </p:extLst>
          </p:nvPr>
        </p:nvSpPr>
        <p:spPr>
          <a:xfrm>
            <a:off x="63500" y="63500"/>
            <a:ext cx="982663" cy="152400"/>
          </a:xfrm>
          <a:prstGeom prst="rect">
            <a:avLst/>
          </a:prstGeom>
        </p:spPr>
        <p:txBody>
          <a:bodyPr horzOverflow="overflow" lIns="0" tIns="0" rIns="0" bIns="0">
            <a:spAutoFit/>
          </a:bodyPr>
          <a:lstStyle/>
          <a:p>
            <a:pPr algn="l"/>
            <a:r>
              <a:rPr lang="ja-JP" altLang="en-US" sz="1000">
                <a:solidFill>
                  <a:srgbClr val="000000">
                    <a:alpha val="50000"/>
                  </a:srgbClr>
                </a:solidFill>
                <a:latin typeface="Aptos" panose="020B0004020202020204" pitchFamily="34" charset="0"/>
              </a:rPr>
              <a:t>【機密性2情報】</a:t>
            </a: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764D44-28CF-2DE7-A261-FFD1DB5A5A0A}"/>
              </a:ext>
            </a:extLst>
          </p:cNvPr>
          <p:cNvSpPr>
            <a:spLocks noGrp="1"/>
          </p:cNvSpPr>
          <p:nvPr>
            <p:ph type="ctrTitle"/>
          </p:nvPr>
        </p:nvSpPr>
        <p:spPr>
          <a:xfrm>
            <a:off x="1524000" y="1145309"/>
            <a:ext cx="9144000" cy="2364654"/>
          </a:xfrm>
        </p:spPr>
        <p:txBody>
          <a:bodyPr>
            <a:normAutofit/>
          </a:bodyPr>
          <a:lstStyle/>
          <a:p>
            <a:r>
              <a:rPr kumimoji="1" lang="en-US" altLang="ja-JP" sz="3600" dirty="0">
                <a:latin typeface="BIZ UDゴシック" panose="020B0400000000000000" pitchFamily="49" charset="-128"/>
                <a:ea typeface="BIZ UDゴシック" panose="020B0400000000000000" pitchFamily="49" charset="-128"/>
              </a:rPr>
              <a:t>Applied Statistical Modelling for Ecologists</a:t>
            </a:r>
            <a:br>
              <a:rPr kumimoji="1" lang="en-US" altLang="ja-JP" sz="3600" dirty="0">
                <a:latin typeface="BIZ UDゴシック" panose="020B0400000000000000" pitchFamily="49" charset="-128"/>
                <a:ea typeface="BIZ UDゴシック" panose="020B0400000000000000" pitchFamily="49" charset="-128"/>
              </a:rPr>
            </a:br>
            <a:br>
              <a:rPr kumimoji="1" lang="en-US" altLang="ja-JP" sz="3600" dirty="0">
                <a:latin typeface="BIZ UDゴシック" panose="020B0400000000000000" pitchFamily="49" charset="-128"/>
                <a:ea typeface="BIZ UDゴシック" panose="020B0400000000000000" pitchFamily="49" charset="-128"/>
              </a:rPr>
            </a:br>
            <a:r>
              <a:rPr kumimoji="1" lang="en-US" altLang="ja-JP" sz="3600" dirty="0">
                <a:latin typeface="BIZ UDゴシック" panose="020B0400000000000000" pitchFamily="49" charset="-128"/>
                <a:ea typeface="BIZ UDゴシック" panose="020B0400000000000000" pitchFamily="49" charset="-128"/>
              </a:rPr>
              <a:t>ASME</a:t>
            </a:r>
            <a:endParaRPr kumimoji="1" lang="ja-JP" altLang="en-US" sz="3600" dirty="0">
              <a:latin typeface="BIZ UDゴシック" panose="020B0400000000000000" pitchFamily="49" charset="-128"/>
              <a:ea typeface="BIZ UDゴシック" panose="020B0400000000000000" pitchFamily="49" charset="-128"/>
            </a:endParaRPr>
          </a:p>
        </p:txBody>
      </p:sp>
      <p:sp>
        <p:nvSpPr>
          <p:cNvPr id="3" name="字幕 2">
            <a:extLst>
              <a:ext uri="{FF2B5EF4-FFF2-40B4-BE49-F238E27FC236}">
                <a16:creationId xmlns:a16="http://schemas.microsoft.com/office/drawing/2014/main" id="{0EC5D841-2E60-B1EB-3102-76804FA3912E}"/>
              </a:ext>
            </a:extLst>
          </p:cNvPr>
          <p:cNvSpPr>
            <a:spLocks noGrp="1"/>
          </p:cNvSpPr>
          <p:nvPr>
            <p:ph type="subTitle" idx="1"/>
          </p:nvPr>
        </p:nvSpPr>
        <p:spPr>
          <a:xfrm>
            <a:off x="1524000" y="4655272"/>
            <a:ext cx="9144000" cy="1655762"/>
          </a:xfrm>
        </p:spPr>
        <p:txBody>
          <a:bodyPr/>
          <a:lstStyle/>
          <a:p>
            <a:r>
              <a:rPr lang="en-US" altLang="ja-JP" dirty="0">
                <a:latin typeface="BIZ UDゴシック" panose="020B0400000000000000" pitchFamily="49" charset="-128"/>
                <a:ea typeface="BIZ UDゴシック" panose="020B0400000000000000" pitchFamily="49" charset="-128"/>
              </a:rPr>
              <a:t>Chapter 21</a:t>
            </a:r>
            <a:endParaRPr kumimoji="1" lang="ja-JP" altLang="en-US" dirty="0">
              <a:latin typeface="BIZ UDゴシック" panose="020B0400000000000000" pitchFamily="49" charset="-128"/>
              <a:ea typeface="BIZ UDゴシック" panose="020B0400000000000000" pitchFamily="49" charset="-128"/>
            </a:endParaRPr>
          </a:p>
        </p:txBody>
      </p:sp>
      <p:pic>
        <p:nvPicPr>
          <p:cNvPr id="5" name="図 4">
            <a:extLst>
              <a:ext uri="{FF2B5EF4-FFF2-40B4-BE49-F238E27FC236}">
                <a16:creationId xmlns:a16="http://schemas.microsoft.com/office/drawing/2014/main" id="{06258DCC-7C73-D7EC-17A6-3E90AB75A127}"/>
              </a:ext>
            </a:extLst>
          </p:cNvPr>
          <p:cNvPicPr>
            <a:picLocks noChangeAspect="1"/>
          </p:cNvPicPr>
          <p:nvPr/>
        </p:nvPicPr>
        <p:blipFill>
          <a:blip r:embed="rId2"/>
          <a:stretch>
            <a:fillRect/>
          </a:stretch>
        </p:blipFill>
        <p:spPr>
          <a:xfrm>
            <a:off x="0" y="0"/>
            <a:ext cx="2309523" cy="2833771"/>
          </a:xfrm>
          <a:prstGeom prst="rect">
            <a:avLst/>
          </a:prstGeom>
        </p:spPr>
      </p:pic>
    </p:spTree>
    <p:extLst>
      <p:ext uri="{BB962C8B-B14F-4D97-AF65-F5344CB8AC3E}">
        <p14:creationId xmlns:p14="http://schemas.microsoft.com/office/powerpoint/2010/main" val="10060649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74320"/>
            <a:ext cx="11018520" cy="411480"/>
          </a:xfrm>
          <a:prstGeom prst="rect">
            <a:avLst/>
          </a:prstGeom>
          <a:noFill/>
        </p:spPr>
        <p:txBody>
          <a:bodyPr wrap="square">
            <a:spAutoFit/>
          </a:bodyPr>
          <a:lstStyle/>
          <a:p>
            <a:pPr>
              <a:defRPr sz="2200" b="1">
                <a:solidFill>
                  <a:srgbClr val="1C2B3E"/>
                </a:solidFill>
                <a:latin typeface="Yu Gothic"/>
              </a:defRPr>
            </a:pPr>
            <a:r>
              <a:t>21.1  Looking back｜これまでの振り返り</a:t>
            </a:r>
          </a:p>
        </p:txBody>
      </p:sp>
      <p:sp>
        <p:nvSpPr>
          <p:cNvPr id="3" name="Rectangle 2"/>
          <p:cNvSpPr/>
          <p:nvPr/>
        </p:nvSpPr>
        <p:spPr>
          <a:xfrm>
            <a:off x="566928" y="822960"/>
            <a:ext cx="10972800" cy="16459"/>
          </a:xfrm>
          <a:prstGeom prst="rect">
            <a:avLst/>
          </a:prstGeom>
          <a:solidFill>
            <a:srgbClr val="3859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14984"/>
            <a:ext cx="10927080" cy="5468112"/>
          </a:xfrm>
          <a:prstGeom prst="rect">
            <a:avLst/>
          </a:prstGeom>
          <a:noFill/>
        </p:spPr>
        <p:txBody>
          <a:bodyPr wrap="square" lIns="76200" tIns="50800" rIns="38100" bIns="12700" anchor="t">
            <a:spAutoFit/>
          </a:bodyPr>
          <a:lstStyle/>
          <a:p>
            <a:pPr>
              <a:lnSpc>
                <a:spcPct val="117000"/>
              </a:lnSpc>
              <a:spcAft>
                <a:spcPts val="1300"/>
              </a:spcAft>
              <a:defRPr sz="1500">
                <a:solidFill>
                  <a:srgbClr val="252E38"/>
                </a:solidFill>
                <a:latin typeface="Yu Gothic"/>
              </a:defRPr>
            </a:pPr>
            <a:r>
              <a:t>• 本書の基礎は、確率変数と確率密度によってデータ生成過程を記述することである。最尤推定は尤度を最大化し、ベイズ推論は尤度と事前分布を組み合わせて事後分布を導く。両方の推定法を理解することが重要である。</a:t>
            </a:r>
          </a:p>
          <a:p>
            <a:pPr>
              <a:lnSpc>
                <a:spcPct val="117000"/>
              </a:lnSpc>
              <a:spcAft>
                <a:spcPts val="1300"/>
              </a:spcAft>
              <a:defRPr sz="1500">
                <a:solidFill>
                  <a:srgbClr val="252E38"/>
                </a:solidFill>
                <a:latin typeface="Yu Gothic"/>
              </a:defRPr>
            </a:pPr>
            <a:r>
              <a:t>• 線形モデル、GLM、ランダム効果という基本要素を組み合わせて、混合モデル、階層モデル、統合モデルまで構築してきた。R、JAGS、NIMBLE、Stan、TMBなどで同じモデルを推定し比較することが、本書のロゼッタストーン式の学習法である。</a:t>
            </a:r>
          </a:p>
          <a:p>
            <a:pPr>
              <a:lnSpc>
                <a:spcPct val="117000"/>
              </a:lnSpc>
              <a:spcAft>
                <a:spcPts val="1300"/>
              </a:spcAft>
              <a:defRPr sz="1500">
                <a:solidFill>
                  <a:srgbClr val="252E38"/>
                </a:solidFill>
                <a:latin typeface="Yu Gothic"/>
              </a:defRPr>
            </a:pPr>
            <a:r>
              <a:t>• シミュレーションによってモデルを「生成的」に理解することを、原著はexperimental statisticsと呼ぶ。第18章で扱ったモデルの目的、適合度診断、モデル選択も、単に係数を推定する以上に重要な学習内容である。</a:t>
            </a:r>
          </a:p>
          <a:p>
            <a:pPr>
              <a:lnSpc>
                <a:spcPct val="117000"/>
              </a:lnSpc>
              <a:spcAft>
                <a:spcPts val="1300"/>
              </a:spcAft>
              <a:defRPr sz="1500">
                <a:solidFill>
                  <a:srgbClr val="252E38"/>
                </a:solidFill>
                <a:latin typeface="Yu Gothic"/>
              </a:defRPr>
            </a:pPr>
            <a:r>
              <a:t>• 21.1は確率変数、密度関数、尤度、事前分布・事後分布という基礎から、線形モデル・GLM・ランダム効果を通じて多様なモデルを組み立てるという本書の到達点をまとめる。</a:t>
            </a:r>
          </a:p>
          <a:p>
            <a:pPr>
              <a:lnSpc>
                <a:spcPct val="117000"/>
              </a:lnSpc>
              <a:spcAft>
                <a:spcPts val="1300"/>
              </a:spcAft>
              <a:defRPr sz="1500">
                <a:solidFill>
                  <a:srgbClr val="252E38"/>
                </a:solidFill>
                <a:latin typeface="Yu Gothic"/>
              </a:defRPr>
            </a:pPr>
            <a:r>
              <a:t>• 原著は同一モデルを複数の推定エンジンで解く「ロゼッタストーン」式学習を重視する。数値結果を比較することで、個々のソフトウェア固有の文法と、共通の確率モデルの構造を切り分けて理解できる。</a:t>
            </a:r>
          </a:p>
          <a:p>
            <a:pPr>
              <a:lnSpc>
                <a:spcPct val="117000"/>
              </a:lnSpc>
              <a:spcAft>
                <a:spcPts val="1300"/>
              </a:spcAft>
              <a:defRPr sz="1500">
                <a:solidFill>
                  <a:srgbClr val="252E38"/>
                </a:solidFill>
                <a:latin typeface="Yu Gothic"/>
              </a:defRPr>
            </a:pPr>
            <a:r>
              <a:t>• モデルから人工データを生成し、既知の真値を推定で再現する「experimental statistics」は、本書が推奨する理解方法である。モデルを組む際には目的を明確にし、適合度・予測性能・因果解釈を区別する。</a:t>
            </a:r>
          </a:p>
        </p:txBody>
      </p:sp>
      <p:sp>
        <p:nvSpPr>
          <p:cNvPr id="5" name="TextBox 4"/>
          <p:cNvSpPr txBox="1"/>
          <p:nvPr/>
        </p:nvSpPr>
        <p:spPr>
          <a:xfrm>
            <a:off x="621792" y="6547104"/>
            <a:ext cx="10881360" cy="182880"/>
          </a:xfrm>
          <a:prstGeom prst="rect">
            <a:avLst/>
          </a:prstGeom>
          <a:noFill/>
        </p:spPr>
        <p:txBody>
          <a:bodyPr wrap="none">
            <a:spAutoFit/>
          </a:bodyPr>
          <a:lstStyle/>
          <a:p>
            <a:pPr>
              <a:defRPr sz="900">
                <a:solidFill>
                  <a:srgbClr val="828B93"/>
                </a:solidFill>
                <a:latin typeface="Arial"/>
              </a:defRPr>
            </a:pPr>
            <a:r>
              <a:t>Applied Statistical Modelling for Ecologists  |  Chapter 21  |  01 / 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74320"/>
            <a:ext cx="11018520" cy="411480"/>
          </a:xfrm>
          <a:prstGeom prst="rect">
            <a:avLst/>
          </a:prstGeom>
          <a:noFill/>
        </p:spPr>
        <p:txBody>
          <a:bodyPr wrap="square">
            <a:spAutoFit/>
          </a:bodyPr>
          <a:lstStyle/>
          <a:p>
            <a:pPr>
              <a:defRPr sz="2200" b="1">
                <a:solidFill>
                  <a:srgbClr val="1C2B3E"/>
                </a:solidFill>
                <a:latin typeface="Yu Gothic"/>
              </a:defRPr>
            </a:pPr>
            <a:r>
              <a:t>21.2  Looking ahead｜これからの展望</a:t>
            </a:r>
          </a:p>
        </p:txBody>
      </p:sp>
      <p:sp>
        <p:nvSpPr>
          <p:cNvPr id="3" name="Rectangle 2"/>
          <p:cNvSpPr/>
          <p:nvPr/>
        </p:nvSpPr>
        <p:spPr>
          <a:xfrm>
            <a:off x="566928" y="822960"/>
            <a:ext cx="10972800" cy="16459"/>
          </a:xfrm>
          <a:prstGeom prst="rect">
            <a:avLst/>
          </a:prstGeom>
          <a:solidFill>
            <a:srgbClr val="3859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14984"/>
            <a:ext cx="10927080" cy="5468112"/>
          </a:xfrm>
          <a:prstGeom prst="rect">
            <a:avLst/>
          </a:prstGeom>
          <a:noFill/>
        </p:spPr>
        <p:txBody>
          <a:bodyPr wrap="square" lIns="76200" tIns="50800" rIns="38100" bIns="12700" anchor="t">
            <a:spAutoFit/>
          </a:bodyPr>
          <a:lstStyle/>
          <a:p>
            <a:pPr>
              <a:lnSpc>
                <a:spcPct val="117000"/>
              </a:lnSpc>
              <a:spcAft>
                <a:spcPts val="1300"/>
              </a:spcAft>
              <a:defRPr sz="1500">
                <a:solidFill>
                  <a:srgbClr val="252E38"/>
                </a:solidFill>
                <a:latin typeface="Yu Gothic"/>
              </a:defRPr>
            </a:pPr>
            <a:r>
              <a:t>• 21.2.1 研究計画：対照、ブロック化、無作為化などの研究デザインは推定の精度と因果解釈に直結する。既存データでも非独立性や検出力を理解するうえで、調査設計の知識が必要である。</a:t>
            </a:r>
          </a:p>
          <a:p>
            <a:pPr>
              <a:lnSpc>
                <a:spcPct val="117000"/>
              </a:lnSpc>
              <a:spcAft>
                <a:spcPts val="1300"/>
              </a:spcAft>
              <a:defRPr sz="1500">
                <a:solidFill>
                  <a:srgbClr val="252E38"/>
                </a:solidFill>
                <a:latin typeface="Yu Gothic"/>
              </a:defRPr>
            </a:pPr>
            <a:r>
              <a:t>• 21.2.2 自作MCMC：本書は自作最尤推定を繰り返し説明したが、自作MCMCの開発にはさらに学習余地がある。21.2.3 機械学習：予測性能に優れる一方、パラメータの科学的解釈性は必ずしも高くない。パラメトリックモデルと相補的に考える。</a:t>
            </a:r>
          </a:p>
          <a:p>
            <a:pPr>
              <a:lnSpc>
                <a:spcPct val="117000"/>
              </a:lnSpc>
              <a:spcAft>
                <a:spcPts val="1300"/>
              </a:spcAft>
              <a:defRPr sz="1500">
                <a:solidFill>
                  <a:srgbClr val="252E38"/>
                </a:solidFill>
                <a:latin typeface="Yu Gothic"/>
              </a:defRPr>
            </a:pPr>
            <a:r>
              <a:t>• 21.2.4 階層モデル：複数の確率過程を連結することで、潜在状態、不完全検出、時間・空間依存、人口学的過程などを明示できる。科学的機構を組み込んだモデルを自ら構築する自由が、本書の到達点である。</a:t>
            </a:r>
          </a:p>
          <a:p>
            <a:pPr>
              <a:lnSpc>
                <a:spcPct val="117000"/>
              </a:lnSpc>
              <a:spcAft>
                <a:spcPts val="1300"/>
              </a:spcAft>
              <a:defRPr sz="1500">
                <a:solidFill>
                  <a:srgbClr val="252E38"/>
                </a:solidFill>
                <a:latin typeface="Yu Gothic"/>
              </a:defRPr>
            </a:pPr>
            <a:r>
              <a:t>• 21.2.1では、対照、無作為化、ブロック化、標本数や検出力を研究設計の要点とする。統計モデルの柔軟性が高まっても、調査計画を軽視すべきではない。</a:t>
            </a:r>
          </a:p>
          <a:p>
            <a:pPr>
              <a:lnSpc>
                <a:spcPct val="117000"/>
              </a:lnSpc>
              <a:spcAft>
                <a:spcPts val="1300"/>
              </a:spcAft>
              <a:defRPr sz="1500">
                <a:solidFill>
                  <a:srgbClr val="252E38"/>
                </a:solidFill>
                <a:latin typeface="Yu Gothic"/>
              </a:defRPr>
            </a:pPr>
            <a:r>
              <a:t>• 21.2.2では、本書で主に紹介したDIYの最尤推定に加えて、独自のMCMCアルゴリズムを学ぶことを今後の課題とする。21.2.3では、機械学習の高い予測性能と、科学的な機構を表すパラメトリックモデルの解釈性を対比する。</a:t>
            </a:r>
          </a:p>
          <a:p>
            <a:pPr>
              <a:lnSpc>
                <a:spcPct val="117000"/>
              </a:lnSpc>
              <a:spcAft>
                <a:spcPts val="1300"/>
              </a:spcAft>
              <a:defRPr sz="1500">
                <a:solidFill>
                  <a:srgbClr val="252E38"/>
                </a:solidFill>
                <a:latin typeface="Yu Gothic"/>
              </a:defRPr>
            </a:pPr>
            <a:r>
              <a:t>• 21.2.4では階層モデルを、観測過程や潜在状態など複数の確率モデルをつなぐ一般的枠組みとして再評価する。科学的機構に対応した階層構造を自分で書けるようになることが、本書が目指す「モデル構築の自由」である。</a:t>
            </a:r>
          </a:p>
        </p:txBody>
      </p:sp>
      <p:sp>
        <p:nvSpPr>
          <p:cNvPr id="5" name="TextBox 4"/>
          <p:cNvSpPr txBox="1"/>
          <p:nvPr/>
        </p:nvSpPr>
        <p:spPr>
          <a:xfrm>
            <a:off x="621792" y="6547104"/>
            <a:ext cx="10881360" cy="182880"/>
          </a:xfrm>
          <a:prstGeom prst="rect">
            <a:avLst/>
          </a:prstGeom>
          <a:noFill/>
        </p:spPr>
        <p:txBody>
          <a:bodyPr wrap="none">
            <a:spAutoFit/>
          </a:bodyPr>
          <a:lstStyle/>
          <a:p>
            <a:pPr>
              <a:defRPr sz="900">
                <a:solidFill>
                  <a:srgbClr val="828B93"/>
                </a:solidFill>
                <a:latin typeface="Arial"/>
              </a:defRPr>
            </a:pPr>
            <a:r>
              <a:t>Applied Statistical Modelling for Ecologists  |  Chapter 21  |  02 / 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TotalTime>
  <Words>257</Words>
  <Application>Microsoft Office PowerPoint</Application>
  <PresentationFormat>ワイド画面</PresentationFormat>
  <Paragraphs>18</Paragraphs>
  <Slides>3</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3</vt:i4>
      </vt:variant>
    </vt:vector>
  </HeadingPairs>
  <TitlesOfParts>
    <vt:vector size="8" baseType="lpstr">
      <vt:lpstr>BIZ UDゴシック</vt:lpstr>
      <vt:lpstr>Aptos</vt:lpstr>
      <vt:lpstr>Arial</vt:lpstr>
      <vt:lpstr>Calibri</vt:lpstr>
      <vt:lpstr>Office Theme</vt:lpstr>
      <vt:lpstr>Applied Statistical Modelling for Ecologists  ASME</vt:lpstr>
      <vt:lpstr>PowerPoint プレゼンテーション</vt:lpstr>
      <vt:lpstr>PowerPoint プレゼンテーション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大下　誠二</dc:creator>
  <cp:keywords/>
  <dc:description>generated using python-pptx</dc:description>
  <cp:lastModifiedBy>大下　誠二</cp:lastModifiedBy>
  <cp:revision>1</cp:revision>
  <dcterms:created xsi:type="dcterms:W3CDTF">2013-01-27T09:14:16Z</dcterms:created>
  <dcterms:modified xsi:type="dcterms:W3CDTF">2026-10-23T02:07:34Z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a7f20da-a1a1-4a35-a6a7-15fbbc2fd93a_Enabled">
    <vt:lpwstr>true</vt:lpwstr>
  </property>
  <property fmtid="{D5CDD505-2E9C-101B-9397-08002B2CF9AE}" pid="3" name="MSIP_Label_2a7f20da-a1a1-4a35-a6a7-15fbbc2fd93a_SetDate">
    <vt:lpwstr>2026-10-23T02:06:30Z</vt:lpwstr>
  </property>
  <property fmtid="{D5CDD505-2E9C-101B-9397-08002B2CF9AE}" pid="4" name="MSIP_Label_2a7f20da-a1a1-4a35-a6a7-15fbbc2fd93a_Method">
    <vt:lpwstr>Standard</vt:lpwstr>
  </property>
  <property fmtid="{D5CDD505-2E9C-101B-9397-08002B2CF9AE}" pid="5" name="MSIP_Label_2a7f20da-a1a1-4a35-a6a7-15fbbc2fd93a_Name">
    <vt:lpwstr>機密性２情報</vt:lpwstr>
  </property>
  <property fmtid="{D5CDD505-2E9C-101B-9397-08002B2CF9AE}" pid="6" name="MSIP_Label_2a7f20da-a1a1-4a35-a6a7-15fbbc2fd93a_SiteId">
    <vt:lpwstr>b4a530b7-04dc-4923-a02e-b4eaa332ba4a</vt:lpwstr>
  </property>
  <property fmtid="{D5CDD505-2E9C-101B-9397-08002B2CF9AE}" pid="7" name="MSIP_Label_2a7f20da-a1a1-4a35-a6a7-15fbbc2fd93a_ActionId">
    <vt:lpwstr>ce8236a6-da5f-4cd0-af18-8455ea3f93e6</vt:lpwstr>
  </property>
  <property fmtid="{D5CDD505-2E9C-101B-9397-08002B2CF9AE}" pid="8" name="MSIP_Label_2a7f20da-a1a1-4a35-a6a7-15fbbc2fd93a_ContentBits">
    <vt:lpwstr>1</vt:lpwstr>
  </property>
  <property fmtid="{D5CDD505-2E9C-101B-9397-08002B2CF9AE}" pid="9" name="MSIP_Label_2a7f20da-a1a1-4a35-a6a7-15fbbc2fd93a_Tag">
    <vt:lpwstr>10, 3, 0, 1</vt:lpwstr>
  </property>
  <property fmtid="{D5CDD505-2E9C-101B-9397-08002B2CF9AE}" pid="10" name="ClassificationContentMarkingHeaderLocations">
    <vt:lpwstr>Office Theme:8</vt:lpwstr>
  </property>
  <property fmtid="{D5CDD505-2E9C-101B-9397-08002B2CF9AE}" pid="11" name="ClassificationContentMarkingHeaderText">
    <vt:lpwstr>【機密性2情報】</vt:lpwstr>
  </property>
</Properties>
</file>