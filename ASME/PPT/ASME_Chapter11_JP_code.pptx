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69" r:id="rId3"/>
    <p:sldId id="256" r:id="rId4"/>
    <p:sldId id="257" r:id="rId5"/>
    <p:sldId id="258" r:id="rId6"/>
    <p:sldId id="259" r:id="rId7"/>
    <p:sldId id="260" r:id="rId8"/>
    <p:sldId id="261" r:id="rId9"/>
    <p:sldId id="262" r:id="rId10"/>
    <p:sldId id="263" r:id="rId11"/>
    <p:sldId id="264" r:id="rId12"/>
    <p:sldId id="265" r:id="rId13"/>
    <p:sldId id="266" r:id="rId14"/>
    <p:sldId id="267"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76FFC-D316-48F4-83DE-612C92469B81}" v="2" dt="2026-10-22T05:40:44.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2T05:40:44.443" v="6"/>
      <pc:docMkLst>
        <pc:docMk/>
      </pc:docMkLst>
      <pc:sldChg chg="ord">
        <pc:chgData name="大下　誠二" userId="e5774685-19fa-48b9-bec1-68eebf9ac578" providerId="ADAL" clId="{CDBA04F6-D5A6-4F8F-A920-1860374E7F12}" dt="2026-10-22T05:39:15.602" v="2"/>
        <pc:sldMkLst>
          <pc:docMk/>
          <pc:sldMk cId="0" sldId="256"/>
        </pc:sldMkLst>
      </pc:sldChg>
      <pc:sldChg chg="add">
        <pc:chgData name="大下　誠二" userId="e5774685-19fa-48b9-bec1-68eebf9ac578" providerId="ADAL" clId="{CDBA04F6-D5A6-4F8F-A920-1860374E7F12}" dt="2026-10-22T05:39:14.219" v="0"/>
        <pc:sldMkLst>
          <pc:docMk/>
          <pc:sldMk cId="1006064969" sldId="268"/>
        </pc:sldMkLst>
      </pc:sldChg>
      <pc:sldChg chg="addSp add mod">
        <pc:chgData name="大下　誠二" userId="e5774685-19fa-48b9-bec1-68eebf9ac578" providerId="ADAL" clId="{CDBA04F6-D5A6-4F8F-A920-1860374E7F12}" dt="2026-10-22T05:39:47.278" v="5" actId="22"/>
        <pc:sldMkLst>
          <pc:docMk/>
          <pc:sldMk cId="2683881835" sldId="269"/>
        </pc:sldMkLst>
        <pc:picChg chg="add">
          <ac:chgData name="大下　誠二" userId="e5774685-19fa-48b9-bec1-68eebf9ac578" providerId="ADAL" clId="{CDBA04F6-D5A6-4F8F-A920-1860374E7F12}" dt="2026-10-22T05:39:47.278" v="5" actId="22"/>
          <ac:picMkLst>
            <pc:docMk/>
            <pc:sldMk cId="2683881835" sldId="269"/>
            <ac:picMk id="5" creationId="{D8593284-FA8B-FC25-96FD-9A4363A619E6}"/>
          </ac:picMkLst>
        </pc:picChg>
      </pc:sldChg>
      <pc:sldChg chg="add">
        <pc:chgData name="大下　誠二" userId="e5774685-19fa-48b9-bec1-68eebf9ac578" providerId="ADAL" clId="{CDBA04F6-D5A6-4F8F-A920-1860374E7F12}" dt="2026-10-22T05:40:44.443" v="6"/>
        <pc:sldMkLst>
          <pc:docMk/>
          <pc:sldMk cId="0" sldId="270"/>
        </pc:sldMkLst>
      </pc:sldChg>
      <pc:sldChg chg="add">
        <pc:chgData name="大下　誠二" userId="e5774685-19fa-48b9-bec1-68eebf9ac578" providerId="ADAL" clId="{CDBA04F6-D5A6-4F8F-A920-1860374E7F12}" dt="2026-10-22T05:40:44.443" v="6"/>
        <pc:sldMkLst>
          <pc:docMk/>
          <pc:sldMk cId="0" sldId="271"/>
        </pc:sldMkLst>
      </pc:sldChg>
      <pc:sldChg chg="add">
        <pc:chgData name="大下　誠二" userId="e5774685-19fa-48b9-bec1-68eebf9ac578" providerId="ADAL" clId="{CDBA04F6-D5A6-4F8F-A920-1860374E7F12}" dt="2026-10-22T05:40:44.443" v="6"/>
        <pc:sldMkLst>
          <pc:docMk/>
          <pc:sldMk cId="0" sldId="272"/>
        </pc:sldMkLst>
      </pc:sldChg>
      <pc:sldChg chg="add">
        <pc:chgData name="大下　誠二" userId="e5774685-19fa-48b9-bec1-68eebf9ac578" providerId="ADAL" clId="{CDBA04F6-D5A6-4F8F-A920-1860374E7F12}" dt="2026-10-22T05:40:44.443" v="6"/>
        <pc:sldMkLst>
          <pc:docMk/>
          <pc:sldMk cId="0" sldId="273"/>
        </pc:sldMkLst>
      </pc:sldChg>
      <pc:sldChg chg="add">
        <pc:chgData name="大下　誠二" userId="e5774685-19fa-48b9-bec1-68eebf9ac578" providerId="ADAL" clId="{CDBA04F6-D5A6-4F8F-A920-1860374E7F12}" dt="2026-10-22T05:40:44.443" v="6"/>
        <pc:sldMkLst>
          <pc:docMk/>
          <pc:sldMk cId="0" sldId="274"/>
        </pc:sldMkLst>
      </pc:sldChg>
      <pc:sldChg chg="add">
        <pc:chgData name="大下　誠二" userId="e5774685-19fa-48b9-bec1-68eebf9ac578" providerId="ADAL" clId="{CDBA04F6-D5A6-4F8F-A920-1860374E7F12}" dt="2026-10-22T05:40:44.443" v="6"/>
        <pc:sldMkLst>
          <pc:docMk/>
          <pc:sldMk cId="0" sldId="275"/>
        </pc:sldMkLst>
      </pc:sldChg>
      <pc:sldChg chg="add">
        <pc:chgData name="大下　誠二" userId="e5774685-19fa-48b9-bec1-68eebf9ac578" providerId="ADAL" clId="{CDBA04F6-D5A6-4F8F-A920-1860374E7F12}" dt="2026-10-22T05:40:44.443" v="6"/>
        <pc:sldMkLst>
          <pc:docMk/>
          <pc:sldMk cId="0" sldId="276"/>
        </pc:sldMkLst>
      </pc:sldChg>
      <pc:sldChg chg="add">
        <pc:chgData name="大下　誠二" userId="e5774685-19fa-48b9-bec1-68eebf9ac578" providerId="ADAL" clId="{CDBA04F6-D5A6-4F8F-A920-1860374E7F12}" dt="2026-10-22T05:40:44.443" v="6"/>
        <pc:sldMkLst>
          <pc:docMk/>
          <pc:sldMk cId="0" sldId="277"/>
        </pc:sldMkLst>
      </pc:sldChg>
      <pc:sldChg chg="add">
        <pc:chgData name="大下　誠二" userId="e5774685-19fa-48b9-bec1-68eebf9ac578" providerId="ADAL" clId="{CDBA04F6-D5A6-4F8F-A920-1860374E7F12}" dt="2026-10-22T05:40:44.443" v="6"/>
        <pc:sldMkLst>
          <pc:docMk/>
          <pc:sldMk cId="0" sldId="278"/>
        </pc:sldMkLst>
      </pc:sldChg>
      <pc:sldChg chg="add">
        <pc:chgData name="大下　誠二" userId="e5774685-19fa-48b9-bec1-68eebf9ac578" providerId="ADAL" clId="{CDBA04F6-D5A6-4F8F-A920-1860374E7F12}" dt="2026-10-22T05:40:44.443" v="6"/>
        <pc:sldMkLst>
          <pc:docMk/>
          <pc:sldMk cId="0" sldId="279"/>
        </pc:sldMkLst>
      </pc:sldChg>
      <pc:sldChg chg="add">
        <pc:chgData name="大下　誠二" userId="e5774685-19fa-48b9-bec1-68eebf9ac578" providerId="ADAL" clId="{CDBA04F6-D5A6-4F8F-A920-1860374E7F12}" dt="2026-10-22T05:40:44.443" v="6"/>
        <pc:sldMkLst>
          <pc:docMk/>
          <pc:sldMk cId="0" sldId="280"/>
        </pc:sldMkLst>
      </pc:sldChg>
      <pc:sldMasterChg chg="addSp mod">
        <pc:chgData name="大下　誠二" userId="e5774685-19fa-48b9-bec1-68eebf9ac578" providerId="ADAL" clId="{CDBA04F6-D5A6-4F8F-A920-1860374E7F12}" dt="2026-10-22T05:39:23.002" v="3" actId="33475"/>
        <pc:sldMasterMkLst>
          <pc:docMk/>
          <pc:sldMasterMk cId="2209977519" sldId="2147483648"/>
        </pc:sldMasterMkLst>
        <pc:spChg chg="add">
          <ac:chgData name="大下　誠二" userId="e5774685-19fa-48b9-bec1-68eebf9ac578" providerId="ADAL" clId="{CDBA04F6-D5A6-4F8F-A920-1860374E7F12}" dt="2026-10-22T05:39:23.002" v="3" actId="33475"/>
          <ac:spMkLst>
            <pc:docMk/>
            <pc:sldMasterMk cId="2209977519" sldId="2147483648"/>
            <ac:spMk id="8" creationId="{FF0AB32E-84E3-2204-B177-DCA2D80DBD2F}"/>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FF0AB32E-84E3-2204-B177-DCA2D80DBD2F}"/>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11</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D8593284-FA8B-FC25-96FD-9A4363A619E6}"/>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GLMは応答変数の分布、リンク関数、線形予測子という3つの要素で構成される。正規線形モデルと同じように説明変数の影響を組み立てつつ、応答が非正規分布であっても扱える。</a:t>
            </a:r>
          </a:p>
          <a:p>
            <a:pPr>
              <a:lnSpc>
                <a:spcPct val="118000"/>
              </a:lnSpc>
              <a:spcAft>
                <a:spcPts val="1200"/>
              </a:spcAft>
            </a:pPr>
            <a:r>
              <a:rPr sz="1680">
                <a:solidFill>
                  <a:srgbClr val="222A35"/>
                </a:solidFill>
                <a:latin typeface="Yu Gothic"/>
              </a:rPr>
              <a:t>• 本章はウサギの個体数を草地と耕地の2群間で比較し、計数データをPoisson(λᵢ)、log(λᵢ)=α+βxᵢとする。ポアソン分布では平均と分散がともにλであり、対数リンクにより期待個体数が正になる。</a:t>
            </a:r>
          </a:p>
          <a:p>
            <a:pPr>
              <a:lnSpc>
                <a:spcPct val="118000"/>
              </a:lnSpc>
              <a:spcAft>
                <a:spcPts val="1200"/>
              </a:spcAft>
            </a:pPr>
            <a:r>
              <a:rPr sz="1680">
                <a:solidFill>
                  <a:srgbClr val="222A35"/>
                </a:solidFill>
                <a:latin typeface="Yu Gothic"/>
              </a:rPr>
              <a:t>• 第11章では、正規分布でない応答にも線形予測子の考え方が使えることを、二群のポアソン回帰で示す。GLMの3要素は、①確率分布、②平均をつなぐリンク関数、③切片と説明変数からなる線形予測子である。</a:t>
            </a:r>
          </a:p>
          <a:p>
            <a:pPr>
              <a:lnSpc>
                <a:spcPct val="118000"/>
              </a:lnSpc>
              <a:spcAft>
                <a:spcPts val="1200"/>
              </a:spcAft>
            </a:pPr>
            <a:r>
              <a:rPr sz="1680">
                <a:solidFill>
                  <a:srgbClr val="222A35"/>
                </a:solidFill>
                <a:latin typeface="Yu Gothic"/>
              </a:rPr>
              <a:t>• 指数変換によって、αは基準群の対数期待計数、βは群間の対数期待計数比となる。つまりexp(β)は、草地を基準とした耕地の期待計数の倍率である。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01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11.2  An important but often forgotten issue with count data｜計数データの注意点</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観測数がそのまま真の個体数とは限らない。調査で見落とされた個体や重複計数があり、調査面積や観察時間が異なれば同じ密度でも期待計数は変わる。</a:t>
            </a:r>
          </a:p>
          <a:p>
            <a:pPr>
              <a:lnSpc>
                <a:spcPct val="118000"/>
              </a:lnSpc>
              <a:spcAft>
                <a:spcPts val="1200"/>
              </a:spcAft>
            </a:pPr>
            <a:r>
              <a:rPr sz="1680">
                <a:solidFill>
                  <a:srgbClr val="222A35"/>
                </a:solidFill>
                <a:latin typeface="Yu Gothic"/>
              </a:rPr>
              <a:t>• この章では検出が完全であり、草地・耕地で調査面積が同じという単純化を置く。計数を密度として解釈する際には、この仮定を確認すべきことを原著は強調する。</a:t>
            </a:r>
          </a:p>
          <a:p>
            <a:pPr>
              <a:lnSpc>
                <a:spcPct val="118000"/>
              </a:lnSpc>
              <a:spcAft>
                <a:spcPts val="1200"/>
              </a:spcAft>
            </a:pPr>
            <a:r>
              <a:rPr sz="1680">
                <a:solidFill>
                  <a:srgbClr val="222A35"/>
                </a:solidFill>
                <a:latin typeface="Yu Gothic"/>
              </a:rPr>
              <a:t>• 原著は、各地点の個体が互いに独立に計数されること、個体を重複して数えないこと、面積や検出の違いを無視できることを仮定している。現場調査でこれらが満たされなければ、単純なポアソン回帰が推定する対象も変わる。</a:t>
            </a:r>
          </a:p>
          <a:p>
            <a:pPr>
              <a:lnSpc>
                <a:spcPct val="118000"/>
              </a:lnSpc>
              <a:spcAft>
                <a:spcPts val="1200"/>
              </a:spcAft>
            </a:pPr>
            <a:r>
              <a:rPr sz="1680">
                <a:solidFill>
                  <a:srgbClr val="222A35"/>
                </a:solidFill>
                <a:latin typeface="Yu Gothic"/>
              </a:rPr>
              <a:t>• 後の章では調査面積をオフセットで補正し、不完全検出は占有モデルなど別の観測過程として扱う。本節は、そのような発展モデルが必要となる理由を計数の例から示している。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02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11.3  How to deal with missing values in our data｜欠測値の扱い</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欠測は説明変数に発生したか応答変数に発生したかで扱いが異なる。説明変数の欠測を単純に削除することは可能でも、より一般的には欠測の発生過程を考慮した補完が必要になる。</a:t>
            </a:r>
          </a:p>
          <a:p>
            <a:pPr>
              <a:lnSpc>
                <a:spcPct val="118000"/>
              </a:lnSpc>
              <a:spcAft>
                <a:spcPts val="1200"/>
              </a:spcAft>
            </a:pPr>
            <a:r>
              <a:rPr sz="1680">
                <a:solidFill>
                  <a:srgbClr val="222A35"/>
                </a:solidFill>
                <a:latin typeface="Yu Gothic"/>
              </a:rPr>
              <a:t>• 応答にNAがある場合、lm()などの関数は通常その観測を除く。JAGSとNIMBLEでは応答の欠測値を未知の確率変数としてモデル内で推定できるが、StanやTMB等では別の処理を要する。</a:t>
            </a:r>
          </a:p>
          <a:p>
            <a:pPr>
              <a:lnSpc>
                <a:spcPct val="118000"/>
              </a:lnSpc>
              <a:spcAft>
                <a:spcPts val="1200"/>
              </a:spcAft>
            </a:pPr>
            <a:r>
              <a:rPr sz="1680">
                <a:solidFill>
                  <a:srgbClr val="222A35"/>
                </a:solidFill>
                <a:latin typeface="Yu Gothic"/>
              </a:rPr>
              <a:t>• 11.3では説明変数の欠測と応答変数の欠測を区別する。とくに説明変数が欠ける場合、単純な完全ケース解析は失われる情報が大きくなり、欠測機構次第では偏りも生じ得る。</a:t>
            </a:r>
          </a:p>
          <a:p>
            <a:pPr>
              <a:lnSpc>
                <a:spcPct val="118000"/>
              </a:lnSpc>
              <a:spcAft>
                <a:spcPts val="1200"/>
              </a:spcAft>
            </a:pPr>
            <a:r>
              <a:rPr sz="1680">
                <a:solidFill>
                  <a:srgbClr val="222A35"/>
                </a:solidFill>
                <a:latin typeface="Yu Gothic"/>
              </a:rPr>
              <a:t>• JAGS/NIMBLEが応答NAを内部で推定する場合でも、その値は観測された値ではなく、モデルの仮定に条件付けた予測である。欠測値の扱いが推定方法によって異なることを、本章の各エンジン比較で確認する。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03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11.4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草地と耕地各30地点の計60地点を設定し、平均密度をそれぞれ2と5にする。対数スケールの切片α=log(2)=0.69、耕地効果β=log(5)−log(2)=0.92である。</a:t>
            </a:r>
          </a:p>
          <a:p>
            <a:pPr>
              <a:lnSpc>
                <a:spcPct val="118000"/>
              </a:lnSpc>
              <a:spcAft>
                <a:spcPts val="1200"/>
              </a:spcAft>
            </a:pPr>
            <a:r>
              <a:rPr sz="1680">
                <a:solidFill>
                  <a:srgbClr val="222A35"/>
                </a:solidFill>
                <a:latin typeface="Yu Gothic"/>
              </a:rPr>
              <a:t>• 各地点の個体数をポアソン分布から生成し、応答値の一部（原著では3地点）をNAとして解析する。図11.2は2群で計数の分布が異なることを示す。</a:t>
            </a:r>
          </a:p>
          <a:p>
            <a:pPr>
              <a:lnSpc>
                <a:spcPct val="118000"/>
              </a:lnSpc>
              <a:spcAft>
                <a:spcPts val="1200"/>
              </a:spcAft>
            </a:pPr>
            <a:r>
              <a:rPr sz="1680">
                <a:solidFill>
                  <a:srgbClr val="222A35"/>
                </a:solidFill>
                <a:latin typeface="Yu Gothic"/>
              </a:rPr>
              <a:t>• 真値α≈0.69、β≈0.92は、草地で期待計数2、耕地で期待計数5という設定から直接導かれる。これは期待値の設定であって、60地点の観測標本で正確にその平均が再現されることを意味しない。</a:t>
            </a:r>
          </a:p>
          <a:p>
            <a:pPr>
              <a:lnSpc>
                <a:spcPct val="118000"/>
              </a:lnSpc>
              <a:spcAft>
                <a:spcPts val="1200"/>
              </a:spcAft>
            </a:pPr>
            <a:r>
              <a:rPr sz="1680">
                <a:solidFill>
                  <a:srgbClr val="222A35"/>
                </a:solidFill>
                <a:latin typeface="Yu Gothic"/>
              </a:rPr>
              <a:t>• 3地点の応答を意図的に欠測とした後、観測済みの計数だけを基に推定する。原著の図11.2では、群間の分布差とともに、同じ群の中でも計数にポアソン変動があることが確認できる。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04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11.5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ポアソンGLMを対数リンクで当てはめ、回帰係数を対数スケールで推定する。推定例では切片約0.429、耕地効果約1.032となる。</a:t>
            </a:r>
          </a:p>
          <a:p>
            <a:pPr>
              <a:lnSpc>
                <a:spcPct val="118000"/>
              </a:lnSpc>
              <a:spcAft>
                <a:spcPts val="1200"/>
              </a:spcAft>
            </a:pPr>
            <a:r>
              <a:rPr sz="1540">
                <a:solidFill>
                  <a:srgbClr val="222A35"/>
                </a:solidFill>
                <a:latin typeface="Yu Gothic"/>
              </a:rPr>
              <a:t>• 係数を指数変換すると、草地の期待計数はexp(α)、耕地はexp(α+β)になる。限られた標本では生成時の真値0.69、0.92から推定値が外れても、直ちに推定方法が誤っているわけではない。</a:t>
            </a:r>
          </a:p>
          <a:p>
            <a:pPr>
              <a:lnSpc>
                <a:spcPct val="118000"/>
              </a:lnSpc>
              <a:spcAft>
                <a:spcPts val="1200"/>
              </a:spcAft>
            </a:pPr>
            <a:r>
              <a:rPr sz="1540">
                <a:solidFill>
                  <a:srgbClr val="222A35"/>
                </a:solidFill>
                <a:latin typeface="Yu Gothic"/>
              </a:rPr>
              <a:t>• 適合度は伝統的残差に加え、DHARMaによるシミュレーションベースの分位残差でも確認する。</a:t>
            </a:r>
          </a:p>
          <a:p>
            <a:pPr>
              <a:lnSpc>
                <a:spcPct val="118000"/>
              </a:lnSpc>
              <a:spcAft>
                <a:spcPts val="1200"/>
              </a:spcAft>
            </a:pPr>
            <a:r>
              <a:rPr sz="1540">
                <a:solidFill>
                  <a:srgbClr val="222A35"/>
                </a:solidFill>
                <a:latin typeface="Yu Gothic"/>
              </a:rPr>
              <a:t>• この例では通常のGLMの推定切片は約0.429、群効果は約1.032であり、草地と耕地の期待計数はそれぞれ約1.54と約4.31になる。exp(β)≈2.81は、耕地の期待計数が草地の約2.8倍であることを表す。</a:t>
            </a:r>
          </a:p>
          <a:p>
            <a:pPr>
              <a:lnSpc>
                <a:spcPct val="118000"/>
              </a:lnSpc>
              <a:spcAft>
                <a:spcPts val="1200"/>
              </a:spcAft>
            </a:pPr>
            <a:r>
              <a:rPr sz="1540">
                <a:solidFill>
                  <a:srgbClr val="222A35"/>
                </a:solidFill>
                <a:latin typeface="Yu Gothic"/>
              </a:rPr>
              <a:t>• `glm()`は反復重み付き最小二乗法を使い、ポアソンGLMの最尤推定値を求める。モデル全体の比較には逸脱度や尤度比検定を利用できるが、適合度の評価には観測残差の点検も必要である。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05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11.6  Bayesian analysis with JAGS｜JAGSによるベイズ解析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JAGSでは期待値の対数に線形予測子を指定し、各応答をポアソン分布とする。欠測応答はNAのままデータとして渡すことで、事後分布に基づく予測が得られる。</a:t>
            </a:r>
          </a:p>
          <a:p>
            <a:pPr>
              <a:lnSpc>
                <a:spcPct val="118000"/>
              </a:lnSpc>
              <a:spcAft>
                <a:spcPts val="1200"/>
              </a:spcAft>
            </a:pPr>
            <a:r>
              <a:rPr sz="1540">
                <a:solidFill>
                  <a:srgbClr val="222A35"/>
                </a:solidFill>
                <a:latin typeface="Yu Gothic"/>
              </a:rPr>
              <a:t>• 11.6.1ではPearson残差と事後予測チェック（PPC）を利用し、観測データとモデルから生成したデータの不一致を評価する。モデルが十分ならばPPCで極端な不一致は認められない。</a:t>
            </a:r>
          </a:p>
          <a:p>
            <a:pPr>
              <a:lnSpc>
                <a:spcPct val="118000"/>
              </a:lnSpc>
              <a:spcAft>
                <a:spcPts val="1200"/>
              </a:spcAft>
            </a:pPr>
            <a:r>
              <a:rPr sz="1540">
                <a:solidFill>
                  <a:srgbClr val="222A35"/>
                </a:solidFill>
                <a:latin typeface="Yu Gothic"/>
              </a:rPr>
              <a:t>• 11.6.2ではαとβを推定し、指数変換によって草地・耕地それぞれの期待個体数を算出する。原著のβ事後平均は約1.03で、耕地の期待計数が高い。</a:t>
            </a:r>
          </a:p>
          <a:p>
            <a:pPr>
              <a:lnSpc>
                <a:spcPct val="118000"/>
              </a:lnSpc>
              <a:spcAft>
                <a:spcPts val="1200"/>
              </a:spcAft>
            </a:pPr>
            <a:r>
              <a:rPr sz="1540">
                <a:solidFill>
                  <a:srgbClr val="222A35"/>
                </a:solidFill>
                <a:latin typeface="Yu Gothic"/>
              </a:rPr>
              <a:t>• 11.6.1の適合度点検では、モデルが予測するポアソン計数を事後分布から再生成し、Pearson残差の平方和などを実観測と比較する。原著の例では著しい不適合を示す証拠は認められない。</a:t>
            </a:r>
          </a:p>
          <a:p>
            <a:pPr>
              <a:lnSpc>
                <a:spcPct val="118000"/>
              </a:lnSpc>
              <a:spcAft>
                <a:spcPts val="1200"/>
              </a:spcAft>
            </a:pPr>
            <a:r>
              <a:rPr sz="1540">
                <a:solidFill>
                  <a:srgbClr val="222A35"/>
                </a:solidFill>
                <a:latin typeface="Yu Gothic"/>
              </a:rPr>
              <a:t>• 11.6.2では係数の事後分布だけでなく、草地・耕地の期待計数とその差を計算する。また欠測地点についても事後予測を得るが、欠測値に関する不確実性は係数より大きいことがある。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06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11.7  Bayesian analysis with NIMBLE｜NIMBLEによるベイズ解析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同じポアソンGLMをNIMBLEで当てはめる。モデルの確率的構造とパラメータの解釈はJAGSと同一であり、結果を推定エンジン間で比較する。</a:t>
            </a:r>
          </a:p>
          <a:p>
            <a:pPr>
              <a:lnSpc>
                <a:spcPct val="118000"/>
              </a:lnSpc>
              <a:spcAft>
                <a:spcPts val="1200"/>
              </a:spcAft>
            </a:pPr>
            <a:r>
              <a:rPr sz="1680">
                <a:solidFill>
                  <a:srgbClr val="222A35"/>
                </a:solidFill>
                <a:latin typeface="Yu Gothic"/>
              </a:rPr>
              <a:t>• NIMBLEは本書の付属Webサイトにモデルコードが掲載されており、本節ではその存在を示している。</a:t>
            </a:r>
          </a:p>
          <a:p>
            <a:pPr>
              <a:lnSpc>
                <a:spcPct val="118000"/>
              </a:lnSpc>
              <a:spcAft>
                <a:spcPts val="1200"/>
              </a:spcAft>
            </a:pPr>
            <a:r>
              <a:rPr sz="1680">
                <a:solidFill>
                  <a:srgbClr val="222A35"/>
                </a:solidFill>
                <a:latin typeface="Yu Gothic"/>
              </a:rPr>
              <a:t>• 原著はNIMBLEの独立した数値表や長いコードを本文には載せず、付属ウェブサイトに実装を置いている。そのためこの節で追加の独自推定値を作るのではなく、同じ尤度と同じ比較対象を共有する位置づけを示す。</a:t>
            </a:r>
          </a:p>
          <a:p>
            <a:pPr>
              <a:lnSpc>
                <a:spcPct val="118000"/>
              </a:lnSpc>
              <a:spcAft>
                <a:spcPts val="1200"/>
              </a:spcAft>
            </a:pPr>
            <a:r>
              <a:rPr sz="1680">
                <a:solidFill>
                  <a:srgbClr val="222A35"/>
                </a:solidFill>
                <a:latin typeface="Yu Gothic"/>
              </a:rPr>
              <a:t>• 比較の核心はパッケージ名ではなく、欠測を含むポアソン応答、対数リンク、2群の説明変数という共通の確率モデルが維持される点である。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07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11.8  Bayesian analysis with Stan｜Stanによるベイズ解析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Stanでは欠測応答をJAGSのように自動的に補完できないため、解析対象から欠測位置を除いたデータ配列を作成して渡す。</a:t>
            </a:r>
          </a:p>
          <a:p>
            <a:pPr>
              <a:lnSpc>
                <a:spcPct val="118000"/>
              </a:lnSpc>
              <a:spcAft>
                <a:spcPts val="1200"/>
              </a:spcAft>
            </a:pPr>
            <a:r>
              <a:rPr sz="1680">
                <a:solidFill>
                  <a:srgbClr val="222A35"/>
                </a:solidFill>
                <a:latin typeface="Yu Gothic"/>
              </a:rPr>
              <a:t>• Stanのモデルでは対数リンクを逆変換して平均λを計算し、ポアソン尤度を定義する。推定した係数の解釈は他のエンジンと変わらない。</a:t>
            </a:r>
          </a:p>
          <a:p>
            <a:pPr>
              <a:lnSpc>
                <a:spcPct val="118000"/>
              </a:lnSpc>
              <a:spcAft>
                <a:spcPts val="1200"/>
              </a:spcAft>
            </a:pPr>
            <a:r>
              <a:rPr sz="1680">
                <a:solidFill>
                  <a:srgbClr val="222A35"/>
                </a:solidFill>
                <a:latin typeface="Yu Gothic"/>
              </a:rPr>
              <a:t>• Stanでは観測されていない整数応答を連続パラメータとしてそのままサンプリングできない。そこで欠測行を除いた応答を用いて尤度を定義する。</a:t>
            </a:r>
          </a:p>
          <a:p>
            <a:pPr>
              <a:lnSpc>
                <a:spcPct val="118000"/>
              </a:lnSpc>
              <a:spcAft>
                <a:spcPts val="1200"/>
              </a:spcAft>
            </a:pPr>
            <a:r>
              <a:rPr sz="1680">
                <a:solidFill>
                  <a:srgbClr val="222A35"/>
                </a:solidFill>
                <a:latin typeface="Yu Gothic"/>
              </a:rPr>
              <a:t>• 分布の平均λを指数リンクの逆変換で求める点はJAGSと同じだが、欠測計数の事後予測を得る場合は生成量など別の計算が必要になる。原著は実装上の相違を、統計モデル自体の相違と区別している。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08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11.9  Do-it-yourself maximum likelihood estimates｜自作の最尤推定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Poissonの確率質量関数は P(Y=y)=λʸexp(−λ)/y! であり、λ=exp(α+βx)を代入して観測ごとの対数尤度を合計する。</a:t>
            </a:r>
          </a:p>
          <a:p>
            <a:pPr>
              <a:lnSpc>
                <a:spcPct val="118000"/>
              </a:lnSpc>
              <a:spcAft>
                <a:spcPts val="1200"/>
              </a:spcAft>
            </a:pPr>
            <a:r>
              <a:rPr sz="1680">
                <a:solidFill>
                  <a:srgbClr val="222A35"/>
                </a:solidFill>
                <a:latin typeface="Yu Gothic"/>
              </a:rPr>
              <a:t>• NAとなった応答を尤度計算から除き、負の対数尤度を最小化する。係数とヘッセ行列に基づく不確実性推定を行い、既製GLMとの整合性を調べる。</a:t>
            </a:r>
          </a:p>
          <a:p>
            <a:pPr>
              <a:lnSpc>
                <a:spcPct val="118000"/>
              </a:lnSpc>
              <a:spcAft>
                <a:spcPts val="1200"/>
              </a:spcAft>
            </a:pPr>
            <a:r>
              <a:rPr sz="1680">
                <a:solidFill>
                  <a:srgbClr val="222A35"/>
                </a:solidFill>
                <a:latin typeface="Yu Gothic"/>
              </a:rPr>
              <a:t>• 1観測の対数尤度は y logλ−λ−log(y!) であり、λ=exp(α+βx)を代入すれば、切片と群差についての関数となる。独立な観測の対数尤度を合計して最大化する。</a:t>
            </a:r>
          </a:p>
          <a:p>
            <a:pPr>
              <a:lnSpc>
                <a:spcPct val="118000"/>
              </a:lnSpc>
              <a:spcAft>
                <a:spcPts val="1200"/>
              </a:spcAft>
            </a:pPr>
            <a:r>
              <a:rPr sz="1680">
                <a:solidFill>
                  <a:srgbClr val="222A35"/>
                </a:solidFill>
                <a:latin typeface="Yu Gothic"/>
              </a:rPr>
              <a:t>• 欠測応答の行は対数尤度の総和へ寄与しない。解析プログラムでは、NAをそのまま通常の密度関数へ渡さないことが実装上の要点である。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09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11.10  Likelihood analysis with TMB｜TMBによる尤度解析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TMBでも各観測のポアソン対数尤度を加算し、欠測応答の寄与を飛ばす。C++による自動微分を利用する点がDIYの数値最適化と異なる。</a:t>
            </a:r>
          </a:p>
          <a:p>
            <a:pPr>
              <a:lnSpc>
                <a:spcPct val="118000"/>
              </a:lnSpc>
              <a:spcAft>
                <a:spcPts val="1200"/>
              </a:spcAft>
            </a:pPr>
            <a:r>
              <a:rPr sz="1680">
                <a:solidFill>
                  <a:srgbClr val="222A35"/>
                </a:solidFill>
                <a:latin typeface="Yu Gothic"/>
              </a:rPr>
              <a:t>• 得られる推定係数は他の頻度論的手法およびベイズ推定の結果と比較可能である。</a:t>
            </a:r>
          </a:p>
          <a:p>
            <a:pPr>
              <a:lnSpc>
                <a:spcPct val="118000"/>
              </a:lnSpc>
              <a:spcAft>
                <a:spcPts val="1200"/>
              </a:spcAft>
            </a:pPr>
            <a:r>
              <a:rPr sz="1680">
                <a:solidFill>
                  <a:srgbClr val="222A35"/>
                </a:solidFill>
                <a:latin typeface="Yu Gothic"/>
              </a:rPr>
              <a:t>• TMBはC++で観測ごとの対数尤度を組み立て、自動微分を利用して最適化に必要な導関数を得る。本節では混合モデルのようなランダム効果の積分は必要ない。</a:t>
            </a:r>
          </a:p>
          <a:p>
            <a:pPr>
              <a:lnSpc>
                <a:spcPct val="118000"/>
              </a:lnSpc>
              <a:spcAft>
                <a:spcPts val="1200"/>
              </a:spcAft>
            </a:pPr>
            <a:r>
              <a:rPr sz="1680">
                <a:solidFill>
                  <a:srgbClr val="222A35"/>
                </a:solidFill>
                <a:latin typeface="Yu Gothic"/>
              </a:rPr>
              <a:t>• 原著では、欠測応答に対してその項の計算をスキップする実装を用いる。同じ負の対数尤度を最小化するので、通常のGLMとDIY最尤法に極めて近い係数になる。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10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11.11  Comparison of the parameter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複数の手法で切片と耕地効果はよく一致する。原著では切片はおよそ0.42～0.43、耕地効果はおよそ1.03である。</a:t>
            </a:r>
          </a:p>
          <a:p>
            <a:pPr>
              <a:lnSpc>
                <a:spcPct val="118000"/>
              </a:lnSpc>
              <a:spcAft>
                <a:spcPts val="1200"/>
              </a:spcAft>
            </a:pPr>
            <a:r>
              <a:rPr sz="1680">
                <a:solidFill>
                  <a:srgbClr val="222A35"/>
                </a:solidFill>
                <a:latin typeface="Yu Gothic"/>
              </a:rPr>
              <a:t>• 生成値との差は標本変動によるものであり、1回の模擬データだけで推定量の偏りは判断できない。</a:t>
            </a:r>
          </a:p>
          <a:p>
            <a:pPr>
              <a:lnSpc>
                <a:spcPct val="118000"/>
              </a:lnSpc>
              <a:spcAft>
                <a:spcPts val="1200"/>
              </a:spcAft>
            </a:pPr>
            <a:r>
              <a:rPr sz="1680">
                <a:solidFill>
                  <a:srgbClr val="222A35"/>
                </a:solidFill>
                <a:latin typeface="Yu Gothic"/>
              </a:rPr>
              <a:t>• 原著の6種の推定結果は、切片が約0.42、耕地係数が約1.03で一致している。これは各法で同じ観測モデルに基づいて推定していることを確認する比較である。</a:t>
            </a:r>
          </a:p>
          <a:p>
            <a:pPr>
              <a:lnSpc>
                <a:spcPct val="118000"/>
              </a:lnSpc>
              <a:spcAft>
                <a:spcPts val="1200"/>
              </a:spcAft>
            </a:pPr>
            <a:r>
              <a:rPr sz="1680">
                <a:solidFill>
                  <a:srgbClr val="222A35"/>
                </a:solidFill>
                <a:latin typeface="Yu Gothic"/>
              </a:rPr>
              <a:t>• 生成値からの偏差は、少数の地点から得た実現データの標本誤差による部分が大きい。原著は「一度の推定値が真値と異なる」ことと「推定量に系統的なバイアスがある」ことを混同しないよう促している。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11 / 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11.12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ポアソンGLMは非負整数の計数データを扱う基本モデルであり、正規回帰から分布とリンク関数を変更することで導入できる。</a:t>
            </a:r>
          </a:p>
          <a:p>
            <a:pPr>
              <a:lnSpc>
                <a:spcPct val="118000"/>
              </a:lnSpc>
              <a:spcAft>
                <a:spcPts val="1200"/>
              </a:spcAft>
            </a:pPr>
            <a:r>
              <a:rPr sz="1680">
                <a:solidFill>
                  <a:srgbClr val="222A35"/>
                </a:solidFill>
                <a:latin typeface="Yu Gothic"/>
              </a:rPr>
              <a:t>• 観測過程、面積差、欠測データという実務的な論点を明示したうえで、推定と診断を進めることが重要である。</a:t>
            </a:r>
          </a:p>
          <a:p>
            <a:pPr>
              <a:lnSpc>
                <a:spcPct val="118000"/>
              </a:lnSpc>
              <a:spcAft>
                <a:spcPts val="1200"/>
              </a:spcAft>
            </a:pPr>
            <a:r>
              <a:rPr sz="1680">
                <a:solidFill>
                  <a:srgbClr val="222A35"/>
                </a:solidFill>
                <a:latin typeface="Yu Gothic"/>
              </a:rPr>
              <a:t>• 第11章はGLMの導入だけでなく、計数データに潜む観測上の仮定と、欠測の実装上の扱いを併せて示す章である。推定結果は対数尺度と元の計数尺度の両方で確認する。</a:t>
            </a:r>
          </a:p>
          <a:p>
            <a:pPr>
              <a:lnSpc>
                <a:spcPct val="118000"/>
              </a:lnSpc>
              <a:spcAft>
                <a:spcPts val="1200"/>
              </a:spcAft>
            </a:pPr>
            <a:r>
              <a:rPr sz="1680">
                <a:solidFill>
                  <a:srgbClr val="222A35"/>
                </a:solidFill>
                <a:latin typeface="Yu Gothic"/>
              </a:rPr>
              <a:t>• 続く第12章ではポアソン分布の平均＝分散の制約、ポアソンのゼロ以外のゼロ、計数努力量の不均一性を扱い、同じ基本GLMからより現実的な観測モデルへ進む。</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11  |  12 / 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2群比較：ポアソンGLM｜まず統計モデルを読む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モデル導入 11.6</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yᵢ ~ Poisson(λᵢ)</a:t>
            </a:r>
          </a:p>
          <a:p>
            <a:pPr>
              <a:spcAft>
                <a:spcPts val="500"/>
              </a:spcAft>
              <a:defRPr sz="2200" b="1">
                <a:solidFill>
                  <a:srgbClr val="192B45"/>
                </a:solidFill>
                <a:latin typeface="Yu Gothic"/>
              </a:defRPr>
            </a:pPr>
            <a:r>
              <a:t>log(λᵢ) = α+βxᵢ</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草地・耕作地に各30地点。3件の欠測値を人工的に導入。</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β は対数期待個体数の差。exp(β) は比。</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11.6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0.0001)</a:t>
            </a:r>
          </a:p>
          <a:p>
            <a:pPr>
              <a:spcAft>
                <a:spcPts val="500"/>
              </a:spcAft>
              <a:defRPr sz="1200" b="0">
                <a:solidFill>
                  <a:srgbClr val="242E3C"/>
                </a:solidFill>
                <a:latin typeface="Consolas"/>
              </a:defRPr>
            </a:pPr>
            <a:r>
              <a:t>beta ~ dnorm(0, 0.0001)</a:t>
            </a:r>
          </a:p>
          <a:p>
            <a:pPr>
              <a:spcAft>
                <a:spcPts val="500"/>
              </a:spcAft>
              <a:defRPr sz="1200" b="0">
                <a:solidFill>
                  <a:srgbClr val="242E3C"/>
                </a:solidFill>
                <a:latin typeface="Consolas"/>
              </a:defRPr>
            </a:pPr>
            <a:r>
              <a:t>y[i] ~ dpois(lambda[i])</a:t>
            </a:r>
          </a:p>
          <a:p>
            <a:pPr>
              <a:spcAft>
                <a:spcPts val="500"/>
              </a:spcAft>
              <a:defRPr sz="1200" b="0">
                <a:solidFill>
                  <a:srgbClr val="242E3C"/>
                </a:solidFill>
                <a:latin typeface="Consolas"/>
              </a:defRPr>
            </a:pPr>
            <a:r>
              <a:t>log(lambda[i]) &lt;- alpha + beta *x[i]</a:t>
            </a:r>
          </a:p>
          <a:p>
            <a:pPr>
              <a:spcAft>
                <a:spcPts val="500"/>
              </a:spcAft>
              <a:defRPr sz="1200" b="0">
                <a:solidFill>
                  <a:srgbClr val="242E3C"/>
                </a:solidFill>
                <a:latin typeface="Consolas"/>
              </a:defRPr>
            </a:pPr>
            <a:r>
              <a:t>y.new[i] ~ dpois(lambda[i])                          # Replicate data set</a:t>
            </a:r>
          </a:p>
          <a:p>
            <a:pPr>
              <a:spcAft>
                <a:spcPts val="500"/>
              </a:spcAft>
              <a:defRPr sz="1200" b="0">
                <a:solidFill>
                  <a:srgbClr val="242E3C"/>
                </a:solidFill>
                <a:latin typeface="Consolas"/>
              </a:defRPr>
            </a:pPr>
            <a:r>
              <a:t>fit &lt;- sum(D[])</a:t>
            </a:r>
          </a:p>
          <a:p>
            <a:pPr>
              <a:spcAft>
                <a:spcPts val="500"/>
              </a:spcAft>
              <a:defRPr sz="1200" b="0">
                <a:solidFill>
                  <a:srgbClr val="242E3C"/>
                </a:solidFill>
                <a:latin typeface="Consolas"/>
              </a:defRPr>
            </a:pPr>
            <a:r>
              <a:t>fit.new &lt;- sum(D.new[])</a:t>
            </a:r>
          </a:p>
          <a:p>
            <a:pPr>
              <a:spcAft>
                <a:spcPts val="500"/>
              </a:spcAft>
              <a:defRPr sz="1200" b="0">
                <a:solidFill>
                  <a:srgbClr val="242E3C"/>
                </a:solidFill>
                <a:latin typeface="Consolas"/>
              </a:defRPr>
            </a:pPr>
            <a:r>
              <a:t>params &lt;- c("alpha", "beta", "lambda", "Presi", "fit", "fit.new", "y")</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y のNAを事後予測の潜在観測として扱う構成。</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11.6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y のNAを事後予測の潜在観測として扱う構成。</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11.7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 ~ dnorm(0, sd = 100)</a:t>
            </a:r>
          </a:p>
          <a:p>
            <a:pPr>
              <a:spcAft>
                <a:spcPts val="500"/>
              </a:spcAft>
              <a:defRPr sz="1200" b="0">
                <a:solidFill>
                  <a:srgbClr val="242E3C"/>
                </a:solidFill>
                <a:latin typeface="Consolas"/>
              </a:defRPr>
            </a:pPr>
            <a:r>
              <a:t>beta ~ dnorm(0, sd = 100)</a:t>
            </a:r>
          </a:p>
          <a:p>
            <a:pPr>
              <a:spcAft>
                <a:spcPts val="500"/>
              </a:spcAft>
              <a:defRPr sz="1200" b="0">
                <a:solidFill>
                  <a:srgbClr val="242E3C"/>
                </a:solidFill>
                <a:latin typeface="Consolas"/>
              </a:defRPr>
            </a:pPr>
            <a:r>
              <a:t>y[i] ~ dpois(lambda[i])</a:t>
            </a:r>
          </a:p>
          <a:p>
            <a:pPr>
              <a:spcAft>
                <a:spcPts val="500"/>
              </a:spcAft>
              <a:defRPr sz="1200" b="0">
                <a:solidFill>
                  <a:srgbClr val="242E3C"/>
                </a:solidFill>
                <a:latin typeface="Consolas"/>
              </a:defRPr>
            </a:pPr>
            <a:r>
              <a:t>log(lambda[i]) &lt;- alpha + beta * x[i]</a:t>
            </a:r>
          </a:p>
          <a:p>
            <a:pPr>
              <a:spcAft>
                <a:spcPts val="500"/>
              </a:spcAft>
              <a:defRPr sz="1200" b="0">
                <a:solidFill>
                  <a:srgbClr val="242E3C"/>
                </a:solidFill>
                <a:latin typeface="Consolas"/>
              </a:defRPr>
            </a:pPr>
            <a:r>
              <a:t>y.new[i] ~ dpois(lambda[i])                      # Replicate data set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11.7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11.8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transformed parameters {</a:t>
            </a:r>
          </a:p>
          <a:p>
            <a:pPr>
              <a:spcAft>
                <a:spcPts val="500"/>
              </a:spcAft>
              <a:defRPr sz="1200" b="0">
                <a:solidFill>
                  <a:srgbClr val="242E3C"/>
                </a:solidFill>
                <a:latin typeface="Consolas"/>
              </a:defRPr>
            </a:pPr>
            <a:r>
              <a:t>lambda[i] = exp(alpha + beta * x[i]);</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beta ~ normal(0, 100);</a:t>
            </a:r>
          </a:p>
          <a:p>
            <a:pPr>
              <a:spcAft>
                <a:spcPts val="500"/>
              </a:spcAft>
              <a:defRPr sz="1200" b="0">
                <a:solidFill>
                  <a:srgbClr val="242E3C"/>
                </a:solidFill>
                <a:latin typeface="Consolas"/>
              </a:defRPr>
            </a:pPr>
            <a:r>
              <a:t>y[i] ~ poisson(lambda[i]);</a:t>
            </a:r>
          </a:p>
          <a:p>
            <a:pPr>
              <a:spcAft>
                <a:spcPts val="500"/>
              </a:spcAft>
              <a:defRPr sz="1200" b="0">
                <a:solidFill>
                  <a:srgbClr val="242E3C"/>
                </a:solidFill>
                <a:latin typeface="Consolas"/>
              </a:defRPr>
            </a:pPr>
            <a:r>
              <a:t>generated quantities {</a:t>
            </a:r>
          </a:p>
          <a:p>
            <a:pPr>
              <a:spcAft>
                <a:spcPts val="500"/>
              </a:spcAft>
              <a:defRPr sz="1200" b="0">
                <a:solidFill>
                  <a:srgbClr val="242E3C"/>
                </a:solidFill>
                <a:latin typeface="Consolas"/>
              </a:defRPr>
            </a:pPr>
            <a:r>
              <a:t>Presi[i] = (y[i] - lambda[i])/sqrt(lambda[i]);</a:t>
            </a:r>
          </a:p>
          <a:p>
            <a:pPr>
              <a:spcAft>
                <a:spcPts val="500"/>
              </a:spcAft>
              <a:defRPr sz="1200" b="0">
                <a:solidFill>
                  <a:srgbClr val="242E3C"/>
                </a:solidFill>
                <a:latin typeface="Consolas"/>
              </a:defRPr>
            </a:pPr>
            <a:r>
              <a:t>y_new[i] = poisson_rng(lambda[i]);</a:t>
            </a:r>
          </a:p>
          <a:p>
            <a:pPr>
              <a:spcAft>
                <a:spcPts val="500"/>
              </a:spcAft>
              <a:defRPr sz="1200" b="0">
                <a:solidFill>
                  <a:srgbClr val="242E3C"/>
                </a:solidFill>
                <a:latin typeface="Consolas"/>
              </a:defRPr>
            </a:pPr>
            <a:r>
              <a:t>Presi_new[i] = (y_new[i] - lambda[i])/sqrt(lambda[i]);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11.8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11.9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NLL &lt;- function(param, y, x) {</a:t>
            </a:r>
          </a:p>
          <a:p>
            <a:pPr>
              <a:spcAft>
                <a:spcPts val="500"/>
              </a:spcAft>
              <a:defRPr sz="1200" b="0">
                <a:solidFill>
                  <a:srgbClr val="242E3C"/>
                </a:solidFill>
                <a:latin typeface="Consolas"/>
              </a:defRPr>
            </a:pPr>
            <a:r>
              <a:t>alpha &lt;- param[1]</a:t>
            </a:r>
          </a:p>
          <a:p>
            <a:pPr>
              <a:spcAft>
                <a:spcPts val="500"/>
              </a:spcAft>
              <a:defRPr sz="1200" b="0">
                <a:solidFill>
                  <a:srgbClr val="242E3C"/>
                </a:solidFill>
                <a:latin typeface="Consolas"/>
              </a:defRPr>
            </a:pPr>
            <a:r>
              <a:t>beta &lt;- param[2]</a:t>
            </a:r>
          </a:p>
          <a:p>
            <a:pPr>
              <a:spcAft>
                <a:spcPts val="500"/>
              </a:spcAft>
              <a:defRPr sz="1200" b="0">
                <a:solidFill>
                  <a:srgbClr val="242E3C"/>
                </a:solidFill>
                <a:latin typeface="Consolas"/>
              </a:defRPr>
            </a:pPr>
            <a:r>
              <a:t>lambda &lt;- exp(alpha + beta * x) # Calculate lambda for each datum</a:t>
            </a:r>
          </a:p>
          <a:p>
            <a:pPr>
              <a:spcAft>
                <a:spcPts val="500"/>
              </a:spcAft>
              <a:defRPr sz="1200" b="0">
                <a:solidFill>
                  <a:srgbClr val="242E3C"/>
                </a:solidFill>
                <a:latin typeface="Consolas"/>
              </a:defRPr>
            </a:pPr>
            <a:r>
              <a:t>LL &lt;- dpois(y, lambda, log = TRUE) # Log-likelihood for each datum</a:t>
            </a:r>
          </a:p>
          <a:p>
            <a:pPr>
              <a:spcAft>
                <a:spcPts val="500"/>
              </a:spcAft>
              <a:defRPr sz="1200" b="0">
                <a:solidFill>
                  <a:srgbClr val="242E3C"/>
                </a:solidFill>
                <a:latin typeface="Consolas"/>
              </a:defRPr>
            </a:pPr>
            <a:r>
              <a:t>out11.9 &lt;- optim(inits, NLL, y = y, x = as.numeric(x)-1, hessian = TRUE)</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11.9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11.10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DATA_VECTOR(y); //response</a:t>
            </a:r>
          </a:p>
          <a:p>
            <a:pPr>
              <a:spcAft>
                <a:spcPts val="500"/>
              </a:spcAft>
              <a:defRPr sz="1200" b="0">
                <a:solidFill>
                  <a:srgbClr val="242E3C"/>
                </a:solidFill>
                <a:latin typeface="Consolas"/>
              </a:defRPr>
            </a:pPr>
            <a:r>
              <a:t>DATA_VECTOR(x); //covariate</a:t>
            </a:r>
          </a:p>
          <a:p>
            <a:pPr>
              <a:spcAft>
                <a:spcPts val="500"/>
              </a:spcAft>
              <a:defRPr sz="1200" b="0">
                <a:solidFill>
                  <a:srgbClr val="242E3C"/>
                </a:solidFill>
                <a:latin typeface="Consolas"/>
              </a:defRPr>
            </a:pPr>
            <a:r>
              <a:t>DATA_INTEGER(n); //Number of observations</a:t>
            </a:r>
          </a:p>
          <a:p>
            <a:pPr>
              <a:spcAft>
                <a:spcPts val="500"/>
              </a:spcAft>
              <a:defRPr sz="1200" b="0">
                <a:solidFill>
                  <a:srgbClr val="242E3C"/>
                </a:solidFill>
                <a:latin typeface="Consolas"/>
              </a:defRPr>
            </a:pPr>
            <a:r>
              <a:t>PARAMETER(alpha);</a:t>
            </a:r>
          </a:p>
          <a:p>
            <a:pPr>
              <a:spcAft>
                <a:spcPts val="500"/>
              </a:spcAft>
              <a:defRPr sz="1200" b="0">
                <a:solidFill>
                  <a:srgbClr val="242E3C"/>
                </a:solidFill>
                <a:latin typeface="Consolas"/>
              </a:defRPr>
            </a:pPr>
            <a:r>
              <a:t>PARAMETER(beta);</a:t>
            </a:r>
          </a:p>
          <a:p>
            <a:pPr>
              <a:spcAft>
                <a:spcPts val="500"/>
              </a:spcAft>
              <a:defRPr sz="1200" b="0">
                <a:solidFill>
                  <a:srgbClr val="242E3C"/>
                </a:solidFill>
                <a:latin typeface="Consolas"/>
              </a:defRPr>
            </a:pPr>
            <a:r>
              <a:t>lambda = exp(alpha + beta * x(i)); //Expected count</a:t>
            </a:r>
          </a:p>
          <a:p>
            <a:pPr>
              <a:spcAft>
                <a:spcPts val="500"/>
              </a:spcAft>
              <a:defRPr sz="1200" b="0">
                <a:solidFill>
                  <a:srgbClr val="242E3C"/>
                </a:solidFill>
                <a:latin typeface="Consolas"/>
              </a:defRPr>
            </a:pPr>
            <a:r>
              <a:t>LL += dpois(y(i), lambda, true);</a:t>
            </a:r>
          </a:p>
          <a:p>
            <a:pPr>
              <a:spcAft>
                <a:spcPts val="500"/>
              </a:spcAft>
              <a:defRPr sz="1200" b="0">
                <a:solidFill>
                  <a:srgbClr val="242E3C"/>
                </a:solidFill>
                <a:latin typeface="Consolas"/>
              </a:defRPr>
            </a:pPr>
            <a:r>
              <a:t>return -LL; //Return negative log likelihood</a:t>
            </a:r>
          </a:p>
          <a:p>
            <a:pPr>
              <a:spcAft>
                <a:spcPts val="500"/>
              </a:spcAft>
              <a:defRPr sz="1200" b="0">
                <a:solidFill>
                  <a:srgbClr val="242E3C"/>
                </a:solidFill>
                <a:latin typeface="Consolas"/>
              </a:defRPr>
            </a:pPr>
            <a:r>
              <a:t>out11.10 &lt;- MakeADFun(data = dataList,</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11.10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11  |  原著Rコードに基づく学習資料  |  2群比較：ポアソンGLM</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2008</Words>
  <Application>Microsoft Office PowerPoint</Application>
  <PresentationFormat>ワイド画面</PresentationFormat>
  <Paragraphs>225</Paragraphs>
  <Slides>25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25</vt:i4>
      </vt:variant>
    </vt:vector>
  </HeadingPairs>
  <TitlesOfParts>
    <vt:vector size="31"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2026-10-22T05:41:19Z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2026-10-22T05:39:22Z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20968861-d8c0-4d47-94d1-a2eea0242cb6</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