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5" r:id="rId2"/>
    <p:sldId id="266" r:id="rId3"/>
    <p:sldId id="256" r:id="rId4"/>
    <p:sldId id="257" r:id="rId5"/>
    <p:sldId id="258" r:id="rId6"/>
    <p:sldId id="259" r:id="rId7"/>
    <p:sldId id="260" r:id="rId8"/>
    <p:sldId id="261" r:id="rId9"/>
    <p:sldId id="262" r:id="rId10"/>
    <p:sldId id="263" r:id="rId11"/>
    <p:sldId id="264" r:id="rId12"/>
    <p:sldId id="310" r:id="rId13"/>
    <p:sldId id="311" r:id="rId14"/>
    <p:sldId id="312" r:id="rId15"/>
    <p:sldId id="313" r:id="rId16"/>
    <p:sldId id="314" r:id="rId17"/>
    <p:sldId id="315" r:id="rId18"/>
    <p:sldId id="316" r:id="rId19"/>
    <p:sldId id="317" r:id="rId20"/>
    <p:sldId id="318" r:id="rId21"/>
    <p:sldId id="319" r:id="rId22"/>
    <p:sldId id="320" r:id="rId23"/>
    <p:sldId id="321"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6B940A-6AFF-4B0F-B445-B1E7D1333FA5}" v="2" dt="2026-10-23T02:01:45.9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8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大下　誠二" userId="e5774685-19fa-48b9-bec1-68eebf9ac578" providerId="ADAL" clId="{CDBA04F6-D5A6-4F8F-A920-1860374E7F12}"/>
    <pc:docChg chg="mod addSld modSld sldOrd modMainMaster">
      <pc:chgData name="大下　誠二" userId="e5774685-19fa-48b9-bec1-68eebf9ac578" providerId="ADAL" clId="{CDBA04F6-D5A6-4F8F-A920-1860374E7F12}" dt="2026-10-23T02:01:45.983" v="6"/>
      <pc:docMkLst>
        <pc:docMk/>
      </pc:docMkLst>
      <pc:sldChg chg="ord">
        <pc:chgData name="大下　誠二" userId="e5774685-19fa-48b9-bec1-68eebf9ac578" providerId="ADAL" clId="{CDBA04F6-D5A6-4F8F-A920-1860374E7F12}" dt="2026-10-23T01:57:10.840" v="2"/>
        <pc:sldMkLst>
          <pc:docMk/>
          <pc:sldMk cId="0" sldId="256"/>
        </pc:sldMkLst>
      </pc:sldChg>
      <pc:sldChg chg="add">
        <pc:chgData name="大下　誠二" userId="e5774685-19fa-48b9-bec1-68eebf9ac578" providerId="ADAL" clId="{CDBA04F6-D5A6-4F8F-A920-1860374E7F12}" dt="2026-10-23T01:57:08.620" v="0"/>
        <pc:sldMkLst>
          <pc:docMk/>
          <pc:sldMk cId="1006064969" sldId="265"/>
        </pc:sldMkLst>
      </pc:sldChg>
      <pc:sldChg chg="addSp add mod">
        <pc:chgData name="大下　誠二" userId="e5774685-19fa-48b9-bec1-68eebf9ac578" providerId="ADAL" clId="{CDBA04F6-D5A6-4F8F-A920-1860374E7F12}" dt="2026-10-23T02:00:52.101" v="5" actId="22"/>
        <pc:sldMkLst>
          <pc:docMk/>
          <pc:sldMk cId="2683881835" sldId="266"/>
        </pc:sldMkLst>
        <pc:picChg chg="add">
          <ac:chgData name="大下　誠二" userId="e5774685-19fa-48b9-bec1-68eebf9ac578" providerId="ADAL" clId="{CDBA04F6-D5A6-4F8F-A920-1860374E7F12}" dt="2026-10-23T02:00:52.101" v="5" actId="22"/>
          <ac:picMkLst>
            <pc:docMk/>
            <pc:sldMk cId="2683881835" sldId="266"/>
            <ac:picMk id="5" creationId="{AA38566D-DFA6-1B2F-DA0F-2EE8DFA91318}"/>
          </ac:picMkLst>
        </pc:picChg>
      </pc:sldChg>
      <pc:sldChg chg="add">
        <pc:chgData name="大下　誠二" userId="e5774685-19fa-48b9-bec1-68eebf9ac578" providerId="ADAL" clId="{CDBA04F6-D5A6-4F8F-A920-1860374E7F12}" dt="2026-10-23T02:01:45.983" v="6"/>
        <pc:sldMkLst>
          <pc:docMk/>
          <pc:sldMk cId="0" sldId="310"/>
        </pc:sldMkLst>
      </pc:sldChg>
      <pc:sldChg chg="add">
        <pc:chgData name="大下　誠二" userId="e5774685-19fa-48b9-bec1-68eebf9ac578" providerId="ADAL" clId="{CDBA04F6-D5A6-4F8F-A920-1860374E7F12}" dt="2026-10-23T02:01:45.983" v="6"/>
        <pc:sldMkLst>
          <pc:docMk/>
          <pc:sldMk cId="0" sldId="311"/>
        </pc:sldMkLst>
      </pc:sldChg>
      <pc:sldChg chg="add">
        <pc:chgData name="大下　誠二" userId="e5774685-19fa-48b9-bec1-68eebf9ac578" providerId="ADAL" clId="{CDBA04F6-D5A6-4F8F-A920-1860374E7F12}" dt="2026-10-23T02:01:45.983" v="6"/>
        <pc:sldMkLst>
          <pc:docMk/>
          <pc:sldMk cId="0" sldId="312"/>
        </pc:sldMkLst>
      </pc:sldChg>
      <pc:sldChg chg="add">
        <pc:chgData name="大下　誠二" userId="e5774685-19fa-48b9-bec1-68eebf9ac578" providerId="ADAL" clId="{CDBA04F6-D5A6-4F8F-A920-1860374E7F12}" dt="2026-10-23T02:01:45.983" v="6"/>
        <pc:sldMkLst>
          <pc:docMk/>
          <pc:sldMk cId="0" sldId="313"/>
        </pc:sldMkLst>
      </pc:sldChg>
      <pc:sldChg chg="add">
        <pc:chgData name="大下　誠二" userId="e5774685-19fa-48b9-bec1-68eebf9ac578" providerId="ADAL" clId="{CDBA04F6-D5A6-4F8F-A920-1860374E7F12}" dt="2026-10-23T02:01:45.983" v="6"/>
        <pc:sldMkLst>
          <pc:docMk/>
          <pc:sldMk cId="0" sldId="314"/>
        </pc:sldMkLst>
      </pc:sldChg>
      <pc:sldChg chg="add">
        <pc:chgData name="大下　誠二" userId="e5774685-19fa-48b9-bec1-68eebf9ac578" providerId="ADAL" clId="{CDBA04F6-D5A6-4F8F-A920-1860374E7F12}" dt="2026-10-23T02:01:45.983" v="6"/>
        <pc:sldMkLst>
          <pc:docMk/>
          <pc:sldMk cId="0" sldId="315"/>
        </pc:sldMkLst>
      </pc:sldChg>
      <pc:sldChg chg="add">
        <pc:chgData name="大下　誠二" userId="e5774685-19fa-48b9-bec1-68eebf9ac578" providerId="ADAL" clId="{CDBA04F6-D5A6-4F8F-A920-1860374E7F12}" dt="2026-10-23T02:01:45.983" v="6"/>
        <pc:sldMkLst>
          <pc:docMk/>
          <pc:sldMk cId="0" sldId="316"/>
        </pc:sldMkLst>
      </pc:sldChg>
      <pc:sldChg chg="add">
        <pc:chgData name="大下　誠二" userId="e5774685-19fa-48b9-bec1-68eebf9ac578" providerId="ADAL" clId="{CDBA04F6-D5A6-4F8F-A920-1860374E7F12}" dt="2026-10-23T02:01:45.983" v="6"/>
        <pc:sldMkLst>
          <pc:docMk/>
          <pc:sldMk cId="0" sldId="317"/>
        </pc:sldMkLst>
      </pc:sldChg>
      <pc:sldChg chg="add">
        <pc:chgData name="大下　誠二" userId="e5774685-19fa-48b9-bec1-68eebf9ac578" providerId="ADAL" clId="{CDBA04F6-D5A6-4F8F-A920-1860374E7F12}" dt="2026-10-23T02:01:45.983" v="6"/>
        <pc:sldMkLst>
          <pc:docMk/>
          <pc:sldMk cId="0" sldId="318"/>
        </pc:sldMkLst>
      </pc:sldChg>
      <pc:sldChg chg="add">
        <pc:chgData name="大下　誠二" userId="e5774685-19fa-48b9-bec1-68eebf9ac578" providerId="ADAL" clId="{CDBA04F6-D5A6-4F8F-A920-1860374E7F12}" dt="2026-10-23T02:01:45.983" v="6"/>
        <pc:sldMkLst>
          <pc:docMk/>
          <pc:sldMk cId="0" sldId="319"/>
        </pc:sldMkLst>
      </pc:sldChg>
      <pc:sldChg chg="add">
        <pc:chgData name="大下　誠二" userId="e5774685-19fa-48b9-bec1-68eebf9ac578" providerId="ADAL" clId="{CDBA04F6-D5A6-4F8F-A920-1860374E7F12}" dt="2026-10-23T02:01:45.983" v="6"/>
        <pc:sldMkLst>
          <pc:docMk/>
          <pc:sldMk cId="0" sldId="320"/>
        </pc:sldMkLst>
      </pc:sldChg>
      <pc:sldChg chg="add">
        <pc:chgData name="大下　誠二" userId="e5774685-19fa-48b9-bec1-68eebf9ac578" providerId="ADAL" clId="{CDBA04F6-D5A6-4F8F-A920-1860374E7F12}" dt="2026-10-23T02:01:45.983" v="6"/>
        <pc:sldMkLst>
          <pc:docMk/>
          <pc:sldMk cId="0" sldId="321"/>
        </pc:sldMkLst>
      </pc:sldChg>
      <pc:sldMasterChg chg="addSp mod">
        <pc:chgData name="大下　誠二" userId="e5774685-19fa-48b9-bec1-68eebf9ac578" providerId="ADAL" clId="{CDBA04F6-D5A6-4F8F-A920-1860374E7F12}" dt="2026-10-23T01:57:19.298" v="3" actId="33475"/>
        <pc:sldMasterMkLst>
          <pc:docMk/>
          <pc:sldMasterMk cId="2209977519" sldId="2147483648"/>
        </pc:sldMasterMkLst>
        <pc:spChg chg="add">
          <ac:chgData name="大下　誠二" userId="e5774685-19fa-48b9-bec1-68eebf9ac578" providerId="ADAL" clId="{CDBA04F6-D5A6-4F8F-A920-1860374E7F12}" dt="2026-10-23T01:57:19.298" v="3" actId="33475"/>
          <ac:spMkLst>
            <pc:docMk/>
            <pc:sldMasterMk cId="2209977519" sldId="2147483648"/>
            <ac:spMk id="8" creationId="{633BE13B-7FC4-D6C2-459F-4B9B1CC6D47A}"/>
          </ac:spMkLst>
        </pc:sp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テキスト ボックス 7">
            <a:extLst>
              <a:ext uri="{FF2B5EF4-FFF2-40B4-BE49-F238E27FC236}">
                <a16:creationId xmlns:a16="http://schemas.microsoft.com/office/drawing/2014/main" id="{633BE13B-7FC4-D6C2-459F-4B9B1CC6D47A}"/>
              </a:ext>
            </a:extLst>
          </p:cNvPr>
          <p:cNvSpPr txBox="1"/>
          <p:nvPr userDrawn="1">
            <p:extLst>
              <p:ext uri="{1162E1C5-73C7-4A58-AE30-91384D911F3F}">
                <p184:classification xmlns:p184="http://schemas.microsoft.com/office/powerpoint/2018/4/main" val="hdr"/>
              </p:ext>
            </p:extLst>
          </p:nvPr>
        </p:nvSpPr>
        <p:spPr>
          <a:xfrm>
            <a:off x="63500" y="63500"/>
            <a:ext cx="982663" cy="152400"/>
          </a:xfrm>
          <a:prstGeom prst="rect">
            <a:avLst/>
          </a:prstGeom>
        </p:spPr>
        <p:txBody>
          <a:bodyPr horzOverflow="overflow" lIns="0" tIns="0" rIns="0" bIns="0">
            <a:spAutoFit/>
          </a:bodyPr>
          <a:lstStyle/>
          <a:p>
            <a:pPr algn="l"/>
            <a:r>
              <a:rPr lang="ja-JP" altLang="en-US" sz="1000">
                <a:solidFill>
                  <a:srgbClr val="000000">
                    <a:alpha val="50000"/>
                  </a:srgbClr>
                </a:solidFill>
                <a:latin typeface="Aptos" panose="020B0004020202020204" pitchFamily="34" charset="0"/>
              </a:rPr>
              <a:t>【機密性2情報】</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64D44-28CF-2DE7-A261-FFD1DB5A5A0A}"/>
              </a:ext>
            </a:extLst>
          </p:cNvPr>
          <p:cNvSpPr>
            <a:spLocks noGrp="1"/>
          </p:cNvSpPr>
          <p:nvPr>
            <p:ph type="ctrTitle"/>
          </p:nvPr>
        </p:nvSpPr>
        <p:spPr>
          <a:xfrm>
            <a:off x="1524000" y="1145309"/>
            <a:ext cx="9144000" cy="2364654"/>
          </a:xfrm>
        </p:spPr>
        <p:txBody>
          <a:bodyPr>
            <a:normAutofit/>
          </a:bodyPr>
          <a:lstStyle/>
          <a:p>
            <a:r>
              <a:rPr kumimoji="1" lang="en-US" altLang="ja-JP" sz="3600" dirty="0">
                <a:latin typeface="BIZ UDゴシック" panose="020B0400000000000000" pitchFamily="49" charset="-128"/>
                <a:ea typeface="BIZ UDゴシック" panose="020B0400000000000000" pitchFamily="49" charset="-128"/>
              </a:rPr>
              <a:t>Applied Statistical Modelling for Ecologists</a:t>
            </a:r>
            <a:br>
              <a:rPr kumimoji="1" lang="en-US" altLang="ja-JP" sz="3600" dirty="0">
                <a:latin typeface="BIZ UDゴシック" panose="020B0400000000000000" pitchFamily="49" charset="-128"/>
                <a:ea typeface="BIZ UDゴシック" panose="020B0400000000000000" pitchFamily="49" charset="-128"/>
              </a:rPr>
            </a:br>
            <a:br>
              <a:rPr kumimoji="1" lang="en-US" altLang="ja-JP" sz="3600" dirty="0">
                <a:latin typeface="BIZ UDゴシック" panose="020B0400000000000000" pitchFamily="49" charset="-128"/>
                <a:ea typeface="BIZ UDゴシック" panose="020B0400000000000000" pitchFamily="49" charset="-128"/>
              </a:rPr>
            </a:br>
            <a:r>
              <a:rPr kumimoji="1" lang="en-US" altLang="ja-JP" sz="3600" dirty="0">
                <a:latin typeface="BIZ UDゴシック" panose="020B0400000000000000" pitchFamily="49" charset="-128"/>
                <a:ea typeface="BIZ UDゴシック" panose="020B0400000000000000" pitchFamily="49" charset="-128"/>
              </a:rPr>
              <a:t>ASME</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字幕 2">
            <a:extLst>
              <a:ext uri="{FF2B5EF4-FFF2-40B4-BE49-F238E27FC236}">
                <a16:creationId xmlns:a16="http://schemas.microsoft.com/office/drawing/2014/main" id="{0EC5D841-2E60-B1EB-3102-76804FA3912E}"/>
              </a:ext>
            </a:extLst>
          </p:cNvPr>
          <p:cNvSpPr>
            <a:spLocks noGrp="1"/>
          </p:cNvSpPr>
          <p:nvPr>
            <p:ph type="subTitle" idx="1"/>
          </p:nvPr>
        </p:nvSpPr>
        <p:spPr>
          <a:xfrm>
            <a:off x="1524000" y="4655272"/>
            <a:ext cx="9144000" cy="1655762"/>
          </a:xfrm>
        </p:spPr>
        <p:txBody>
          <a:bodyPr/>
          <a:lstStyle/>
          <a:p>
            <a:r>
              <a:rPr lang="en-US" altLang="ja-JP" dirty="0">
                <a:latin typeface="BIZ UDゴシック" panose="020B0400000000000000" pitchFamily="49" charset="-128"/>
                <a:ea typeface="BIZ UDゴシック" panose="020B0400000000000000" pitchFamily="49" charset="-128"/>
              </a:rPr>
              <a:t>Chapter 11</a:t>
            </a:r>
            <a:endParaRPr kumimoji="1" lang="ja-JP" altLang="en-US" dirty="0">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06258DCC-7C73-D7EC-17A6-3E90AB75A127}"/>
              </a:ext>
            </a:extLst>
          </p:cNvPr>
          <p:cNvPicPr>
            <a:picLocks noChangeAspect="1"/>
          </p:cNvPicPr>
          <p:nvPr/>
        </p:nvPicPr>
        <p:blipFill>
          <a:blip r:embed="rId2"/>
          <a:stretch>
            <a:fillRect/>
          </a:stretch>
        </p:blipFill>
        <p:spPr>
          <a:xfrm>
            <a:off x="0" y="0"/>
            <a:ext cx="2309523" cy="2833771"/>
          </a:xfrm>
          <a:prstGeom prst="rect">
            <a:avLst/>
          </a:prstGeom>
        </p:spPr>
      </p:pic>
    </p:spTree>
    <p:extLst>
      <p:ext uri="{BB962C8B-B14F-4D97-AF65-F5344CB8AC3E}">
        <p14:creationId xmlns:p14="http://schemas.microsoft.com/office/powerpoint/2010/main" val="1006064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3216D2-B67B-D61D-06B1-BEA1B6621244}"/>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C24EC48E-5702-7412-08D3-54CE807181D6}"/>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AA38566D-DFA6-1B2F-DA0F-2EE8DFA91318}"/>
              </a:ext>
            </a:extLst>
          </p:cNvPr>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2683881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18.1  Introduction｜はじめに</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モデルの適合度評価（model checking）は、あるモデルが観測データの重要な特徴を再現するかを調べる。モデル選択（model selection）は複数候補のうち何を選ぶかを検討する。最良の候補でも適合不良であり得るため、選択は適合度評価の代用にはならない。</a:t>
            </a:r>
          </a:p>
          <a:p>
            <a:pPr>
              <a:lnSpc>
                <a:spcPct val="117000"/>
              </a:lnSpc>
              <a:spcAft>
                <a:spcPts val="1300"/>
              </a:spcAft>
              <a:defRPr sz="1500">
                <a:solidFill>
                  <a:srgbClr val="252E38"/>
                </a:solidFill>
                <a:latin typeface="Yu Gothic"/>
              </a:defRPr>
            </a:pPr>
            <a:r>
              <a:t>• パラメータ推定のアルゴリズムの収束確認は、モデルが現実のデータをうまく説明できるかとは別の問題である。収束を確認したうえで診断や選択を行う。</a:t>
            </a:r>
          </a:p>
          <a:p>
            <a:pPr>
              <a:lnSpc>
                <a:spcPct val="117000"/>
              </a:lnSpc>
              <a:spcAft>
                <a:spcPts val="1300"/>
              </a:spcAft>
              <a:defRPr sz="1500">
                <a:solidFill>
                  <a:srgbClr val="252E38"/>
                </a:solidFill>
                <a:latin typeface="Yu Gothic"/>
              </a:defRPr>
            </a:pPr>
            <a:r>
              <a:t>• 原著はモデルの目的、構築、適合度、選択、平均化、正則化を結び付けて扱い、頻度論とベイズ法のいずれでも予測データのシミュレーションが重要であると説明する。</a:t>
            </a:r>
          </a:p>
          <a:p>
            <a:pPr>
              <a:lnSpc>
                <a:spcPct val="117000"/>
              </a:lnSpc>
              <a:spcAft>
                <a:spcPts val="1300"/>
              </a:spcAft>
              <a:defRPr sz="1500">
                <a:solidFill>
                  <a:srgbClr val="252E38"/>
                </a:solidFill>
                <a:latin typeface="Yu Gothic"/>
              </a:defRPr>
            </a:pPr>
            <a:r>
              <a:t>• 原著はモデルチェックを「あるモデルがデータ生成過程の学習道具として妥当か」、モデル選択を「複数候補の中でどれがよいか」と区別する。いずれも観測値とモデルが予測する値との関係を利用するが、問いそのものは異なる。</a:t>
            </a:r>
          </a:p>
          <a:p>
            <a:pPr>
              <a:lnSpc>
                <a:spcPct val="117000"/>
              </a:lnSpc>
              <a:spcAft>
                <a:spcPts val="1300"/>
              </a:spcAft>
              <a:defRPr sz="1500">
                <a:solidFill>
                  <a:srgbClr val="252E38"/>
                </a:solidFill>
                <a:latin typeface="Yu Gothic"/>
              </a:defRPr>
            </a:pPr>
            <a:r>
              <a:t>• モデル診断には目視比較、残差、模擬データから得る乖離統計量を使用できる。情報量規準や交差検証に進む前に、モデルが科学的に意味のある応答の特徴を再現することを確認すべきである。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18  |  01 / 09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18.2  Why do we build a statistical model?｜なぜ統計モデルを作るのか</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原著が示すモデルの目的は、考えを明確化すること、データの要約、パターン探索、予測、因果的説明の5つである。目的は複数あってよいが、最初に明確にしておくことがモデル設計と評価に直結する。</a:t>
            </a:r>
          </a:p>
          <a:p>
            <a:pPr>
              <a:lnSpc>
                <a:spcPct val="117000"/>
              </a:lnSpc>
              <a:spcAft>
                <a:spcPts val="1300"/>
              </a:spcAft>
              <a:defRPr sz="1500">
                <a:solidFill>
                  <a:srgbClr val="252E38"/>
                </a:solidFill>
                <a:latin typeface="Yu Gothic"/>
              </a:defRPr>
            </a:pPr>
            <a:r>
              <a:t>• 予測モデルは未知データに対する応答値の精度を重視し、説明変数が因果変数である必要はない。対して因果的説明では、適切な変数を含め、その係数を科学的に解釈できることが中心となる。</a:t>
            </a:r>
          </a:p>
          <a:p>
            <a:pPr>
              <a:lnSpc>
                <a:spcPct val="117000"/>
              </a:lnSpc>
              <a:spcAft>
                <a:spcPts val="1300"/>
              </a:spcAft>
              <a:defRPr sz="1500">
                <a:solidFill>
                  <a:srgbClr val="252E38"/>
                </a:solidFill>
                <a:latin typeface="Yu Gothic"/>
              </a:defRPr>
            </a:pPr>
            <a:r>
              <a:t>• パターン探索で得た相関は因果的説明を直ちに支持するわけではない。説明に優れたモデルが予測でも最良とは限らず、目的ごとに「良いモデル」の基準が異なる。</a:t>
            </a:r>
          </a:p>
          <a:p>
            <a:pPr>
              <a:lnSpc>
                <a:spcPct val="117000"/>
              </a:lnSpc>
              <a:spcAft>
                <a:spcPts val="1300"/>
              </a:spcAft>
              <a:defRPr sz="1500">
                <a:solidFill>
                  <a:srgbClr val="252E38"/>
                </a:solidFill>
                <a:latin typeface="Yu Gothic"/>
              </a:defRPr>
            </a:pPr>
            <a:r>
              <a:t>• 本章の五つの目的のうち、考えの明確化はモデルを書く際にどの数量を含めるかを厳密に決める作業であり、データの要約は少数の係数によって大量の観測値を簡潔に表すことである。</a:t>
            </a:r>
          </a:p>
          <a:p>
            <a:pPr>
              <a:lnSpc>
                <a:spcPct val="117000"/>
              </a:lnSpc>
              <a:spcAft>
                <a:spcPts val="1300"/>
              </a:spcAft>
              <a:defRPr sz="1500">
                <a:solidFill>
                  <a:srgbClr val="252E38"/>
                </a:solidFill>
                <a:latin typeface="Yu Gothic"/>
              </a:defRPr>
            </a:pPr>
            <a:r>
              <a:t>• 原著は予測を「未観測の応答を正確に当てること」、因果説明を「正しい説明変数とその科学的効果を推定すること」と整理する。パターン探索から因果の主張へ移るには、独立した研究による検証が重要とされ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18  |  02 / 09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18.3  Ticklish rattlesnakes｜くすぐったがりのガラガラヘビ</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章全体の例では、材木ガラガラヘビの相対的な個体数を岩の被覆、オークの多さ、シマリスの個体数指数などで説明する。説明用の仮想設定ではシマリスが多すぎるとヘビが少なくなるため、二次的な関係を作る。</a:t>
            </a:r>
          </a:p>
          <a:p>
            <a:pPr>
              <a:lnSpc>
                <a:spcPct val="117000"/>
              </a:lnSpc>
              <a:spcAft>
                <a:spcPts val="1300"/>
              </a:spcAft>
              <a:defRPr sz="1500">
                <a:solidFill>
                  <a:srgbClr val="252E38"/>
                </a:solidFill>
                <a:latin typeface="Yu Gothic"/>
              </a:defRPr>
            </a:pPr>
            <a:r>
              <a:t>• シミュレーション関数simDat18は、観測地点数、主要な回帰係数、および追加説明変数を変更できる。このように既知の真値をもつデータを作ることで、モデルの選択や不適合の検出を実験的に確かめられる。</a:t>
            </a:r>
          </a:p>
          <a:p>
            <a:pPr>
              <a:lnSpc>
                <a:spcPct val="117000"/>
              </a:lnSpc>
              <a:spcAft>
                <a:spcPts val="1300"/>
              </a:spcAft>
              <a:defRPr sz="1500">
                <a:solidFill>
                  <a:srgbClr val="252E38"/>
                </a:solidFill>
                <a:latin typeface="Yu Gothic"/>
              </a:defRPr>
            </a:pPr>
            <a:r>
              <a:t>• 原著図18.2では岩の被覆、オーク、シマリスとの関係を描き、真の応答曲線と標本変動を比較する。</a:t>
            </a:r>
          </a:p>
          <a:p>
            <a:pPr>
              <a:lnSpc>
                <a:spcPct val="117000"/>
              </a:lnSpc>
              <a:spcAft>
                <a:spcPts val="1300"/>
              </a:spcAft>
              <a:defRPr sz="1500">
                <a:solidFill>
                  <a:srgbClr val="252E38"/>
                </a:solidFill>
                <a:latin typeface="Yu Gothic"/>
              </a:defRPr>
            </a:pPr>
            <a:r>
              <a:t>• 架空の「くすぐられやすい」ガラガラヘビは、主要説明変数が岩の被覆、オーク、シマリスで、シマリスについては線形ではなく曲線的な関係をもつ。岩の隠れ場所や餌資源の関係が一つの生成モデルとして組み合わされる。</a:t>
            </a:r>
          </a:p>
          <a:p>
            <a:pPr>
              <a:lnSpc>
                <a:spcPct val="117000"/>
              </a:lnSpc>
              <a:spcAft>
                <a:spcPts val="1300"/>
              </a:spcAft>
              <a:defRPr sz="1500">
                <a:solidFill>
                  <a:srgbClr val="252E38"/>
                </a:solidFill>
                <a:latin typeface="Yu Gothic"/>
              </a:defRPr>
            </a:pPr>
            <a:r>
              <a:t>• この例は実際のヘビの生態に関する主張ではなく、モデルの真の構造が既知の人工データを用い、説明変数の欠落、関数形の誤り、複雑さと予測性能の関係を検討するための教育用設定である。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18  |  03 / 09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18.4  How do we build a statistical model?｜統計モデルをどう構築するか</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統計モデルは現実の単純化であり、応答変数、説明変数、リンク関数、変動要因を適切に含む必要がある。原著は科学的知識で事前に決める「硬い構造」と、データに柔軟に適応させる「柔らかい構造」を区別する。</a:t>
            </a:r>
          </a:p>
          <a:p>
            <a:pPr>
              <a:lnSpc>
                <a:spcPct val="117000"/>
              </a:lnSpc>
              <a:spcAft>
                <a:spcPts val="1300"/>
              </a:spcAft>
              <a:defRPr sz="1500">
                <a:solidFill>
                  <a:srgbClr val="252E38"/>
                </a:solidFill>
                <a:latin typeface="Yu Gothic"/>
              </a:defRPr>
            </a:pPr>
            <a:r>
              <a:t>• 18.4.1：因果的説明が目標なら、科学的仮説を表す構造を最初に設け、適合を診断し不足部分を改善する反復的なモデル拡張が適している。</a:t>
            </a:r>
          </a:p>
          <a:p>
            <a:pPr>
              <a:lnSpc>
                <a:spcPct val="117000"/>
              </a:lnSpc>
              <a:spcAft>
                <a:spcPts val="1300"/>
              </a:spcAft>
              <a:defRPr sz="1500">
                <a:solidFill>
                  <a:srgbClr val="252E38"/>
                </a:solidFill>
                <a:latin typeface="Yu Gothic"/>
              </a:defRPr>
            </a:pPr>
            <a:r>
              <a:t>• 18.4.2：因果・パス・構造方程式モデルは説明変数間の経路も表現し、直接効果と間接効果を区別できる。18.4.3：予測モデルでは変数の選択と柔軟な構造の調整を通じて、未知データへの予測性能を重視する。</a:t>
            </a:r>
          </a:p>
          <a:p>
            <a:pPr>
              <a:lnSpc>
                <a:spcPct val="117000"/>
              </a:lnSpc>
              <a:spcAft>
                <a:spcPts val="1300"/>
              </a:spcAft>
              <a:defRPr sz="1500">
                <a:solidFill>
                  <a:srgbClr val="252E38"/>
                </a:solidFill>
                <a:latin typeface="Yu Gothic"/>
              </a:defRPr>
            </a:pPr>
            <a:r>
              <a:t>• 18.4.1で原著は、科学的問いから必要な構造を設計し、モデル診断の結果を受けて不足を追加する反復作業を「model expansion」と呼ぶ。最初から最大限複雑にするのではなく、推定可能性と研究目的に見合う複雑さを考慮する。</a:t>
            </a:r>
          </a:p>
          <a:p>
            <a:pPr>
              <a:lnSpc>
                <a:spcPct val="117000"/>
              </a:lnSpc>
              <a:spcAft>
                <a:spcPts val="1300"/>
              </a:spcAft>
              <a:defRPr sz="1500">
                <a:solidFill>
                  <a:srgbClr val="252E38"/>
                </a:solidFill>
                <a:latin typeface="Yu Gothic"/>
              </a:defRPr>
            </a:pPr>
            <a:r>
              <a:t>• 18.4.2では、因果パスや構造方程式モデルが直接効果と間接効果を表せることを紹介する。18.4.3では予測重視のモデルを別の設計原理で構築し、予測上役立つ構造を柔軟に選ぶことを認める。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18  |  04 / 09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18.5  Model checking and goodness-of-fit testing｜モデル診断と適合度の検定</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適合度評価はモデルから生成したデータと実際の観測データを比較することで行う。科学常識から見て極端に不自然な予測をしないか、という確認も重要な第一歩である。</a:t>
            </a:r>
          </a:p>
          <a:p>
            <a:pPr>
              <a:lnSpc>
                <a:spcPct val="117000"/>
              </a:lnSpc>
              <a:spcAft>
                <a:spcPts val="1300"/>
              </a:spcAft>
              <a:defRPr sz="1500">
                <a:solidFill>
                  <a:srgbClr val="252E38"/>
                </a:solidFill>
                <a:latin typeface="Yu Gothic"/>
              </a:defRPr>
            </a:pPr>
            <a:r>
              <a:t>• 18.5.1～18.5.2：正規モデルでは従来型の残差診断が有効だが、ポアソン・二項モデルでは分散と平均が連動するため量子化残差が有用である。パラメトリック・ブートストラップやベイズ事後予測チェックでは複製データを生成し、観測値とその差を検討する。</a:t>
            </a:r>
          </a:p>
          <a:p>
            <a:pPr>
              <a:lnSpc>
                <a:spcPct val="117000"/>
              </a:lnSpc>
              <a:spcAft>
                <a:spcPts val="1300"/>
              </a:spcAft>
              <a:defRPr sz="1500">
                <a:solidFill>
                  <a:srgbClr val="252E38"/>
                </a:solidFill>
                <a:latin typeface="Yu Gothic"/>
              </a:defRPr>
            </a:pPr>
            <a:r>
              <a:t>• 18.5.3～18.5.6：同じデータで推定と確認を行うと楽観的になりやすい。交差検証は未知データに近い評価を行う方法である。過分散、絶対的適合度、パラメータの識別可能性、仮定の破れに対する頑健性も診断対象に含まれる。</a:t>
            </a:r>
          </a:p>
          <a:p>
            <a:pPr>
              <a:lnSpc>
                <a:spcPct val="117000"/>
              </a:lnSpc>
              <a:spcAft>
                <a:spcPts val="1300"/>
              </a:spcAft>
              <a:defRPr sz="1500">
                <a:solidFill>
                  <a:srgbClr val="252E38"/>
                </a:solidFill>
                <a:latin typeface="Yu Gothic"/>
              </a:defRPr>
            </a:pPr>
            <a:r>
              <a:t>• 18.5.2では、最尤推定値を固定して新たなデータを生成するパラメトリック・ブートストラップと、パラメータの事後分布全体から生成するベイズ事後予測チェックを区別する。両者は予測の不確実性の反映の仕方が異なる。</a:t>
            </a:r>
          </a:p>
          <a:p>
            <a:pPr>
              <a:lnSpc>
                <a:spcPct val="117000"/>
              </a:lnSpc>
              <a:spcAft>
                <a:spcPts val="1300"/>
              </a:spcAft>
              <a:defRPr sz="1500">
                <a:solidFill>
                  <a:srgbClr val="252E38"/>
                </a:solidFill>
                <a:latin typeface="Yu Gothic"/>
              </a:defRPr>
            </a:pPr>
            <a:r>
              <a:t>• 18.5.3では、同じデータで推定と診断を行うことによる楽観的な適合評価を扱い、交差検証によって未使用データで評価する。18.5.4～18.5.6では過分散、絶対適合度、識別可能性、仮定の破れへの頑健性を順に検討する。</a:t>
            </a:r>
          </a:p>
          <a:p>
            <a:pPr>
              <a:lnSpc>
                <a:spcPct val="117000"/>
              </a:lnSpc>
              <a:spcAft>
                <a:spcPts val="1300"/>
              </a:spcAft>
              <a:defRPr sz="1500">
                <a:solidFill>
                  <a:srgbClr val="252E38"/>
                </a:solidFill>
                <a:latin typeface="Yu Gothic"/>
              </a:defRPr>
            </a:pPr>
            <a:r>
              <a:t>• 残差の局所的なパターンは、一つの包括的な検定統計量では見えない不適合を見せる。原著は不適合を単なる失敗ではなく、データ生成過程について新しい理解を得る機会と位置付ける。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18  |  05 / 09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18.6  Model selection｜モデル選択</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18.6.1：モデル選択を行うかどうかは目的で決まる。因果効果を推定したいとき、単に全変数の組合せを走査して予測上最良の式を選ぶ方法には問題がある。</a:t>
            </a:r>
          </a:p>
          <a:p>
            <a:pPr>
              <a:lnSpc>
                <a:spcPct val="117000"/>
              </a:lnSpc>
              <a:spcAft>
                <a:spcPts val="1300"/>
              </a:spcAft>
              <a:defRPr sz="1500">
                <a:solidFill>
                  <a:srgbClr val="252E38"/>
                </a:solidFill>
                <a:latin typeface="Yu Gothic"/>
              </a:defRPr>
            </a:pPr>
            <a:r>
              <a:t>• 18.6.2～18.6.4：予測性能は独立な外部データで検証するのが理想であり、それが難しいときに交差検証で外部検証を近似する。学習データへの当てはまりは未知データへの精度を直接示さない。</a:t>
            </a:r>
          </a:p>
          <a:p>
            <a:pPr>
              <a:lnSpc>
                <a:spcPct val="117000"/>
              </a:lnSpc>
              <a:spcAft>
                <a:spcPts val="1300"/>
              </a:spcAft>
              <a:defRPr sz="1500">
                <a:solidFill>
                  <a:srgbClr val="252E38"/>
                </a:solidFill>
                <a:latin typeface="Yu Gothic"/>
              </a:defRPr>
            </a:pPr>
            <a:r>
              <a:t>• 18.6.5：AIC、DIC、WAIC、LOO-ICなどの情報量規準は、データへの適合と複雑さ、または予測的性能の釣合いを評価する。基準が何を近似しているか、適用する推定法やモデルの前提を踏まえて解釈する。</a:t>
            </a:r>
          </a:p>
          <a:p>
            <a:pPr>
              <a:lnSpc>
                <a:spcPct val="117000"/>
              </a:lnSpc>
              <a:spcAft>
                <a:spcPts val="1300"/>
              </a:spcAft>
              <a:defRPr sz="1500">
                <a:solidFill>
                  <a:srgbClr val="252E38"/>
                </a:solidFill>
                <a:latin typeface="Yu Gothic"/>
              </a:defRPr>
            </a:pPr>
            <a:r>
              <a:t>• 18.6.3では完全に独立した外部データでの検証を理想とし、18.6.4の交差検証はその近似と位置付ける。予測対象が未知の地点、期間、集団などのどれかによって、独立性とデータ分割の考え方も重要になる。</a:t>
            </a:r>
          </a:p>
          <a:p>
            <a:pPr>
              <a:lnSpc>
                <a:spcPct val="117000"/>
              </a:lnSpc>
              <a:spcAft>
                <a:spcPts val="1300"/>
              </a:spcAft>
              <a:defRPr sz="1500">
                <a:solidFill>
                  <a:srgbClr val="252E38"/>
                </a:solidFill>
                <a:latin typeface="Yu Gothic"/>
              </a:defRPr>
            </a:pPr>
            <a:r>
              <a:t>• 18.6.5ではAIC、DIC、WAIC、LOO-ICを、適合度とモデルの複雑さや予測性能とのバランスを測る方法として整理する。数値が小さい候補が最適とみなされても、その候補が絶対的に十分な適合度を示すとは限らない。</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18  |  06 / 09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18.7  Model averaging｜モデル平均化</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モデルの不確実性を考慮するため、単一の「勝者」だけを採用せず、候補モデルの推定や予測を重み付きで平均する方法がある。</a:t>
            </a:r>
          </a:p>
          <a:p>
            <a:pPr>
              <a:lnSpc>
                <a:spcPct val="117000"/>
              </a:lnSpc>
              <a:spcAft>
                <a:spcPts val="1300"/>
              </a:spcAft>
              <a:defRPr sz="1500">
                <a:solidFill>
                  <a:srgbClr val="252E38"/>
                </a:solidFill>
                <a:latin typeface="Yu Gothic"/>
              </a:defRPr>
            </a:pPr>
            <a:r>
              <a:t>• モデル選択の結果が不安定なとき、候補の違いを反映した平均化は、モデル選択の不確実性をより明示的に扱う考え方として位置付けられる。</a:t>
            </a:r>
          </a:p>
          <a:p>
            <a:pPr>
              <a:lnSpc>
                <a:spcPct val="117000"/>
              </a:lnSpc>
              <a:spcAft>
                <a:spcPts val="1300"/>
              </a:spcAft>
              <a:defRPr sz="1500">
                <a:solidFill>
                  <a:srgbClr val="252E38"/>
                </a:solidFill>
                <a:latin typeface="Yu Gothic"/>
              </a:defRPr>
            </a:pPr>
            <a:r>
              <a:t>• モデル平均化も、候補モデルの構成と評価基準に依存する。候補の中に適合しないモデルしかなければ平均化自体が問題を解決するとは限らない。</a:t>
            </a:r>
          </a:p>
          <a:p>
            <a:pPr>
              <a:lnSpc>
                <a:spcPct val="117000"/>
              </a:lnSpc>
              <a:spcAft>
                <a:spcPts val="1300"/>
              </a:spcAft>
              <a:defRPr sz="1500">
                <a:solidFill>
                  <a:srgbClr val="252E38"/>
                </a:solidFill>
                <a:latin typeface="Yu Gothic"/>
              </a:defRPr>
            </a:pPr>
            <a:r>
              <a:t>• モデル平均化は、選択した単一モデルの係数や予測だけを利用する代わりに、複数モデルの結果を重み付けして組み合わせる方法である。モデル選択が不確実であることを結果に反映できる。</a:t>
            </a:r>
          </a:p>
          <a:p>
            <a:pPr>
              <a:lnSpc>
                <a:spcPct val="117000"/>
              </a:lnSpc>
              <a:spcAft>
                <a:spcPts val="1300"/>
              </a:spcAft>
              <a:defRPr sz="1500">
                <a:solidFill>
                  <a:srgbClr val="252E38"/>
                </a:solidFill>
                <a:latin typeface="Yu Gothic"/>
              </a:defRPr>
            </a:pPr>
            <a:r>
              <a:t>• ただし平均化の妥当性は候補モデルの集合と重みの算出に依存する。原著は選択・平均化・正則化を、主に予測という目的に関連する複数の道具として扱っている。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18  |  07 / 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1800" b="1">
                <a:solidFill>
                  <a:srgbClr val="1C2B3E"/>
                </a:solidFill>
                <a:latin typeface="Yu Gothic"/>
              </a:defRPr>
            </a:pPr>
            <a:r>
              <a:t>18.8  Regularization: penalization, shrinkage, ridge, and lasso｜正則化：罰則・縮小・ridge・lasso</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説明変数の多い予測モデルでは、係数に罰則を加えて推定値を0方向に縮め、過剰適合を抑える正則化が有用となる。ridgeとlassoはその代表である。</a:t>
            </a:r>
          </a:p>
          <a:p>
            <a:pPr>
              <a:lnSpc>
                <a:spcPct val="117000"/>
              </a:lnSpc>
              <a:spcAft>
                <a:spcPts val="1300"/>
              </a:spcAft>
              <a:defRPr sz="1500">
                <a:solidFill>
                  <a:srgbClr val="252E38"/>
                </a:solidFill>
                <a:latin typeface="Yu Gothic"/>
              </a:defRPr>
            </a:pPr>
            <a:r>
              <a:t>• ridgeは係数の二乗に対する罰則、lassoは絶対値に対する罰則を使う。lassoでは係数が厳密に0となり、変数選択にもつながる。</a:t>
            </a:r>
          </a:p>
          <a:p>
            <a:pPr>
              <a:lnSpc>
                <a:spcPct val="117000"/>
              </a:lnSpc>
              <a:spcAft>
                <a:spcPts val="1300"/>
              </a:spcAft>
              <a:defRPr sz="1500">
                <a:solidFill>
                  <a:srgbClr val="252E38"/>
                </a:solidFill>
                <a:latin typeface="Yu Gothic"/>
              </a:defRPr>
            </a:pPr>
            <a:r>
              <a:t>• 原著は真の生成モデルが存在しても、予測の点では正則化したモデルの方が優れる場合を示す。因果的な「正しさ」と予測性能を区別する必要がある。</a:t>
            </a:r>
          </a:p>
          <a:p>
            <a:pPr>
              <a:lnSpc>
                <a:spcPct val="117000"/>
              </a:lnSpc>
              <a:spcAft>
                <a:spcPts val="1300"/>
              </a:spcAft>
              <a:defRPr sz="1500">
                <a:solidFill>
                  <a:srgbClr val="252E38"/>
                </a:solidFill>
                <a:latin typeface="Yu Gothic"/>
              </a:defRPr>
            </a:pPr>
            <a:r>
              <a:t>• 回帰係数を縮小させる正則化は、追加の係数が訓練データの偶然の特徴に過剰適合することを抑える。ridgeとlassoの違いは、係数の二乗和か絶対値和かという罰則の形式にある。</a:t>
            </a:r>
          </a:p>
          <a:p>
            <a:pPr>
              <a:lnSpc>
                <a:spcPct val="117000"/>
              </a:lnSpc>
              <a:spcAft>
                <a:spcPts val="1300"/>
              </a:spcAft>
              <a:defRPr sz="1500">
                <a:solidFill>
                  <a:srgbClr val="252E38"/>
                </a:solidFill>
                <a:latin typeface="Yu Gothic"/>
              </a:defRPr>
            </a:pPr>
            <a:r>
              <a:t>• 真の生成モデルの式を知っていても、その式の最尤推定が有限標本で最良の予測を与えるとは限らない。原著はこの例を通じて「生成機構として正しいこと」と「未来を予測する性能」を分離する。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18  |  08 / 09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18.9  Summary and outlook｜まとめと展望</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モデルの目標を先に定義し、その目的に沿って構築・診断・選択を行うことが、本章を貫く考え方である。</a:t>
            </a:r>
          </a:p>
          <a:p>
            <a:pPr>
              <a:lnSpc>
                <a:spcPct val="117000"/>
              </a:lnSpc>
              <a:spcAft>
                <a:spcPts val="1300"/>
              </a:spcAft>
              <a:defRPr sz="1500">
                <a:solidFill>
                  <a:srgbClr val="252E38"/>
                </a:solidFill>
                <a:latin typeface="Yu Gothic"/>
              </a:defRPr>
            </a:pPr>
            <a:r>
              <a:t>• モデル診断では、観測データをモデルが再現できるかをシミュレーションや残差から調べる。診断で見つかった不適合は、次のモデル改善と科学的理解への手掛かりにもなる。</a:t>
            </a:r>
          </a:p>
          <a:p>
            <a:pPr>
              <a:lnSpc>
                <a:spcPct val="117000"/>
              </a:lnSpc>
              <a:spcAft>
                <a:spcPts val="1300"/>
              </a:spcAft>
              <a:defRPr sz="1500">
                <a:solidFill>
                  <a:srgbClr val="252E38"/>
                </a:solidFill>
                <a:latin typeface="Yu Gothic"/>
              </a:defRPr>
            </a:pPr>
            <a:r>
              <a:t>• 予測を目的とする場合には、交差検証、情報量規準、モデル平均化、正則化が重要である。一方、因果的な説明には仮説とモデル構造の整合性が不可欠である。</a:t>
            </a:r>
          </a:p>
          <a:p>
            <a:pPr>
              <a:lnSpc>
                <a:spcPct val="117000"/>
              </a:lnSpc>
              <a:spcAft>
                <a:spcPts val="1300"/>
              </a:spcAft>
              <a:defRPr sz="1500">
                <a:solidFill>
                  <a:srgbClr val="252E38"/>
                </a:solidFill>
                <a:latin typeface="Yu Gothic"/>
              </a:defRPr>
            </a:pPr>
            <a:r>
              <a:t>• 原著の総括は、モデルの目的を先に言語化してから、必要な構造の設計、診断、選択へ進むという一貫した作業手順である。モデルが適合しないと分かった場合には、その結果をもとに構造を改善する。</a:t>
            </a:r>
          </a:p>
          <a:p>
            <a:pPr>
              <a:lnSpc>
                <a:spcPct val="117000"/>
              </a:lnSpc>
              <a:spcAft>
                <a:spcPts val="1300"/>
              </a:spcAft>
              <a:defRPr sz="1500">
                <a:solidFill>
                  <a:srgbClr val="252E38"/>
                </a:solidFill>
                <a:latin typeface="Yu Gothic"/>
              </a:defRPr>
            </a:pPr>
            <a:r>
              <a:t>• 診断は一度で終わる検査ではなく、モデルと研究課題の対応を高めるための反復的な過程である。予測目的に適した最良のモデルが、因果機構の説明に適するとは限らない。</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18  |  09 / 09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18  モデル診断・選択・予測評価</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章のモデルとRコードの対応</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ポアソン回帰、再標本化・事後予測、交差検証</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原著Rコードの節構成を保持して解説する。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計算値は掲載せず、使用関数・確率モデル・推定の仕組みを確認する。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JAGS / NIMBLE / Stan / 自作尤度 / TMBの実装差に注目する。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出典：ASM_Chapter_18.R   |   未実行・推定値未検証   |   説明文はコード解読に基づく補足</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18  18.5.1  解析・検証</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Traditional residual diagnostics</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dat &lt;- simDat9()                     # Simulate data set like in Chapter 9</a:t>
            </a:r>
          </a:p>
          <a:p>
            <a:pPr>
              <a:spcAft>
                <a:spcPts val="400"/>
              </a:spcAft>
              <a:defRPr sz="1130" b="0">
                <a:solidFill>
                  <a:srgbClr val="132843"/>
                </a:solidFill>
                <a:latin typeface="Consolas"/>
              </a:defRPr>
            </a:pPr>
            <a:r>
              <a:t>plot(fm1)                            # Produce plots with residual diagnostics</a:t>
            </a:r>
          </a:p>
          <a:p>
            <a:pPr>
              <a:spcAft>
                <a:spcPts val="400"/>
              </a:spcAft>
              <a:defRPr sz="1130" b="0">
                <a:solidFill>
                  <a:srgbClr val="132843"/>
                </a:solidFill>
                <a:latin typeface="Consolas"/>
              </a:defRPr>
            </a:pPr>
            <a:r>
              <a:t>plot(fm2)</a:t>
            </a:r>
          </a:p>
          <a:p>
            <a:pPr>
              <a:spcAft>
                <a:spcPts val="400"/>
              </a:spcAft>
              <a:defRPr sz="1130" b="0">
                <a:solidFill>
                  <a:srgbClr val="132843"/>
                </a:solidFill>
                <a:latin typeface="Consolas"/>
              </a:defRPr>
            </a:pPr>
            <a:r>
              <a:t>set.seed(18)</a:t>
            </a:r>
          </a:p>
          <a:p>
            <a:pPr>
              <a:spcAft>
                <a:spcPts val="400"/>
              </a:spcAft>
              <a:defRPr sz="1130" b="0">
                <a:solidFill>
                  <a:srgbClr val="132843"/>
                </a:solidFill>
                <a:latin typeface="Consolas"/>
              </a:defRPr>
            </a:pPr>
            <a:r>
              <a:t>str(dat &lt;- simDat18(nSites = 200, beta1.vec = c(2.5, 0.2, 0.5, 1, -1),</a:t>
            </a:r>
          </a:p>
          <a:p>
            <a:pPr>
              <a:spcAft>
                <a:spcPts val="400"/>
              </a:spcAft>
              <a:defRPr sz="1130" b="0">
                <a:solidFill>
                  <a:srgbClr val="132843"/>
                </a:solidFill>
                <a:latin typeface="Consolas"/>
              </a:defRPr>
            </a:pPr>
            <a:r>
              <a:t>fm &lt;- glm(dat$C ~ dat$rock + dat$oak + dat$chip1 + dat$chip2 + dat$Xrest, family = poisson)</a:t>
            </a:r>
          </a:p>
          <a:p>
            <a:pPr>
              <a:spcAft>
                <a:spcPts val="400"/>
              </a:spcAft>
              <a:defRPr sz="1130" b="0">
                <a:solidFill>
                  <a:srgbClr val="132843"/>
                </a:solidFill>
                <a:latin typeface="Consolas"/>
              </a:defRPr>
            </a:pPr>
            <a:r>
              <a:t>plot(fm)</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コードの入力・変換・適合度統計・予測の順序をたどる。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観測データと複製データの区別に注意する。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実行値ではなくコード上の算出手順を説明する。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第18章はモデル診断・選択を中心とし、各推定エンジンの網羅比較ではない。</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出典：ASM_Chapter_18.R / 18.5.1   |   未実行・推定値未検証   |   説明文はコード解読に基づく補足</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18  18.5.2  事後予測診断</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Bootstrapped and posterior predictive distributions</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set.seed(18)</a:t>
            </a:r>
          </a:p>
          <a:p>
            <a:pPr>
              <a:spcAft>
                <a:spcPts val="400"/>
              </a:spcAft>
              <a:defRPr sz="1130" b="0">
                <a:solidFill>
                  <a:srgbClr val="132843"/>
                </a:solidFill>
                <a:latin typeface="Consolas"/>
              </a:defRPr>
            </a:pPr>
            <a:r>
              <a:t>str(dat &lt;- simDat18(nSites = 200, beta1.vec = c(2.5, 0.2, 0.5, 1, -1),</a:t>
            </a:r>
          </a:p>
          <a:p>
            <a:pPr>
              <a:spcAft>
                <a:spcPts val="400"/>
              </a:spcAft>
              <a:defRPr sz="1130" b="0">
                <a:solidFill>
                  <a:srgbClr val="132843"/>
                </a:solidFill>
                <a:latin typeface="Consolas"/>
              </a:defRPr>
            </a:pPr>
            <a:r>
              <a:t>summary(fm &lt;- glm(C ~ rock + oak + chip1, family = poisson, data = as.data.frame(dat)))</a:t>
            </a:r>
          </a:p>
          <a:p>
            <a:pPr>
              <a:spcAft>
                <a:spcPts val="400"/>
              </a:spcAft>
              <a:defRPr sz="1130" b="0">
                <a:solidFill>
                  <a:srgbClr val="132843"/>
                </a:solidFill>
                <a:latin typeface="Consolas"/>
              </a:defRPr>
            </a:pPr>
            <a:r>
              <a:t>mu.lambda &lt;- predict(fm, type = 'response')            # Expected values</a:t>
            </a:r>
          </a:p>
          <a:p>
            <a:pPr>
              <a:spcAft>
                <a:spcPts val="400"/>
              </a:spcAft>
              <a:defRPr sz="1130" b="0">
                <a:solidFill>
                  <a:srgbClr val="132843"/>
                </a:solidFill>
                <a:latin typeface="Consolas"/>
              </a:defRPr>
            </a:pPr>
            <a:r>
              <a:t>(fit.obs &lt;- sum(resi2.obs))          # Sum over data set</a:t>
            </a:r>
          </a:p>
          <a:p>
            <a:pPr>
              <a:spcAft>
                <a:spcPts val="400"/>
              </a:spcAft>
              <a:defRPr sz="1130" b="0">
                <a:solidFill>
                  <a:srgbClr val="132843"/>
                </a:solidFill>
                <a:latin typeface="Consolas"/>
              </a:defRPr>
            </a:pPr>
            <a:r>
              <a:t>sum(residuals(fm, "pearson")^2)      # Same</a:t>
            </a:r>
          </a:p>
          <a:p>
            <a:pPr>
              <a:spcAft>
                <a:spcPts val="400"/>
              </a:spcAft>
              <a:defRPr sz="1130" b="0">
                <a:solidFill>
                  <a:srgbClr val="132843"/>
                </a:solidFill>
                <a:latin typeface="Consolas"/>
              </a:defRPr>
            </a:pPr>
            <a:r>
              <a:t>fit.rep[k] &lt;- sum(resi2.rep)</a:t>
            </a:r>
          </a:p>
          <a:p>
            <a:pPr>
              <a:spcAft>
                <a:spcPts val="400"/>
              </a:spcAft>
              <a:defRPr sz="1130" b="0">
                <a:solidFill>
                  <a:srgbClr val="132843"/>
                </a:solidFill>
                <a:latin typeface="Consolas"/>
              </a:defRPr>
            </a:pPr>
            <a:r>
              <a:t>plot(dat$C, apply(yrep, 1, mean), pch = 16, col = rgb(0,0,0,0.3), frame = FALSE,</a:t>
            </a:r>
          </a:p>
          <a:p>
            <a:pPr>
              <a:spcAft>
                <a:spcPts val="400"/>
              </a:spcAft>
              <a:defRPr sz="1130" b="0">
                <a:solidFill>
                  <a:srgbClr val="132843"/>
                </a:solidFill>
                <a:latin typeface="Consolas"/>
              </a:defRPr>
            </a:pPr>
            <a:r>
              <a:t>boxplot(t(yrep[1:100,]), outline = FALSE, xlab = 'Data number 1–100',</a:t>
            </a:r>
          </a:p>
          <a:p>
            <a:pPr>
              <a:spcAft>
                <a:spcPts val="400"/>
              </a:spcAft>
              <a:defRPr sz="1130" b="0">
                <a:solidFill>
                  <a:srgbClr val="132843"/>
                </a:solidFill>
                <a:latin typeface="Consolas"/>
              </a:defRPr>
            </a:pPr>
            <a:r>
              <a:t>u[i] &lt;- mean((yrep[i,] &lt; yobs[i]) + runif(1) * (yrep[i,] == yobs[i]))</a:t>
            </a:r>
          </a:p>
          <a:p>
            <a:pPr>
              <a:spcAft>
                <a:spcPts val="400"/>
              </a:spcAft>
              <a:defRPr sz="1130" b="0">
                <a:solidFill>
                  <a:srgbClr val="132843"/>
                </a:solidFill>
                <a:latin typeface="Consolas"/>
              </a:defRPr>
            </a:pPr>
            <a:r>
              <a:t>plot(dat$oak, u, xlab = 'oak', pch = 16, frame = FALSE)</a:t>
            </a:r>
          </a:p>
          <a:p>
            <a:pPr>
              <a:spcAft>
                <a:spcPts val="400"/>
              </a:spcAft>
              <a:defRPr sz="1130" b="0">
                <a:solidFill>
                  <a:srgbClr val="132843"/>
                </a:solidFill>
                <a:latin typeface="Consolas"/>
              </a:defRPr>
            </a:pPr>
            <a:r>
              <a:t>plot(dat$chip1, u, xlab = 'chip1', pch = 16, frame = FALSE)</a:t>
            </a:r>
          </a:p>
          <a:p>
            <a:pPr>
              <a:spcAft>
                <a:spcPts val="400"/>
              </a:spcAft>
              <a:defRPr sz="1130" b="0">
                <a:solidFill>
                  <a:srgbClr val="132843"/>
                </a:solidFill>
                <a:latin typeface="Consolas"/>
              </a:defRPr>
            </a:pPr>
            <a:r>
              <a:t>plot(dat$chip2, u, xlab = 'chip2', pch = 16, frame = FALSE)</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推定した分布から複製データを生成して観測データとの差を比較する。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適合度統計 fit.obs と fit.rep、またはDHARMaの量的残差を使う。</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予測生成はモデル検査であり、観測値の再使用そのものではない。</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第18章はモデル診断・選択を中心とし、各推定エンジンの網羅比較ではない。</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出典：ASM_Chapter_18.R / 18.5.2   |   未実行・推定値未検証   |   説明文はコード解読に基づく補足</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18  18.5.3  交差検証</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Cross-validation for goodness-of-fit assessments</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set.seed(18)</a:t>
            </a:r>
          </a:p>
          <a:p>
            <a:pPr>
              <a:spcAft>
                <a:spcPts val="400"/>
              </a:spcAft>
              <a:defRPr sz="1130" b="0">
                <a:solidFill>
                  <a:srgbClr val="132843"/>
                </a:solidFill>
                <a:latin typeface="Consolas"/>
              </a:defRPr>
            </a:pPr>
            <a:r>
              <a:t>str(dat &lt;- simDat18(nSites = 100, beta1.vec = c(2.5, 0.2, 0.5, 1, -1),</a:t>
            </a:r>
          </a:p>
          <a:p>
            <a:pPr>
              <a:spcAft>
                <a:spcPts val="400"/>
              </a:spcAft>
              <a:defRPr sz="1130" b="0">
                <a:solidFill>
                  <a:srgbClr val="132843"/>
                </a:solidFill>
                <a:latin typeface="Consolas"/>
              </a:defRPr>
            </a:pPr>
            <a:r>
              <a:t>summary(fm &lt;- glm(C ~ rock + oak + chip1, family = poisson, data = dat))</a:t>
            </a:r>
          </a:p>
          <a:p>
            <a:pPr>
              <a:spcAft>
                <a:spcPts val="400"/>
              </a:spcAft>
              <a:defRPr sz="1130" b="0">
                <a:solidFill>
                  <a:srgbClr val="132843"/>
                </a:solidFill>
                <a:latin typeface="Consolas"/>
              </a:defRPr>
            </a:pPr>
            <a:r>
              <a:t>summary(fm_tmp &lt;- glm(C[-i] ~ rock[-i] + oak[-i] + chip1[-i], family = poisson, data = dat))</a:t>
            </a:r>
          </a:p>
          <a:p>
            <a:pPr>
              <a:spcAft>
                <a:spcPts val="400"/>
              </a:spcAft>
              <a:defRPr sz="1130" b="0">
                <a:solidFill>
                  <a:srgbClr val="132843"/>
                </a:solidFill>
                <a:latin typeface="Consolas"/>
              </a:defRPr>
            </a:pPr>
            <a:r>
              <a:t>u[i] &lt;- mean((YrepCV[i,] &lt; yobs[i]) + runif(1) * (YrepCV[i,] == yobs[i]))</a:t>
            </a:r>
          </a:p>
          <a:p>
            <a:pPr>
              <a:spcAft>
                <a:spcPts val="400"/>
              </a:spcAft>
              <a:defRPr sz="1130" b="0">
                <a:solidFill>
                  <a:srgbClr val="132843"/>
                </a:solidFill>
                <a:latin typeface="Consolas"/>
              </a:defRPr>
            </a:pPr>
            <a:r>
              <a:t>plot(dat$C, meanYCV, pch = 16, col = rgb(0,0,0,0.3), frame = FALSE,</a:t>
            </a:r>
          </a:p>
          <a:p>
            <a:pPr>
              <a:spcAft>
                <a:spcPts val="400"/>
              </a:spcAft>
              <a:defRPr sz="1130" b="0">
                <a:solidFill>
                  <a:srgbClr val="132843"/>
                </a:solidFill>
                <a:latin typeface="Consolas"/>
              </a:defRPr>
            </a:pPr>
            <a:r>
              <a:t>u[i] &lt;- mean((YrepCV[i,]&lt;yobs[i]) + runif(1) * (YrepCV[i,]== yobs[i]))</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一部のデータを学習から除外して再推定し、その点の予測を評価。</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全データへの当てはまりと新規データへの予測能力を分ける。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計算量・予測標本の配列の向きに注意。</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第18章はモデル診断・選択を中心とし、各推定エンジンの網羅比較ではない。</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出典：ASM_Chapter_18.R / 18.5.3   |   未実行・推定値未検証   |   説明文はコード解読に基づく補足</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18  18.5.4  解析・検証</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Identifying and correcting for overdispersion</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set.seed(18)</a:t>
            </a:r>
          </a:p>
          <a:p>
            <a:pPr>
              <a:spcAft>
                <a:spcPts val="400"/>
              </a:spcAft>
              <a:defRPr sz="1130" b="0">
                <a:solidFill>
                  <a:srgbClr val="132843"/>
                </a:solidFill>
                <a:latin typeface="Consolas"/>
              </a:defRPr>
            </a:pPr>
            <a:r>
              <a:t>str(dat &lt;- simDat18(nSites = 200, beta1.vec = c(2.5, 0.2, 0.5, 1, -1), ncov2 = 1,</a:t>
            </a:r>
          </a:p>
          <a:p>
            <a:pPr>
              <a:spcAft>
                <a:spcPts val="400"/>
              </a:spcAft>
              <a:defRPr sz="1130" b="0">
                <a:solidFill>
                  <a:srgbClr val="132843"/>
                </a:solidFill>
                <a:latin typeface="Consolas"/>
              </a:defRPr>
            </a:pPr>
            <a:r>
              <a:t>summary(fm &lt;- glm(C ~ rock + oak + chip1, family = poisson, data = as.data.frame(dat)))</a:t>
            </a:r>
          </a:p>
          <a:p>
            <a:pPr>
              <a:spcAft>
                <a:spcPts val="400"/>
              </a:spcAft>
              <a:defRPr sz="1130" b="0">
                <a:solidFill>
                  <a:srgbClr val="132843"/>
                </a:solidFill>
                <a:latin typeface="Consolas"/>
              </a:defRPr>
            </a:pPr>
            <a:r>
              <a:t>str(dat &lt;- simDat18(nSites = 200, beta1.vec = c(2.5, 0.2, 0.5, 1, -1), ncov2 = 45,</a:t>
            </a:r>
          </a:p>
          <a:p>
            <a:pPr>
              <a:spcAft>
                <a:spcPts val="400"/>
              </a:spcAft>
              <a:defRPr sz="1130" b="0">
                <a:solidFill>
                  <a:srgbClr val="132843"/>
                </a:solidFill>
                <a:latin typeface="Consolas"/>
              </a:defRPr>
            </a:pPr>
            <a:r>
              <a:t>summary(fm &lt;- glm(C ~ rock + oak + chip1 + chip2, family = poisson, data = data))</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コードの入力・変換・適合度統計・予測の順序をたどる。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観測データと複製データの区別に注意する。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実行値ではなくコード上の算出手順を説明する。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第18章はモデル診断・選択を中心とし、各推定エンジンの網羅比較ではない。</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出典：ASM_Chapter_18.R / 18.5.4   |   未実行・推定値未検証   |   説明文はコード解読に基づく補足</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18  18.5.6  解析・検証</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Parameter identifiability and robustness to assumptions</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plot(true.vals[,1], esti[,1], xlab = 'True', ylab = 'Estimated',</a:t>
            </a:r>
          </a:p>
          <a:p>
            <a:pPr>
              <a:spcAft>
                <a:spcPts val="400"/>
              </a:spcAft>
              <a:defRPr sz="1130" b="0">
                <a:solidFill>
                  <a:srgbClr val="132843"/>
                </a:solidFill>
                <a:latin typeface="Consolas"/>
              </a:defRPr>
            </a:pPr>
            <a:r>
              <a:t>plot(true.vals[,2], esti[,2], xlab = 'True', ylab = 'Estimated',</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コードの入力・変換・適合度統計・予測の順序をたどる。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観測データと複製データの区別に注意する。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実行値ではなくコード上の算出手順を説明する。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第18章はモデル診断・選択を中心とし、各推定エンジンの網羅比較ではない。</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出典：ASM_Chapter_18.R / 18.5.6   |   未実行・推定値未検証   |   説明文はコード解読に基づく補足</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18  18.6.2  解析・検証</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Measuring the predictive performance of a model</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set.seed(18)</a:t>
            </a:r>
          </a:p>
          <a:p>
            <a:pPr>
              <a:spcAft>
                <a:spcPts val="400"/>
              </a:spcAft>
              <a:defRPr sz="1130" b="0">
                <a:solidFill>
                  <a:srgbClr val="132843"/>
                </a:solidFill>
                <a:latin typeface="Consolas"/>
              </a:defRPr>
            </a:pPr>
            <a:r>
              <a:t>trainDat &lt;- simDat18(nSites = 50, beta1.vec = c(2, 0.2, 0.5, 1, -1),</a:t>
            </a:r>
          </a:p>
          <a:p>
            <a:pPr>
              <a:spcAft>
                <a:spcPts val="400"/>
              </a:spcAft>
              <a:defRPr sz="1130" b="0">
                <a:solidFill>
                  <a:srgbClr val="132843"/>
                </a:solidFill>
                <a:latin typeface="Consolas"/>
              </a:defRPr>
            </a:pPr>
            <a:r>
              <a:t>testDat &lt;- simDat18(nSites = 50, beta1.vec = c(2, 0.2, 0.5, 1, -1),</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コードの入力・変換・適合度統計・予測の順序をたどる。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観測データと複製データの区別に注意する。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実行値ではなくコード上の算出手順を説明する。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第18章はモデル診断・選択を中心とし、各推定エンジンの網羅比較ではない。</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出典：ASM_Chapter_18.R / 18.6.2   |   未実行・推定値未検証   |   説明文はコード解読に基づく補足</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18  18.6.3  外部予測検証</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Fully external model validation using “out-of-sample” data</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fm1 &lt;- glm(C ~ 1, family = poisson, data = dat)                          # Intercept only</a:t>
            </a:r>
          </a:p>
          <a:p>
            <a:pPr>
              <a:spcAft>
                <a:spcPts val="400"/>
              </a:spcAft>
              <a:defRPr sz="1130" b="0">
                <a:solidFill>
                  <a:srgbClr val="132843"/>
                </a:solidFill>
                <a:latin typeface="Consolas"/>
              </a:defRPr>
            </a:pPr>
            <a:r>
              <a:t>fm2 &lt;- glm(C ~ rock, family = poisson, data = dat)                       # + rock</a:t>
            </a:r>
          </a:p>
          <a:p>
            <a:pPr>
              <a:spcAft>
                <a:spcPts val="400"/>
              </a:spcAft>
              <a:defRPr sz="1130" b="0">
                <a:solidFill>
                  <a:srgbClr val="132843"/>
                </a:solidFill>
                <a:latin typeface="Consolas"/>
              </a:defRPr>
            </a:pPr>
            <a:r>
              <a:t>fm3 &lt;- glm(C ~ rock + oak, family = poisson, data = dat)                 # + oak</a:t>
            </a:r>
          </a:p>
          <a:p>
            <a:pPr>
              <a:spcAft>
                <a:spcPts val="400"/>
              </a:spcAft>
              <a:defRPr sz="1130" b="0">
                <a:solidFill>
                  <a:srgbClr val="132843"/>
                </a:solidFill>
                <a:latin typeface="Consolas"/>
              </a:defRPr>
            </a:pPr>
            <a:r>
              <a:t>fm4 &lt;- glm(C ~ rock + oak + chip1, family = poisson, data = dat)         # + chip1</a:t>
            </a:r>
          </a:p>
          <a:p>
            <a:pPr>
              <a:spcAft>
                <a:spcPts val="400"/>
              </a:spcAft>
              <a:defRPr sz="1130" b="0">
                <a:solidFill>
                  <a:srgbClr val="132843"/>
                </a:solidFill>
                <a:latin typeface="Consolas"/>
              </a:defRPr>
            </a:pPr>
            <a:r>
              <a:t>fm5 &lt;- glm(C ~ rock + oak + chip1 + chip2, family = poisson, data = dat) # + chip2</a:t>
            </a:r>
          </a:p>
          <a:p>
            <a:pPr>
              <a:spcAft>
                <a:spcPts val="400"/>
              </a:spcAft>
              <a:defRPr sz="1130" b="0">
                <a:solidFill>
                  <a:srgbClr val="132843"/>
                </a:solidFill>
                <a:latin typeface="Consolas"/>
              </a:defRPr>
            </a:pPr>
            <a:r>
              <a:t>predlam1 &lt;- predict(fm1, type = 'response')</a:t>
            </a:r>
          </a:p>
          <a:p>
            <a:pPr>
              <a:spcAft>
                <a:spcPts val="400"/>
              </a:spcAft>
              <a:defRPr sz="1130" b="0">
                <a:solidFill>
                  <a:srgbClr val="132843"/>
                </a:solidFill>
                <a:latin typeface="Consolas"/>
              </a:defRPr>
            </a:pPr>
            <a:r>
              <a:t>predlam2 &lt;- predict(fm2, type = 'response')</a:t>
            </a:r>
          </a:p>
          <a:p>
            <a:pPr>
              <a:spcAft>
                <a:spcPts val="400"/>
              </a:spcAft>
              <a:defRPr sz="1130" b="0">
                <a:solidFill>
                  <a:srgbClr val="132843"/>
                </a:solidFill>
                <a:latin typeface="Consolas"/>
              </a:defRPr>
            </a:pPr>
            <a:r>
              <a:t>predlam3 &lt;- predict(fm3, type = 'response')</a:t>
            </a:r>
          </a:p>
          <a:p>
            <a:pPr>
              <a:spcAft>
                <a:spcPts val="400"/>
              </a:spcAft>
              <a:defRPr sz="1130" b="0">
                <a:solidFill>
                  <a:srgbClr val="132843"/>
                </a:solidFill>
                <a:latin typeface="Consolas"/>
              </a:defRPr>
            </a:pPr>
            <a:r>
              <a:t>predlam4 &lt;- predict(fm4, type = 'response')</a:t>
            </a:r>
          </a:p>
          <a:p>
            <a:pPr>
              <a:spcAft>
                <a:spcPts val="400"/>
              </a:spcAft>
              <a:defRPr sz="1130" b="0">
                <a:solidFill>
                  <a:srgbClr val="132843"/>
                </a:solidFill>
                <a:latin typeface="Consolas"/>
              </a:defRPr>
            </a:pPr>
            <a:r>
              <a:t>predlam5 &lt;- predict(fm5, type = 'response')</a:t>
            </a:r>
          </a:p>
          <a:p>
            <a:pPr>
              <a:spcAft>
                <a:spcPts val="400"/>
              </a:spcAft>
              <a:defRPr sz="1130" b="0">
                <a:solidFill>
                  <a:srgbClr val="132843"/>
                </a:solidFill>
                <a:latin typeface="Consolas"/>
              </a:defRPr>
            </a:pPr>
            <a:r>
              <a:t>lpd1is &lt;- sum(dpois(dat$C, predlam1, log = TRUE))</a:t>
            </a:r>
          </a:p>
          <a:p>
            <a:pPr>
              <a:spcAft>
                <a:spcPts val="400"/>
              </a:spcAft>
              <a:defRPr sz="1130" b="0">
                <a:solidFill>
                  <a:srgbClr val="132843"/>
                </a:solidFill>
                <a:latin typeface="Consolas"/>
              </a:defRPr>
            </a:pPr>
            <a:r>
              <a:t>lpd2is &lt;- sum(dpois(dat$C, predlam2, log = TRUE))</a:t>
            </a:r>
          </a:p>
          <a:p>
            <a:pPr>
              <a:spcAft>
                <a:spcPts val="400"/>
              </a:spcAft>
              <a:defRPr sz="1130" b="0">
                <a:solidFill>
                  <a:srgbClr val="132843"/>
                </a:solidFill>
                <a:latin typeface="Consolas"/>
              </a:defRPr>
            </a:pPr>
            <a:r>
              <a:t>lpd3is &lt;- sum(dpois(dat$C, predlam3, log = TRUE))</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コードの入力・変換・適合度統計・予測の順序をたどる。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観測データと複製データの区別に注意する。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実行値ではなくコード上の算出手順を説明する。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第18章はモデル診断・選択を中心とし、各推定エンジンの網羅比較ではない。</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出典：ASM_Chapter_18.R / 18.6.3   |   未実行・推定値未検証   |   説明文はコード解読に基づく補足</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18  18.6.4  交差検証</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Approximating external validation for “in-sample” data with cross-validation</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fm1CV &lt;- glm(C ~ 1, family = poisson, data = datCV)</a:t>
            </a:r>
          </a:p>
          <a:p>
            <a:pPr>
              <a:spcAft>
                <a:spcPts val="400"/>
              </a:spcAft>
              <a:defRPr sz="1130" b="0">
                <a:solidFill>
                  <a:srgbClr val="132843"/>
                </a:solidFill>
                <a:latin typeface="Consolas"/>
              </a:defRPr>
            </a:pPr>
            <a:r>
              <a:t>fm2CV &lt;- glm(C ~ rock, family = poisson, data = datCV)</a:t>
            </a:r>
          </a:p>
          <a:p>
            <a:pPr>
              <a:spcAft>
                <a:spcPts val="400"/>
              </a:spcAft>
              <a:defRPr sz="1130" b="0">
                <a:solidFill>
                  <a:srgbClr val="132843"/>
                </a:solidFill>
                <a:latin typeface="Consolas"/>
              </a:defRPr>
            </a:pPr>
            <a:r>
              <a:t>fm3CV &lt;- glm(C ~ rock + oak, family = poisson, data = datCV)</a:t>
            </a:r>
          </a:p>
          <a:p>
            <a:pPr>
              <a:spcAft>
                <a:spcPts val="400"/>
              </a:spcAft>
              <a:defRPr sz="1130" b="0">
                <a:solidFill>
                  <a:srgbClr val="132843"/>
                </a:solidFill>
                <a:latin typeface="Consolas"/>
              </a:defRPr>
            </a:pPr>
            <a:r>
              <a:t>fm4CV &lt;- glm(C ~ rock + oak + chip1, family = poisson, data = datCV)</a:t>
            </a:r>
          </a:p>
          <a:p>
            <a:pPr>
              <a:spcAft>
                <a:spcPts val="400"/>
              </a:spcAft>
              <a:defRPr sz="1130" b="0">
                <a:solidFill>
                  <a:srgbClr val="132843"/>
                </a:solidFill>
                <a:latin typeface="Consolas"/>
              </a:defRPr>
            </a:pPr>
            <a:r>
              <a:t>fm5CV &lt;- glm(C ~ rock + oak + chip1 + chip2, family = poisson, data = datCV)</a:t>
            </a:r>
          </a:p>
          <a:p>
            <a:pPr>
              <a:spcAft>
                <a:spcPts val="400"/>
              </a:spcAft>
              <a:defRPr sz="1130" b="0">
                <a:solidFill>
                  <a:srgbClr val="132843"/>
                </a:solidFill>
                <a:latin typeface="Consolas"/>
              </a:defRPr>
            </a:pPr>
            <a:r>
              <a:t>predlam1CV &lt;- predict(fm1CV, type = 'response', newdata = loDat)</a:t>
            </a:r>
          </a:p>
          <a:p>
            <a:pPr>
              <a:spcAft>
                <a:spcPts val="400"/>
              </a:spcAft>
              <a:defRPr sz="1130" b="0">
                <a:solidFill>
                  <a:srgbClr val="132843"/>
                </a:solidFill>
                <a:latin typeface="Consolas"/>
              </a:defRPr>
            </a:pPr>
            <a:r>
              <a:t>predlam2CV &lt;- predict(fm2CV, type = 'response', newdata = loDat)</a:t>
            </a:r>
          </a:p>
          <a:p>
            <a:pPr>
              <a:spcAft>
                <a:spcPts val="400"/>
              </a:spcAft>
              <a:defRPr sz="1130" b="0">
                <a:solidFill>
                  <a:srgbClr val="132843"/>
                </a:solidFill>
                <a:latin typeface="Consolas"/>
              </a:defRPr>
            </a:pPr>
            <a:r>
              <a:t>predlam3CV &lt;- predict(fm3CV, type = 'response', newdata = loDat)</a:t>
            </a:r>
          </a:p>
          <a:p>
            <a:pPr>
              <a:spcAft>
                <a:spcPts val="400"/>
              </a:spcAft>
              <a:defRPr sz="1130" b="0">
                <a:solidFill>
                  <a:srgbClr val="132843"/>
                </a:solidFill>
                <a:latin typeface="Consolas"/>
              </a:defRPr>
            </a:pPr>
            <a:r>
              <a:t>predlam4CV &lt;- predict(fm4CV, type = 'response', newdata = loDat)</a:t>
            </a:r>
          </a:p>
          <a:p>
            <a:pPr>
              <a:spcAft>
                <a:spcPts val="400"/>
              </a:spcAft>
              <a:defRPr sz="1130" b="0">
                <a:solidFill>
                  <a:srgbClr val="132843"/>
                </a:solidFill>
                <a:latin typeface="Consolas"/>
              </a:defRPr>
            </a:pPr>
            <a:r>
              <a:t>predlam5CV &lt;- predict(fm5CV, type = 'response', newdata = loDat)</a:t>
            </a:r>
          </a:p>
          <a:p>
            <a:pPr>
              <a:spcAft>
                <a:spcPts val="400"/>
              </a:spcAft>
              <a:defRPr sz="1130" b="0">
                <a:solidFill>
                  <a:srgbClr val="132843"/>
                </a:solidFill>
                <a:latin typeface="Consolas"/>
              </a:defRPr>
            </a:pPr>
            <a:r>
              <a:t>matplot(comp[,1:3], type = 'b', lwd = 3, lty = 1, frame = FALSE, axes = FALSE,</a:t>
            </a:r>
          </a:p>
          <a:p>
            <a:pPr>
              <a:spcAft>
                <a:spcPts val="400"/>
              </a:spcAft>
              <a:defRPr sz="1130" b="0">
                <a:solidFill>
                  <a:srgbClr val="132843"/>
                </a:solidFill>
                <a:latin typeface="Consolas"/>
              </a:defRPr>
            </a:pPr>
            <a:r>
              <a:t>matplot(comp[,1:4], type = 'b', lwd = 3, lty = 1, frame = FALSE, axes = FALSE,</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一部のデータを学習から除外して再推定し、その点の予測を評価。</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全データへの当てはまりと新規データへの予測能力を分ける。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計算量・予測標本の配列の向きに注意。</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第18章はモデル診断・選択を中心とし、各推定エンジンの網羅比較ではない。</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出典：ASM_Chapter_18.R / 18.6.4   |   未実行・推定値未検証   |   説明文はコード解読に基づく補足</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18  18.6.5  解析・検証</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Approximating external validation for “in-sample” data with</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-sum(LL)</a:t>
            </a:r>
          </a:p>
          <a:p>
            <a:pPr>
              <a:spcAft>
                <a:spcPts val="400"/>
              </a:spcAft>
              <a:defRPr sz="1130" b="0">
                <a:solidFill>
                  <a:srgbClr val="132843"/>
                </a:solidFill>
                <a:latin typeface="Consolas"/>
              </a:defRPr>
            </a:pPr>
            <a:r>
              <a:t>myDeviance &lt;- -2 * sum(logdens)</a:t>
            </a:r>
          </a:p>
          <a:p>
            <a:pPr>
              <a:spcAft>
                <a:spcPts val="400"/>
              </a:spcAft>
              <a:defRPr sz="1130" b="0">
                <a:solidFill>
                  <a:srgbClr val="132843"/>
                </a:solidFill>
                <a:latin typeface="Consolas"/>
              </a:defRPr>
            </a:pPr>
            <a:r>
              <a:t>mean(pD1)</a:t>
            </a:r>
          </a:p>
          <a:p>
            <a:pPr>
              <a:spcAft>
                <a:spcPts val="400"/>
              </a:spcAft>
              <a:defRPr sz="1130" b="0">
                <a:solidFill>
                  <a:srgbClr val="132843"/>
                </a:solidFill>
                <a:latin typeface="Consolas"/>
              </a:defRPr>
            </a:pPr>
            <a:r>
              <a:t>mean(pD2)</a:t>
            </a:r>
          </a:p>
          <a:p>
            <a:pPr>
              <a:spcAft>
                <a:spcPts val="400"/>
              </a:spcAft>
              <a:defRPr sz="1130" b="0">
                <a:solidFill>
                  <a:srgbClr val="132843"/>
                </a:solidFill>
                <a:latin typeface="Consolas"/>
              </a:defRPr>
            </a:pPr>
            <a:r>
              <a:t>mean(pD3)</a:t>
            </a:r>
          </a:p>
          <a:p>
            <a:pPr>
              <a:spcAft>
                <a:spcPts val="400"/>
              </a:spcAft>
              <a:defRPr sz="1130" b="0">
                <a:solidFill>
                  <a:srgbClr val="132843"/>
                </a:solidFill>
                <a:latin typeface="Consolas"/>
              </a:defRPr>
            </a:pPr>
            <a:r>
              <a:t>mean(pD4)</a:t>
            </a:r>
          </a:p>
          <a:p>
            <a:pPr>
              <a:spcAft>
                <a:spcPts val="400"/>
              </a:spcAft>
              <a:defRPr sz="1130" b="0">
                <a:solidFill>
                  <a:srgbClr val="132843"/>
                </a:solidFill>
                <a:latin typeface="Consolas"/>
              </a:defRPr>
            </a:pPr>
            <a:r>
              <a:t>mean(pD5)</a:t>
            </a:r>
          </a:p>
          <a:p>
            <a:pPr>
              <a:spcAft>
                <a:spcPts val="400"/>
              </a:spcAft>
              <a:defRPr sz="1130" b="0">
                <a:solidFill>
                  <a:srgbClr val="132843"/>
                </a:solidFill>
                <a:latin typeface="Consolas"/>
              </a:defRPr>
            </a:pPr>
            <a:r>
              <a:t>dic1_jagsUI &lt;- mean(dic1)</a:t>
            </a:r>
          </a:p>
          <a:p>
            <a:pPr>
              <a:spcAft>
                <a:spcPts val="400"/>
              </a:spcAft>
              <a:defRPr sz="1130" b="0">
                <a:solidFill>
                  <a:srgbClr val="132843"/>
                </a:solidFill>
                <a:latin typeface="Consolas"/>
              </a:defRPr>
            </a:pPr>
            <a:r>
              <a:t>dic2_jagsUI &lt;- mean(dic2)</a:t>
            </a:r>
          </a:p>
          <a:p>
            <a:pPr>
              <a:spcAft>
                <a:spcPts val="400"/>
              </a:spcAft>
              <a:defRPr sz="1130" b="0">
                <a:solidFill>
                  <a:srgbClr val="132843"/>
                </a:solidFill>
                <a:latin typeface="Consolas"/>
              </a:defRPr>
            </a:pPr>
            <a:r>
              <a:t>dic3_jagsUI &lt;- mean(dic3)</a:t>
            </a:r>
          </a:p>
          <a:p>
            <a:pPr>
              <a:spcAft>
                <a:spcPts val="400"/>
              </a:spcAft>
              <a:defRPr sz="1130" b="0">
                <a:solidFill>
                  <a:srgbClr val="132843"/>
                </a:solidFill>
                <a:latin typeface="Consolas"/>
              </a:defRPr>
            </a:pPr>
            <a:r>
              <a:t>dic4_jagsUI &lt;- mean(dic4)</a:t>
            </a:r>
          </a:p>
          <a:p>
            <a:pPr>
              <a:spcAft>
                <a:spcPts val="400"/>
              </a:spcAft>
              <a:defRPr sz="1130" b="0">
                <a:solidFill>
                  <a:srgbClr val="132843"/>
                </a:solidFill>
                <a:latin typeface="Consolas"/>
              </a:defRPr>
            </a:pPr>
            <a:r>
              <a:t>dic5_jagsUI &lt;- mean(dic5)</a:t>
            </a:r>
          </a:p>
          <a:p>
            <a:pPr>
              <a:spcAft>
                <a:spcPts val="400"/>
              </a:spcAft>
              <a:defRPr sz="1130" b="0">
                <a:solidFill>
                  <a:srgbClr val="132843"/>
                </a:solidFill>
                <a:latin typeface="Consolas"/>
              </a:defRPr>
            </a:pPr>
            <a:r>
              <a:t>tt2 &lt;- c(mean(pD1), mean(pD2), mean(pD3), mean(pD4), mean(pD5))</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コードの入力・変換・適合度統計・予測の順序をたどる。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観測データと複製データの区別に注意する。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実行値ではなくコード上の算出手順を説明する。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第18章はモデル診断・選択を中心とし、各推定エンジンの網羅比較ではない。</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出典：ASM_Chapter_18.R / 18.6.5   |   未実行・推定値未検証   |   説明文はコード解読に基づく補足</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18  18.7  解析・検証</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Model averaging</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set.seed(18)</a:t>
            </a:r>
          </a:p>
          <a:p>
            <a:pPr>
              <a:spcAft>
                <a:spcPts val="400"/>
              </a:spcAft>
              <a:defRPr sz="1130" b="0">
                <a:solidFill>
                  <a:srgbClr val="132843"/>
                </a:solidFill>
                <a:latin typeface="Consolas"/>
              </a:defRPr>
            </a:pPr>
            <a:r>
              <a:t>dat &lt;- simDat18(nSites = 100, beta1.vec = c(0.5, 0.3, 0.2, 0.3, -0.4),</a:t>
            </a:r>
          </a:p>
          <a:p>
            <a:pPr>
              <a:spcAft>
                <a:spcPts val="400"/>
              </a:spcAft>
              <a:defRPr sz="1130" b="0">
                <a:solidFill>
                  <a:srgbClr val="132843"/>
                </a:solidFill>
                <a:latin typeface="Consolas"/>
              </a:defRPr>
            </a:pPr>
            <a:r>
              <a:t>fm1 &lt;- glm(C ~ 1, family = poisson, data = data)</a:t>
            </a:r>
          </a:p>
          <a:p>
            <a:pPr>
              <a:spcAft>
                <a:spcPts val="400"/>
              </a:spcAft>
              <a:defRPr sz="1130" b="0">
                <a:solidFill>
                  <a:srgbClr val="132843"/>
                </a:solidFill>
                <a:latin typeface="Consolas"/>
              </a:defRPr>
            </a:pPr>
            <a:r>
              <a:t>fm2 &lt;- glm(C ~ rock, family = poisson, data = data)</a:t>
            </a:r>
          </a:p>
          <a:p>
            <a:pPr>
              <a:spcAft>
                <a:spcPts val="400"/>
              </a:spcAft>
              <a:defRPr sz="1130" b="0">
                <a:solidFill>
                  <a:srgbClr val="132843"/>
                </a:solidFill>
                <a:latin typeface="Consolas"/>
              </a:defRPr>
            </a:pPr>
            <a:r>
              <a:t>fm3 &lt;- glm(C ~ oak, family = poisson, data = data)</a:t>
            </a:r>
          </a:p>
          <a:p>
            <a:pPr>
              <a:spcAft>
                <a:spcPts val="400"/>
              </a:spcAft>
              <a:defRPr sz="1130" b="0">
                <a:solidFill>
                  <a:srgbClr val="132843"/>
                </a:solidFill>
                <a:latin typeface="Consolas"/>
              </a:defRPr>
            </a:pPr>
            <a:r>
              <a:t>fm4 &lt;- glm(C ~ chip1, family = poisson, data = data)</a:t>
            </a:r>
          </a:p>
          <a:p>
            <a:pPr>
              <a:spcAft>
                <a:spcPts val="400"/>
              </a:spcAft>
              <a:defRPr sz="1130" b="0">
                <a:solidFill>
                  <a:srgbClr val="132843"/>
                </a:solidFill>
                <a:latin typeface="Consolas"/>
              </a:defRPr>
            </a:pPr>
            <a:r>
              <a:t>fm5 &lt;- glm(C ~ rock + oak, family = poisson, data = data)</a:t>
            </a:r>
          </a:p>
          <a:p>
            <a:pPr>
              <a:spcAft>
                <a:spcPts val="400"/>
              </a:spcAft>
              <a:defRPr sz="1130" b="0">
                <a:solidFill>
                  <a:srgbClr val="132843"/>
                </a:solidFill>
                <a:latin typeface="Consolas"/>
              </a:defRPr>
            </a:pPr>
            <a:r>
              <a:t>fm6 &lt;- glm(C ~ rock + chip1, family = poisson, data = data)</a:t>
            </a:r>
          </a:p>
          <a:p>
            <a:pPr>
              <a:spcAft>
                <a:spcPts val="400"/>
              </a:spcAft>
              <a:defRPr sz="1130" b="0">
                <a:solidFill>
                  <a:srgbClr val="132843"/>
                </a:solidFill>
                <a:latin typeface="Consolas"/>
              </a:defRPr>
            </a:pPr>
            <a:r>
              <a:t>fm7 &lt;- glm(C ~ oak + chip1, family = poisson, data = data)</a:t>
            </a:r>
          </a:p>
          <a:p>
            <a:pPr>
              <a:spcAft>
                <a:spcPts val="400"/>
              </a:spcAft>
              <a:defRPr sz="1130" b="0">
                <a:solidFill>
                  <a:srgbClr val="132843"/>
                </a:solidFill>
                <a:latin typeface="Consolas"/>
              </a:defRPr>
            </a:pPr>
            <a:r>
              <a:t>fm8 &lt;- glm(C ~ rock + oak + chip1, family = poisson, data = data)</a:t>
            </a:r>
          </a:p>
          <a:p>
            <a:pPr>
              <a:spcAft>
                <a:spcPts val="400"/>
              </a:spcAft>
              <a:defRPr sz="1130" b="0">
                <a:solidFill>
                  <a:srgbClr val="132843"/>
                </a:solidFill>
                <a:latin typeface="Consolas"/>
              </a:defRPr>
            </a:pPr>
            <a:r>
              <a:t>plot(newdata$rock, ma_pred$mod.avg.pred, xlab = 'Rock', ylab = 'Expected count',</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コードの入力・変換・適合度統計・予測の順序をたどる。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観測データと複製データの区別に注意する。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実行値ではなくコード上の算出手順を説明する。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第18章はモデル診断・選択を中心とし、各推定エンジンの網羅比較ではない。</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出典：ASM_Chapter_18.R / 18.7   |   未実行・推定値未検証   |   説明文はコード解読に基づく補足</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18  18.8  解析・検証</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Regularization: penalization, shrinkage, ridge, and lasso</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set.seed(18)</a:t>
            </a:r>
          </a:p>
          <a:p>
            <a:pPr>
              <a:spcAft>
                <a:spcPts val="400"/>
              </a:spcAft>
              <a:defRPr sz="1130" b="0">
                <a:solidFill>
                  <a:srgbClr val="132843"/>
                </a:solidFill>
                <a:latin typeface="Consolas"/>
              </a:defRPr>
            </a:pPr>
            <a:r>
              <a:t>str(dat &lt;- simDat18(nSites = 100, beta1.vec = c(0.5, 0.4, 0.8, 1, -1), ncov2 = 60,</a:t>
            </a:r>
          </a:p>
          <a:p>
            <a:pPr>
              <a:spcAft>
                <a:spcPts val="400"/>
              </a:spcAft>
              <a:defRPr sz="1130" b="0">
                <a:solidFill>
                  <a:srgbClr val="132843"/>
                </a:solidFill>
                <a:latin typeface="Consolas"/>
              </a:defRPr>
            </a:pPr>
            <a:r>
              <a:t>summary(fm &lt;- glm(C ~ rock + oak + chip1 + chip2, family = poisson, data = as.data.frame(dat))) # works NOT</a:t>
            </a:r>
          </a:p>
          <a:p>
            <a:pPr>
              <a:spcAft>
                <a:spcPts val="400"/>
              </a:spcAft>
              <a:defRPr sz="1130" b="0">
                <a:solidFill>
                  <a:srgbClr val="132843"/>
                </a:solidFill>
                <a:latin typeface="Consolas"/>
              </a:defRPr>
            </a:pPr>
            <a:r>
              <a:t>summary(fm &lt;- glm(dat$C ~ dat$rock + dat$oak + dat$chip1 + dat$chip2, family = poisson))</a:t>
            </a:r>
          </a:p>
          <a:p>
            <a:pPr>
              <a:spcAft>
                <a:spcPts val="400"/>
              </a:spcAft>
              <a:defRPr sz="1130" b="0">
                <a:solidFill>
                  <a:srgbClr val="132843"/>
                </a:solidFill>
                <a:latin typeface="Consolas"/>
              </a:defRPr>
            </a:pPr>
            <a:r>
              <a:t>sum(lppd_R)  ;  sum(LPPD)</a:t>
            </a:r>
          </a:p>
          <a:p>
            <a:pPr>
              <a:spcAft>
                <a:spcPts val="400"/>
              </a:spcAft>
              <a:defRPr sz="1130" b="0">
                <a:solidFill>
                  <a:srgbClr val="132843"/>
                </a:solidFill>
                <a:latin typeface="Consolas"/>
              </a:defRPr>
            </a:pPr>
            <a:r>
              <a:t>sum(is.na(lppd_R))</a:t>
            </a:r>
          </a:p>
          <a:p>
            <a:pPr>
              <a:spcAft>
                <a:spcPts val="400"/>
              </a:spcAft>
              <a:defRPr sz="1130" b="0">
                <a:solidFill>
                  <a:srgbClr val="132843"/>
                </a:solidFill>
                <a:latin typeface="Consolas"/>
              </a:defRPr>
            </a:pPr>
            <a:r>
              <a:t>score[l] &lt;- sum(log(rowMeans(exp(LPPD100[,,l]), na.rm = TRUE)))</a:t>
            </a:r>
          </a:p>
          <a:p>
            <a:pPr>
              <a:spcAft>
                <a:spcPts val="400"/>
              </a:spcAft>
              <a:defRPr sz="1130" b="0">
                <a:solidFill>
                  <a:srgbClr val="132843"/>
                </a:solidFill>
                <a:latin typeface="Consolas"/>
              </a:defRPr>
            </a:pPr>
            <a:r>
              <a:t>plot(log(lam.pen.vals), score, pch = 16, col = rgb(0,0,0,0.3), cex = 2,</a:t>
            </a:r>
          </a:p>
          <a:p>
            <a:pPr>
              <a:spcAft>
                <a:spcPts val="400"/>
              </a:spcAft>
              <a:defRPr sz="1130" b="0">
                <a:solidFill>
                  <a:srgbClr val="132843"/>
                </a:solidFill>
                <a:latin typeface="Consolas"/>
              </a:defRPr>
            </a:pPr>
            <a:r>
              <a:t>SCORE[l, s] &lt;- sum(LPPD0[,s,l])</a:t>
            </a:r>
          </a:p>
          <a:p>
            <a:pPr>
              <a:spcAft>
                <a:spcPts val="400"/>
              </a:spcAft>
              <a:defRPr sz="1130" b="0">
                <a:solidFill>
                  <a:srgbClr val="132843"/>
                </a:solidFill>
                <a:latin typeface="Consolas"/>
              </a:defRPr>
            </a:pPr>
            <a:r>
              <a:t>boxplot(t(SCORE), outline = FALSE, axes = FALSE)</a:t>
            </a:r>
          </a:p>
          <a:p>
            <a:pPr>
              <a:spcAft>
                <a:spcPts val="400"/>
              </a:spcAft>
              <a:defRPr sz="1130" b="0">
                <a:solidFill>
                  <a:srgbClr val="132843"/>
                </a:solidFill>
                <a:latin typeface="Consolas"/>
              </a:defRPr>
            </a:pPr>
            <a:r>
              <a:t>matplot(log(lam.pen.vals), t(tmp[c(2:65),]), type = 'l', lty = 1, lwd = 3, col = 1:64,</a:t>
            </a:r>
          </a:p>
          <a:p>
            <a:pPr>
              <a:spcAft>
                <a:spcPts val="400"/>
              </a:spcAft>
              <a:defRPr sz="1130" b="0">
                <a:solidFill>
                  <a:srgbClr val="132843"/>
                </a:solidFill>
                <a:latin typeface="Consolas"/>
              </a:defRPr>
            </a:pPr>
            <a:r>
              <a:t>matplot(log(lam.pen.vals), t(tmp[c(6:65),]), type = 'l', lty = 1, lwd = 2, col = rgb(0,0,0,0.3),</a:t>
            </a:r>
          </a:p>
          <a:p>
            <a:pPr>
              <a:spcAft>
                <a:spcPts val="400"/>
              </a:spcAft>
              <a:defRPr sz="1130" b="0">
                <a:solidFill>
                  <a:srgbClr val="132843"/>
                </a:solidFill>
                <a:latin typeface="Consolas"/>
              </a:defRPr>
            </a:pPr>
            <a:r>
              <a:t>matplot(log(lam.pen.vals), t(tmp[c(2:25),]), type = 'l', lty = 1, lwd = 3, col = 1:24,</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コードの入力・変換・適合度統計・予測の順序をたどる。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観測データと複製データの区別に注意する。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実行値ではなくコード上の算出手順を説明する。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第18章はモデル診断・選択を中心とし、各推定エンジンの網羅比較ではない。</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出典：ASM_Chapter_18.R / 18.8   |   未実行・推定値未検証   |   説明文はコード解読に基づく補足</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3261</Words>
  <Application>Microsoft Office PowerPoint</Application>
  <PresentationFormat>ワイド画面</PresentationFormat>
  <Paragraphs>308</Paragraphs>
  <Slides>23</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23</vt:i4>
      </vt:variant>
    </vt:vector>
  </HeadingPairs>
  <TitlesOfParts>
    <vt:vector size="28" baseType="lpstr">
      <vt:lpstr>BIZ UDゴシック</vt:lpstr>
      <vt:lpstr>Aptos</vt:lpstr>
      <vt:lpstr>Arial</vt:lpstr>
      <vt:lpstr>Calibri</vt:lpstr>
      <vt:lpstr>Office Theme</vt:lpstr>
      <vt:lpstr>Applied Statistical Modelling for Ecologists  ASME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大下　誠二</dc:creator>
  <cp:keywords/>
  <dc:description>generated using python-pptx</dc:description>
  <cp:lastModifiedBy>大下　誠二</cp:lastModifiedBy>
  <cp:revision>1</cp:revision>
  <dcterms:created xsi:type="dcterms:W3CDTF">2013-01-27T09:14:16Z</dcterms:created>
  <dcterms:modified xsi:type="dcterms:W3CDTF">2026-10-23T02:02:08Z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7f20da-a1a1-4a35-a6a7-15fbbc2fd93a_Enabled">
    <vt:lpwstr>true</vt:lpwstr>
  </property>
  <property fmtid="{D5CDD505-2E9C-101B-9397-08002B2CF9AE}" pid="3" name="MSIP_Label_2a7f20da-a1a1-4a35-a6a7-15fbbc2fd93a_SetDate">
    <vt:lpwstr>2026-10-23T01:57:19Z</vt:lpwstr>
  </property>
  <property fmtid="{D5CDD505-2E9C-101B-9397-08002B2CF9AE}" pid="4" name="MSIP_Label_2a7f20da-a1a1-4a35-a6a7-15fbbc2fd93a_Method">
    <vt:lpwstr>Standard</vt:lpwstr>
  </property>
  <property fmtid="{D5CDD505-2E9C-101B-9397-08002B2CF9AE}" pid="5" name="MSIP_Label_2a7f20da-a1a1-4a35-a6a7-15fbbc2fd93a_Name">
    <vt:lpwstr>機密性２情報</vt:lpwstr>
  </property>
  <property fmtid="{D5CDD505-2E9C-101B-9397-08002B2CF9AE}" pid="6" name="MSIP_Label_2a7f20da-a1a1-4a35-a6a7-15fbbc2fd93a_SiteId">
    <vt:lpwstr>b4a530b7-04dc-4923-a02e-b4eaa332ba4a</vt:lpwstr>
  </property>
  <property fmtid="{D5CDD505-2E9C-101B-9397-08002B2CF9AE}" pid="7" name="MSIP_Label_2a7f20da-a1a1-4a35-a6a7-15fbbc2fd93a_ActionId">
    <vt:lpwstr>da05ed7c-cb2a-4a84-b06b-2026a3cf56aa</vt:lpwstr>
  </property>
  <property fmtid="{D5CDD505-2E9C-101B-9397-08002B2CF9AE}" pid="8" name="MSIP_Label_2a7f20da-a1a1-4a35-a6a7-15fbbc2fd93a_ContentBits">
    <vt:lpwstr>1</vt:lpwstr>
  </property>
  <property fmtid="{D5CDD505-2E9C-101B-9397-08002B2CF9AE}" pid="9" name="MSIP_Label_2a7f20da-a1a1-4a35-a6a7-15fbbc2fd93a_Tag">
    <vt:lpwstr>10, 3, 0, 1</vt:lpwstr>
  </property>
  <property fmtid="{D5CDD505-2E9C-101B-9397-08002B2CF9AE}" pid="10" name="ClassificationContentMarkingHeaderLocations">
    <vt:lpwstr>Office Theme:8</vt:lpwstr>
  </property>
  <property fmtid="{D5CDD505-2E9C-101B-9397-08002B2CF9AE}" pid="11" name="ClassificationContentMarkingHeaderText">
    <vt:lpwstr>【機密性2情報】</vt:lpwstr>
  </property>
</Properties>
</file>