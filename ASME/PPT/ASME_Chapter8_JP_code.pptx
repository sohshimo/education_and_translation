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7" r:id="rId2"/>
    <p:sldId id="268" r:id="rId3"/>
    <p:sldId id="256" r:id="rId4"/>
    <p:sldId id="257" r:id="rId5"/>
    <p:sldId id="258" r:id="rId6"/>
    <p:sldId id="259" r:id="rId7"/>
    <p:sldId id="260" r:id="rId8"/>
    <p:sldId id="261" r:id="rId9"/>
    <p:sldId id="262" r:id="rId10"/>
    <p:sldId id="263" r:id="rId11"/>
    <p:sldId id="264" r:id="rId12"/>
    <p:sldId id="265" r:id="rId13"/>
    <p:sldId id="266"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96A722D-DDEB-4897-8E73-58FD527F74EF}" v="2" dt="2026-10-21T02:21:35.0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4" d="100"/>
          <a:sy n="104" d="100"/>
        </p:scale>
        <p:origin x="834" y="11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大下　誠二" userId="e5774685-19fa-48b9-bec1-68eebf9ac578" providerId="ADAL" clId="{CDBA04F6-D5A6-4F8F-A920-1860374E7F12}"/>
    <pc:docChg chg="mod addSld modSld sldOrd modMainMaster">
      <pc:chgData name="大下　誠二" userId="e5774685-19fa-48b9-bec1-68eebf9ac578" providerId="ADAL" clId="{CDBA04F6-D5A6-4F8F-A920-1860374E7F12}" dt="2026-10-21T02:21:35.087" v="7"/>
      <pc:docMkLst>
        <pc:docMk/>
      </pc:docMkLst>
      <pc:sldChg chg="ord">
        <pc:chgData name="大下　誠二" userId="e5774685-19fa-48b9-bec1-68eebf9ac578" providerId="ADAL" clId="{CDBA04F6-D5A6-4F8F-A920-1860374E7F12}" dt="2026-10-21T02:19:59.208" v="2"/>
        <pc:sldMkLst>
          <pc:docMk/>
          <pc:sldMk cId="0" sldId="256"/>
        </pc:sldMkLst>
      </pc:sldChg>
      <pc:sldChg chg="add">
        <pc:chgData name="大下　誠二" userId="e5774685-19fa-48b9-bec1-68eebf9ac578" providerId="ADAL" clId="{CDBA04F6-D5A6-4F8F-A920-1860374E7F12}" dt="2026-10-21T02:19:57.310" v="0"/>
        <pc:sldMkLst>
          <pc:docMk/>
          <pc:sldMk cId="1006064969" sldId="267"/>
        </pc:sldMkLst>
      </pc:sldChg>
      <pc:sldChg chg="addSp new mod">
        <pc:chgData name="大下　誠二" userId="e5774685-19fa-48b9-bec1-68eebf9ac578" providerId="ADAL" clId="{CDBA04F6-D5A6-4F8F-A920-1860374E7F12}" dt="2026-10-21T02:20:31.080" v="6" actId="22"/>
        <pc:sldMkLst>
          <pc:docMk/>
          <pc:sldMk cId="2150480194" sldId="268"/>
        </pc:sldMkLst>
        <pc:picChg chg="add">
          <ac:chgData name="大下　誠二" userId="e5774685-19fa-48b9-bec1-68eebf9ac578" providerId="ADAL" clId="{CDBA04F6-D5A6-4F8F-A920-1860374E7F12}" dt="2026-10-21T02:20:31.080" v="6" actId="22"/>
          <ac:picMkLst>
            <pc:docMk/>
            <pc:sldMk cId="2150480194" sldId="268"/>
            <ac:picMk id="5" creationId="{22443D2D-2D85-AD2E-CD08-904B60456D69}"/>
          </ac:picMkLst>
        </pc:picChg>
      </pc:sldChg>
      <pc:sldChg chg="add">
        <pc:chgData name="大下　誠二" userId="e5774685-19fa-48b9-bec1-68eebf9ac578" providerId="ADAL" clId="{CDBA04F6-D5A6-4F8F-A920-1860374E7F12}" dt="2026-10-21T02:21:35.087" v="7"/>
        <pc:sldMkLst>
          <pc:docMk/>
          <pc:sldMk cId="0" sldId="269"/>
        </pc:sldMkLst>
      </pc:sldChg>
      <pc:sldChg chg="add">
        <pc:chgData name="大下　誠二" userId="e5774685-19fa-48b9-bec1-68eebf9ac578" providerId="ADAL" clId="{CDBA04F6-D5A6-4F8F-A920-1860374E7F12}" dt="2026-10-21T02:21:35.087" v="7"/>
        <pc:sldMkLst>
          <pc:docMk/>
          <pc:sldMk cId="0" sldId="270"/>
        </pc:sldMkLst>
      </pc:sldChg>
      <pc:sldChg chg="add">
        <pc:chgData name="大下　誠二" userId="e5774685-19fa-48b9-bec1-68eebf9ac578" providerId="ADAL" clId="{CDBA04F6-D5A6-4F8F-A920-1860374E7F12}" dt="2026-10-21T02:21:35.087" v="7"/>
        <pc:sldMkLst>
          <pc:docMk/>
          <pc:sldMk cId="0" sldId="271"/>
        </pc:sldMkLst>
      </pc:sldChg>
      <pc:sldChg chg="add">
        <pc:chgData name="大下　誠二" userId="e5774685-19fa-48b9-bec1-68eebf9ac578" providerId="ADAL" clId="{CDBA04F6-D5A6-4F8F-A920-1860374E7F12}" dt="2026-10-21T02:21:35.087" v="7"/>
        <pc:sldMkLst>
          <pc:docMk/>
          <pc:sldMk cId="0" sldId="272"/>
        </pc:sldMkLst>
      </pc:sldChg>
      <pc:sldChg chg="add">
        <pc:chgData name="大下　誠二" userId="e5774685-19fa-48b9-bec1-68eebf9ac578" providerId="ADAL" clId="{CDBA04F6-D5A6-4F8F-A920-1860374E7F12}" dt="2026-10-21T02:21:35.087" v="7"/>
        <pc:sldMkLst>
          <pc:docMk/>
          <pc:sldMk cId="0" sldId="273"/>
        </pc:sldMkLst>
      </pc:sldChg>
      <pc:sldChg chg="add">
        <pc:chgData name="大下　誠二" userId="e5774685-19fa-48b9-bec1-68eebf9ac578" providerId="ADAL" clId="{CDBA04F6-D5A6-4F8F-A920-1860374E7F12}" dt="2026-10-21T02:21:35.087" v="7"/>
        <pc:sldMkLst>
          <pc:docMk/>
          <pc:sldMk cId="0" sldId="274"/>
        </pc:sldMkLst>
      </pc:sldChg>
      <pc:sldChg chg="add">
        <pc:chgData name="大下　誠二" userId="e5774685-19fa-48b9-bec1-68eebf9ac578" providerId="ADAL" clId="{CDBA04F6-D5A6-4F8F-A920-1860374E7F12}" dt="2026-10-21T02:21:35.087" v="7"/>
        <pc:sldMkLst>
          <pc:docMk/>
          <pc:sldMk cId="0" sldId="275"/>
        </pc:sldMkLst>
      </pc:sldChg>
      <pc:sldChg chg="add">
        <pc:chgData name="大下　誠二" userId="e5774685-19fa-48b9-bec1-68eebf9ac578" providerId="ADAL" clId="{CDBA04F6-D5A6-4F8F-A920-1860374E7F12}" dt="2026-10-21T02:21:35.087" v="7"/>
        <pc:sldMkLst>
          <pc:docMk/>
          <pc:sldMk cId="0" sldId="276"/>
        </pc:sldMkLst>
      </pc:sldChg>
      <pc:sldChg chg="add">
        <pc:chgData name="大下　誠二" userId="e5774685-19fa-48b9-bec1-68eebf9ac578" providerId="ADAL" clId="{CDBA04F6-D5A6-4F8F-A920-1860374E7F12}" dt="2026-10-21T02:21:35.087" v="7"/>
        <pc:sldMkLst>
          <pc:docMk/>
          <pc:sldMk cId="0" sldId="277"/>
        </pc:sldMkLst>
      </pc:sldChg>
      <pc:sldChg chg="add">
        <pc:chgData name="大下　誠二" userId="e5774685-19fa-48b9-bec1-68eebf9ac578" providerId="ADAL" clId="{CDBA04F6-D5A6-4F8F-A920-1860374E7F12}" dt="2026-10-21T02:21:35.087" v="7"/>
        <pc:sldMkLst>
          <pc:docMk/>
          <pc:sldMk cId="0" sldId="278"/>
        </pc:sldMkLst>
      </pc:sldChg>
      <pc:sldChg chg="add">
        <pc:chgData name="大下　誠二" userId="e5774685-19fa-48b9-bec1-68eebf9ac578" providerId="ADAL" clId="{CDBA04F6-D5A6-4F8F-A920-1860374E7F12}" dt="2026-10-21T02:21:35.087" v="7"/>
        <pc:sldMkLst>
          <pc:docMk/>
          <pc:sldMk cId="0" sldId="279"/>
        </pc:sldMkLst>
      </pc:sldChg>
      <pc:sldChg chg="add">
        <pc:chgData name="大下　誠二" userId="e5774685-19fa-48b9-bec1-68eebf9ac578" providerId="ADAL" clId="{CDBA04F6-D5A6-4F8F-A920-1860374E7F12}" dt="2026-10-21T02:21:35.087" v="7"/>
        <pc:sldMkLst>
          <pc:docMk/>
          <pc:sldMk cId="0" sldId="280"/>
        </pc:sldMkLst>
      </pc:sldChg>
      <pc:sldChg chg="add">
        <pc:chgData name="大下　誠二" userId="e5774685-19fa-48b9-bec1-68eebf9ac578" providerId="ADAL" clId="{CDBA04F6-D5A6-4F8F-A920-1860374E7F12}" dt="2026-10-21T02:21:35.087" v="7"/>
        <pc:sldMkLst>
          <pc:docMk/>
          <pc:sldMk cId="0" sldId="281"/>
        </pc:sldMkLst>
      </pc:sldChg>
      <pc:sldChg chg="add">
        <pc:chgData name="大下　誠二" userId="e5774685-19fa-48b9-bec1-68eebf9ac578" providerId="ADAL" clId="{CDBA04F6-D5A6-4F8F-A920-1860374E7F12}" dt="2026-10-21T02:21:35.087" v="7"/>
        <pc:sldMkLst>
          <pc:docMk/>
          <pc:sldMk cId="0" sldId="282"/>
        </pc:sldMkLst>
      </pc:sldChg>
      <pc:sldChg chg="add">
        <pc:chgData name="大下　誠二" userId="e5774685-19fa-48b9-bec1-68eebf9ac578" providerId="ADAL" clId="{CDBA04F6-D5A6-4F8F-A920-1860374E7F12}" dt="2026-10-21T02:21:35.087" v="7"/>
        <pc:sldMkLst>
          <pc:docMk/>
          <pc:sldMk cId="0" sldId="283"/>
        </pc:sldMkLst>
      </pc:sldChg>
      <pc:sldChg chg="add">
        <pc:chgData name="大下　誠二" userId="e5774685-19fa-48b9-bec1-68eebf9ac578" providerId="ADAL" clId="{CDBA04F6-D5A6-4F8F-A920-1860374E7F12}" dt="2026-10-21T02:21:35.087" v="7"/>
        <pc:sldMkLst>
          <pc:docMk/>
          <pc:sldMk cId="0" sldId="284"/>
        </pc:sldMkLst>
      </pc:sldChg>
      <pc:sldChg chg="add">
        <pc:chgData name="大下　誠二" userId="e5774685-19fa-48b9-bec1-68eebf9ac578" providerId="ADAL" clId="{CDBA04F6-D5A6-4F8F-A920-1860374E7F12}" dt="2026-10-21T02:21:35.087" v="7"/>
        <pc:sldMkLst>
          <pc:docMk/>
          <pc:sldMk cId="0" sldId="285"/>
        </pc:sldMkLst>
      </pc:sldChg>
      <pc:sldChg chg="add">
        <pc:chgData name="大下　誠二" userId="e5774685-19fa-48b9-bec1-68eebf9ac578" providerId="ADAL" clId="{CDBA04F6-D5A6-4F8F-A920-1860374E7F12}" dt="2026-10-21T02:21:35.087" v="7"/>
        <pc:sldMkLst>
          <pc:docMk/>
          <pc:sldMk cId="0" sldId="286"/>
        </pc:sldMkLst>
      </pc:sldChg>
      <pc:sldChg chg="add">
        <pc:chgData name="大下　誠二" userId="e5774685-19fa-48b9-bec1-68eebf9ac578" providerId="ADAL" clId="{CDBA04F6-D5A6-4F8F-A920-1860374E7F12}" dt="2026-10-21T02:21:35.087" v="7"/>
        <pc:sldMkLst>
          <pc:docMk/>
          <pc:sldMk cId="0" sldId="287"/>
        </pc:sldMkLst>
      </pc:sldChg>
      <pc:sldChg chg="add">
        <pc:chgData name="大下　誠二" userId="e5774685-19fa-48b9-bec1-68eebf9ac578" providerId="ADAL" clId="{CDBA04F6-D5A6-4F8F-A920-1860374E7F12}" dt="2026-10-21T02:21:35.087" v="7"/>
        <pc:sldMkLst>
          <pc:docMk/>
          <pc:sldMk cId="0" sldId="288"/>
        </pc:sldMkLst>
      </pc:sldChg>
      <pc:sldChg chg="add">
        <pc:chgData name="大下　誠二" userId="e5774685-19fa-48b9-bec1-68eebf9ac578" providerId="ADAL" clId="{CDBA04F6-D5A6-4F8F-A920-1860374E7F12}" dt="2026-10-21T02:21:35.087" v="7"/>
        <pc:sldMkLst>
          <pc:docMk/>
          <pc:sldMk cId="0" sldId="289"/>
        </pc:sldMkLst>
      </pc:sldChg>
      <pc:sldChg chg="add">
        <pc:chgData name="大下　誠二" userId="e5774685-19fa-48b9-bec1-68eebf9ac578" providerId="ADAL" clId="{CDBA04F6-D5A6-4F8F-A920-1860374E7F12}" dt="2026-10-21T02:21:35.087" v="7"/>
        <pc:sldMkLst>
          <pc:docMk/>
          <pc:sldMk cId="0" sldId="290"/>
        </pc:sldMkLst>
      </pc:sldChg>
      <pc:sldMasterChg chg="addSp mod">
        <pc:chgData name="大下　誠二" userId="e5774685-19fa-48b9-bec1-68eebf9ac578" providerId="ADAL" clId="{CDBA04F6-D5A6-4F8F-A920-1860374E7F12}" dt="2026-10-21T02:20:06.071" v="4" actId="33475"/>
        <pc:sldMasterMkLst>
          <pc:docMk/>
          <pc:sldMasterMk cId="2209977519" sldId="2147483648"/>
        </pc:sldMasterMkLst>
        <pc:spChg chg="add">
          <ac:chgData name="大下　誠二" userId="e5774685-19fa-48b9-bec1-68eebf9ac578" providerId="ADAL" clId="{CDBA04F6-D5A6-4F8F-A920-1860374E7F12}" dt="2026-10-21T02:20:06.071" v="4" actId="33475"/>
          <ac:spMkLst>
            <pc:docMk/>
            <pc:sldMasterMk cId="2209977519" sldId="2147483648"/>
            <ac:spMk id="8" creationId="{DC4E9DA7-AA46-1561-478D-74C82087DC7B}"/>
          </ac:spMkLst>
        </pc:sp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
        <p:nvSpPr>
          <p:cNvPr id="8" name="テキスト ボックス 7">
            <a:extLst>
              <a:ext uri="{FF2B5EF4-FFF2-40B4-BE49-F238E27FC236}">
                <a16:creationId xmlns:a16="http://schemas.microsoft.com/office/drawing/2014/main" id="{DC4E9DA7-AA46-1561-478D-74C82087DC7B}"/>
              </a:ext>
            </a:extLst>
          </p:cNvPr>
          <p:cNvSpPr txBox="1"/>
          <p:nvPr userDrawn="1">
            <p:extLst>
              <p:ext uri="{1162E1C5-73C7-4A58-AE30-91384D911F3F}">
                <p184:classification xmlns:p184="http://schemas.microsoft.com/office/powerpoint/2018/4/main" val="hdr"/>
              </p:ext>
            </p:extLst>
          </p:nvPr>
        </p:nvSpPr>
        <p:spPr>
          <a:xfrm>
            <a:off x="63500" y="63500"/>
            <a:ext cx="982663" cy="152400"/>
          </a:xfrm>
          <a:prstGeom prst="rect">
            <a:avLst/>
          </a:prstGeom>
        </p:spPr>
        <p:txBody>
          <a:bodyPr horzOverflow="overflow" lIns="0" tIns="0" rIns="0" bIns="0">
            <a:spAutoFit/>
          </a:bodyPr>
          <a:lstStyle/>
          <a:p>
            <a:pPr algn="l"/>
            <a:r>
              <a:rPr lang="ja-JP" altLang="en-US" sz="1000">
                <a:solidFill>
                  <a:srgbClr val="000000">
                    <a:alpha val="50000"/>
                  </a:srgbClr>
                </a:solidFill>
                <a:latin typeface="Aptos" panose="020B0004020202020204" pitchFamily="34" charset="0"/>
              </a:rPr>
              <a:t>【機密性2情報】</a:t>
            </a: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764D44-28CF-2DE7-A261-FFD1DB5A5A0A}"/>
              </a:ext>
            </a:extLst>
          </p:cNvPr>
          <p:cNvSpPr>
            <a:spLocks noGrp="1"/>
          </p:cNvSpPr>
          <p:nvPr>
            <p:ph type="ctrTitle"/>
          </p:nvPr>
        </p:nvSpPr>
        <p:spPr>
          <a:xfrm>
            <a:off x="1524000" y="1145309"/>
            <a:ext cx="9144000" cy="2364654"/>
          </a:xfrm>
        </p:spPr>
        <p:txBody>
          <a:bodyPr>
            <a:normAutofit/>
          </a:bodyPr>
          <a:lstStyle/>
          <a:p>
            <a:r>
              <a:rPr kumimoji="1" lang="en-US" altLang="ja-JP" sz="3600" dirty="0">
                <a:latin typeface="BIZ UDゴシック" panose="020B0400000000000000" pitchFamily="49" charset="-128"/>
                <a:ea typeface="BIZ UDゴシック" panose="020B0400000000000000" pitchFamily="49" charset="-128"/>
              </a:rPr>
              <a:t>Applied Statistical Modelling for Ecologists</a:t>
            </a:r>
            <a:br>
              <a:rPr kumimoji="1" lang="en-US" altLang="ja-JP" sz="3600" dirty="0">
                <a:latin typeface="BIZ UDゴシック" panose="020B0400000000000000" pitchFamily="49" charset="-128"/>
                <a:ea typeface="BIZ UDゴシック" panose="020B0400000000000000" pitchFamily="49" charset="-128"/>
              </a:rPr>
            </a:br>
            <a:br>
              <a:rPr kumimoji="1" lang="en-US" altLang="ja-JP" sz="3600" dirty="0">
                <a:latin typeface="BIZ UDゴシック" panose="020B0400000000000000" pitchFamily="49" charset="-128"/>
                <a:ea typeface="BIZ UDゴシック" panose="020B0400000000000000" pitchFamily="49" charset="-128"/>
              </a:rPr>
            </a:br>
            <a:r>
              <a:rPr kumimoji="1" lang="en-US" altLang="ja-JP" sz="3600" dirty="0">
                <a:latin typeface="BIZ UDゴシック" panose="020B0400000000000000" pitchFamily="49" charset="-128"/>
                <a:ea typeface="BIZ UDゴシック" panose="020B0400000000000000" pitchFamily="49" charset="-128"/>
              </a:rPr>
              <a:t>ASME</a:t>
            </a:r>
            <a:endParaRPr kumimoji="1" lang="ja-JP" altLang="en-US" sz="3600" dirty="0">
              <a:latin typeface="BIZ UDゴシック" panose="020B0400000000000000" pitchFamily="49" charset="-128"/>
              <a:ea typeface="BIZ UDゴシック" panose="020B0400000000000000" pitchFamily="49" charset="-128"/>
            </a:endParaRPr>
          </a:p>
        </p:txBody>
      </p:sp>
      <p:sp>
        <p:nvSpPr>
          <p:cNvPr id="3" name="字幕 2">
            <a:extLst>
              <a:ext uri="{FF2B5EF4-FFF2-40B4-BE49-F238E27FC236}">
                <a16:creationId xmlns:a16="http://schemas.microsoft.com/office/drawing/2014/main" id="{0EC5D841-2E60-B1EB-3102-76804FA3912E}"/>
              </a:ext>
            </a:extLst>
          </p:cNvPr>
          <p:cNvSpPr>
            <a:spLocks noGrp="1"/>
          </p:cNvSpPr>
          <p:nvPr>
            <p:ph type="subTitle" idx="1"/>
          </p:nvPr>
        </p:nvSpPr>
        <p:spPr>
          <a:xfrm>
            <a:off x="1524000" y="4655272"/>
            <a:ext cx="9144000" cy="1655762"/>
          </a:xfrm>
        </p:spPr>
        <p:txBody>
          <a:bodyPr/>
          <a:lstStyle/>
          <a:p>
            <a:r>
              <a:rPr lang="en-US" altLang="ja-JP">
                <a:latin typeface="BIZ UDゴシック" panose="020B0400000000000000" pitchFamily="49" charset="-128"/>
                <a:ea typeface="BIZ UDゴシック" panose="020B0400000000000000" pitchFamily="49" charset="-128"/>
              </a:rPr>
              <a:t>Chapter 8</a:t>
            </a:r>
            <a:endParaRPr kumimoji="1" lang="ja-JP" altLang="en-US" dirty="0">
              <a:latin typeface="BIZ UDゴシック" panose="020B0400000000000000" pitchFamily="49" charset="-128"/>
              <a:ea typeface="BIZ UDゴシック" panose="020B0400000000000000" pitchFamily="49" charset="-128"/>
            </a:endParaRPr>
          </a:p>
        </p:txBody>
      </p:sp>
      <p:pic>
        <p:nvPicPr>
          <p:cNvPr id="5" name="図 4">
            <a:extLst>
              <a:ext uri="{FF2B5EF4-FFF2-40B4-BE49-F238E27FC236}">
                <a16:creationId xmlns:a16="http://schemas.microsoft.com/office/drawing/2014/main" id="{06258DCC-7C73-D7EC-17A6-3E90AB75A127}"/>
              </a:ext>
            </a:extLst>
          </p:cNvPr>
          <p:cNvPicPr>
            <a:picLocks noChangeAspect="1"/>
          </p:cNvPicPr>
          <p:nvPr/>
        </p:nvPicPr>
        <p:blipFill>
          <a:blip r:embed="rId2"/>
          <a:stretch>
            <a:fillRect/>
          </a:stretch>
        </p:blipFill>
        <p:spPr>
          <a:xfrm>
            <a:off x="0" y="0"/>
            <a:ext cx="2309523" cy="2833771"/>
          </a:xfrm>
          <a:prstGeom prst="rect">
            <a:avLst/>
          </a:prstGeom>
        </p:spPr>
      </p:pic>
    </p:spTree>
    <p:extLst>
      <p:ext uri="{BB962C8B-B14F-4D97-AF65-F5344CB8AC3E}">
        <p14:creationId xmlns:p14="http://schemas.microsoft.com/office/powerpoint/2010/main" val="10060649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2B597CB-BA0B-9ABF-B90B-58ED832C8990}"/>
              </a:ext>
            </a:extLst>
          </p:cNvPr>
          <p:cNvSpPr>
            <a:spLocks noGrp="1"/>
          </p:cNvSpPr>
          <p:nvPr>
            <p:ph type="title"/>
          </p:nvPr>
        </p:nvSpPr>
        <p:spPr/>
        <p:txBody>
          <a:bodyPr/>
          <a:lstStyle/>
          <a:p>
            <a:endParaRPr kumimoji="1" lang="ja-JP" altLang="en-US"/>
          </a:p>
        </p:txBody>
      </p:sp>
      <p:sp>
        <p:nvSpPr>
          <p:cNvPr id="3" name="コンテンツ プレースホルダー 2">
            <a:extLst>
              <a:ext uri="{FF2B5EF4-FFF2-40B4-BE49-F238E27FC236}">
                <a16:creationId xmlns:a16="http://schemas.microsoft.com/office/drawing/2014/main" id="{4589BB77-80CB-CF2E-D942-A60835A1A3BD}"/>
              </a:ext>
            </a:extLst>
          </p:cNvPr>
          <p:cNvSpPr>
            <a:spLocks noGrp="1"/>
          </p:cNvSpPr>
          <p:nvPr>
            <p:ph idx="1"/>
          </p:nvPr>
        </p:nvSpPr>
        <p:spPr/>
        <p:txBody>
          <a:bodyPr/>
          <a:lstStyle/>
          <a:p>
            <a:endParaRPr kumimoji="1" lang="ja-JP" altLang="en-US"/>
          </a:p>
        </p:txBody>
      </p:sp>
      <p:pic>
        <p:nvPicPr>
          <p:cNvPr id="5" name="図 4">
            <a:extLst>
              <a:ext uri="{FF2B5EF4-FFF2-40B4-BE49-F238E27FC236}">
                <a16:creationId xmlns:a16="http://schemas.microsoft.com/office/drawing/2014/main" id="{22443D2D-2D85-AD2E-CD08-904B60456D69}"/>
              </a:ext>
            </a:extLst>
          </p:cNvPr>
          <p:cNvPicPr>
            <a:picLocks noChangeAspect="1"/>
          </p:cNvPicPr>
          <p:nvPr/>
        </p:nvPicPr>
        <p:blipFill>
          <a:blip r:embed="rId2"/>
          <a:stretch>
            <a:fillRect/>
          </a:stretch>
        </p:blipFill>
        <p:spPr>
          <a:xfrm>
            <a:off x="3239" y="0"/>
            <a:ext cx="12185522" cy="6858000"/>
          </a:xfrm>
          <a:prstGeom prst="rect">
            <a:avLst/>
          </a:prstGeom>
        </p:spPr>
      </p:pic>
    </p:spTree>
    <p:extLst>
      <p:ext uri="{BB962C8B-B14F-4D97-AF65-F5344CB8AC3E}">
        <p14:creationId xmlns:p14="http://schemas.microsoft.com/office/powerpoint/2010/main" val="21504801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8.1  Introduction: main and interaction effects｜主効果と交互作用</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1200"/>
              </a:spcAft>
            </a:pPr>
            <a:r>
              <a:rPr sz="1540">
                <a:solidFill>
                  <a:srgbClr val="222A35"/>
                </a:solidFill>
                <a:latin typeface="Yu Gothic"/>
              </a:rPr>
              <a:t>• 二つのカテゴリ因子A、Bを組み合わせた正規線形モデルを扱う。これは二元配置ANOVAの基礎となる。主効果のみのモデルではAとBの効果が加法的に足され、一方の効果は他方の水準に依存しない。</a:t>
            </a:r>
          </a:p>
          <a:p>
            <a:pPr>
              <a:lnSpc>
                <a:spcPct val="118000"/>
              </a:lnSpc>
              <a:spcAft>
                <a:spcPts val="1200"/>
              </a:spcAft>
            </a:pPr>
            <a:r>
              <a:rPr sz="1540">
                <a:solidFill>
                  <a:srgbClr val="222A35"/>
                </a:solidFill>
                <a:latin typeface="Yu Gothic"/>
              </a:rPr>
              <a:t>• 交互作用モデルでは一方の因子の効果が他方の因子の水準によって異なる。効果母数化では yᵢ(a,b)=μ+αₐ+βᵦ+γₐᵦ+εᵢ、平均値母数化では各組合せの平均μₐᵦを直接表す。</a:t>
            </a:r>
          </a:p>
          <a:p>
            <a:pPr>
              <a:lnSpc>
                <a:spcPct val="118000"/>
              </a:lnSpc>
              <a:spcAft>
                <a:spcPts val="1200"/>
              </a:spcAft>
            </a:pPr>
            <a:r>
              <a:rPr sz="1540">
                <a:solidFill>
                  <a:srgbClr val="222A35"/>
                </a:solidFill>
                <a:latin typeface="Yu Gothic"/>
              </a:rPr>
              <a:t>• 題材は5個体群×3生息環境におけるキベリタテハの翅長。全15組合せに観測がある場合、効果母数化で切片1、個体群効果4、環境効果2、交互作用8、計15個の平均パラメータを持つ。</a:t>
            </a:r>
          </a:p>
          <a:p>
            <a:pPr>
              <a:lnSpc>
                <a:spcPct val="118000"/>
              </a:lnSpc>
              <a:spcAft>
                <a:spcPts val="1200"/>
              </a:spcAft>
            </a:pPr>
            <a:r>
              <a:rPr sz="1540">
                <a:solidFill>
                  <a:srgbClr val="222A35"/>
                </a:solidFill>
                <a:latin typeface="Yu Gothic"/>
              </a:rPr>
              <a:t>• 二元配置モデルの主効果は、もう一方の因子に依存せず平均が一定量だけ変わるという加法性を仮定する。交互作用が入ると、因子Aの影響は因子Bの水準ごとに異なり、単独の平均差だけでは全体を説明できなくなる。</a:t>
            </a:r>
          </a:p>
          <a:p>
            <a:pPr>
              <a:lnSpc>
                <a:spcPct val="118000"/>
              </a:lnSpc>
              <a:spcAft>
                <a:spcPts val="1200"/>
              </a:spcAft>
            </a:pPr>
            <a:r>
              <a:rPr sz="1540">
                <a:solidFill>
                  <a:srgbClr val="222A35"/>
                </a:solidFill>
                <a:latin typeface="Yu Gothic"/>
              </a:rPr>
              <a:t>• 原著の比較は、単にANOVA表の検定を読むことよりも、線形予測子の中で何が追加されるかに重点を置く。交互作用係数は追加の自由度を持つので、モデルの複雑さと残差分散の評価にも関係する。</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8  |  01 / 11</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8.2  Data generation｜データ生成</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1200"/>
              </a:spcAft>
            </a:pPr>
            <a:r>
              <a:rPr sz="1540">
                <a:solidFill>
                  <a:srgbClr val="222A35"/>
                </a:solidFill>
                <a:latin typeface="Yu Gothic"/>
              </a:rPr>
              <a:t>• 5個体群と3生息環境の各組合せで4個体、計60個体の翅長を生成する。切片40、個体群効果−10、−5、5、10、環境効果5、10に、組合せ特有の交互作用8個を加える。</a:t>
            </a:r>
          </a:p>
          <a:p>
            <a:pPr>
              <a:lnSpc>
                <a:spcPct val="118000"/>
              </a:lnSpc>
              <a:spcAft>
                <a:spcPts val="1200"/>
              </a:spcAft>
            </a:pPr>
            <a:r>
              <a:rPr sz="1540">
                <a:solidFill>
                  <a:srgbClr val="222A35"/>
                </a:solidFill>
                <a:latin typeface="Yu Gothic"/>
              </a:rPr>
              <a:t>• 残差標準偏差は3とし、設計行列と係数ベクトルの積に正規誤差を足して観測値を得る。これにより真のデータ生成モデルには交互作用が存在する。</a:t>
            </a:r>
          </a:p>
          <a:p>
            <a:pPr>
              <a:lnSpc>
                <a:spcPct val="118000"/>
              </a:lnSpc>
              <a:spcAft>
                <a:spcPts val="1200"/>
              </a:spcAft>
            </a:pPr>
            <a:r>
              <a:rPr sz="1540">
                <a:solidFill>
                  <a:srgbClr val="222A35"/>
                </a:solidFill>
                <a:latin typeface="Yu Gothic"/>
              </a:rPr>
              <a:t>• 個体群ごとに環境効果が異なるため、箱ひげ図や条件付きプロットでは、環境に対する反応がすべての個体群で同じではないことが分かる。各組合せの真の平均も係数から求められる。</a:t>
            </a:r>
          </a:p>
          <a:p>
            <a:pPr>
              <a:lnSpc>
                <a:spcPct val="118000"/>
              </a:lnSpc>
              <a:spcAft>
                <a:spcPts val="1200"/>
              </a:spcAft>
            </a:pPr>
            <a:r>
              <a:rPr sz="1540">
                <a:solidFill>
                  <a:srgbClr val="222A35"/>
                </a:solidFill>
                <a:latin typeface="Yu Gothic"/>
              </a:rPr>
              <a:t>• 5×3の組合せごとに同じ標本数を持つ均衡計画のデータを生成し、交互作用を実際に含む真の平均構造を与えている。したがって後の主効果モデルは、生成過程に存在する一部の構造を意図的に省いたモデルになる。</a:t>
            </a:r>
          </a:p>
          <a:p>
            <a:pPr>
              <a:lnSpc>
                <a:spcPct val="118000"/>
              </a:lnSpc>
              <a:spcAft>
                <a:spcPts val="1200"/>
              </a:spcAft>
            </a:pPr>
            <a:r>
              <a:rPr sz="1540">
                <a:solidFill>
                  <a:srgbClr val="222A35"/>
                </a:solidFill>
                <a:latin typeface="Yu Gothic"/>
              </a:rPr>
              <a:t>• デザイン行列とパラメータベクトルを掛け合わせることで、どの個体にどの個体群効果・環境効果・交互作用が加わるかが明示される。個々の正規誤差はその後に加えられ、平均構造と残差変動は区別される。</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8  |  02 / 11</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8.3  Likelihood analysis with canned functions in R｜Rの既製関数による尤度分析</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1200"/>
              </a:spcAft>
            </a:pPr>
            <a:r>
              <a:rPr sz="1540">
                <a:solidFill>
                  <a:srgbClr val="222A35"/>
                </a:solidFill>
                <a:latin typeface="Yu Gothic"/>
              </a:rPr>
              <a:t>• 最初に交互作用なしの主効果モデルを適用する。推定残差SDは3.617で、生成時の真値3より大きい。モデルに含まれていない交互作用による違いが残差に吸収されるためである。</a:t>
            </a:r>
          </a:p>
          <a:p>
            <a:pPr>
              <a:lnSpc>
                <a:spcPct val="118000"/>
              </a:lnSpc>
              <a:spcAft>
                <a:spcPts val="1200"/>
              </a:spcAft>
            </a:pPr>
            <a:r>
              <a:rPr sz="1540">
                <a:solidFill>
                  <a:srgbClr val="222A35"/>
                </a:solidFill>
                <a:latin typeface="Yu Gothic"/>
              </a:rPr>
              <a:t>• 次に交互作用を含むモデルを推定する。残差SDは3.069となり、データ生成時の値3に近づく。効果母数化では主効果と組合せごとの交互作用係数を推定し、平均値母数化では15組合せの平均を表す。</a:t>
            </a:r>
          </a:p>
          <a:p>
            <a:pPr>
              <a:lnSpc>
                <a:spcPct val="118000"/>
              </a:lnSpc>
              <a:spcAft>
                <a:spcPts val="1200"/>
              </a:spcAft>
            </a:pPr>
            <a:r>
              <a:rPr sz="1540">
                <a:solidFill>
                  <a:srgbClr val="222A35"/>
                </a:solidFill>
                <a:latin typeface="Yu Gothic"/>
              </a:rPr>
              <a:t>• 両モデルに対してDHARMaの分位残差を用いる適合度評価も示す。原著ではこの残差診断だけではどちらのモデルも不適合と判定されず、診断の限界にもつながる。</a:t>
            </a:r>
          </a:p>
          <a:p>
            <a:pPr>
              <a:lnSpc>
                <a:spcPct val="118000"/>
              </a:lnSpc>
              <a:spcAft>
                <a:spcPts val="1200"/>
              </a:spcAft>
            </a:pPr>
            <a:r>
              <a:rPr sz="1540">
                <a:solidFill>
                  <a:srgbClr val="222A35"/>
                </a:solidFill>
                <a:latin typeface="Yu Gothic"/>
              </a:rPr>
              <a:t>• 主効果のみのモデルと交互作用モデルでは、同じデータでも説明しきれないばらつきの大きさが変わる。原著が示す残差SDの違いは、推定エンジンの優劣ではなく、平均構造の不足によるものとして解釈する。</a:t>
            </a:r>
          </a:p>
          <a:p>
            <a:pPr>
              <a:lnSpc>
                <a:spcPct val="118000"/>
              </a:lnSpc>
              <a:spcAft>
                <a:spcPts val="1200"/>
              </a:spcAft>
            </a:pPr>
            <a:r>
              <a:rPr sz="1540">
                <a:solidFill>
                  <a:srgbClr val="222A35"/>
                </a:solidFill>
                <a:latin typeface="Yu Gothic"/>
              </a:rPr>
              <a:t>• 通常の線形モデルに対する残差診断、モデル間比較、予測平均の図示によって、群と環境の組合せに固有の傾向を確認できる。交互作用を含むモデルの主効果は、指定した基準水準での効果として読む必要がある。</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8  |  03 / 11</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8.4  Simulation to assess bias and precision｜シミュレーションによる評価</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1200"/>
              </a:spcAft>
            </a:pPr>
            <a:r>
              <a:rPr sz="1540">
                <a:solidFill>
                  <a:srgbClr val="222A35"/>
                </a:solidFill>
                <a:latin typeface="Yu Gothic"/>
              </a:rPr>
              <a:t>• 一つの模擬データの推定値が生成時の真値から離れていても、それだけで推定法が偏っているとはいえない。バイアスは一つの推定結果ではなく、反復標本に対する推定量の性質だからである。</a:t>
            </a:r>
          </a:p>
          <a:p>
            <a:pPr>
              <a:lnSpc>
                <a:spcPct val="118000"/>
              </a:lnSpc>
              <a:spcAft>
                <a:spcPts val="1200"/>
              </a:spcAft>
            </a:pPr>
            <a:r>
              <a:rPr sz="1540">
                <a:solidFill>
                  <a:srgbClr val="222A35"/>
                </a:solidFill>
                <a:latin typeface="Yu Gothic"/>
              </a:rPr>
              <a:t>• 原著ではデータ生成とモデル推定を10,000回繰り返し、係数推定値の標本分布を調べる。反復推定値の平均が真値に近いこと、推定値のばらつきが精度を表すことを確認する。</a:t>
            </a:r>
          </a:p>
          <a:p>
            <a:pPr>
              <a:lnSpc>
                <a:spcPct val="118000"/>
              </a:lnSpc>
              <a:spcAft>
                <a:spcPts val="1200"/>
              </a:spcAft>
            </a:pPr>
            <a:r>
              <a:rPr sz="1540">
                <a:solidFill>
                  <a:srgbClr val="222A35"/>
                </a:solidFill>
                <a:latin typeface="Yu Gothic"/>
              </a:rPr>
              <a:t>• 標準誤差はこの仮想的な反復標本の推定値の標準偏差である。一回の観測から得たSEは、その反復標本分布の幅を推定する量である。</a:t>
            </a:r>
          </a:p>
          <a:p>
            <a:pPr>
              <a:lnSpc>
                <a:spcPct val="118000"/>
              </a:lnSpc>
              <a:spcAft>
                <a:spcPts val="1200"/>
              </a:spcAft>
            </a:pPr>
            <a:r>
              <a:rPr sz="1540">
                <a:solidFill>
                  <a:srgbClr val="222A35"/>
                </a:solidFill>
                <a:latin typeface="Yu Gothic"/>
              </a:rPr>
              <a:t>• シミュレーションを用いて、標本誤差による推定のばらつきと推定法自体の系統的なバイアスとを区別する。</a:t>
            </a:r>
          </a:p>
          <a:p>
            <a:pPr>
              <a:lnSpc>
                <a:spcPct val="118000"/>
              </a:lnSpc>
              <a:spcAft>
                <a:spcPts val="1200"/>
              </a:spcAft>
            </a:pPr>
            <a:r>
              <a:rPr sz="1540">
                <a:solidFill>
                  <a:srgbClr val="222A35"/>
                </a:solidFill>
                <a:latin typeface="Yu Gothic"/>
              </a:rPr>
              <a:t>• シミュレーションではデータ生成と推定を繰り返し、一回の標本誤差と推定法に固有の系統的偏りを分けて考える。真値を既知にできることが、実データだけでは難しい推定性能の検証を可能にする。</a:t>
            </a:r>
          </a:p>
          <a:p>
            <a:pPr>
              <a:lnSpc>
                <a:spcPct val="118000"/>
              </a:lnSpc>
              <a:spcAft>
                <a:spcPts val="1200"/>
              </a:spcAft>
            </a:pPr>
            <a:r>
              <a:rPr sz="1540">
                <a:solidFill>
                  <a:srgbClr val="222A35"/>
                </a:solidFill>
                <a:latin typeface="Yu Gothic"/>
              </a:rPr>
              <a:t>• 平均的な偏りだけでなく、推定値の散らばり、信頼区間の被覆、誤ったモデル指定の影響を比較すると、なぜモデルの平均構造を正しく指定することが重要かを理解できる。</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8  |  04 / 11</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8.5  Bayesian analysis with JAGS｜JAGSによるベイズ分析</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1200"/>
              </a:spcAft>
            </a:pPr>
            <a:r>
              <a:rPr sz="1540">
                <a:solidFill>
                  <a:srgbClr val="222A35"/>
                </a:solidFill>
                <a:latin typeface="Yu Gothic"/>
              </a:rPr>
              <a:t>• 8.5.1 主効果モデルでは個体群と生息環境の係数を加法的に組み合わせ、交互作用係数は含めない。対応する正規尤度と事前分布を指定して事後分布を得る。</a:t>
            </a:r>
          </a:p>
          <a:p>
            <a:pPr>
              <a:lnSpc>
                <a:spcPct val="118000"/>
              </a:lnSpc>
              <a:spcAft>
                <a:spcPts val="1200"/>
              </a:spcAft>
            </a:pPr>
            <a:r>
              <a:rPr sz="1540">
                <a:solidFill>
                  <a:srgbClr val="222A35"/>
                </a:solidFill>
                <a:latin typeface="Yu Gothic"/>
              </a:rPr>
              <a:t>• 8.5.2 交互作用モデルでは生息環境と個体群の各組合せに固有の期待値を許す。効果母数化または平均値母数化の形で、観測と対応する群の平均を指定できる。</a:t>
            </a:r>
          </a:p>
          <a:p>
            <a:pPr>
              <a:lnSpc>
                <a:spcPct val="118000"/>
              </a:lnSpc>
              <a:spcAft>
                <a:spcPts val="1200"/>
              </a:spcAft>
            </a:pPr>
            <a:r>
              <a:rPr sz="1540">
                <a:solidFill>
                  <a:srgbClr val="222A35"/>
                </a:solidFill>
                <a:latin typeface="Yu Gothic"/>
              </a:rPr>
              <a:t>• 8.5.3 MCMCサンプルを用いて各個体群×環境の予測平均を求めると、複数係数の推定不確実性を合わせて反映できる。観測組合せごとの推定応答を比較する。</a:t>
            </a:r>
          </a:p>
          <a:p>
            <a:pPr>
              <a:lnSpc>
                <a:spcPct val="118000"/>
              </a:lnSpc>
              <a:spcAft>
                <a:spcPts val="1200"/>
              </a:spcAft>
            </a:pPr>
            <a:r>
              <a:rPr sz="1540">
                <a:solidFill>
                  <a:srgbClr val="222A35"/>
                </a:solidFill>
                <a:latin typeface="Yu Gothic"/>
              </a:rPr>
              <a:t>• JAGSでは主効果の加法モデルと交互作用モデルを別々に定義し、両者について係数と残差SDの事後分布を求める。相違は観測分布が正規であることではなく、その期待値を決める部分にある。</a:t>
            </a:r>
          </a:p>
          <a:p>
            <a:pPr>
              <a:lnSpc>
                <a:spcPct val="118000"/>
              </a:lnSpc>
              <a:spcAft>
                <a:spcPts val="1200"/>
              </a:spcAft>
            </a:pPr>
            <a:r>
              <a:rPr sz="1540">
                <a:solidFill>
                  <a:srgbClr val="222A35"/>
                </a:solidFill>
                <a:latin typeface="Yu Gothic"/>
              </a:rPr>
              <a:t>• 8.5.3では推定したパラメータから因子AとBの水準組合せごとの期待値を予測し、その分布を図示する。係数だけでなく予測平均へ戻して読むと、交互作用の実際の大きさが分かる。</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8  |  05 / 11</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8.6  Bayesian analysis with NIMBLE｜NIMBLEによるベイズ分析</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1200"/>
              </a:spcAft>
            </a:pPr>
            <a:r>
              <a:rPr sz="1680">
                <a:solidFill>
                  <a:srgbClr val="222A35"/>
                </a:solidFill>
                <a:latin typeface="Yu Gothic"/>
              </a:rPr>
              <a:t>• 8.6.1 NIMBLEで主効果のみの加法モデルを構成し、個体群効果と環境効果に事前分布を与える。</a:t>
            </a:r>
          </a:p>
          <a:p>
            <a:pPr>
              <a:lnSpc>
                <a:spcPct val="118000"/>
              </a:lnSpc>
              <a:spcAft>
                <a:spcPts val="1200"/>
              </a:spcAft>
            </a:pPr>
            <a:r>
              <a:rPr sz="1680">
                <a:solidFill>
                  <a:srgbClr val="222A35"/>
                </a:solidFill>
                <a:latin typeface="Yu Gothic"/>
              </a:rPr>
              <a:t>• 8.6.2 交互作用モデルでも同じデータを使い、組合せごとの効果を含めて推定する。</a:t>
            </a:r>
          </a:p>
          <a:p>
            <a:pPr>
              <a:lnSpc>
                <a:spcPct val="118000"/>
              </a:lnSpc>
              <a:spcAft>
                <a:spcPts val="1200"/>
              </a:spcAft>
            </a:pPr>
            <a:r>
              <a:rPr sz="1680">
                <a:solidFill>
                  <a:srgbClr val="222A35"/>
                </a:solidFill>
                <a:latin typeface="Yu Gothic"/>
              </a:rPr>
              <a:t>• JAGSの場合と同じ尤度とモデルの意味を保持しつつ、別のベイズ計算エンジンで推定できることを示す。</a:t>
            </a:r>
          </a:p>
          <a:p>
            <a:pPr>
              <a:lnSpc>
                <a:spcPct val="118000"/>
              </a:lnSpc>
              <a:spcAft>
                <a:spcPts val="1200"/>
              </a:spcAft>
            </a:pPr>
            <a:r>
              <a:rPr sz="1680">
                <a:solidFill>
                  <a:srgbClr val="222A35"/>
                </a:solidFill>
                <a:latin typeface="Yu Gothic"/>
              </a:rPr>
              <a:t>• NIMBLEで扱う主効果・交互作用の両モデルは、JAGSの場合と同じ線形予測子と正規尤度に基づく。原著は計算エンジンを変えても統計モデルの意味が変わらないことを繰り返し確認する。</a:t>
            </a:r>
          </a:p>
          <a:p>
            <a:pPr>
              <a:lnSpc>
                <a:spcPct val="118000"/>
              </a:lnSpc>
              <a:spcAft>
                <a:spcPts val="1200"/>
              </a:spcAft>
            </a:pPr>
            <a:r>
              <a:rPr sz="1680">
                <a:solidFill>
                  <a:srgbClr val="222A35"/>
                </a:solidFill>
                <a:latin typeface="Yu Gothic"/>
              </a:rPr>
              <a:t>• 主効果モデルでは個体群と環境の寄与を加算するが、交互作用モデルでは各組合せに対応する追加効果を含む。事後推定結果を比較するときは対応するパラメータと予測値を同じ尺度で並べる。</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8  |  06 / 11</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8.7  Bayesian analysis with Stan｜Stanによるベイズ分析</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1200"/>
              </a:spcAft>
            </a:pPr>
            <a:r>
              <a:rPr sz="1680">
                <a:solidFill>
                  <a:srgbClr val="222A35"/>
                </a:solidFill>
                <a:latin typeface="Yu Gothic"/>
              </a:rPr>
              <a:t>• 8.7.1 Stanで二因子の主効果モデルを推定する。観測の属する因子水準を添字で指定し、対応する効果から正規分布の平均を作る。</a:t>
            </a:r>
          </a:p>
          <a:p>
            <a:pPr>
              <a:lnSpc>
                <a:spcPct val="118000"/>
              </a:lnSpc>
              <a:spcAft>
                <a:spcPts val="1200"/>
              </a:spcAft>
            </a:pPr>
            <a:r>
              <a:rPr sz="1680">
                <a:solidFill>
                  <a:srgbClr val="222A35"/>
                </a:solidFill>
                <a:latin typeface="Yu Gothic"/>
              </a:rPr>
              <a:t>• 8.7.2 交互作用モデルでは二因子の組合せを反映する係数または組合せ別平均を用いる。事前分布と正規尤度を定義し、事後サンプルから係数を要約する。</a:t>
            </a:r>
          </a:p>
          <a:p>
            <a:pPr>
              <a:lnSpc>
                <a:spcPct val="118000"/>
              </a:lnSpc>
              <a:spcAft>
                <a:spcPts val="1200"/>
              </a:spcAft>
            </a:pPr>
            <a:r>
              <a:rPr sz="1680">
                <a:solidFill>
                  <a:srgbClr val="222A35"/>
                </a:solidFill>
                <a:latin typeface="Yu Gothic"/>
              </a:rPr>
              <a:t>• 同じ統計モデルをJAGS・NIMBLE・Stanで比較することが中心であり、各実装での係数の表現形式に注意する。</a:t>
            </a:r>
          </a:p>
          <a:p>
            <a:pPr>
              <a:lnSpc>
                <a:spcPct val="118000"/>
              </a:lnSpc>
              <a:spcAft>
                <a:spcPts val="1200"/>
              </a:spcAft>
            </a:pPr>
            <a:r>
              <a:rPr sz="1680">
                <a:solidFill>
                  <a:srgbClr val="222A35"/>
                </a:solidFill>
                <a:latin typeface="Yu Gothic"/>
              </a:rPr>
              <a:t>• Stanでも二つのモデルをそれぞれ指定する。事前分布・正規尤度・線形予測子の関係は保ちつつ、Stanの形式とHMCによる事後計算を用いる。</a:t>
            </a:r>
          </a:p>
          <a:p>
            <a:pPr>
              <a:lnSpc>
                <a:spcPct val="118000"/>
              </a:lnSpc>
              <a:spcAft>
                <a:spcPts val="1200"/>
              </a:spcAft>
            </a:pPr>
            <a:r>
              <a:rPr sz="1680">
                <a:solidFill>
                  <a:srgbClr val="222A35"/>
                </a:solidFill>
                <a:latin typeface="Yu Gothic"/>
              </a:rPr>
              <a:t>• 特に交互作用を含めると係数数が増えるので、添字の指定と識別のための母数化が重要になる。比較すべきなのはプログラム上の係数配列の並びよりも、因子水準の組合せに対して得られる予測平均である。</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8  |  07 / 11</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8.8  DIY maximum likelihood｜自作最尤推定</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1200"/>
              </a:spcAft>
            </a:pPr>
            <a:r>
              <a:rPr sz="1680">
                <a:solidFill>
                  <a:srgbClr val="222A35"/>
                </a:solidFill>
                <a:latin typeface="Yu Gothic"/>
              </a:rPr>
              <a:t>• 8.8.1 主効果モデルのNLLでは各観測の期待値を切片＋個体群効果＋環境効果として定め、残差SDとともに最適化する。</a:t>
            </a:r>
          </a:p>
          <a:p>
            <a:pPr>
              <a:lnSpc>
                <a:spcPct val="118000"/>
              </a:lnSpc>
              <a:spcAft>
                <a:spcPts val="1200"/>
              </a:spcAft>
            </a:pPr>
            <a:r>
              <a:rPr sz="1680">
                <a:solidFill>
                  <a:srgbClr val="222A35"/>
                </a:solidFill>
                <a:latin typeface="Yu Gothic"/>
              </a:rPr>
              <a:t>• 8.8.2 交互作用モデルでは組合せごとの交互作用係数を追加し、正規尤度を最大化する。パラメータ数と設計行列の構造が主効果モデルと異なる。</a:t>
            </a:r>
          </a:p>
          <a:p>
            <a:pPr>
              <a:lnSpc>
                <a:spcPct val="118000"/>
              </a:lnSpc>
              <a:spcAft>
                <a:spcPts val="1200"/>
              </a:spcAft>
            </a:pPr>
            <a:r>
              <a:rPr sz="1680">
                <a:solidFill>
                  <a:srgbClr val="222A35"/>
                </a:solidFill>
                <a:latin typeface="Yu Gothic"/>
              </a:rPr>
              <a:t>• 同じデータで両方のモデルを推定することにより、平均構造の指定が係数と残差分散の推定に及ぼす影響を比較できる。</a:t>
            </a:r>
          </a:p>
          <a:p>
            <a:pPr>
              <a:lnSpc>
                <a:spcPct val="118000"/>
              </a:lnSpc>
              <a:spcAft>
                <a:spcPts val="1200"/>
              </a:spcAft>
            </a:pPr>
            <a:r>
              <a:rPr sz="1680">
                <a:solidFill>
                  <a:srgbClr val="222A35"/>
                </a:solidFill>
                <a:latin typeface="Yu Gothic"/>
              </a:rPr>
              <a:t>• 自作の最尤推定では、各個体の所属水準に対応する期待値を計算して正規密度を評価する。主効果と交互作用の違いは、負の対数尤度に入る期待値の作り方に現れる。</a:t>
            </a:r>
          </a:p>
          <a:p>
            <a:pPr>
              <a:lnSpc>
                <a:spcPct val="118000"/>
              </a:lnSpc>
              <a:spcAft>
                <a:spcPts val="1200"/>
              </a:spcAft>
            </a:pPr>
            <a:r>
              <a:rPr sz="1680">
                <a:solidFill>
                  <a:srgbClr val="222A35"/>
                </a:solidFill>
                <a:latin typeface="Yu Gothic"/>
              </a:rPr>
              <a:t>• 残差SDを正の値として推定するためのパラメータ変換や、最適化結果からの不確実性評価も必要になる。原著は設計行列によって、多数のカテゴリ係数を一つの回帰モデルとして扱えることを示す。</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8  |  08 / 11</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8.9  Likelihood analysis with TMB｜TMBによる尤度分析</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1200"/>
              </a:spcAft>
            </a:pPr>
            <a:r>
              <a:rPr sz="1680">
                <a:solidFill>
                  <a:srgbClr val="222A35"/>
                </a:solidFill>
                <a:latin typeface="Yu Gothic"/>
              </a:rPr>
              <a:t>• 8.9.1 TMBを使い、主効果の二因子正規モデルを負の対数尤度として記述し最尤推定する。</a:t>
            </a:r>
          </a:p>
          <a:p>
            <a:pPr>
              <a:lnSpc>
                <a:spcPct val="118000"/>
              </a:lnSpc>
              <a:spcAft>
                <a:spcPts val="1200"/>
              </a:spcAft>
            </a:pPr>
            <a:r>
              <a:rPr sz="1680">
                <a:solidFill>
                  <a:srgbClr val="222A35"/>
                </a:solidFill>
                <a:latin typeface="Yu Gothic"/>
              </a:rPr>
              <a:t>• 8.9.2 交互作用を持つモデルでは個体群と生息環境の組合せ効果を平均構造に追加する。どちらも観測誤差には正規分布を仮定する。</a:t>
            </a:r>
          </a:p>
          <a:p>
            <a:pPr>
              <a:lnSpc>
                <a:spcPct val="118000"/>
              </a:lnSpc>
              <a:spcAft>
                <a:spcPts val="1200"/>
              </a:spcAft>
            </a:pPr>
            <a:r>
              <a:rPr sz="1680">
                <a:solidFill>
                  <a:srgbClr val="222A35"/>
                </a:solidFill>
                <a:latin typeface="Yu Gothic"/>
              </a:rPr>
              <a:t>• この章では自作MLEや既製関数の結果と照合し、TMBでも同じ統計モデルを推定していることを確認する。</a:t>
            </a:r>
          </a:p>
          <a:p>
            <a:pPr>
              <a:lnSpc>
                <a:spcPct val="118000"/>
              </a:lnSpc>
              <a:spcAft>
                <a:spcPts val="1200"/>
              </a:spcAft>
            </a:pPr>
            <a:r>
              <a:rPr sz="1680">
                <a:solidFill>
                  <a:srgbClr val="222A35"/>
                </a:solidFill>
                <a:latin typeface="Yu Gothic"/>
              </a:rPr>
              <a:t>• TMBによる最尤推定でも、観測値の正規密度を合計するという尤度の原理は変わらない。主効果モデルと交互作用モデルをそれぞれ異なる線形予測子で表現する。</a:t>
            </a:r>
          </a:p>
          <a:p>
            <a:pPr>
              <a:lnSpc>
                <a:spcPct val="118000"/>
              </a:lnSpc>
              <a:spcAft>
                <a:spcPts val="1200"/>
              </a:spcAft>
            </a:pPr>
            <a:r>
              <a:rPr sz="1680">
                <a:solidFill>
                  <a:srgbClr val="222A35"/>
                </a:solidFill>
                <a:latin typeface="Yu Gothic"/>
              </a:rPr>
              <a:t>• 同じデータ、同じ応答分布、同じ平均構造で推定した場合、既製関数やDIY最尤法と結果が一致するかを比較できる。原著はここでも、計算方法と科学的なモデル指定とを区別する。</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8  |  09 / 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8.10  Comparison of parameter estimates｜推定値の比較</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1200"/>
              </a:spcAft>
            </a:pPr>
            <a:r>
              <a:rPr sz="1540">
                <a:solidFill>
                  <a:srgbClr val="222A35"/>
                </a:solidFill>
                <a:latin typeface="Yu Gothic"/>
              </a:rPr>
              <a:t>• 既製関数、JAGS、NIMBLE、Stan、自作MLE、TMBの点推定値を、主効果モデルと交互作用モデルそれぞれについて比較する。</a:t>
            </a:r>
          </a:p>
          <a:p>
            <a:pPr>
              <a:lnSpc>
                <a:spcPct val="118000"/>
              </a:lnSpc>
              <a:spcAft>
                <a:spcPts val="1200"/>
              </a:spcAft>
            </a:pPr>
            <a:r>
              <a:rPr sz="1540">
                <a:solidFill>
                  <a:srgbClr val="222A35"/>
                </a:solidFill>
                <a:latin typeface="Yu Gothic"/>
              </a:rPr>
              <a:t>• 異なるエンジンによる係数推定結果が近いかを確認する一方、交互作用を含まないモデルと含むモデルではそもそも平均の構造が異なることを区別する。</a:t>
            </a:r>
          </a:p>
          <a:p>
            <a:pPr>
              <a:lnSpc>
                <a:spcPct val="118000"/>
              </a:lnSpc>
              <a:spcAft>
                <a:spcPts val="1200"/>
              </a:spcAft>
            </a:pPr>
            <a:r>
              <a:rPr sz="1540">
                <a:solidFill>
                  <a:srgbClr val="222A35"/>
                </a:solidFill>
                <a:latin typeface="Yu Gothic"/>
              </a:rPr>
              <a:t>• 推定値を比較する場合、効果母数化と平均値母数化では表示される係数の意味が違うため、同じ尺度・同じ量に変換したうえで解釈する。</a:t>
            </a:r>
          </a:p>
          <a:p>
            <a:pPr>
              <a:lnSpc>
                <a:spcPct val="118000"/>
              </a:lnSpc>
              <a:spcAft>
                <a:spcPts val="1200"/>
              </a:spcAft>
            </a:pPr>
            <a:r>
              <a:rPr sz="1540">
                <a:solidFill>
                  <a:srgbClr val="222A35"/>
                </a:solidFill>
                <a:latin typeface="Yu Gothic"/>
              </a:rPr>
              <a:t>• 各エンジンがほぼ同じ推定結果を出しても、交互作用のないモデルと交互作用のあるモデルが同じ意味を持つわけではない。推定結果の比較は「同一モデルを異なる計算手段で解いた場合」と「異なるモデル構造で解いた場合」を分けて行う必要がある。</a:t>
            </a:r>
          </a:p>
          <a:p>
            <a:pPr>
              <a:lnSpc>
                <a:spcPct val="118000"/>
              </a:lnSpc>
              <a:spcAft>
                <a:spcPts val="1200"/>
              </a:spcAft>
            </a:pPr>
            <a:r>
              <a:rPr sz="1540">
                <a:solidFill>
                  <a:srgbClr val="222A35"/>
                </a:solidFill>
                <a:latin typeface="Yu Gothic"/>
              </a:rPr>
              <a:t>• 原著の比較表では、切片や因子効果に加え、残差SDを確認することが重要となる。平均構造に欠落した交互作用があると、それに伴うばらつきが残差側に移る。</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8  |  10 / 11</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8.11  Summary and outlook｜まとめと展望</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1200"/>
              </a:spcAft>
            </a:pPr>
            <a:r>
              <a:rPr sz="1680">
                <a:solidFill>
                  <a:srgbClr val="222A35"/>
                </a:solidFill>
                <a:latin typeface="Yu Gothic"/>
              </a:rPr>
              <a:t>• 二因子モデルでは主効果の加法性と交互作用を明確に区別する。交互作用があれば、一方の因子の効果を他方と無関係に一つの数値として表すことはできない。</a:t>
            </a:r>
          </a:p>
          <a:p>
            <a:pPr>
              <a:lnSpc>
                <a:spcPct val="118000"/>
              </a:lnSpc>
              <a:spcAft>
                <a:spcPts val="1200"/>
              </a:spcAft>
            </a:pPr>
            <a:r>
              <a:rPr sz="1680">
                <a:solidFill>
                  <a:srgbClr val="222A35"/>
                </a:solidFill>
                <a:latin typeface="Yu Gothic"/>
              </a:rPr>
              <a:t>• 各水準組合せの予測平均を求め、図示することが、推定された主効果・交互作用を理解するために重要となる。</a:t>
            </a:r>
          </a:p>
          <a:p>
            <a:pPr>
              <a:lnSpc>
                <a:spcPct val="118000"/>
              </a:lnSpc>
              <a:spcAft>
                <a:spcPts val="1200"/>
              </a:spcAft>
            </a:pPr>
            <a:r>
              <a:rPr sz="1680">
                <a:solidFill>
                  <a:srgbClr val="222A35"/>
                </a:solidFill>
                <a:latin typeface="Yu Gothic"/>
              </a:rPr>
              <a:t>• 本章では交差した固定因子を扱ったが、因子の入れ子構造（nesting）は別の設計上の可能性である。後続の章ではさらに別の種類の説明変数の組合せへ進む。</a:t>
            </a:r>
          </a:p>
          <a:p>
            <a:pPr>
              <a:lnSpc>
                <a:spcPct val="118000"/>
              </a:lnSpc>
              <a:spcAft>
                <a:spcPts val="1200"/>
              </a:spcAft>
            </a:pPr>
            <a:r>
              <a:rPr sz="1680">
                <a:solidFill>
                  <a:srgbClr val="222A35"/>
                </a:solidFill>
                <a:latin typeface="Yu Gothic"/>
              </a:rPr>
              <a:t>• 主効果モデルと交互作用モデルは、二つの因子を含むデータを説明する異なる構造を持つ。交互作用が重要であれば、他方の因子の水準を明示せずに一方の因子の効果を語ることはできない。</a:t>
            </a:r>
          </a:p>
          <a:p>
            <a:pPr>
              <a:lnSpc>
                <a:spcPct val="118000"/>
              </a:lnSpc>
              <a:spcAft>
                <a:spcPts val="1200"/>
              </a:spcAft>
            </a:pPr>
            <a:r>
              <a:rPr sz="1680">
                <a:solidFill>
                  <a:srgbClr val="222A35"/>
                </a:solidFill>
                <a:latin typeface="Yu Gothic"/>
              </a:rPr>
              <a:t>• 原著は二因子のほか、入れ子構造という別の因子の組み方にも触れている。本章で得た設計行列と予測平均の考え方は、次章の連続変数とカテゴリ変数を組み合わせた一般線形モデルに続く。</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8  |  11 / 11</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二要因：主効果｜まず統計モデルを読む</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8  |  原著Rコードに基づく学習資料  |  モデル導入 8.5.1</a:t>
            </a:r>
          </a:p>
        </p:txBody>
      </p:sp>
      <p:sp>
        <p:nvSpPr>
          <p:cNvPr id="5" name="TextBox 4"/>
          <p:cNvSpPr txBox="1"/>
          <p:nvPr/>
        </p:nvSpPr>
        <p:spPr>
          <a:xfrm>
            <a:off x="512064" y="9601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モデルの構造（記号は説明のために整理）</a:t>
            </a:r>
          </a:p>
        </p:txBody>
      </p:sp>
      <p:sp>
        <p:nvSpPr>
          <p:cNvPr id="6" name="Rounded Rectangle 5"/>
          <p:cNvSpPr/>
          <p:nvPr/>
        </p:nvSpPr>
        <p:spPr>
          <a:xfrm>
            <a:off x="493776" y="1371600"/>
            <a:ext cx="11082528" cy="1060704"/>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2200" b="1">
                <a:solidFill>
                  <a:srgbClr val="192B45"/>
                </a:solidFill>
                <a:latin typeface="Yu Gothic"/>
              </a:defRPr>
            </a:pPr>
            <a:r>
              <a:t>wingᵢ ~ Normal(α+βpop[popᵢ]+βhab[habᵢ], σ²)</a:t>
            </a:r>
          </a:p>
        </p:txBody>
      </p:sp>
      <p:sp>
        <p:nvSpPr>
          <p:cNvPr id="7" name="TextBox 6"/>
          <p:cNvSpPr txBox="1"/>
          <p:nvPr/>
        </p:nvSpPr>
        <p:spPr>
          <a:xfrm>
            <a:off x="512064" y="2578608"/>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観測データとパラメータ</a:t>
            </a:r>
          </a:p>
        </p:txBody>
      </p:sp>
      <p:sp>
        <p:nvSpPr>
          <p:cNvPr id="8" name="TextBox 7"/>
          <p:cNvSpPr txBox="1"/>
          <p:nvPr/>
        </p:nvSpPr>
        <p:spPr>
          <a:xfrm>
            <a:off x="502920" y="2999232"/>
            <a:ext cx="10972800" cy="1005840"/>
          </a:xfrm>
          <a:prstGeom prst="rect">
            <a:avLst/>
          </a:prstGeom>
          <a:noFill/>
        </p:spPr>
        <p:txBody>
          <a:bodyPr wrap="square" lIns="82296" tIns="64008" rIns="82296" bIns="18288">
            <a:spAutoFit/>
          </a:bodyPr>
          <a:lstStyle/>
          <a:p>
            <a:pPr>
              <a:spcAft>
                <a:spcPts val="500"/>
              </a:spcAft>
              <a:defRPr sz="1800" b="0">
                <a:solidFill>
                  <a:srgbClr val="242E3C"/>
                </a:solidFill>
                <a:latin typeface="Yu Gothic"/>
              </a:defRPr>
            </a:pPr>
            <a:r>
              <a:t>5集団×3生息地×4個体。交互作用を含めない加法的モデル。</a:t>
            </a:r>
          </a:p>
        </p:txBody>
      </p:sp>
      <p:sp>
        <p:nvSpPr>
          <p:cNvPr id="9" name="TextBox 8"/>
          <p:cNvSpPr txBox="1"/>
          <p:nvPr/>
        </p:nvSpPr>
        <p:spPr>
          <a:xfrm>
            <a:off x="512064" y="4142232"/>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このモデルで注目すること</a:t>
            </a:r>
          </a:p>
        </p:txBody>
      </p:sp>
      <p:sp>
        <p:nvSpPr>
          <p:cNvPr id="10" name="TextBox 9"/>
          <p:cNvSpPr txBox="1"/>
          <p:nvPr/>
        </p:nvSpPr>
        <p:spPr>
          <a:xfrm>
            <a:off x="502920" y="4590288"/>
            <a:ext cx="10972800" cy="1033271"/>
          </a:xfrm>
          <a:prstGeom prst="rect">
            <a:avLst/>
          </a:prstGeom>
          <a:noFill/>
        </p:spPr>
        <p:txBody>
          <a:bodyPr wrap="square" lIns="82296" tIns="64008" rIns="82296" bIns="18288">
            <a:spAutoFit/>
          </a:bodyPr>
          <a:lstStyle/>
          <a:p>
            <a:pPr>
              <a:spcAft>
                <a:spcPts val="500"/>
              </a:spcAft>
              <a:defRPr sz="1800" b="0">
                <a:solidFill>
                  <a:srgbClr val="242E3C"/>
                </a:solidFill>
                <a:latin typeface="Yu Gothic"/>
              </a:defRPr>
            </a:pPr>
            <a:r>
              <a:t>基準カテゴリの効果を0に固定。</a:t>
            </a:r>
          </a:p>
          <a:p>
            <a:pPr>
              <a:spcAft>
                <a:spcPts val="500"/>
              </a:spcAft>
              <a:defRPr sz="1800" b="0">
                <a:solidFill>
                  <a:srgbClr val="242E3C"/>
                </a:solidFill>
                <a:latin typeface="Yu Gothic"/>
              </a:defRPr>
            </a:pPr>
            <a:r>
              <a:t>同じ統計モデルを異なる5種類の実装方法で表現する。</a:t>
            </a:r>
          </a:p>
        </p:txBody>
      </p:sp>
      <p:sp>
        <p:nvSpPr>
          <p:cNvPr id="11" name="TextBox 10"/>
          <p:cNvSpPr txBox="1"/>
          <p:nvPr/>
        </p:nvSpPr>
        <p:spPr>
          <a:xfrm>
            <a:off x="502920" y="5989320"/>
            <a:ext cx="10972800" cy="274320"/>
          </a:xfrm>
          <a:prstGeom prst="rect">
            <a:avLst/>
          </a:prstGeom>
          <a:noFill/>
        </p:spPr>
        <p:txBody>
          <a:bodyPr wrap="square" lIns="82296" tIns="64008" rIns="82296" bIns="18288">
            <a:spAutoFit/>
          </a:bodyPr>
          <a:lstStyle/>
          <a:p>
            <a:pPr>
              <a:spcAft>
                <a:spcPts val="500"/>
              </a:spcAft>
              <a:defRPr sz="1100" b="0">
                <a:solidFill>
                  <a:srgbClr val="667482"/>
                </a:solidFill>
                <a:latin typeface="Yu Gothic"/>
              </a:defRPr>
            </a:pPr>
            <a:r>
              <a:t>※数式表現はコード理解用の整理であり、原著の本文翻訳ではありません。</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8.5.1  JAGS｜コードの読み方</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8  |  原著Rコードに基づく学習資料  |  二要因：主効果</a:t>
            </a:r>
          </a:p>
        </p:txBody>
      </p:sp>
      <p:sp>
        <p:nvSpPr>
          <p:cNvPr id="5" name="TextBox 4"/>
          <p:cNvSpPr txBox="1"/>
          <p:nvPr/>
        </p:nvSpPr>
        <p:spPr>
          <a:xfrm>
            <a:off x="502920" y="960120"/>
            <a:ext cx="6656832"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原著コード抜粋</a:t>
            </a:r>
          </a:p>
        </p:txBody>
      </p:sp>
      <p:sp>
        <p:nvSpPr>
          <p:cNvPr id="6" name="TextBox 5"/>
          <p:cNvSpPr txBox="1"/>
          <p:nvPr/>
        </p:nvSpPr>
        <p:spPr>
          <a:xfrm>
            <a:off x="7315200" y="960120"/>
            <a:ext cx="429768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どこに注目するか</a:t>
            </a:r>
          </a:p>
        </p:txBody>
      </p:sp>
      <p:sp>
        <p:nvSpPr>
          <p:cNvPr id="7" name="Rounded Rectangle 6"/>
          <p:cNvSpPr/>
          <p:nvPr/>
        </p:nvSpPr>
        <p:spPr>
          <a:xfrm>
            <a:off x="484632" y="1399032"/>
            <a:ext cx="6629400" cy="4434840"/>
          </a:xfrm>
          <a:prstGeom prst="round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wrap="square" lIns="146304" tIns="64008" rIns="146304" bIns="18288" rtlCol="0" anchor="ctr"/>
          <a:lstStyle/>
          <a:p>
            <a:pPr algn="ctr">
              <a:spcAft>
                <a:spcPts val="500"/>
              </a:spcAft>
              <a:defRPr sz="1200" b="0">
                <a:solidFill>
                  <a:srgbClr val="242E3C"/>
                </a:solidFill>
                <a:latin typeface="Consolas"/>
              </a:defRPr>
            </a:pPr>
            <a:r>
              <a:t>alpha ~ dnorm(0, 0.0001)             # Intercept</a:t>
            </a:r>
          </a:p>
          <a:p>
            <a:pPr>
              <a:spcAft>
                <a:spcPts val="500"/>
              </a:spcAft>
              <a:defRPr sz="1200" b="0">
                <a:solidFill>
                  <a:srgbClr val="242E3C"/>
                </a:solidFill>
                <a:latin typeface="Consolas"/>
              </a:defRPr>
            </a:pPr>
            <a:r>
              <a:t>beta.pop[j] ~ dnorm(0, 0.0001)</a:t>
            </a:r>
          </a:p>
          <a:p>
            <a:pPr>
              <a:spcAft>
                <a:spcPts val="500"/>
              </a:spcAft>
              <a:defRPr sz="1200" b="0">
                <a:solidFill>
                  <a:srgbClr val="242E3C"/>
                </a:solidFill>
                <a:latin typeface="Consolas"/>
              </a:defRPr>
            </a:pPr>
            <a:r>
              <a:t>beta.hab[j] ~ dnorm(0, 0.0001)</a:t>
            </a:r>
          </a:p>
          <a:p>
            <a:pPr>
              <a:spcAft>
                <a:spcPts val="500"/>
              </a:spcAft>
              <a:defRPr sz="1200" b="0">
                <a:solidFill>
                  <a:srgbClr val="242E3C"/>
                </a:solidFill>
                <a:latin typeface="Consolas"/>
              </a:defRPr>
            </a:pPr>
            <a:r>
              <a:t>tau &lt;- pow(sigma, -2)</a:t>
            </a:r>
          </a:p>
          <a:p>
            <a:pPr>
              <a:spcAft>
                <a:spcPts val="500"/>
              </a:spcAft>
              <a:defRPr sz="1200" b="0">
                <a:solidFill>
                  <a:srgbClr val="242E3C"/>
                </a:solidFill>
                <a:latin typeface="Consolas"/>
              </a:defRPr>
            </a:pPr>
            <a:r>
              <a:t>wing[i] ~ dnorm(mean[i], tau)</a:t>
            </a:r>
          </a:p>
          <a:p>
            <a:pPr>
              <a:spcAft>
                <a:spcPts val="500"/>
              </a:spcAft>
              <a:defRPr sz="1200" b="0">
                <a:solidFill>
                  <a:srgbClr val="242E3C"/>
                </a:solidFill>
                <a:latin typeface="Consolas"/>
              </a:defRPr>
            </a:pPr>
            <a:r>
              <a:t>mean[i] &lt;- alpha + beta.pop[pop[i]] + beta.hab[hab[i]]</a:t>
            </a:r>
          </a:p>
        </p:txBody>
      </p:sp>
      <p:sp>
        <p:nvSpPr>
          <p:cNvPr id="8" name="TextBox 7"/>
          <p:cNvSpPr txBox="1"/>
          <p:nvPr/>
        </p:nvSpPr>
        <p:spPr>
          <a:xfrm>
            <a:off x="7315200" y="1408176"/>
            <a:ext cx="4251960" cy="457200"/>
          </a:xfrm>
          <a:prstGeom prst="rect">
            <a:avLst/>
          </a:prstGeom>
          <a:noFill/>
        </p:spPr>
        <p:txBody>
          <a:bodyPr wrap="square" lIns="82296" tIns="64008" rIns="82296" bIns="18288">
            <a:spAutoFit/>
          </a:bodyPr>
          <a:lstStyle/>
          <a:p>
            <a:pPr>
              <a:spcAft>
                <a:spcPts val="500"/>
              </a:spcAft>
              <a:defRPr sz="1800" b="1">
                <a:solidFill>
                  <a:srgbClr val="1D5D8C"/>
                </a:solidFill>
                <a:latin typeface="Yu Gothic"/>
              </a:defRPr>
            </a:pPr>
            <a:r>
              <a:t>確率モデル・事前分布</a:t>
            </a:r>
          </a:p>
        </p:txBody>
      </p:sp>
      <p:sp>
        <p:nvSpPr>
          <p:cNvPr id="9" name="TextBox 8"/>
          <p:cNvSpPr txBox="1"/>
          <p:nvPr/>
        </p:nvSpPr>
        <p:spPr>
          <a:xfrm>
            <a:off x="7315200" y="1947672"/>
            <a:ext cx="4206240" cy="141732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モデル内の ~ は確率分布、&lt;- は決定的な計算。dnorm の第2引数は精度 tau = 1/σ²。</a:t>
            </a:r>
          </a:p>
        </p:txBody>
      </p:sp>
      <p:sp>
        <p:nvSpPr>
          <p:cNvPr id="10" name="TextBox 9"/>
          <p:cNvSpPr txBox="1"/>
          <p:nvPr/>
        </p:nvSpPr>
        <p:spPr>
          <a:xfrm>
            <a:off x="7315200" y="3584448"/>
            <a:ext cx="4206240" cy="196596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n.iter, n.burnin, n.chains と事前分布の指定を実際のコードで確認。</a:t>
            </a:r>
          </a:p>
        </p:txBody>
      </p:sp>
      <p:sp>
        <p:nvSpPr>
          <p:cNvPr id="11" name="TextBox 10"/>
          <p:cNvSpPr txBox="1"/>
          <p:nvPr/>
        </p:nvSpPr>
        <p:spPr>
          <a:xfrm>
            <a:off x="539496" y="5971032"/>
            <a:ext cx="11064240" cy="347472"/>
          </a:xfrm>
          <a:prstGeom prst="rect">
            <a:avLst/>
          </a:prstGeom>
          <a:noFill/>
        </p:spPr>
        <p:txBody>
          <a:bodyPr wrap="square" lIns="82296" tIns="64008" rIns="82296" bIns="18288">
            <a:spAutoFit/>
          </a:bodyPr>
          <a:lstStyle/>
          <a:p>
            <a:pPr>
              <a:spcAft>
                <a:spcPts val="500"/>
              </a:spcAft>
              <a:defRPr sz="1100" b="0">
                <a:solidFill>
                  <a:srgbClr val="667482"/>
                </a:solidFill>
                <a:latin typeface="Yu Gothic"/>
              </a:defRPr>
            </a:pPr>
            <a:r>
              <a:t>抜粋したコードの変数名・関数名は原著のまま。モデル全文は添付の原著Rファイルを参照。</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8.5.1  JAGS｜推定手順を理解する</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8  |  原著Rコードに基づく学習資料  |  二要因：主効果</a:t>
            </a:r>
          </a:p>
        </p:txBody>
      </p:sp>
      <p:sp>
        <p:nvSpPr>
          <p:cNvPr id="5" name="TextBox 4"/>
          <p:cNvSpPr txBox="1"/>
          <p:nvPr/>
        </p:nvSpPr>
        <p:spPr>
          <a:xfrm>
            <a:off x="512064" y="9601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コードの実行・推定フロー</a:t>
            </a:r>
          </a:p>
        </p:txBody>
      </p:sp>
      <p:sp>
        <p:nvSpPr>
          <p:cNvPr id="6" name="Rounded Rectangle 5"/>
          <p:cNvSpPr/>
          <p:nvPr/>
        </p:nvSpPr>
        <p:spPr>
          <a:xfrm>
            <a:off x="530352"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dataList</a:t>
            </a:r>
          </a:p>
        </p:txBody>
      </p:sp>
      <p:sp>
        <p:nvSpPr>
          <p:cNvPr id="7" name="Rounded Rectangle 6"/>
          <p:cNvSpPr/>
          <p:nvPr/>
        </p:nvSpPr>
        <p:spPr>
          <a:xfrm>
            <a:off x="3337560"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BUGSモデル</a:t>
            </a:r>
          </a:p>
        </p:txBody>
      </p:sp>
      <p:sp>
        <p:nvSpPr>
          <p:cNvPr id="8" name="Rounded Rectangle 7"/>
          <p:cNvSpPr/>
          <p:nvPr/>
        </p:nvSpPr>
        <p:spPr>
          <a:xfrm>
            <a:off x="6144768"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jags()</a:t>
            </a:r>
          </a:p>
        </p:txBody>
      </p:sp>
      <p:sp>
        <p:nvSpPr>
          <p:cNvPr id="9" name="Rounded Rectangle 8"/>
          <p:cNvSpPr/>
          <p:nvPr/>
        </p:nvSpPr>
        <p:spPr>
          <a:xfrm>
            <a:off x="8951976"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traceplot/summary</a:t>
            </a:r>
          </a:p>
        </p:txBody>
      </p:sp>
      <p:sp>
        <p:nvSpPr>
          <p:cNvPr id="10" name="TextBox 9"/>
          <p:cNvSpPr txBox="1"/>
          <p:nvPr/>
        </p:nvSpPr>
        <p:spPr>
          <a:xfrm>
            <a:off x="512064" y="27889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モデルとコードの接続</a:t>
            </a:r>
          </a:p>
        </p:txBody>
      </p:sp>
      <p:sp>
        <p:nvSpPr>
          <p:cNvPr id="11" name="TextBox 10"/>
          <p:cNvSpPr txBox="1"/>
          <p:nvPr/>
        </p:nvSpPr>
        <p:spPr>
          <a:xfrm>
            <a:off x="521207" y="3246120"/>
            <a:ext cx="11018520" cy="877824"/>
          </a:xfrm>
          <a:prstGeom prst="rect">
            <a:avLst/>
          </a:prstGeom>
          <a:noFill/>
        </p:spPr>
        <p:txBody>
          <a:bodyPr wrap="square" lIns="82296" tIns="64008" rIns="82296" bIns="18288">
            <a:spAutoFit/>
          </a:bodyPr>
          <a:lstStyle/>
          <a:p>
            <a:pPr>
              <a:spcAft>
                <a:spcPts val="500"/>
              </a:spcAft>
              <a:defRPr sz="1700" b="0">
                <a:solidFill>
                  <a:srgbClr val="242E3C"/>
                </a:solidFill>
                <a:latin typeface="Yu Gothic"/>
              </a:defRPr>
            </a:pPr>
            <a:r>
              <a:t>モデル内の ~ は確率分布、&lt;- は決定的な計算。dnorm の第2引数は精度 tau = 1/σ²。</a:t>
            </a:r>
          </a:p>
        </p:txBody>
      </p:sp>
      <p:sp>
        <p:nvSpPr>
          <p:cNvPr id="12" name="TextBox 11"/>
          <p:cNvSpPr txBox="1"/>
          <p:nvPr/>
        </p:nvSpPr>
        <p:spPr>
          <a:xfrm>
            <a:off x="512064" y="4325112"/>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確認すべき点・読み違えやすい点</a:t>
            </a:r>
          </a:p>
        </p:txBody>
      </p:sp>
      <p:sp>
        <p:nvSpPr>
          <p:cNvPr id="13" name="TextBox 12"/>
          <p:cNvSpPr txBox="1"/>
          <p:nvPr/>
        </p:nvSpPr>
        <p:spPr>
          <a:xfrm>
            <a:off x="521207" y="4754880"/>
            <a:ext cx="11027664" cy="1124712"/>
          </a:xfrm>
          <a:prstGeom prst="rect">
            <a:avLst/>
          </a:prstGeom>
          <a:noFill/>
        </p:spPr>
        <p:txBody>
          <a:bodyPr wrap="square" lIns="82296" tIns="64008" rIns="82296" bIns="18288">
            <a:spAutoFit/>
          </a:bodyPr>
          <a:lstStyle/>
          <a:p>
            <a:pPr>
              <a:spcAft>
                <a:spcPts val="500"/>
              </a:spcAft>
              <a:defRPr sz="1800" b="0">
                <a:solidFill>
                  <a:srgbClr val="242E3C"/>
                </a:solidFill>
                <a:latin typeface="Yu Gothic"/>
              </a:defRPr>
            </a:pPr>
            <a:r>
              <a:t>n.iter, n.burnin, n.chains と事前分布の指定を実際のコードで確認。</a:t>
            </a:r>
          </a:p>
        </p:txBody>
      </p:sp>
      <p:sp>
        <p:nvSpPr>
          <p:cNvPr id="14" name="TextBox 13"/>
          <p:cNvSpPr txBox="1"/>
          <p:nvPr/>
        </p:nvSpPr>
        <p:spPr>
          <a:xfrm>
            <a:off x="521207" y="6108192"/>
            <a:ext cx="10881360" cy="228600"/>
          </a:xfrm>
          <a:prstGeom prst="rect">
            <a:avLst/>
          </a:prstGeom>
          <a:noFill/>
        </p:spPr>
        <p:txBody>
          <a:bodyPr wrap="square" lIns="82296" tIns="64008" rIns="82296" bIns="18288">
            <a:spAutoFit/>
          </a:bodyPr>
          <a:lstStyle/>
          <a:p>
            <a:pPr>
              <a:spcAft>
                <a:spcPts val="500"/>
              </a:spcAft>
              <a:defRPr sz="1000" b="0">
                <a:solidFill>
                  <a:srgbClr val="667482"/>
                </a:solidFill>
                <a:latin typeface="Yu Gothic"/>
              </a:defRPr>
            </a:pPr>
            <a:r>
              <a:t>確認：出力の収束・妥当性は実際のR実行後に判断する（本資料で推定値は創作しない）。</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8.6.1  NIMBLE｜コードの読み方</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8  |  原著Rコードに基づく学習資料  |  二要因：主効果</a:t>
            </a:r>
          </a:p>
        </p:txBody>
      </p:sp>
      <p:sp>
        <p:nvSpPr>
          <p:cNvPr id="5" name="TextBox 4"/>
          <p:cNvSpPr txBox="1"/>
          <p:nvPr/>
        </p:nvSpPr>
        <p:spPr>
          <a:xfrm>
            <a:off x="502920" y="960120"/>
            <a:ext cx="6656832"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原著コード抜粋</a:t>
            </a:r>
          </a:p>
        </p:txBody>
      </p:sp>
      <p:sp>
        <p:nvSpPr>
          <p:cNvPr id="6" name="TextBox 5"/>
          <p:cNvSpPr txBox="1"/>
          <p:nvPr/>
        </p:nvSpPr>
        <p:spPr>
          <a:xfrm>
            <a:off x="7315200" y="960120"/>
            <a:ext cx="429768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どこに注目するか</a:t>
            </a:r>
          </a:p>
        </p:txBody>
      </p:sp>
      <p:sp>
        <p:nvSpPr>
          <p:cNvPr id="7" name="Rounded Rectangle 6"/>
          <p:cNvSpPr/>
          <p:nvPr/>
        </p:nvSpPr>
        <p:spPr>
          <a:xfrm>
            <a:off x="484632" y="1399032"/>
            <a:ext cx="6629400" cy="4434840"/>
          </a:xfrm>
          <a:prstGeom prst="round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wrap="square" lIns="146304" tIns="64008" rIns="146304" bIns="18288" rtlCol="0" anchor="ctr"/>
          <a:lstStyle/>
          <a:p>
            <a:pPr algn="ctr">
              <a:spcAft>
                <a:spcPts val="500"/>
              </a:spcAft>
              <a:defRPr sz="1200" b="0">
                <a:solidFill>
                  <a:srgbClr val="242E3C"/>
                </a:solidFill>
                <a:latin typeface="Consolas"/>
              </a:defRPr>
            </a:pPr>
            <a:r>
              <a:t>alpha ~ dnorm(0, 0.0001)             # Intercept</a:t>
            </a:r>
          </a:p>
          <a:p>
            <a:pPr>
              <a:spcAft>
                <a:spcPts val="500"/>
              </a:spcAft>
              <a:defRPr sz="1200" b="0">
                <a:solidFill>
                  <a:srgbClr val="242E3C"/>
                </a:solidFill>
                <a:latin typeface="Consolas"/>
              </a:defRPr>
            </a:pPr>
            <a:r>
              <a:t>beta.pop[j] ~ dnorm(0, 0.0001)</a:t>
            </a:r>
          </a:p>
          <a:p>
            <a:pPr>
              <a:spcAft>
                <a:spcPts val="500"/>
              </a:spcAft>
              <a:defRPr sz="1200" b="0">
                <a:solidFill>
                  <a:srgbClr val="242E3C"/>
                </a:solidFill>
                <a:latin typeface="Consolas"/>
              </a:defRPr>
            </a:pPr>
            <a:r>
              <a:t>beta.hab[j] ~ dnorm(0, 0.0001)</a:t>
            </a:r>
          </a:p>
          <a:p>
            <a:pPr>
              <a:spcAft>
                <a:spcPts val="500"/>
              </a:spcAft>
              <a:defRPr sz="1200" b="0">
                <a:solidFill>
                  <a:srgbClr val="242E3C"/>
                </a:solidFill>
                <a:latin typeface="Consolas"/>
              </a:defRPr>
            </a:pPr>
            <a:r>
              <a:t>tau &lt;- pow(sigma, -2)</a:t>
            </a:r>
          </a:p>
          <a:p>
            <a:pPr>
              <a:spcAft>
                <a:spcPts val="500"/>
              </a:spcAft>
              <a:defRPr sz="1200" b="0">
                <a:solidFill>
                  <a:srgbClr val="242E3C"/>
                </a:solidFill>
                <a:latin typeface="Consolas"/>
              </a:defRPr>
            </a:pPr>
            <a:r>
              <a:t>wing[i] ~ dnorm(mean[i], tau)</a:t>
            </a:r>
          </a:p>
          <a:p>
            <a:pPr>
              <a:spcAft>
                <a:spcPts val="500"/>
              </a:spcAft>
              <a:defRPr sz="1200" b="0">
                <a:solidFill>
                  <a:srgbClr val="242E3C"/>
                </a:solidFill>
                <a:latin typeface="Consolas"/>
              </a:defRPr>
            </a:pPr>
            <a:r>
              <a:t>mean[i] &lt;- alpha + beta.pop[pop[i]] + beta.hab[hab[i]]</a:t>
            </a:r>
          </a:p>
        </p:txBody>
      </p:sp>
      <p:sp>
        <p:nvSpPr>
          <p:cNvPr id="8" name="TextBox 7"/>
          <p:cNvSpPr txBox="1"/>
          <p:nvPr/>
        </p:nvSpPr>
        <p:spPr>
          <a:xfrm>
            <a:off x="7315200" y="1408176"/>
            <a:ext cx="4251960" cy="457200"/>
          </a:xfrm>
          <a:prstGeom prst="rect">
            <a:avLst/>
          </a:prstGeom>
          <a:noFill/>
        </p:spPr>
        <p:txBody>
          <a:bodyPr wrap="square" lIns="82296" tIns="64008" rIns="82296" bIns="18288">
            <a:spAutoFit/>
          </a:bodyPr>
          <a:lstStyle/>
          <a:p>
            <a:pPr>
              <a:spcAft>
                <a:spcPts val="500"/>
              </a:spcAft>
              <a:defRPr sz="1800" b="1">
                <a:solidFill>
                  <a:srgbClr val="1D5D8C"/>
                </a:solidFill>
                <a:latin typeface="Yu Gothic"/>
              </a:defRPr>
            </a:pPr>
            <a:r>
              <a:t>nimbleCode による階層モデル</a:t>
            </a:r>
          </a:p>
        </p:txBody>
      </p:sp>
      <p:sp>
        <p:nvSpPr>
          <p:cNvPr id="9" name="TextBox 8"/>
          <p:cNvSpPr txBox="1"/>
          <p:nvPr/>
        </p:nvSpPr>
        <p:spPr>
          <a:xfrm>
            <a:off x="7315200" y="1947672"/>
            <a:ext cx="4206240" cy="141732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モデルの確率的な構造はJAGSと類似。dnorm では sd= と tau= の記述の違いを読む。</a:t>
            </a:r>
          </a:p>
        </p:txBody>
      </p:sp>
      <p:sp>
        <p:nvSpPr>
          <p:cNvPr id="10" name="TextBox 9"/>
          <p:cNvSpPr txBox="1"/>
          <p:nvPr/>
        </p:nvSpPr>
        <p:spPr>
          <a:xfrm>
            <a:off x="7315200" y="3584448"/>
            <a:ext cx="4206240" cy="196596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constants・inits・monitors をどこに渡すかに注目。</a:t>
            </a:r>
          </a:p>
        </p:txBody>
      </p:sp>
      <p:sp>
        <p:nvSpPr>
          <p:cNvPr id="11" name="TextBox 10"/>
          <p:cNvSpPr txBox="1"/>
          <p:nvPr/>
        </p:nvSpPr>
        <p:spPr>
          <a:xfrm>
            <a:off x="539496" y="5971032"/>
            <a:ext cx="11064240" cy="347472"/>
          </a:xfrm>
          <a:prstGeom prst="rect">
            <a:avLst/>
          </a:prstGeom>
          <a:noFill/>
        </p:spPr>
        <p:txBody>
          <a:bodyPr wrap="square" lIns="82296" tIns="64008" rIns="82296" bIns="18288">
            <a:spAutoFit/>
          </a:bodyPr>
          <a:lstStyle/>
          <a:p>
            <a:pPr>
              <a:spcAft>
                <a:spcPts val="500"/>
              </a:spcAft>
              <a:defRPr sz="1100" b="0">
                <a:solidFill>
                  <a:srgbClr val="667482"/>
                </a:solidFill>
                <a:latin typeface="Yu Gothic"/>
              </a:defRPr>
            </a:pPr>
            <a:r>
              <a:t>抜粋したコードの変数名・関数名は原著のまま。モデル全文は添付の原著Rファイルを参照。</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8.6.1  NIMBLE｜推定手順を理解する</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8  |  原著Rコードに基づく学習資料  |  二要因：主効果</a:t>
            </a:r>
          </a:p>
        </p:txBody>
      </p:sp>
      <p:sp>
        <p:nvSpPr>
          <p:cNvPr id="5" name="TextBox 4"/>
          <p:cNvSpPr txBox="1"/>
          <p:nvPr/>
        </p:nvSpPr>
        <p:spPr>
          <a:xfrm>
            <a:off x="512064" y="9601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コードの実行・推定フロー</a:t>
            </a:r>
          </a:p>
        </p:txBody>
      </p:sp>
      <p:sp>
        <p:nvSpPr>
          <p:cNvPr id="6" name="Rounded Rectangle 5"/>
          <p:cNvSpPr/>
          <p:nvPr/>
        </p:nvSpPr>
        <p:spPr>
          <a:xfrm>
            <a:off x="530352" y="1517904"/>
            <a:ext cx="274320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nimbleCode()</a:t>
            </a:r>
          </a:p>
        </p:txBody>
      </p:sp>
      <p:sp>
        <p:nvSpPr>
          <p:cNvPr id="7" name="Rounded Rectangle 6"/>
          <p:cNvSpPr/>
          <p:nvPr/>
        </p:nvSpPr>
        <p:spPr>
          <a:xfrm>
            <a:off x="3474720" y="1517904"/>
            <a:ext cx="274320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nimbleMCMC()</a:t>
            </a:r>
          </a:p>
        </p:txBody>
      </p:sp>
      <p:sp>
        <p:nvSpPr>
          <p:cNvPr id="8" name="Rounded Rectangle 7"/>
          <p:cNvSpPr/>
          <p:nvPr/>
        </p:nvSpPr>
        <p:spPr>
          <a:xfrm>
            <a:off x="6419088" y="1517904"/>
            <a:ext cx="274320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coda::traceplot()</a:t>
            </a:r>
          </a:p>
        </p:txBody>
      </p:sp>
      <p:sp>
        <p:nvSpPr>
          <p:cNvPr id="9" name="TextBox 8"/>
          <p:cNvSpPr txBox="1"/>
          <p:nvPr/>
        </p:nvSpPr>
        <p:spPr>
          <a:xfrm>
            <a:off x="512064" y="27889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モデルとコードの接続</a:t>
            </a:r>
          </a:p>
        </p:txBody>
      </p:sp>
      <p:sp>
        <p:nvSpPr>
          <p:cNvPr id="10" name="TextBox 9"/>
          <p:cNvSpPr txBox="1"/>
          <p:nvPr/>
        </p:nvSpPr>
        <p:spPr>
          <a:xfrm>
            <a:off x="521207" y="3246120"/>
            <a:ext cx="11018520" cy="877824"/>
          </a:xfrm>
          <a:prstGeom prst="rect">
            <a:avLst/>
          </a:prstGeom>
          <a:noFill/>
        </p:spPr>
        <p:txBody>
          <a:bodyPr wrap="square" lIns="82296" tIns="64008" rIns="82296" bIns="18288">
            <a:spAutoFit/>
          </a:bodyPr>
          <a:lstStyle/>
          <a:p>
            <a:pPr>
              <a:spcAft>
                <a:spcPts val="500"/>
              </a:spcAft>
              <a:defRPr sz="1700" b="0">
                <a:solidFill>
                  <a:srgbClr val="242E3C"/>
                </a:solidFill>
                <a:latin typeface="Yu Gothic"/>
              </a:defRPr>
            </a:pPr>
            <a:r>
              <a:t>モデルの確率的な構造はJAGSと類似。dnorm では sd= と tau= の記述の違いを読む。</a:t>
            </a:r>
          </a:p>
        </p:txBody>
      </p:sp>
      <p:sp>
        <p:nvSpPr>
          <p:cNvPr id="11" name="TextBox 10"/>
          <p:cNvSpPr txBox="1"/>
          <p:nvPr/>
        </p:nvSpPr>
        <p:spPr>
          <a:xfrm>
            <a:off x="512064" y="4325112"/>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確認すべき点・読み違えやすい点</a:t>
            </a:r>
          </a:p>
        </p:txBody>
      </p:sp>
      <p:sp>
        <p:nvSpPr>
          <p:cNvPr id="12" name="TextBox 11"/>
          <p:cNvSpPr txBox="1"/>
          <p:nvPr/>
        </p:nvSpPr>
        <p:spPr>
          <a:xfrm>
            <a:off x="521207" y="4754880"/>
            <a:ext cx="11027664" cy="1124712"/>
          </a:xfrm>
          <a:prstGeom prst="rect">
            <a:avLst/>
          </a:prstGeom>
          <a:noFill/>
        </p:spPr>
        <p:txBody>
          <a:bodyPr wrap="square" lIns="82296" tIns="64008" rIns="82296" bIns="18288">
            <a:spAutoFit/>
          </a:bodyPr>
          <a:lstStyle/>
          <a:p>
            <a:pPr>
              <a:spcAft>
                <a:spcPts val="500"/>
              </a:spcAft>
              <a:defRPr sz="1800" b="0">
                <a:solidFill>
                  <a:srgbClr val="242E3C"/>
                </a:solidFill>
                <a:latin typeface="Yu Gothic"/>
              </a:defRPr>
            </a:pPr>
            <a:r>
              <a:t>constants・inits・monitors をどこに渡すかに注目。</a:t>
            </a:r>
          </a:p>
        </p:txBody>
      </p:sp>
      <p:sp>
        <p:nvSpPr>
          <p:cNvPr id="13" name="TextBox 12"/>
          <p:cNvSpPr txBox="1"/>
          <p:nvPr/>
        </p:nvSpPr>
        <p:spPr>
          <a:xfrm>
            <a:off x="521207" y="6108192"/>
            <a:ext cx="10881360" cy="228600"/>
          </a:xfrm>
          <a:prstGeom prst="rect">
            <a:avLst/>
          </a:prstGeom>
          <a:noFill/>
        </p:spPr>
        <p:txBody>
          <a:bodyPr wrap="square" lIns="82296" tIns="64008" rIns="82296" bIns="18288">
            <a:spAutoFit/>
          </a:bodyPr>
          <a:lstStyle/>
          <a:p>
            <a:pPr>
              <a:spcAft>
                <a:spcPts val="500"/>
              </a:spcAft>
              <a:defRPr sz="1000" b="0">
                <a:solidFill>
                  <a:srgbClr val="667482"/>
                </a:solidFill>
                <a:latin typeface="Yu Gothic"/>
              </a:defRPr>
            </a:pPr>
            <a:r>
              <a:t>確認：出力の収束・妥当性は実際のR実行後に判断する（本資料で推定値は創作しない）。</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8.7.1  Stan｜コードの読み方</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8  |  原著Rコードに基づく学習資料  |  二要因：主効果</a:t>
            </a:r>
          </a:p>
        </p:txBody>
      </p:sp>
      <p:sp>
        <p:nvSpPr>
          <p:cNvPr id="5" name="TextBox 4"/>
          <p:cNvSpPr txBox="1"/>
          <p:nvPr/>
        </p:nvSpPr>
        <p:spPr>
          <a:xfrm>
            <a:off x="502920" y="960120"/>
            <a:ext cx="6656832"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原著コード抜粋</a:t>
            </a:r>
          </a:p>
        </p:txBody>
      </p:sp>
      <p:sp>
        <p:nvSpPr>
          <p:cNvPr id="6" name="TextBox 5"/>
          <p:cNvSpPr txBox="1"/>
          <p:nvPr/>
        </p:nvSpPr>
        <p:spPr>
          <a:xfrm>
            <a:off x="7315200" y="960120"/>
            <a:ext cx="429768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どこに注目するか</a:t>
            </a:r>
          </a:p>
        </p:txBody>
      </p:sp>
      <p:sp>
        <p:nvSpPr>
          <p:cNvPr id="7" name="Rounded Rectangle 6"/>
          <p:cNvSpPr/>
          <p:nvPr/>
        </p:nvSpPr>
        <p:spPr>
          <a:xfrm>
            <a:off x="484632" y="1399032"/>
            <a:ext cx="6629400" cy="4434840"/>
          </a:xfrm>
          <a:prstGeom prst="round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wrap="square" lIns="146304" tIns="64008" rIns="146304" bIns="18288" rtlCol="0" anchor="ctr"/>
          <a:lstStyle/>
          <a:p>
            <a:pPr algn="ctr">
              <a:spcAft>
                <a:spcPts val="500"/>
              </a:spcAft>
              <a:defRPr sz="1200" b="0">
                <a:solidFill>
                  <a:srgbClr val="242E3C"/>
                </a:solidFill>
                <a:latin typeface="Consolas"/>
              </a:defRPr>
            </a:pPr>
            <a:r>
              <a:t>data {</a:t>
            </a:r>
          </a:p>
          <a:p>
            <a:pPr>
              <a:spcAft>
                <a:spcPts val="500"/>
              </a:spcAft>
              <a:defRPr sz="1200" b="0">
                <a:solidFill>
                  <a:srgbClr val="242E3C"/>
                </a:solidFill>
                <a:latin typeface="Consolas"/>
              </a:defRPr>
            </a:pPr>
            <a:r>
              <a:t>parameters {</a:t>
            </a:r>
          </a:p>
          <a:p>
            <a:pPr>
              <a:spcAft>
                <a:spcPts val="500"/>
              </a:spcAft>
              <a:defRPr sz="1200" b="0">
                <a:solidFill>
                  <a:srgbClr val="242E3C"/>
                </a:solidFill>
                <a:latin typeface="Consolas"/>
              </a:defRPr>
            </a:pPr>
            <a:r>
              <a:t>transformed parameters {</a:t>
            </a:r>
          </a:p>
          <a:p>
            <a:pPr>
              <a:spcAft>
                <a:spcPts val="500"/>
              </a:spcAft>
              <a:defRPr sz="1200" b="0">
                <a:solidFill>
                  <a:srgbClr val="242E3C"/>
                </a:solidFill>
                <a:latin typeface="Consolas"/>
              </a:defRPr>
            </a:pPr>
            <a:r>
              <a:t>model {</a:t>
            </a:r>
          </a:p>
          <a:p>
            <a:pPr>
              <a:spcAft>
                <a:spcPts val="500"/>
              </a:spcAft>
              <a:defRPr sz="1200" b="0">
                <a:solidFill>
                  <a:srgbClr val="242E3C"/>
                </a:solidFill>
                <a:latin typeface="Consolas"/>
              </a:defRPr>
            </a:pPr>
            <a:r>
              <a:t>beta_pop_raw ~ normal(0, 100);</a:t>
            </a:r>
          </a:p>
          <a:p>
            <a:pPr>
              <a:spcAft>
                <a:spcPts val="500"/>
              </a:spcAft>
              <a:defRPr sz="1200" b="0">
                <a:solidFill>
                  <a:srgbClr val="242E3C"/>
                </a:solidFill>
                <a:latin typeface="Consolas"/>
              </a:defRPr>
            </a:pPr>
            <a:r>
              <a:t>beta_hab_raw ~ normal(0, 100);</a:t>
            </a:r>
          </a:p>
          <a:p>
            <a:pPr>
              <a:spcAft>
                <a:spcPts val="500"/>
              </a:spcAft>
              <a:defRPr sz="1200" b="0">
                <a:solidFill>
                  <a:srgbClr val="242E3C"/>
                </a:solidFill>
                <a:latin typeface="Consolas"/>
              </a:defRPr>
            </a:pPr>
            <a:r>
              <a:t>sigma ~ cauchy(0, 10);</a:t>
            </a:r>
          </a:p>
          <a:p>
            <a:pPr>
              <a:spcAft>
                <a:spcPts val="500"/>
              </a:spcAft>
              <a:defRPr sz="1200" b="0">
                <a:solidFill>
                  <a:srgbClr val="242E3C"/>
                </a:solidFill>
                <a:latin typeface="Consolas"/>
              </a:defRPr>
            </a:pPr>
            <a:r>
              <a:t>mu[i] = alpha + beta_pop[pop[i]] + beta_hab[hab[i]];</a:t>
            </a:r>
          </a:p>
          <a:p>
            <a:pPr>
              <a:spcAft>
                <a:spcPts val="500"/>
              </a:spcAft>
              <a:defRPr sz="1200" b="0">
                <a:solidFill>
                  <a:srgbClr val="242E3C"/>
                </a:solidFill>
                <a:latin typeface="Consolas"/>
              </a:defRPr>
            </a:pPr>
            <a:r>
              <a:t>wing[i] ~ normal(mu[i], sigma);</a:t>
            </a:r>
          </a:p>
        </p:txBody>
      </p:sp>
      <p:sp>
        <p:nvSpPr>
          <p:cNvPr id="8" name="TextBox 7"/>
          <p:cNvSpPr txBox="1"/>
          <p:nvPr/>
        </p:nvSpPr>
        <p:spPr>
          <a:xfrm>
            <a:off x="7315200" y="1408176"/>
            <a:ext cx="4251960" cy="457200"/>
          </a:xfrm>
          <a:prstGeom prst="rect">
            <a:avLst/>
          </a:prstGeom>
          <a:noFill/>
        </p:spPr>
        <p:txBody>
          <a:bodyPr wrap="square" lIns="82296" tIns="64008" rIns="82296" bIns="18288">
            <a:spAutoFit/>
          </a:bodyPr>
          <a:lstStyle/>
          <a:p>
            <a:pPr>
              <a:spcAft>
                <a:spcPts val="500"/>
              </a:spcAft>
              <a:defRPr sz="1800" b="1">
                <a:solidFill>
                  <a:srgbClr val="1D5D8C"/>
                </a:solidFill>
                <a:latin typeface="Yu Gothic"/>
              </a:defRPr>
            </a:pPr>
            <a:r>
              <a:t>ブロックと連続パラメータ</a:t>
            </a:r>
          </a:p>
        </p:txBody>
      </p:sp>
      <p:sp>
        <p:nvSpPr>
          <p:cNvPr id="9" name="TextBox 8"/>
          <p:cNvSpPr txBox="1"/>
          <p:nvPr/>
        </p:nvSpPr>
        <p:spPr>
          <a:xfrm>
            <a:off x="7315200" y="1947672"/>
            <a:ext cx="4206240" cy="141732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data は観測値、parameters は未知量、model は事前分布・尤度。generated quantities は事後の派生量。</a:t>
            </a:r>
          </a:p>
        </p:txBody>
      </p:sp>
      <p:sp>
        <p:nvSpPr>
          <p:cNvPr id="10" name="TextBox 9"/>
          <p:cNvSpPr txBox="1"/>
          <p:nvPr/>
        </p:nvSpPr>
        <p:spPr>
          <a:xfrm>
            <a:off x="7315200" y="3584448"/>
            <a:ext cx="4206240" cy="196596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離散潜在変数は直接サンプリングできず、必要に応じて周辺化する。</a:t>
            </a:r>
          </a:p>
        </p:txBody>
      </p:sp>
      <p:sp>
        <p:nvSpPr>
          <p:cNvPr id="11" name="TextBox 10"/>
          <p:cNvSpPr txBox="1"/>
          <p:nvPr/>
        </p:nvSpPr>
        <p:spPr>
          <a:xfrm>
            <a:off x="539496" y="5971032"/>
            <a:ext cx="11064240" cy="347472"/>
          </a:xfrm>
          <a:prstGeom prst="rect">
            <a:avLst/>
          </a:prstGeom>
          <a:noFill/>
        </p:spPr>
        <p:txBody>
          <a:bodyPr wrap="square" lIns="82296" tIns="64008" rIns="82296" bIns="18288">
            <a:spAutoFit/>
          </a:bodyPr>
          <a:lstStyle/>
          <a:p>
            <a:pPr>
              <a:spcAft>
                <a:spcPts val="500"/>
              </a:spcAft>
              <a:defRPr sz="1100" b="0">
                <a:solidFill>
                  <a:srgbClr val="667482"/>
                </a:solidFill>
                <a:latin typeface="Yu Gothic"/>
              </a:defRPr>
            </a:pPr>
            <a:r>
              <a:t>抜粋したコードの変数名・関数名は原著のまま。モデル全文は添付の原著Rファイルを参照。</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8.7.1  Stan｜推定手順を理解する</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8  |  原著Rコードに基づく学習資料  |  二要因：主効果</a:t>
            </a:r>
          </a:p>
        </p:txBody>
      </p:sp>
      <p:sp>
        <p:nvSpPr>
          <p:cNvPr id="5" name="TextBox 4"/>
          <p:cNvSpPr txBox="1"/>
          <p:nvPr/>
        </p:nvSpPr>
        <p:spPr>
          <a:xfrm>
            <a:off x="512064" y="9601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コードの実行・推定フロー</a:t>
            </a:r>
          </a:p>
        </p:txBody>
      </p:sp>
      <p:sp>
        <p:nvSpPr>
          <p:cNvPr id="6" name="Rounded Rectangle 5"/>
          <p:cNvSpPr/>
          <p:nvPr/>
        </p:nvSpPr>
        <p:spPr>
          <a:xfrm>
            <a:off x="530352" y="1517904"/>
            <a:ext cx="2066544"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data</a:t>
            </a:r>
          </a:p>
        </p:txBody>
      </p:sp>
      <p:sp>
        <p:nvSpPr>
          <p:cNvPr id="7" name="Rounded Rectangle 6"/>
          <p:cNvSpPr/>
          <p:nvPr/>
        </p:nvSpPr>
        <p:spPr>
          <a:xfrm>
            <a:off x="2798064" y="1517904"/>
            <a:ext cx="2066544"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parameters</a:t>
            </a:r>
          </a:p>
        </p:txBody>
      </p:sp>
      <p:sp>
        <p:nvSpPr>
          <p:cNvPr id="8" name="Rounded Rectangle 7"/>
          <p:cNvSpPr/>
          <p:nvPr/>
        </p:nvSpPr>
        <p:spPr>
          <a:xfrm>
            <a:off x="5065776" y="1517904"/>
            <a:ext cx="2066544"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model</a:t>
            </a:r>
          </a:p>
        </p:txBody>
      </p:sp>
      <p:sp>
        <p:nvSpPr>
          <p:cNvPr id="9" name="Rounded Rectangle 8"/>
          <p:cNvSpPr/>
          <p:nvPr/>
        </p:nvSpPr>
        <p:spPr>
          <a:xfrm>
            <a:off x="7333488" y="1517904"/>
            <a:ext cx="2066544"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stan()</a:t>
            </a:r>
          </a:p>
        </p:txBody>
      </p:sp>
      <p:sp>
        <p:nvSpPr>
          <p:cNvPr id="10" name="Rounded Rectangle 9"/>
          <p:cNvSpPr/>
          <p:nvPr/>
        </p:nvSpPr>
        <p:spPr>
          <a:xfrm>
            <a:off x="9601200" y="1517904"/>
            <a:ext cx="2066544"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summary</a:t>
            </a:r>
          </a:p>
        </p:txBody>
      </p:sp>
      <p:sp>
        <p:nvSpPr>
          <p:cNvPr id="11" name="TextBox 10"/>
          <p:cNvSpPr txBox="1"/>
          <p:nvPr/>
        </p:nvSpPr>
        <p:spPr>
          <a:xfrm>
            <a:off x="512064" y="27889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モデルとコードの接続</a:t>
            </a:r>
          </a:p>
        </p:txBody>
      </p:sp>
      <p:sp>
        <p:nvSpPr>
          <p:cNvPr id="12" name="TextBox 11"/>
          <p:cNvSpPr txBox="1"/>
          <p:nvPr/>
        </p:nvSpPr>
        <p:spPr>
          <a:xfrm>
            <a:off x="521207" y="3246120"/>
            <a:ext cx="11018520" cy="877824"/>
          </a:xfrm>
          <a:prstGeom prst="rect">
            <a:avLst/>
          </a:prstGeom>
          <a:noFill/>
        </p:spPr>
        <p:txBody>
          <a:bodyPr wrap="square" lIns="82296" tIns="64008" rIns="82296" bIns="18288">
            <a:spAutoFit/>
          </a:bodyPr>
          <a:lstStyle/>
          <a:p>
            <a:pPr>
              <a:spcAft>
                <a:spcPts val="500"/>
              </a:spcAft>
              <a:defRPr sz="1700" b="0">
                <a:solidFill>
                  <a:srgbClr val="242E3C"/>
                </a:solidFill>
                <a:latin typeface="Yu Gothic"/>
              </a:defRPr>
            </a:pPr>
            <a:r>
              <a:t>data は観測値、parameters は未知量、model は事前分布・尤度。generated quantities は事後の派生量。</a:t>
            </a:r>
          </a:p>
        </p:txBody>
      </p:sp>
      <p:sp>
        <p:nvSpPr>
          <p:cNvPr id="13" name="TextBox 12"/>
          <p:cNvSpPr txBox="1"/>
          <p:nvPr/>
        </p:nvSpPr>
        <p:spPr>
          <a:xfrm>
            <a:off x="512064" y="4325112"/>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確認すべき点・読み違えやすい点</a:t>
            </a:r>
          </a:p>
        </p:txBody>
      </p:sp>
      <p:sp>
        <p:nvSpPr>
          <p:cNvPr id="14" name="TextBox 13"/>
          <p:cNvSpPr txBox="1"/>
          <p:nvPr/>
        </p:nvSpPr>
        <p:spPr>
          <a:xfrm>
            <a:off x="521207" y="4754880"/>
            <a:ext cx="11027664" cy="1124712"/>
          </a:xfrm>
          <a:prstGeom prst="rect">
            <a:avLst/>
          </a:prstGeom>
          <a:noFill/>
        </p:spPr>
        <p:txBody>
          <a:bodyPr wrap="square" lIns="82296" tIns="64008" rIns="82296" bIns="18288">
            <a:spAutoFit/>
          </a:bodyPr>
          <a:lstStyle/>
          <a:p>
            <a:pPr>
              <a:spcAft>
                <a:spcPts val="500"/>
              </a:spcAft>
              <a:defRPr sz="1800" b="0">
                <a:solidFill>
                  <a:srgbClr val="242E3C"/>
                </a:solidFill>
                <a:latin typeface="Yu Gothic"/>
              </a:defRPr>
            </a:pPr>
            <a:r>
              <a:t>離散潜在変数は直接サンプリングできず、必要に応じて周辺化する。</a:t>
            </a:r>
          </a:p>
        </p:txBody>
      </p:sp>
      <p:sp>
        <p:nvSpPr>
          <p:cNvPr id="15" name="TextBox 14"/>
          <p:cNvSpPr txBox="1"/>
          <p:nvPr/>
        </p:nvSpPr>
        <p:spPr>
          <a:xfrm>
            <a:off x="521207" y="6108192"/>
            <a:ext cx="10881360" cy="228600"/>
          </a:xfrm>
          <a:prstGeom prst="rect">
            <a:avLst/>
          </a:prstGeom>
          <a:noFill/>
        </p:spPr>
        <p:txBody>
          <a:bodyPr wrap="square" lIns="82296" tIns="64008" rIns="82296" bIns="18288">
            <a:spAutoFit/>
          </a:bodyPr>
          <a:lstStyle/>
          <a:p>
            <a:pPr>
              <a:spcAft>
                <a:spcPts val="500"/>
              </a:spcAft>
              <a:defRPr sz="1000" b="0">
                <a:solidFill>
                  <a:srgbClr val="667482"/>
                </a:solidFill>
                <a:latin typeface="Yu Gothic"/>
              </a:defRPr>
            </a:pPr>
            <a:r>
              <a:t>確認：出力の収束・妥当性は実際のR実行後に判断する（本資料で推定値は創作しない）。</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8.8.1  自作尤度（optim）｜コードの読み方</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8  |  原著Rコードに基づく学習資料  |  二要因：主効果</a:t>
            </a:r>
          </a:p>
        </p:txBody>
      </p:sp>
      <p:sp>
        <p:nvSpPr>
          <p:cNvPr id="5" name="TextBox 4"/>
          <p:cNvSpPr txBox="1"/>
          <p:nvPr/>
        </p:nvSpPr>
        <p:spPr>
          <a:xfrm>
            <a:off x="502920" y="960120"/>
            <a:ext cx="6656832"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原著コード抜粋</a:t>
            </a:r>
          </a:p>
        </p:txBody>
      </p:sp>
      <p:sp>
        <p:nvSpPr>
          <p:cNvPr id="6" name="TextBox 5"/>
          <p:cNvSpPr txBox="1"/>
          <p:nvPr/>
        </p:nvSpPr>
        <p:spPr>
          <a:xfrm>
            <a:off x="7315200" y="960120"/>
            <a:ext cx="429768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どこに注目するか</a:t>
            </a:r>
          </a:p>
        </p:txBody>
      </p:sp>
      <p:sp>
        <p:nvSpPr>
          <p:cNvPr id="7" name="Rounded Rectangle 6"/>
          <p:cNvSpPr/>
          <p:nvPr/>
        </p:nvSpPr>
        <p:spPr>
          <a:xfrm>
            <a:off x="484632" y="1399032"/>
            <a:ext cx="6629400" cy="4434840"/>
          </a:xfrm>
          <a:prstGeom prst="round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wrap="square" lIns="146304" tIns="64008" rIns="146304" bIns="18288" rtlCol="0" anchor="ctr"/>
          <a:lstStyle/>
          <a:p>
            <a:pPr algn="ctr">
              <a:spcAft>
                <a:spcPts val="500"/>
              </a:spcAft>
              <a:defRPr sz="1019" b="0">
                <a:solidFill>
                  <a:srgbClr val="242E3C"/>
                </a:solidFill>
                <a:latin typeface="Consolas"/>
              </a:defRPr>
            </a:pPr>
            <a:r>
              <a:t>NLL &lt;- function(param, y, Xmat) {</a:t>
            </a:r>
          </a:p>
          <a:p>
            <a:pPr>
              <a:spcAft>
                <a:spcPts val="500"/>
              </a:spcAft>
              <a:defRPr sz="1019" b="0">
                <a:solidFill>
                  <a:srgbClr val="242E3C"/>
                </a:solidFill>
                <a:latin typeface="Consolas"/>
              </a:defRPr>
            </a:pPr>
            <a:r>
              <a:t>beta &lt;- param[1:7]                 # Intercept and slope coefficients</a:t>
            </a:r>
          </a:p>
          <a:p>
            <a:pPr>
              <a:spcAft>
                <a:spcPts val="500"/>
              </a:spcAft>
              <a:defRPr sz="1019" b="0">
                <a:solidFill>
                  <a:srgbClr val="242E3C"/>
                </a:solidFill>
                <a:latin typeface="Consolas"/>
              </a:defRPr>
            </a:pPr>
            <a:r>
              <a:t>sigma &lt;- exp(param[8])             # Residual SD</a:t>
            </a:r>
          </a:p>
          <a:p>
            <a:pPr>
              <a:spcAft>
                <a:spcPts val="500"/>
              </a:spcAft>
              <a:defRPr sz="1019" b="0">
                <a:solidFill>
                  <a:srgbClr val="242E3C"/>
                </a:solidFill>
                <a:latin typeface="Consolas"/>
              </a:defRPr>
            </a:pPr>
            <a:r>
              <a:t>mu &lt;- Xmat %*% beta                # Multiply each row of Xmat by beta</a:t>
            </a:r>
          </a:p>
          <a:p>
            <a:pPr>
              <a:spcAft>
                <a:spcPts val="500"/>
              </a:spcAft>
              <a:defRPr sz="1019" b="0">
                <a:solidFill>
                  <a:srgbClr val="242E3C"/>
                </a:solidFill>
                <a:latin typeface="Consolas"/>
              </a:defRPr>
            </a:pPr>
            <a:r>
              <a:t>LL &lt;- dnorm(y, mu, sigma, log = TRUE) # Log-likelihood for each obs</a:t>
            </a:r>
          </a:p>
          <a:p>
            <a:pPr>
              <a:spcAft>
                <a:spcPts val="500"/>
              </a:spcAft>
              <a:defRPr sz="1019" b="0">
                <a:solidFill>
                  <a:srgbClr val="242E3C"/>
                </a:solidFill>
                <a:latin typeface="Consolas"/>
              </a:defRPr>
            </a:pPr>
            <a:r>
              <a:t>NLL &lt;- -sum(LL)                    # NLL for all observations (whole data set)</a:t>
            </a:r>
          </a:p>
          <a:p>
            <a:pPr>
              <a:spcAft>
                <a:spcPts val="500"/>
              </a:spcAft>
              <a:defRPr sz="1019" b="0">
                <a:solidFill>
                  <a:srgbClr val="242E3C"/>
                </a:solidFill>
                <a:latin typeface="Consolas"/>
              </a:defRPr>
            </a:pPr>
            <a:r>
              <a:t>return(NLL)</a:t>
            </a:r>
          </a:p>
          <a:p>
            <a:pPr>
              <a:spcAft>
                <a:spcPts val="500"/>
              </a:spcAft>
              <a:defRPr sz="1019" b="0">
                <a:solidFill>
                  <a:srgbClr val="242E3C"/>
                </a:solidFill>
                <a:latin typeface="Consolas"/>
              </a:defRPr>
            </a:pPr>
            <a:r>
              <a:t>out88me &lt;- optim(inits, NLL, y = wing, Xmat = Xmat, hessian = TRUE, method = 'BFGS')</a:t>
            </a:r>
          </a:p>
        </p:txBody>
      </p:sp>
      <p:sp>
        <p:nvSpPr>
          <p:cNvPr id="8" name="TextBox 7"/>
          <p:cNvSpPr txBox="1"/>
          <p:nvPr/>
        </p:nvSpPr>
        <p:spPr>
          <a:xfrm>
            <a:off x="7315200" y="1408176"/>
            <a:ext cx="4251960" cy="457200"/>
          </a:xfrm>
          <a:prstGeom prst="rect">
            <a:avLst/>
          </a:prstGeom>
          <a:noFill/>
        </p:spPr>
        <p:txBody>
          <a:bodyPr wrap="square" lIns="82296" tIns="64008" rIns="82296" bIns="18288">
            <a:spAutoFit/>
          </a:bodyPr>
          <a:lstStyle/>
          <a:p>
            <a:pPr>
              <a:spcAft>
                <a:spcPts val="500"/>
              </a:spcAft>
              <a:defRPr sz="1800" b="1">
                <a:solidFill>
                  <a:srgbClr val="1D5D8C"/>
                </a:solidFill>
                <a:latin typeface="Yu Gothic"/>
              </a:defRPr>
            </a:pPr>
            <a:r>
              <a:t>負の対数尤度を自分で作る</a:t>
            </a:r>
          </a:p>
        </p:txBody>
      </p:sp>
      <p:sp>
        <p:nvSpPr>
          <p:cNvPr id="9" name="TextBox 8"/>
          <p:cNvSpPr txBox="1"/>
          <p:nvPr/>
        </p:nvSpPr>
        <p:spPr>
          <a:xfrm>
            <a:off x="7315200" y="1947672"/>
            <a:ext cx="4206240" cy="141732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尤度の対数を合計し符号を反転する。optim() はこの負の対数尤度を最小化する。</a:t>
            </a:r>
          </a:p>
        </p:txBody>
      </p:sp>
      <p:sp>
        <p:nvSpPr>
          <p:cNvPr id="10" name="TextBox 9"/>
          <p:cNvSpPr txBox="1"/>
          <p:nvPr/>
        </p:nvSpPr>
        <p:spPr>
          <a:xfrm>
            <a:off x="7315200" y="3584448"/>
            <a:ext cx="4206240" cy="196596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標準偏差の正値制約を exp(log_sigma) で実装する例を確認。</a:t>
            </a:r>
          </a:p>
        </p:txBody>
      </p:sp>
      <p:sp>
        <p:nvSpPr>
          <p:cNvPr id="11" name="TextBox 10"/>
          <p:cNvSpPr txBox="1"/>
          <p:nvPr/>
        </p:nvSpPr>
        <p:spPr>
          <a:xfrm>
            <a:off x="539496" y="5971032"/>
            <a:ext cx="11064240" cy="347472"/>
          </a:xfrm>
          <a:prstGeom prst="rect">
            <a:avLst/>
          </a:prstGeom>
          <a:noFill/>
        </p:spPr>
        <p:txBody>
          <a:bodyPr wrap="square" lIns="82296" tIns="64008" rIns="82296" bIns="18288">
            <a:spAutoFit/>
          </a:bodyPr>
          <a:lstStyle/>
          <a:p>
            <a:pPr>
              <a:spcAft>
                <a:spcPts val="500"/>
              </a:spcAft>
              <a:defRPr sz="1100" b="0">
                <a:solidFill>
                  <a:srgbClr val="667482"/>
                </a:solidFill>
                <a:latin typeface="Yu Gothic"/>
              </a:defRPr>
            </a:pPr>
            <a:r>
              <a:t>抜粋したコードの変数名・関数名は原著のまま。モデル全文は添付の原著Rファイルを参照。</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8.8.1  自作尤度（optim）｜推定手順を理解する</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8  |  原著Rコードに基づく学習資料  |  二要因：主効果</a:t>
            </a:r>
          </a:p>
        </p:txBody>
      </p:sp>
      <p:sp>
        <p:nvSpPr>
          <p:cNvPr id="5" name="TextBox 4"/>
          <p:cNvSpPr txBox="1"/>
          <p:nvPr/>
        </p:nvSpPr>
        <p:spPr>
          <a:xfrm>
            <a:off x="512064" y="9601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コードの実行・推定フロー</a:t>
            </a:r>
          </a:p>
        </p:txBody>
      </p:sp>
      <p:sp>
        <p:nvSpPr>
          <p:cNvPr id="6" name="Rounded Rectangle 5"/>
          <p:cNvSpPr/>
          <p:nvPr/>
        </p:nvSpPr>
        <p:spPr>
          <a:xfrm>
            <a:off x="530352" y="1517904"/>
            <a:ext cx="274320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NLL &lt;- function(...)</a:t>
            </a:r>
          </a:p>
        </p:txBody>
      </p:sp>
      <p:sp>
        <p:nvSpPr>
          <p:cNvPr id="7" name="Rounded Rectangle 6"/>
          <p:cNvSpPr/>
          <p:nvPr/>
        </p:nvSpPr>
        <p:spPr>
          <a:xfrm>
            <a:off x="3474720" y="1517904"/>
            <a:ext cx="274320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optim(...)</a:t>
            </a:r>
          </a:p>
        </p:txBody>
      </p:sp>
      <p:sp>
        <p:nvSpPr>
          <p:cNvPr id="8" name="Rounded Rectangle 7"/>
          <p:cNvSpPr/>
          <p:nvPr/>
        </p:nvSpPr>
        <p:spPr>
          <a:xfrm>
            <a:off x="6419088" y="1517904"/>
            <a:ext cx="274320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推定係数</a:t>
            </a:r>
          </a:p>
        </p:txBody>
      </p:sp>
      <p:sp>
        <p:nvSpPr>
          <p:cNvPr id="9" name="TextBox 8"/>
          <p:cNvSpPr txBox="1"/>
          <p:nvPr/>
        </p:nvSpPr>
        <p:spPr>
          <a:xfrm>
            <a:off x="512064" y="27889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モデルとコードの接続</a:t>
            </a:r>
          </a:p>
        </p:txBody>
      </p:sp>
      <p:sp>
        <p:nvSpPr>
          <p:cNvPr id="10" name="TextBox 9"/>
          <p:cNvSpPr txBox="1"/>
          <p:nvPr/>
        </p:nvSpPr>
        <p:spPr>
          <a:xfrm>
            <a:off x="521207" y="3246120"/>
            <a:ext cx="11018520" cy="877824"/>
          </a:xfrm>
          <a:prstGeom prst="rect">
            <a:avLst/>
          </a:prstGeom>
          <a:noFill/>
        </p:spPr>
        <p:txBody>
          <a:bodyPr wrap="square" lIns="82296" tIns="64008" rIns="82296" bIns="18288">
            <a:spAutoFit/>
          </a:bodyPr>
          <a:lstStyle/>
          <a:p>
            <a:pPr>
              <a:spcAft>
                <a:spcPts val="500"/>
              </a:spcAft>
              <a:defRPr sz="1700" b="0">
                <a:solidFill>
                  <a:srgbClr val="242E3C"/>
                </a:solidFill>
                <a:latin typeface="Yu Gothic"/>
              </a:defRPr>
            </a:pPr>
            <a:r>
              <a:t>尤度の対数を合計し符号を反転する。optim() はこの負の対数尤度を最小化する。</a:t>
            </a:r>
          </a:p>
        </p:txBody>
      </p:sp>
      <p:sp>
        <p:nvSpPr>
          <p:cNvPr id="11" name="TextBox 10"/>
          <p:cNvSpPr txBox="1"/>
          <p:nvPr/>
        </p:nvSpPr>
        <p:spPr>
          <a:xfrm>
            <a:off x="512064" y="4325112"/>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確認すべき点・読み違えやすい点</a:t>
            </a:r>
          </a:p>
        </p:txBody>
      </p:sp>
      <p:sp>
        <p:nvSpPr>
          <p:cNvPr id="12" name="TextBox 11"/>
          <p:cNvSpPr txBox="1"/>
          <p:nvPr/>
        </p:nvSpPr>
        <p:spPr>
          <a:xfrm>
            <a:off x="521207" y="4754880"/>
            <a:ext cx="11027664" cy="1124712"/>
          </a:xfrm>
          <a:prstGeom prst="rect">
            <a:avLst/>
          </a:prstGeom>
          <a:noFill/>
        </p:spPr>
        <p:txBody>
          <a:bodyPr wrap="square" lIns="82296" tIns="64008" rIns="82296" bIns="18288">
            <a:spAutoFit/>
          </a:bodyPr>
          <a:lstStyle/>
          <a:p>
            <a:pPr>
              <a:spcAft>
                <a:spcPts val="500"/>
              </a:spcAft>
              <a:defRPr sz="1800" b="0">
                <a:solidFill>
                  <a:srgbClr val="242E3C"/>
                </a:solidFill>
                <a:latin typeface="Yu Gothic"/>
              </a:defRPr>
            </a:pPr>
            <a:r>
              <a:t>標準偏差の正値制約を exp(log_sigma) で実装する例を確認。</a:t>
            </a:r>
          </a:p>
        </p:txBody>
      </p:sp>
      <p:sp>
        <p:nvSpPr>
          <p:cNvPr id="13" name="TextBox 12"/>
          <p:cNvSpPr txBox="1"/>
          <p:nvPr/>
        </p:nvSpPr>
        <p:spPr>
          <a:xfrm>
            <a:off x="521207" y="6108192"/>
            <a:ext cx="10881360" cy="228600"/>
          </a:xfrm>
          <a:prstGeom prst="rect">
            <a:avLst/>
          </a:prstGeom>
          <a:noFill/>
        </p:spPr>
        <p:txBody>
          <a:bodyPr wrap="square" lIns="82296" tIns="64008" rIns="82296" bIns="18288">
            <a:spAutoFit/>
          </a:bodyPr>
          <a:lstStyle/>
          <a:p>
            <a:pPr>
              <a:spcAft>
                <a:spcPts val="500"/>
              </a:spcAft>
              <a:defRPr sz="1000" b="0">
                <a:solidFill>
                  <a:srgbClr val="667482"/>
                </a:solidFill>
                <a:latin typeface="Yu Gothic"/>
              </a:defRPr>
            </a:pPr>
            <a:r>
              <a:t>確認：出力の収束・妥当性は実際のR実行後に判断する（本資料で推定値は創作しない）。</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8.9.1  TMB｜コードの読み方</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8  |  原著Rコードに基づく学習資料  |  二要因：主効果</a:t>
            </a:r>
          </a:p>
        </p:txBody>
      </p:sp>
      <p:sp>
        <p:nvSpPr>
          <p:cNvPr id="5" name="TextBox 4"/>
          <p:cNvSpPr txBox="1"/>
          <p:nvPr/>
        </p:nvSpPr>
        <p:spPr>
          <a:xfrm>
            <a:off x="502920" y="960120"/>
            <a:ext cx="6656832"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原著コード抜粋</a:t>
            </a:r>
          </a:p>
        </p:txBody>
      </p:sp>
      <p:sp>
        <p:nvSpPr>
          <p:cNvPr id="6" name="TextBox 5"/>
          <p:cNvSpPr txBox="1"/>
          <p:nvPr/>
        </p:nvSpPr>
        <p:spPr>
          <a:xfrm>
            <a:off x="7315200" y="960120"/>
            <a:ext cx="429768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どこに注目するか</a:t>
            </a:r>
          </a:p>
        </p:txBody>
      </p:sp>
      <p:sp>
        <p:nvSpPr>
          <p:cNvPr id="7" name="Rounded Rectangle 6"/>
          <p:cNvSpPr/>
          <p:nvPr/>
        </p:nvSpPr>
        <p:spPr>
          <a:xfrm>
            <a:off x="484632" y="1399032"/>
            <a:ext cx="6629400" cy="4434840"/>
          </a:xfrm>
          <a:prstGeom prst="round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wrap="square" lIns="146304" tIns="64008" rIns="146304" bIns="18288" rtlCol="0" anchor="ctr"/>
          <a:lstStyle/>
          <a:p>
            <a:pPr algn="ctr">
              <a:spcAft>
                <a:spcPts val="500"/>
              </a:spcAft>
              <a:defRPr sz="1200" b="0">
                <a:solidFill>
                  <a:srgbClr val="242E3C"/>
                </a:solidFill>
                <a:latin typeface="Consolas"/>
              </a:defRPr>
            </a:pPr>
            <a:r>
              <a:t>DATA_VECTOR(wing);                 //response</a:t>
            </a:r>
          </a:p>
          <a:p>
            <a:pPr>
              <a:spcAft>
                <a:spcPts val="500"/>
              </a:spcAft>
              <a:defRPr sz="1200" b="0">
                <a:solidFill>
                  <a:srgbClr val="242E3C"/>
                </a:solidFill>
                <a:latin typeface="Consolas"/>
              </a:defRPr>
            </a:pPr>
            <a:r>
              <a:t>DATA_MATRIX(Xmat);                 //Model matrix</a:t>
            </a:r>
          </a:p>
          <a:p>
            <a:pPr>
              <a:spcAft>
                <a:spcPts val="500"/>
              </a:spcAft>
              <a:defRPr sz="1200" b="0">
                <a:solidFill>
                  <a:srgbClr val="242E3C"/>
                </a:solidFill>
                <a:latin typeface="Consolas"/>
              </a:defRPr>
            </a:pPr>
            <a:r>
              <a:t>DATA_INTEGER(n);                   //Number of obs</a:t>
            </a:r>
          </a:p>
          <a:p>
            <a:pPr>
              <a:spcAft>
                <a:spcPts val="500"/>
              </a:spcAft>
              <a:defRPr sz="1200" b="0">
                <a:solidFill>
                  <a:srgbClr val="242E3C"/>
                </a:solidFill>
                <a:latin typeface="Consolas"/>
              </a:defRPr>
            </a:pPr>
            <a:r>
              <a:t>PARAMETER_VECTOR(beta);            //Intercept and slopes</a:t>
            </a:r>
          </a:p>
          <a:p>
            <a:pPr>
              <a:spcAft>
                <a:spcPts val="500"/>
              </a:spcAft>
              <a:defRPr sz="1200" b="0">
                <a:solidFill>
                  <a:srgbClr val="242E3C"/>
                </a:solidFill>
                <a:latin typeface="Consolas"/>
              </a:defRPr>
            </a:pPr>
            <a:r>
              <a:t>PARAMETER(log_sigma);              //log(residual standard deviation)</a:t>
            </a:r>
          </a:p>
          <a:p>
            <a:pPr>
              <a:spcAft>
                <a:spcPts val="500"/>
              </a:spcAft>
              <a:defRPr sz="1200" b="0">
                <a:solidFill>
                  <a:srgbClr val="242E3C"/>
                </a:solidFill>
                <a:latin typeface="Consolas"/>
              </a:defRPr>
            </a:pPr>
            <a:r>
              <a:t>matrix&lt;Type&gt; mu = Xmat * beta;     //Matrix multiply Xmat and beta</a:t>
            </a:r>
          </a:p>
          <a:p>
            <a:pPr>
              <a:spcAft>
                <a:spcPts val="500"/>
              </a:spcAft>
              <a:defRPr sz="1200" b="0">
                <a:solidFill>
                  <a:srgbClr val="242E3C"/>
                </a:solidFill>
                <a:latin typeface="Consolas"/>
              </a:defRPr>
            </a:pPr>
            <a:r>
              <a:t>LL += dnorm(wing(i), mu(i), sigma, true);</a:t>
            </a:r>
          </a:p>
          <a:p>
            <a:pPr>
              <a:spcAft>
                <a:spcPts val="500"/>
              </a:spcAft>
              <a:defRPr sz="1200" b="0">
                <a:solidFill>
                  <a:srgbClr val="242E3C"/>
                </a:solidFill>
                <a:latin typeface="Consolas"/>
              </a:defRPr>
            </a:pPr>
            <a:r>
              <a:t>return -LL;                        //Return negative of total log likelihood</a:t>
            </a:r>
          </a:p>
          <a:p>
            <a:pPr>
              <a:spcAft>
                <a:spcPts val="500"/>
              </a:spcAft>
              <a:defRPr sz="1200" b="0">
                <a:solidFill>
                  <a:srgbClr val="242E3C"/>
                </a:solidFill>
                <a:latin typeface="Consolas"/>
              </a:defRPr>
            </a:pPr>
            <a:r>
              <a:t>out89me &lt;- MakeADFun(data = tmbData, parameters = params,</a:t>
            </a:r>
          </a:p>
        </p:txBody>
      </p:sp>
      <p:sp>
        <p:nvSpPr>
          <p:cNvPr id="8" name="TextBox 7"/>
          <p:cNvSpPr txBox="1"/>
          <p:nvPr/>
        </p:nvSpPr>
        <p:spPr>
          <a:xfrm>
            <a:off x="7315200" y="1408176"/>
            <a:ext cx="4251960" cy="457200"/>
          </a:xfrm>
          <a:prstGeom prst="rect">
            <a:avLst/>
          </a:prstGeom>
          <a:noFill/>
        </p:spPr>
        <p:txBody>
          <a:bodyPr wrap="square" lIns="82296" tIns="64008" rIns="82296" bIns="18288">
            <a:spAutoFit/>
          </a:bodyPr>
          <a:lstStyle/>
          <a:p>
            <a:pPr>
              <a:spcAft>
                <a:spcPts val="500"/>
              </a:spcAft>
              <a:defRPr sz="1800" b="1">
                <a:solidFill>
                  <a:srgbClr val="1D5D8C"/>
                </a:solidFill>
                <a:latin typeface="Yu Gothic"/>
              </a:defRPr>
            </a:pPr>
            <a:r>
              <a:t>C++の目的関数と自動微分</a:t>
            </a:r>
          </a:p>
        </p:txBody>
      </p:sp>
      <p:sp>
        <p:nvSpPr>
          <p:cNvPr id="9" name="TextBox 8"/>
          <p:cNvSpPr txBox="1"/>
          <p:nvPr/>
        </p:nvSpPr>
        <p:spPr>
          <a:xfrm>
            <a:off x="7315200" y="1947672"/>
            <a:ext cx="4206240" cy="141732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DATA_* で観測値、PARAMETER* で未知量を宣言。対数尤度を足して最後に -LL を返す。</a:t>
            </a:r>
          </a:p>
        </p:txBody>
      </p:sp>
      <p:sp>
        <p:nvSpPr>
          <p:cNvPr id="10" name="TextBox 9"/>
          <p:cNvSpPr txBox="1"/>
          <p:nvPr/>
        </p:nvSpPr>
        <p:spPr>
          <a:xfrm>
            <a:off x="7315200" y="3584448"/>
            <a:ext cx="4206240" cy="196596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C++の添字は0開始。random 指定時はランダム効果をラプラス近似で積分。</a:t>
            </a:r>
          </a:p>
        </p:txBody>
      </p:sp>
      <p:sp>
        <p:nvSpPr>
          <p:cNvPr id="11" name="TextBox 10"/>
          <p:cNvSpPr txBox="1"/>
          <p:nvPr/>
        </p:nvSpPr>
        <p:spPr>
          <a:xfrm>
            <a:off x="539496" y="5971032"/>
            <a:ext cx="11064240" cy="347472"/>
          </a:xfrm>
          <a:prstGeom prst="rect">
            <a:avLst/>
          </a:prstGeom>
          <a:noFill/>
        </p:spPr>
        <p:txBody>
          <a:bodyPr wrap="square" lIns="82296" tIns="64008" rIns="82296" bIns="18288">
            <a:spAutoFit/>
          </a:bodyPr>
          <a:lstStyle/>
          <a:p>
            <a:pPr>
              <a:spcAft>
                <a:spcPts val="500"/>
              </a:spcAft>
              <a:defRPr sz="1100" b="0">
                <a:solidFill>
                  <a:srgbClr val="667482"/>
                </a:solidFill>
                <a:latin typeface="Yu Gothic"/>
              </a:defRPr>
            </a:pPr>
            <a:r>
              <a:t>抜粋したコードの変数名・関数名は原著のまま。モデル全文は添付の原著Rファイルを参照。</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8.9.1  TMB｜推定手順を理解する</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8  |  原著Rコードに基づく学習資料  |  二要因：主効果</a:t>
            </a:r>
          </a:p>
        </p:txBody>
      </p:sp>
      <p:sp>
        <p:nvSpPr>
          <p:cNvPr id="5" name="TextBox 4"/>
          <p:cNvSpPr txBox="1"/>
          <p:nvPr/>
        </p:nvSpPr>
        <p:spPr>
          <a:xfrm>
            <a:off x="512064" y="9601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コードの実行・推定フロー</a:t>
            </a:r>
          </a:p>
        </p:txBody>
      </p:sp>
      <p:sp>
        <p:nvSpPr>
          <p:cNvPr id="6" name="Rounded Rectangle 5"/>
          <p:cNvSpPr/>
          <p:nvPr/>
        </p:nvSpPr>
        <p:spPr>
          <a:xfrm>
            <a:off x="530352"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C++</a:t>
            </a:r>
          </a:p>
        </p:txBody>
      </p:sp>
      <p:sp>
        <p:nvSpPr>
          <p:cNvPr id="7" name="Rounded Rectangle 6"/>
          <p:cNvSpPr/>
          <p:nvPr/>
        </p:nvSpPr>
        <p:spPr>
          <a:xfrm>
            <a:off x="3337560"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compile()/dyn.load()</a:t>
            </a:r>
          </a:p>
        </p:txBody>
      </p:sp>
      <p:sp>
        <p:nvSpPr>
          <p:cNvPr id="8" name="Rounded Rectangle 7"/>
          <p:cNvSpPr/>
          <p:nvPr/>
        </p:nvSpPr>
        <p:spPr>
          <a:xfrm>
            <a:off x="6144768"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MakeADFun()</a:t>
            </a:r>
          </a:p>
        </p:txBody>
      </p:sp>
      <p:sp>
        <p:nvSpPr>
          <p:cNvPr id="9" name="Rounded Rectangle 8"/>
          <p:cNvSpPr/>
          <p:nvPr/>
        </p:nvSpPr>
        <p:spPr>
          <a:xfrm>
            <a:off x="8951976"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optim()</a:t>
            </a:r>
          </a:p>
        </p:txBody>
      </p:sp>
      <p:sp>
        <p:nvSpPr>
          <p:cNvPr id="10" name="TextBox 9"/>
          <p:cNvSpPr txBox="1"/>
          <p:nvPr/>
        </p:nvSpPr>
        <p:spPr>
          <a:xfrm>
            <a:off x="512064" y="27889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モデルとコードの接続</a:t>
            </a:r>
          </a:p>
        </p:txBody>
      </p:sp>
      <p:sp>
        <p:nvSpPr>
          <p:cNvPr id="11" name="TextBox 10"/>
          <p:cNvSpPr txBox="1"/>
          <p:nvPr/>
        </p:nvSpPr>
        <p:spPr>
          <a:xfrm>
            <a:off x="521207" y="3246120"/>
            <a:ext cx="11018520" cy="877824"/>
          </a:xfrm>
          <a:prstGeom prst="rect">
            <a:avLst/>
          </a:prstGeom>
          <a:noFill/>
        </p:spPr>
        <p:txBody>
          <a:bodyPr wrap="square" lIns="82296" tIns="64008" rIns="82296" bIns="18288">
            <a:spAutoFit/>
          </a:bodyPr>
          <a:lstStyle/>
          <a:p>
            <a:pPr>
              <a:spcAft>
                <a:spcPts val="500"/>
              </a:spcAft>
              <a:defRPr sz="1700" b="0">
                <a:solidFill>
                  <a:srgbClr val="242E3C"/>
                </a:solidFill>
                <a:latin typeface="Yu Gothic"/>
              </a:defRPr>
            </a:pPr>
            <a:r>
              <a:t>DATA_* で観測値、PARAMETER* で未知量を宣言。対数尤度を足して最後に -LL を返す。</a:t>
            </a:r>
          </a:p>
        </p:txBody>
      </p:sp>
      <p:sp>
        <p:nvSpPr>
          <p:cNvPr id="12" name="TextBox 11"/>
          <p:cNvSpPr txBox="1"/>
          <p:nvPr/>
        </p:nvSpPr>
        <p:spPr>
          <a:xfrm>
            <a:off x="512064" y="4325112"/>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確認すべき点・読み違えやすい点</a:t>
            </a:r>
          </a:p>
        </p:txBody>
      </p:sp>
      <p:sp>
        <p:nvSpPr>
          <p:cNvPr id="13" name="TextBox 12"/>
          <p:cNvSpPr txBox="1"/>
          <p:nvPr/>
        </p:nvSpPr>
        <p:spPr>
          <a:xfrm>
            <a:off x="521207" y="4754880"/>
            <a:ext cx="11027664" cy="1124712"/>
          </a:xfrm>
          <a:prstGeom prst="rect">
            <a:avLst/>
          </a:prstGeom>
          <a:noFill/>
        </p:spPr>
        <p:txBody>
          <a:bodyPr wrap="square" lIns="82296" tIns="64008" rIns="82296" bIns="18288">
            <a:spAutoFit/>
          </a:bodyPr>
          <a:lstStyle/>
          <a:p>
            <a:pPr>
              <a:spcAft>
                <a:spcPts val="500"/>
              </a:spcAft>
              <a:defRPr sz="1800" b="0">
                <a:solidFill>
                  <a:srgbClr val="242E3C"/>
                </a:solidFill>
                <a:latin typeface="Yu Gothic"/>
              </a:defRPr>
            </a:pPr>
            <a:r>
              <a:t>C++の添字は0開始。random 指定時はランダム効果をラプラス近似で積分。</a:t>
            </a:r>
          </a:p>
        </p:txBody>
      </p:sp>
      <p:sp>
        <p:nvSpPr>
          <p:cNvPr id="14" name="TextBox 13"/>
          <p:cNvSpPr txBox="1"/>
          <p:nvPr/>
        </p:nvSpPr>
        <p:spPr>
          <a:xfrm>
            <a:off x="521207" y="6108192"/>
            <a:ext cx="10881360" cy="228600"/>
          </a:xfrm>
          <a:prstGeom prst="rect">
            <a:avLst/>
          </a:prstGeom>
          <a:noFill/>
        </p:spPr>
        <p:txBody>
          <a:bodyPr wrap="square" lIns="82296" tIns="64008" rIns="82296" bIns="18288">
            <a:spAutoFit/>
          </a:bodyPr>
          <a:lstStyle/>
          <a:p>
            <a:pPr>
              <a:spcAft>
                <a:spcPts val="500"/>
              </a:spcAft>
              <a:defRPr sz="1000" b="0">
                <a:solidFill>
                  <a:srgbClr val="667482"/>
                </a:solidFill>
                <a:latin typeface="Yu Gothic"/>
              </a:defRPr>
            </a:pPr>
            <a:r>
              <a:t>確認：出力の収束・妥当性は実際のR実行後に判断する（本資料で推定値は創作しない）。</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二要因：交互作用｜まず統計モデルを読む</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8  |  原著Rコードに基づく学習資料  |  モデル導入 8.5.2</a:t>
            </a:r>
          </a:p>
        </p:txBody>
      </p:sp>
      <p:sp>
        <p:nvSpPr>
          <p:cNvPr id="5" name="TextBox 4"/>
          <p:cNvSpPr txBox="1"/>
          <p:nvPr/>
        </p:nvSpPr>
        <p:spPr>
          <a:xfrm>
            <a:off x="512064" y="9601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モデルの構造（記号は説明のために整理）</a:t>
            </a:r>
          </a:p>
        </p:txBody>
      </p:sp>
      <p:sp>
        <p:nvSpPr>
          <p:cNvPr id="6" name="Rounded Rectangle 5"/>
          <p:cNvSpPr/>
          <p:nvPr/>
        </p:nvSpPr>
        <p:spPr>
          <a:xfrm>
            <a:off x="493776" y="1371600"/>
            <a:ext cx="11082528" cy="1060704"/>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2200" b="1">
                <a:solidFill>
                  <a:srgbClr val="192B45"/>
                </a:solidFill>
                <a:latin typeface="Yu Gothic"/>
              </a:defRPr>
            </a:pPr>
            <a:r>
              <a:t>wingᵢ ~ Normal(group.mean[popᵢ,habᵢ], σ²)</a:t>
            </a:r>
          </a:p>
        </p:txBody>
      </p:sp>
      <p:sp>
        <p:nvSpPr>
          <p:cNvPr id="7" name="TextBox 6"/>
          <p:cNvSpPr txBox="1"/>
          <p:nvPr/>
        </p:nvSpPr>
        <p:spPr>
          <a:xfrm>
            <a:off x="512064" y="2578608"/>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観測データとパラメータ</a:t>
            </a:r>
          </a:p>
        </p:txBody>
      </p:sp>
      <p:sp>
        <p:nvSpPr>
          <p:cNvPr id="8" name="TextBox 7"/>
          <p:cNvSpPr txBox="1"/>
          <p:nvPr/>
        </p:nvSpPr>
        <p:spPr>
          <a:xfrm>
            <a:off x="502920" y="2999232"/>
            <a:ext cx="10972800" cy="1005840"/>
          </a:xfrm>
          <a:prstGeom prst="rect">
            <a:avLst/>
          </a:prstGeom>
          <a:noFill/>
        </p:spPr>
        <p:txBody>
          <a:bodyPr wrap="square" lIns="82296" tIns="64008" rIns="82296" bIns="18288">
            <a:spAutoFit/>
          </a:bodyPr>
          <a:lstStyle/>
          <a:p>
            <a:pPr>
              <a:spcAft>
                <a:spcPts val="500"/>
              </a:spcAft>
              <a:defRPr sz="1800" b="0">
                <a:solidFill>
                  <a:srgbClr val="242E3C"/>
                </a:solidFill>
                <a:latin typeface="Yu Gothic"/>
              </a:defRPr>
            </a:pPr>
            <a:r>
              <a:t>各集団×生息地の15組合せの平均を別々に推定する。</a:t>
            </a:r>
          </a:p>
        </p:txBody>
      </p:sp>
      <p:sp>
        <p:nvSpPr>
          <p:cNvPr id="9" name="TextBox 8"/>
          <p:cNvSpPr txBox="1"/>
          <p:nvPr/>
        </p:nvSpPr>
        <p:spPr>
          <a:xfrm>
            <a:off x="512064" y="4142232"/>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このモデルで注目すること</a:t>
            </a:r>
          </a:p>
        </p:txBody>
      </p:sp>
      <p:sp>
        <p:nvSpPr>
          <p:cNvPr id="10" name="TextBox 9"/>
          <p:cNvSpPr txBox="1"/>
          <p:nvPr/>
        </p:nvSpPr>
        <p:spPr>
          <a:xfrm>
            <a:off x="502920" y="4590288"/>
            <a:ext cx="10972800" cy="1033271"/>
          </a:xfrm>
          <a:prstGeom prst="rect">
            <a:avLst/>
          </a:prstGeom>
          <a:noFill/>
        </p:spPr>
        <p:txBody>
          <a:bodyPr wrap="square" lIns="82296" tIns="64008" rIns="82296" bIns="18288">
            <a:spAutoFit/>
          </a:bodyPr>
          <a:lstStyle/>
          <a:p>
            <a:pPr>
              <a:spcAft>
                <a:spcPts val="500"/>
              </a:spcAft>
              <a:defRPr sz="1800" b="0">
                <a:solidFill>
                  <a:srgbClr val="242E3C"/>
                </a:solidFill>
                <a:latin typeface="Yu Gothic"/>
              </a:defRPr>
            </a:pPr>
            <a:r>
              <a:t>群別平均パラメータ化と treatment contrast を混同しない。</a:t>
            </a:r>
          </a:p>
          <a:p>
            <a:pPr>
              <a:spcAft>
                <a:spcPts val="500"/>
              </a:spcAft>
              <a:defRPr sz="1800" b="0">
                <a:solidFill>
                  <a:srgbClr val="242E3C"/>
                </a:solidFill>
                <a:latin typeface="Yu Gothic"/>
              </a:defRPr>
            </a:pPr>
            <a:r>
              <a:t>同じ統計モデルを異なる5種類の実装方法で表現する。</a:t>
            </a:r>
          </a:p>
        </p:txBody>
      </p:sp>
      <p:sp>
        <p:nvSpPr>
          <p:cNvPr id="11" name="TextBox 10"/>
          <p:cNvSpPr txBox="1"/>
          <p:nvPr/>
        </p:nvSpPr>
        <p:spPr>
          <a:xfrm>
            <a:off x="502920" y="5989320"/>
            <a:ext cx="10972800" cy="274320"/>
          </a:xfrm>
          <a:prstGeom prst="rect">
            <a:avLst/>
          </a:prstGeom>
          <a:noFill/>
        </p:spPr>
        <p:txBody>
          <a:bodyPr wrap="square" lIns="82296" tIns="64008" rIns="82296" bIns="18288">
            <a:spAutoFit/>
          </a:bodyPr>
          <a:lstStyle/>
          <a:p>
            <a:pPr>
              <a:spcAft>
                <a:spcPts val="500"/>
              </a:spcAft>
              <a:defRPr sz="1100" b="0">
                <a:solidFill>
                  <a:srgbClr val="667482"/>
                </a:solidFill>
                <a:latin typeface="Yu Gothic"/>
              </a:defRPr>
            </a:pPr>
            <a:r>
              <a:t>※数式表現はコード理解用の整理であり、原著の本文翻訳ではありません。</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8.5.2  JAGS｜コードの読み方</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8  |  原著Rコードに基づく学習資料  |  二要因：交互作用</a:t>
            </a:r>
          </a:p>
        </p:txBody>
      </p:sp>
      <p:sp>
        <p:nvSpPr>
          <p:cNvPr id="5" name="TextBox 4"/>
          <p:cNvSpPr txBox="1"/>
          <p:nvPr/>
        </p:nvSpPr>
        <p:spPr>
          <a:xfrm>
            <a:off x="502920" y="960120"/>
            <a:ext cx="6656832"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原著コード抜粋</a:t>
            </a:r>
          </a:p>
        </p:txBody>
      </p:sp>
      <p:sp>
        <p:nvSpPr>
          <p:cNvPr id="6" name="TextBox 5"/>
          <p:cNvSpPr txBox="1"/>
          <p:nvPr/>
        </p:nvSpPr>
        <p:spPr>
          <a:xfrm>
            <a:off x="7315200" y="960120"/>
            <a:ext cx="429768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どこに注目するか</a:t>
            </a:r>
          </a:p>
        </p:txBody>
      </p:sp>
      <p:sp>
        <p:nvSpPr>
          <p:cNvPr id="7" name="Rounded Rectangle 6"/>
          <p:cNvSpPr/>
          <p:nvPr/>
        </p:nvSpPr>
        <p:spPr>
          <a:xfrm>
            <a:off x="484632" y="1399032"/>
            <a:ext cx="6629400" cy="4434840"/>
          </a:xfrm>
          <a:prstGeom prst="round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wrap="square" lIns="146304" tIns="64008" rIns="146304" bIns="18288" rtlCol="0" anchor="ctr"/>
          <a:lstStyle/>
          <a:p>
            <a:pPr algn="ctr">
              <a:spcAft>
                <a:spcPts val="500"/>
              </a:spcAft>
              <a:defRPr sz="1200" b="0">
                <a:solidFill>
                  <a:srgbClr val="242E3C"/>
                </a:solidFill>
                <a:latin typeface="Consolas"/>
              </a:defRPr>
            </a:pPr>
            <a:r>
              <a:t>group.mean[i,j] ~ dnorm(0, 0.0001)</a:t>
            </a:r>
          </a:p>
          <a:p>
            <a:pPr>
              <a:spcAft>
                <a:spcPts val="500"/>
              </a:spcAft>
              <a:defRPr sz="1200" b="0">
                <a:solidFill>
                  <a:srgbClr val="242E3C"/>
                </a:solidFill>
                <a:latin typeface="Consolas"/>
              </a:defRPr>
            </a:pPr>
            <a:r>
              <a:t>tau &lt;- pow(sigma, -2)</a:t>
            </a:r>
          </a:p>
          <a:p>
            <a:pPr>
              <a:spcAft>
                <a:spcPts val="500"/>
              </a:spcAft>
              <a:defRPr sz="1200" b="0">
                <a:solidFill>
                  <a:srgbClr val="242E3C"/>
                </a:solidFill>
                <a:latin typeface="Consolas"/>
              </a:defRPr>
            </a:pPr>
            <a:r>
              <a:t>wing[i] ~ dnorm(mean[i], tau)</a:t>
            </a:r>
          </a:p>
          <a:p>
            <a:pPr>
              <a:spcAft>
                <a:spcPts val="500"/>
              </a:spcAft>
              <a:defRPr sz="1200" b="0">
                <a:solidFill>
                  <a:srgbClr val="242E3C"/>
                </a:solidFill>
                <a:latin typeface="Consolas"/>
              </a:defRPr>
            </a:pPr>
            <a:r>
              <a:t>mean[i] &lt;- group.mean[pop[i], hab[i]]</a:t>
            </a:r>
          </a:p>
        </p:txBody>
      </p:sp>
      <p:sp>
        <p:nvSpPr>
          <p:cNvPr id="8" name="TextBox 7"/>
          <p:cNvSpPr txBox="1"/>
          <p:nvPr/>
        </p:nvSpPr>
        <p:spPr>
          <a:xfrm>
            <a:off x="7315200" y="1408176"/>
            <a:ext cx="4251960" cy="457200"/>
          </a:xfrm>
          <a:prstGeom prst="rect">
            <a:avLst/>
          </a:prstGeom>
          <a:noFill/>
        </p:spPr>
        <p:txBody>
          <a:bodyPr wrap="square" lIns="82296" tIns="64008" rIns="82296" bIns="18288">
            <a:spAutoFit/>
          </a:bodyPr>
          <a:lstStyle/>
          <a:p>
            <a:pPr>
              <a:spcAft>
                <a:spcPts val="500"/>
              </a:spcAft>
              <a:defRPr sz="1800" b="1">
                <a:solidFill>
                  <a:srgbClr val="1D5D8C"/>
                </a:solidFill>
                <a:latin typeface="Yu Gothic"/>
              </a:defRPr>
            </a:pPr>
            <a:r>
              <a:t>確率モデル・事前分布</a:t>
            </a:r>
          </a:p>
        </p:txBody>
      </p:sp>
      <p:sp>
        <p:nvSpPr>
          <p:cNvPr id="9" name="TextBox 8"/>
          <p:cNvSpPr txBox="1"/>
          <p:nvPr/>
        </p:nvSpPr>
        <p:spPr>
          <a:xfrm>
            <a:off x="7315200" y="1947672"/>
            <a:ext cx="4206240" cy="141732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モデル内の ~ は確率分布、&lt;- は決定的な計算。dnorm の第2引数は精度 tau = 1/σ²。</a:t>
            </a:r>
          </a:p>
        </p:txBody>
      </p:sp>
      <p:sp>
        <p:nvSpPr>
          <p:cNvPr id="10" name="TextBox 9"/>
          <p:cNvSpPr txBox="1"/>
          <p:nvPr/>
        </p:nvSpPr>
        <p:spPr>
          <a:xfrm>
            <a:off x="7315200" y="3584448"/>
            <a:ext cx="4206240" cy="196596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n.iter, n.burnin, n.chains と事前分布の指定を実際のコードで確認。</a:t>
            </a:r>
          </a:p>
        </p:txBody>
      </p:sp>
      <p:sp>
        <p:nvSpPr>
          <p:cNvPr id="11" name="TextBox 10"/>
          <p:cNvSpPr txBox="1"/>
          <p:nvPr/>
        </p:nvSpPr>
        <p:spPr>
          <a:xfrm>
            <a:off x="539496" y="5971032"/>
            <a:ext cx="11064240" cy="347472"/>
          </a:xfrm>
          <a:prstGeom prst="rect">
            <a:avLst/>
          </a:prstGeom>
          <a:noFill/>
        </p:spPr>
        <p:txBody>
          <a:bodyPr wrap="square" lIns="82296" tIns="64008" rIns="82296" bIns="18288">
            <a:spAutoFit/>
          </a:bodyPr>
          <a:lstStyle/>
          <a:p>
            <a:pPr>
              <a:spcAft>
                <a:spcPts val="500"/>
              </a:spcAft>
              <a:defRPr sz="1100" b="0">
                <a:solidFill>
                  <a:srgbClr val="667482"/>
                </a:solidFill>
                <a:latin typeface="Yu Gothic"/>
              </a:defRPr>
            </a:pPr>
            <a:r>
              <a:t>抜粋したコードの変数名・関数名は原著のまま。モデル全文は添付の原著Rファイルを参照。</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8.5.2  JAGS｜推定手順を理解する</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8  |  原著Rコードに基づく学習資料  |  二要因：交互作用</a:t>
            </a:r>
          </a:p>
        </p:txBody>
      </p:sp>
      <p:sp>
        <p:nvSpPr>
          <p:cNvPr id="5" name="TextBox 4"/>
          <p:cNvSpPr txBox="1"/>
          <p:nvPr/>
        </p:nvSpPr>
        <p:spPr>
          <a:xfrm>
            <a:off x="512064" y="9601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コードの実行・推定フロー</a:t>
            </a:r>
          </a:p>
        </p:txBody>
      </p:sp>
      <p:sp>
        <p:nvSpPr>
          <p:cNvPr id="6" name="Rounded Rectangle 5"/>
          <p:cNvSpPr/>
          <p:nvPr/>
        </p:nvSpPr>
        <p:spPr>
          <a:xfrm>
            <a:off x="530352"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dataList</a:t>
            </a:r>
          </a:p>
        </p:txBody>
      </p:sp>
      <p:sp>
        <p:nvSpPr>
          <p:cNvPr id="7" name="Rounded Rectangle 6"/>
          <p:cNvSpPr/>
          <p:nvPr/>
        </p:nvSpPr>
        <p:spPr>
          <a:xfrm>
            <a:off x="3337560"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BUGSモデル</a:t>
            </a:r>
          </a:p>
        </p:txBody>
      </p:sp>
      <p:sp>
        <p:nvSpPr>
          <p:cNvPr id="8" name="Rounded Rectangle 7"/>
          <p:cNvSpPr/>
          <p:nvPr/>
        </p:nvSpPr>
        <p:spPr>
          <a:xfrm>
            <a:off x="6144768"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jags()</a:t>
            </a:r>
          </a:p>
        </p:txBody>
      </p:sp>
      <p:sp>
        <p:nvSpPr>
          <p:cNvPr id="9" name="Rounded Rectangle 8"/>
          <p:cNvSpPr/>
          <p:nvPr/>
        </p:nvSpPr>
        <p:spPr>
          <a:xfrm>
            <a:off x="8951976"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traceplot/summary</a:t>
            </a:r>
          </a:p>
        </p:txBody>
      </p:sp>
      <p:sp>
        <p:nvSpPr>
          <p:cNvPr id="10" name="TextBox 9"/>
          <p:cNvSpPr txBox="1"/>
          <p:nvPr/>
        </p:nvSpPr>
        <p:spPr>
          <a:xfrm>
            <a:off x="512064" y="27889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モデルとコードの接続</a:t>
            </a:r>
          </a:p>
        </p:txBody>
      </p:sp>
      <p:sp>
        <p:nvSpPr>
          <p:cNvPr id="11" name="TextBox 10"/>
          <p:cNvSpPr txBox="1"/>
          <p:nvPr/>
        </p:nvSpPr>
        <p:spPr>
          <a:xfrm>
            <a:off x="521207" y="3246120"/>
            <a:ext cx="11018520" cy="877824"/>
          </a:xfrm>
          <a:prstGeom prst="rect">
            <a:avLst/>
          </a:prstGeom>
          <a:noFill/>
        </p:spPr>
        <p:txBody>
          <a:bodyPr wrap="square" lIns="82296" tIns="64008" rIns="82296" bIns="18288">
            <a:spAutoFit/>
          </a:bodyPr>
          <a:lstStyle/>
          <a:p>
            <a:pPr>
              <a:spcAft>
                <a:spcPts val="500"/>
              </a:spcAft>
              <a:defRPr sz="1700" b="0">
                <a:solidFill>
                  <a:srgbClr val="242E3C"/>
                </a:solidFill>
                <a:latin typeface="Yu Gothic"/>
              </a:defRPr>
            </a:pPr>
            <a:r>
              <a:t>モデル内の ~ は確率分布、&lt;- は決定的な計算。dnorm の第2引数は精度 tau = 1/σ²。</a:t>
            </a:r>
          </a:p>
        </p:txBody>
      </p:sp>
      <p:sp>
        <p:nvSpPr>
          <p:cNvPr id="12" name="TextBox 11"/>
          <p:cNvSpPr txBox="1"/>
          <p:nvPr/>
        </p:nvSpPr>
        <p:spPr>
          <a:xfrm>
            <a:off x="512064" y="4325112"/>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確認すべき点・読み違えやすい点</a:t>
            </a:r>
          </a:p>
        </p:txBody>
      </p:sp>
      <p:sp>
        <p:nvSpPr>
          <p:cNvPr id="13" name="TextBox 12"/>
          <p:cNvSpPr txBox="1"/>
          <p:nvPr/>
        </p:nvSpPr>
        <p:spPr>
          <a:xfrm>
            <a:off x="521207" y="4754880"/>
            <a:ext cx="11027664" cy="1124712"/>
          </a:xfrm>
          <a:prstGeom prst="rect">
            <a:avLst/>
          </a:prstGeom>
          <a:noFill/>
        </p:spPr>
        <p:txBody>
          <a:bodyPr wrap="square" lIns="82296" tIns="64008" rIns="82296" bIns="18288">
            <a:spAutoFit/>
          </a:bodyPr>
          <a:lstStyle/>
          <a:p>
            <a:pPr>
              <a:spcAft>
                <a:spcPts val="500"/>
              </a:spcAft>
              <a:defRPr sz="1800" b="0">
                <a:solidFill>
                  <a:srgbClr val="242E3C"/>
                </a:solidFill>
                <a:latin typeface="Yu Gothic"/>
              </a:defRPr>
            </a:pPr>
            <a:r>
              <a:t>n.iter, n.burnin, n.chains と事前分布の指定を実際のコードで確認。</a:t>
            </a:r>
          </a:p>
        </p:txBody>
      </p:sp>
      <p:sp>
        <p:nvSpPr>
          <p:cNvPr id="14" name="TextBox 13"/>
          <p:cNvSpPr txBox="1"/>
          <p:nvPr/>
        </p:nvSpPr>
        <p:spPr>
          <a:xfrm>
            <a:off x="521207" y="6108192"/>
            <a:ext cx="10881360" cy="228600"/>
          </a:xfrm>
          <a:prstGeom prst="rect">
            <a:avLst/>
          </a:prstGeom>
          <a:noFill/>
        </p:spPr>
        <p:txBody>
          <a:bodyPr wrap="square" lIns="82296" tIns="64008" rIns="82296" bIns="18288">
            <a:spAutoFit/>
          </a:bodyPr>
          <a:lstStyle/>
          <a:p>
            <a:pPr>
              <a:spcAft>
                <a:spcPts val="500"/>
              </a:spcAft>
              <a:defRPr sz="1000" b="0">
                <a:solidFill>
                  <a:srgbClr val="667482"/>
                </a:solidFill>
                <a:latin typeface="Yu Gothic"/>
              </a:defRPr>
            </a:pPr>
            <a:r>
              <a:t>確認：出力の収束・妥当性は実際のR実行後に判断する（本資料で推定値は創作しない）。</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8.6.2  NIMBLE｜コードの読み方</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8  |  原著Rコードに基づく学習資料  |  二要因：交互作用</a:t>
            </a:r>
          </a:p>
        </p:txBody>
      </p:sp>
      <p:sp>
        <p:nvSpPr>
          <p:cNvPr id="5" name="TextBox 4"/>
          <p:cNvSpPr txBox="1"/>
          <p:nvPr/>
        </p:nvSpPr>
        <p:spPr>
          <a:xfrm>
            <a:off x="502920" y="960120"/>
            <a:ext cx="6656832"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原著コード抜粋</a:t>
            </a:r>
          </a:p>
        </p:txBody>
      </p:sp>
      <p:sp>
        <p:nvSpPr>
          <p:cNvPr id="6" name="TextBox 5"/>
          <p:cNvSpPr txBox="1"/>
          <p:nvPr/>
        </p:nvSpPr>
        <p:spPr>
          <a:xfrm>
            <a:off x="7315200" y="960120"/>
            <a:ext cx="429768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どこに注目するか</a:t>
            </a:r>
          </a:p>
        </p:txBody>
      </p:sp>
      <p:sp>
        <p:nvSpPr>
          <p:cNvPr id="7" name="Rounded Rectangle 6"/>
          <p:cNvSpPr/>
          <p:nvPr/>
        </p:nvSpPr>
        <p:spPr>
          <a:xfrm>
            <a:off x="484632" y="1399032"/>
            <a:ext cx="6629400" cy="4434840"/>
          </a:xfrm>
          <a:prstGeom prst="round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wrap="square" lIns="146304" tIns="64008" rIns="146304" bIns="18288" rtlCol="0" anchor="ctr"/>
          <a:lstStyle/>
          <a:p>
            <a:pPr algn="ctr">
              <a:spcAft>
                <a:spcPts val="500"/>
              </a:spcAft>
              <a:defRPr sz="1200" b="0">
                <a:solidFill>
                  <a:srgbClr val="242E3C"/>
                </a:solidFill>
                <a:latin typeface="Consolas"/>
              </a:defRPr>
            </a:pPr>
            <a:r>
              <a:t>group.mean[i,j] ~ dnorm(0, 0.0001)</a:t>
            </a:r>
          </a:p>
          <a:p>
            <a:pPr>
              <a:spcAft>
                <a:spcPts val="500"/>
              </a:spcAft>
              <a:defRPr sz="1200" b="0">
                <a:solidFill>
                  <a:srgbClr val="242E3C"/>
                </a:solidFill>
                <a:latin typeface="Consolas"/>
              </a:defRPr>
            </a:pPr>
            <a:r>
              <a:t>tau &lt;- pow(sigma, -2)</a:t>
            </a:r>
          </a:p>
          <a:p>
            <a:pPr>
              <a:spcAft>
                <a:spcPts val="500"/>
              </a:spcAft>
              <a:defRPr sz="1200" b="0">
                <a:solidFill>
                  <a:srgbClr val="242E3C"/>
                </a:solidFill>
                <a:latin typeface="Consolas"/>
              </a:defRPr>
            </a:pPr>
            <a:r>
              <a:t>wing[i] ~ dnorm(mean[i], tau)</a:t>
            </a:r>
          </a:p>
          <a:p>
            <a:pPr>
              <a:spcAft>
                <a:spcPts val="500"/>
              </a:spcAft>
              <a:defRPr sz="1200" b="0">
                <a:solidFill>
                  <a:srgbClr val="242E3C"/>
                </a:solidFill>
                <a:latin typeface="Consolas"/>
              </a:defRPr>
            </a:pPr>
            <a:r>
              <a:t>mean[i] &lt;- group.mean[pop[i], hab[i]]</a:t>
            </a:r>
          </a:p>
        </p:txBody>
      </p:sp>
      <p:sp>
        <p:nvSpPr>
          <p:cNvPr id="8" name="TextBox 7"/>
          <p:cNvSpPr txBox="1"/>
          <p:nvPr/>
        </p:nvSpPr>
        <p:spPr>
          <a:xfrm>
            <a:off x="7315200" y="1408176"/>
            <a:ext cx="4251960" cy="457200"/>
          </a:xfrm>
          <a:prstGeom prst="rect">
            <a:avLst/>
          </a:prstGeom>
          <a:noFill/>
        </p:spPr>
        <p:txBody>
          <a:bodyPr wrap="square" lIns="82296" tIns="64008" rIns="82296" bIns="18288">
            <a:spAutoFit/>
          </a:bodyPr>
          <a:lstStyle/>
          <a:p>
            <a:pPr>
              <a:spcAft>
                <a:spcPts val="500"/>
              </a:spcAft>
              <a:defRPr sz="1800" b="1">
                <a:solidFill>
                  <a:srgbClr val="1D5D8C"/>
                </a:solidFill>
                <a:latin typeface="Yu Gothic"/>
              </a:defRPr>
            </a:pPr>
            <a:r>
              <a:t>nimbleCode による階層モデル</a:t>
            </a:r>
          </a:p>
        </p:txBody>
      </p:sp>
      <p:sp>
        <p:nvSpPr>
          <p:cNvPr id="9" name="TextBox 8"/>
          <p:cNvSpPr txBox="1"/>
          <p:nvPr/>
        </p:nvSpPr>
        <p:spPr>
          <a:xfrm>
            <a:off x="7315200" y="1947672"/>
            <a:ext cx="4206240" cy="141732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モデルの確率的な構造はJAGSと類似。dnorm では sd= と tau= の記述の違いを読む。</a:t>
            </a:r>
          </a:p>
        </p:txBody>
      </p:sp>
      <p:sp>
        <p:nvSpPr>
          <p:cNvPr id="10" name="TextBox 9"/>
          <p:cNvSpPr txBox="1"/>
          <p:nvPr/>
        </p:nvSpPr>
        <p:spPr>
          <a:xfrm>
            <a:off x="7315200" y="3584448"/>
            <a:ext cx="4206240" cy="196596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constants・inits・monitors をどこに渡すかに注目。</a:t>
            </a:r>
          </a:p>
        </p:txBody>
      </p:sp>
      <p:sp>
        <p:nvSpPr>
          <p:cNvPr id="11" name="TextBox 10"/>
          <p:cNvSpPr txBox="1"/>
          <p:nvPr/>
        </p:nvSpPr>
        <p:spPr>
          <a:xfrm>
            <a:off x="539496" y="5971032"/>
            <a:ext cx="11064240" cy="347472"/>
          </a:xfrm>
          <a:prstGeom prst="rect">
            <a:avLst/>
          </a:prstGeom>
          <a:noFill/>
        </p:spPr>
        <p:txBody>
          <a:bodyPr wrap="square" lIns="82296" tIns="64008" rIns="82296" bIns="18288">
            <a:spAutoFit/>
          </a:bodyPr>
          <a:lstStyle/>
          <a:p>
            <a:pPr>
              <a:spcAft>
                <a:spcPts val="500"/>
              </a:spcAft>
              <a:defRPr sz="1100" b="0">
                <a:solidFill>
                  <a:srgbClr val="667482"/>
                </a:solidFill>
                <a:latin typeface="Yu Gothic"/>
              </a:defRPr>
            </a:pPr>
            <a:r>
              <a:t>抜粋したコードの変数名・関数名は原著のまま。モデル全文は添付の原著Rファイルを参照。</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8.6.2  NIMBLE｜推定手順を理解する</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8  |  原著Rコードに基づく学習資料  |  二要因：交互作用</a:t>
            </a:r>
          </a:p>
        </p:txBody>
      </p:sp>
      <p:sp>
        <p:nvSpPr>
          <p:cNvPr id="5" name="TextBox 4"/>
          <p:cNvSpPr txBox="1"/>
          <p:nvPr/>
        </p:nvSpPr>
        <p:spPr>
          <a:xfrm>
            <a:off x="512064" y="9601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コードの実行・推定フロー</a:t>
            </a:r>
          </a:p>
        </p:txBody>
      </p:sp>
      <p:sp>
        <p:nvSpPr>
          <p:cNvPr id="6" name="Rounded Rectangle 5"/>
          <p:cNvSpPr/>
          <p:nvPr/>
        </p:nvSpPr>
        <p:spPr>
          <a:xfrm>
            <a:off x="530352" y="1517904"/>
            <a:ext cx="274320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nimbleCode()</a:t>
            </a:r>
          </a:p>
        </p:txBody>
      </p:sp>
      <p:sp>
        <p:nvSpPr>
          <p:cNvPr id="7" name="Rounded Rectangle 6"/>
          <p:cNvSpPr/>
          <p:nvPr/>
        </p:nvSpPr>
        <p:spPr>
          <a:xfrm>
            <a:off x="3474720" y="1517904"/>
            <a:ext cx="274320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nimbleMCMC()</a:t>
            </a:r>
          </a:p>
        </p:txBody>
      </p:sp>
      <p:sp>
        <p:nvSpPr>
          <p:cNvPr id="8" name="Rounded Rectangle 7"/>
          <p:cNvSpPr/>
          <p:nvPr/>
        </p:nvSpPr>
        <p:spPr>
          <a:xfrm>
            <a:off x="6419088" y="1517904"/>
            <a:ext cx="274320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coda::traceplot()</a:t>
            </a:r>
          </a:p>
        </p:txBody>
      </p:sp>
      <p:sp>
        <p:nvSpPr>
          <p:cNvPr id="9" name="TextBox 8"/>
          <p:cNvSpPr txBox="1"/>
          <p:nvPr/>
        </p:nvSpPr>
        <p:spPr>
          <a:xfrm>
            <a:off x="512064" y="27889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モデルとコードの接続</a:t>
            </a:r>
          </a:p>
        </p:txBody>
      </p:sp>
      <p:sp>
        <p:nvSpPr>
          <p:cNvPr id="10" name="TextBox 9"/>
          <p:cNvSpPr txBox="1"/>
          <p:nvPr/>
        </p:nvSpPr>
        <p:spPr>
          <a:xfrm>
            <a:off x="521207" y="3246120"/>
            <a:ext cx="11018520" cy="877824"/>
          </a:xfrm>
          <a:prstGeom prst="rect">
            <a:avLst/>
          </a:prstGeom>
          <a:noFill/>
        </p:spPr>
        <p:txBody>
          <a:bodyPr wrap="square" lIns="82296" tIns="64008" rIns="82296" bIns="18288">
            <a:spAutoFit/>
          </a:bodyPr>
          <a:lstStyle/>
          <a:p>
            <a:pPr>
              <a:spcAft>
                <a:spcPts val="500"/>
              </a:spcAft>
              <a:defRPr sz="1700" b="0">
                <a:solidFill>
                  <a:srgbClr val="242E3C"/>
                </a:solidFill>
                <a:latin typeface="Yu Gothic"/>
              </a:defRPr>
            </a:pPr>
            <a:r>
              <a:t>モデルの確率的な構造はJAGSと類似。dnorm では sd= と tau= の記述の違いを読む。</a:t>
            </a:r>
          </a:p>
        </p:txBody>
      </p:sp>
      <p:sp>
        <p:nvSpPr>
          <p:cNvPr id="11" name="TextBox 10"/>
          <p:cNvSpPr txBox="1"/>
          <p:nvPr/>
        </p:nvSpPr>
        <p:spPr>
          <a:xfrm>
            <a:off x="512064" y="4325112"/>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確認すべき点・読み違えやすい点</a:t>
            </a:r>
          </a:p>
        </p:txBody>
      </p:sp>
      <p:sp>
        <p:nvSpPr>
          <p:cNvPr id="12" name="TextBox 11"/>
          <p:cNvSpPr txBox="1"/>
          <p:nvPr/>
        </p:nvSpPr>
        <p:spPr>
          <a:xfrm>
            <a:off x="521207" y="4754880"/>
            <a:ext cx="11027664" cy="1124712"/>
          </a:xfrm>
          <a:prstGeom prst="rect">
            <a:avLst/>
          </a:prstGeom>
          <a:noFill/>
        </p:spPr>
        <p:txBody>
          <a:bodyPr wrap="square" lIns="82296" tIns="64008" rIns="82296" bIns="18288">
            <a:spAutoFit/>
          </a:bodyPr>
          <a:lstStyle/>
          <a:p>
            <a:pPr>
              <a:spcAft>
                <a:spcPts val="500"/>
              </a:spcAft>
              <a:defRPr sz="1800" b="0">
                <a:solidFill>
                  <a:srgbClr val="242E3C"/>
                </a:solidFill>
                <a:latin typeface="Yu Gothic"/>
              </a:defRPr>
            </a:pPr>
            <a:r>
              <a:t>constants・inits・monitors をどこに渡すかに注目。</a:t>
            </a:r>
          </a:p>
        </p:txBody>
      </p:sp>
      <p:sp>
        <p:nvSpPr>
          <p:cNvPr id="13" name="TextBox 12"/>
          <p:cNvSpPr txBox="1"/>
          <p:nvPr/>
        </p:nvSpPr>
        <p:spPr>
          <a:xfrm>
            <a:off x="521207" y="6108192"/>
            <a:ext cx="10881360" cy="228600"/>
          </a:xfrm>
          <a:prstGeom prst="rect">
            <a:avLst/>
          </a:prstGeom>
          <a:noFill/>
        </p:spPr>
        <p:txBody>
          <a:bodyPr wrap="square" lIns="82296" tIns="64008" rIns="82296" bIns="18288">
            <a:spAutoFit/>
          </a:bodyPr>
          <a:lstStyle/>
          <a:p>
            <a:pPr>
              <a:spcAft>
                <a:spcPts val="500"/>
              </a:spcAft>
              <a:defRPr sz="1000" b="0">
                <a:solidFill>
                  <a:srgbClr val="667482"/>
                </a:solidFill>
                <a:latin typeface="Yu Gothic"/>
              </a:defRPr>
            </a:pPr>
            <a:r>
              <a:t>確認：出力の収束・妥当性は実際のR実行後に判断する（本資料で推定値は創作しない）。</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8.7.2  Stan｜コードの読み方</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8  |  原著Rコードに基づく学習資料  |  二要因：交互作用</a:t>
            </a:r>
          </a:p>
        </p:txBody>
      </p:sp>
      <p:sp>
        <p:nvSpPr>
          <p:cNvPr id="5" name="TextBox 4"/>
          <p:cNvSpPr txBox="1"/>
          <p:nvPr/>
        </p:nvSpPr>
        <p:spPr>
          <a:xfrm>
            <a:off x="502920" y="960120"/>
            <a:ext cx="6656832"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原著コード抜粋</a:t>
            </a:r>
          </a:p>
        </p:txBody>
      </p:sp>
      <p:sp>
        <p:nvSpPr>
          <p:cNvPr id="6" name="TextBox 5"/>
          <p:cNvSpPr txBox="1"/>
          <p:nvPr/>
        </p:nvSpPr>
        <p:spPr>
          <a:xfrm>
            <a:off x="7315200" y="960120"/>
            <a:ext cx="429768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どこに注目するか</a:t>
            </a:r>
          </a:p>
        </p:txBody>
      </p:sp>
      <p:sp>
        <p:nvSpPr>
          <p:cNvPr id="7" name="Rounded Rectangle 6"/>
          <p:cNvSpPr/>
          <p:nvPr/>
        </p:nvSpPr>
        <p:spPr>
          <a:xfrm>
            <a:off x="484632" y="1399032"/>
            <a:ext cx="6629400" cy="4434840"/>
          </a:xfrm>
          <a:prstGeom prst="round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wrap="square" lIns="146304" tIns="64008" rIns="146304" bIns="18288" rtlCol="0" anchor="ctr"/>
          <a:lstStyle/>
          <a:p>
            <a:pPr algn="ctr">
              <a:spcAft>
                <a:spcPts val="500"/>
              </a:spcAft>
              <a:defRPr sz="1200" b="0">
                <a:solidFill>
                  <a:srgbClr val="242E3C"/>
                </a:solidFill>
                <a:latin typeface="Consolas"/>
              </a:defRPr>
            </a:pPr>
            <a:r>
              <a:t>data {</a:t>
            </a:r>
          </a:p>
          <a:p>
            <a:pPr>
              <a:spcAft>
                <a:spcPts val="500"/>
              </a:spcAft>
              <a:defRPr sz="1200" b="0">
                <a:solidFill>
                  <a:srgbClr val="242E3C"/>
                </a:solidFill>
                <a:latin typeface="Consolas"/>
              </a:defRPr>
            </a:pPr>
            <a:r>
              <a:t>parameters {</a:t>
            </a:r>
          </a:p>
          <a:p>
            <a:pPr>
              <a:spcAft>
                <a:spcPts val="500"/>
              </a:spcAft>
              <a:defRPr sz="1200" b="0">
                <a:solidFill>
                  <a:srgbClr val="242E3C"/>
                </a:solidFill>
                <a:latin typeface="Consolas"/>
              </a:defRPr>
            </a:pPr>
            <a:r>
              <a:t>model {</a:t>
            </a:r>
          </a:p>
          <a:p>
            <a:pPr>
              <a:spcAft>
                <a:spcPts val="500"/>
              </a:spcAft>
              <a:defRPr sz="1200" b="0">
                <a:solidFill>
                  <a:srgbClr val="242E3C"/>
                </a:solidFill>
                <a:latin typeface="Consolas"/>
              </a:defRPr>
            </a:pPr>
            <a:r>
              <a:t>to_vector(group_mean) ~ normal(0, 100);</a:t>
            </a:r>
          </a:p>
          <a:p>
            <a:pPr>
              <a:spcAft>
                <a:spcPts val="500"/>
              </a:spcAft>
              <a:defRPr sz="1200" b="0">
                <a:solidFill>
                  <a:srgbClr val="242E3C"/>
                </a:solidFill>
                <a:latin typeface="Consolas"/>
              </a:defRPr>
            </a:pPr>
            <a:r>
              <a:t>sigma ~ cauchy(0, 10);</a:t>
            </a:r>
          </a:p>
          <a:p>
            <a:pPr>
              <a:spcAft>
                <a:spcPts val="500"/>
              </a:spcAft>
              <a:defRPr sz="1200" b="0">
                <a:solidFill>
                  <a:srgbClr val="242E3C"/>
                </a:solidFill>
                <a:latin typeface="Consolas"/>
              </a:defRPr>
            </a:pPr>
            <a:r>
              <a:t>wing[i] ~ normal(group_mean[pop[i], hab[i]], sigma);</a:t>
            </a:r>
          </a:p>
        </p:txBody>
      </p:sp>
      <p:sp>
        <p:nvSpPr>
          <p:cNvPr id="8" name="TextBox 7"/>
          <p:cNvSpPr txBox="1"/>
          <p:nvPr/>
        </p:nvSpPr>
        <p:spPr>
          <a:xfrm>
            <a:off x="7315200" y="1408176"/>
            <a:ext cx="4251960" cy="457200"/>
          </a:xfrm>
          <a:prstGeom prst="rect">
            <a:avLst/>
          </a:prstGeom>
          <a:noFill/>
        </p:spPr>
        <p:txBody>
          <a:bodyPr wrap="square" lIns="82296" tIns="64008" rIns="82296" bIns="18288">
            <a:spAutoFit/>
          </a:bodyPr>
          <a:lstStyle/>
          <a:p>
            <a:pPr>
              <a:spcAft>
                <a:spcPts val="500"/>
              </a:spcAft>
              <a:defRPr sz="1800" b="1">
                <a:solidFill>
                  <a:srgbClr val="1D5D8C"/>
                </a:solidFill>
                <a:latin typeface="Yu Gothic"/>
              </a:defRPr>
            </a:pPr>
            <a:r>
              <a:t>ブロックと連続パラメータ</a:t>
            </a:r>
          </a:p>
        </p:txBody>
      </p:sp>
      <p:sp>
        <p:nvSpPr>
          <p:cNvPr id="9" name="TextBox 8"/>
          <p:cNvSpPr txBox="1"/>
          <p:nvPr/>
        </p:nvSpPr>
        <p:spPr>
          <a:xfrm>
            <a:off x="7315200" y="1947672"/>
            <a:ext cx="4206240" cy="141732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data は観測値、parameters は未知量、model は事前分布・尤度。generated quantities は事後の派生量。</a:t>
            </a:r>
          </a:p>
        </p:txBody>
      </p:sp>
      <p:sp>
        <p:nvSpPr>
          <p:cNvPr id="10" name="TextBox 9"/>
          <p:cNvSpPr txBox="1"/>
          <p:nvPr/>
        </p:nvSpPr>
        <p:spPr>
          <a:xfrm>
            <a:off x="7315200" y="3584448"/>
            <a:ext cx="4206240" cy="196596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離散潜在変数は直接サンプリングできず、必要に応じて周辺化する。</a:t>
            </a:r>
          </a:p>
        </p:txBody>
      </p:sp>
      <p:sp>
        <p:nvSpPr>
          <p:cNvPr id="11" name="TextBox 10"/>
          <p:cNvSpPr txBox="1"/>
          <p:nvPr/>
        </p:nvSpPr>
        <p:spPr>
          <a:xfrm>
            <a:off x="539496" y="5971032"/>
            <a:ext cx="11064240" cy="347472"/>
          </a:xfrm>
          <a:prstGeom prst="rect">
            <a:avLst/>
          </a:prstGeom>
          <a:noFill/>
        </p:spPr>
        <p:txBody>
          <a:bodyPr wrap="square" lIns="82296" tIns="64008" rIns="82296" bIns="18288">
            <a:spAutoFit/>
          </a:bodyPr>
          <a:lstStyle/>
          <a:p>
            <a:pPr>
              <a:spcAft>
                <a:spcPts val="500"/>
              </a:spcAft>
              <a:defRPr sz="1100" b="0">
                <a:solidFill>
                  <a:srgbClr val="667482"/>
                </a:solidFill>
                <a:latin typeface="Yu Gothic"/>
              </a:defRPr>
            </a:pPr>
            <a:r>
              <a:t>抜粋したコードの変数名・関数名は原著のまま。モデル全文は添付の原著Rファイルを参照。</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8.7.2  Stan｜推定手順を理解する</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8  |  原著Rコードに基づく学習資料  |  二要因：交互作用</a:t>
            </a:r>
          </a:p>
        </p:txBody>
      </p:sp>
      <p:sp>
        <p:nvSpPr>
          <p:cNvPr id="5" name="TextBox 4"/>
          <p:cNvSpPr txBox="1"/>
          <p:nvPr/>
        </p:nvSpPr>
        <p:spPr>
          <a:xfrm>
            <a:off x="512064" y="9601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コードの実行・推定フロー</a:t>
            </a:r>
          </a:p>
        </p:txBody>
      </p:sp>
      <p:sp>
        <p:nvSpPr>
          <p:cNvPr id="6" name="Rounded Rectangle 5"/>
          <p:cNvSpPr/>
          <p:nvPr/>
        </p:nvSpPr>
        <p:spPr>
          <a:xfrm>
            <a:off x="530352" y="1517904"/>
            <a:ext cx="2066544"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data</a:t>
            </a:r>
          </a:p>
        </p:txBody>
      </p:sp>
      <p:sp>
        <p:nvSpPr>
          <p:cNvPr id="7" name="Rounded Rectangle 6"/>
          <p:cNvSpPr/>
          <p:nvPr/>
        </p:nvSpPr>
        <p:spPr>
          <a:xfrm>
            <a:off x="2798064" y="1517904"/>
            <a:ext cx="2066544"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parameters</a:t>
            </a:r>
          </a:p>
        </p:txBody>
      </p:sp>
      <p:sp>
        <p:nvSpPr>
          <p:cNvPr id="8" name="Rounded Rectangle 7"/>
          <p:cNvSpPr/>
          <p:nvPr/>
        </p:nvSpPr>
        <p:spPr>
          <a:xfrm>
            <a:off x="5065776" y="1517904"/>
            <a:ext cx="2066544"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model</a:t>
            </a:r>
          </a:p>
        </p:txBody>
      </p:sp>
      <p:sp>
        <p:nvSpPr>
          <p:cNvPr id="9" name="Rounded Rectangle 8"/>
          <p:cNvSpPr/>
          <p:nvPr/>
        </p:nvSpPr>
        <p:spPr>
          <a:xfrm>
            <a:off x="7333488" y="1517904"/>
            <a:ext cx="2066544"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stan()</a:t>
            </a:r>
          </a:p>
        </p:txBody>
      </p:sp>
      <p:sp>
        <p:nvSpPr>
          <p:cNvPr id="10" name="Rounded Rectangle 9"/>
          <p:cNvSpPr/>
          <p:nvPr/>
        </p:nvSpPr>
        <p:spPr>
          <a:xfrm>
            <a:off x="9601200" y="1517904"/>
            <a:ext cx="2066544"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summary</a:t>
            </a:r>
          </a:p>
        </p:txBody>
      </p:sp>
      <p:sp>
        <p:nvSpPr>
          <p:cNvPr id="11" name="TextBox 10"/>
          <p:cNvSpPr txBox="1"/>
          <p:nvPr/>
        </p:nvSpPr>
        <p:spPr>
          <a:xfrm>
            <a:off x="512064" y="27889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モデルとコードの接続</a:t>
            </a:r>
          </a:p>
        </p:txBody>
      </p:sp>
      <p:sp>
        <p:nvSpPr>
          <p:cNvPr id="12" name="TextBox 11"/>
          <p:cNvSpPr txBox="1"/>
          <p:nvPr/>
        </p:nvSpPr>
        <p:spPr>
          <a:xfrm>
            <a:off x="521207" y="3246120"/>
            <a:ext cx="11018520" cy="877824"/>
          </a:xfrm>
          <a:prstGeom prst="rect">
            <a:avLst/>
          </a:prstGeom>
          <a:noFill/>
        </p:spPr>
        <p:txBody>
          <a:bodyPr wrap="square" lIns="82296" tIns="64008" rIns="82296" bIns="18288">
            <a:spAutoFit/>
          </a:bodyPr>
          <a:lstStyle/>
          <a:p>
            <a:pPr>
              <a:spcAft>
                <a:spcPts val="500"/>
              </a:spcAft>
              <a:defRPr sz="1700" b="0">
                <a:solidFill>
                  <a:srgbClr val="242E3C"/>
                </a:solidFill>
                <a:latin typeface="Yu Gothic"/>
              </a:defRPr>
            </a:pPr>
            <a:r>
              <a:t>data は観測値、parameters は未知量、model は事前分布・尤度。generated quantities は事後の派生量。</a:t>
            </a:r>
          </a:p>
        </p:txBody>
      </p:sp>
      <p:sp>
        <p:nvSpPr>
          <p:cNvPr id="13" name="TextBox 12"/>
          <p:cNvSpPr txBox="1"/>
          <p:nvPr/>
        </p:nvSpPr>
        <p:spPr>
          <a:xfrm>
            <a:off x="512064" y="4325112"/>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確認すべき点・読み違えやすい点</a:t>
            </a:r>
          </a:p>
        </p:txBody>
      </p:sp>
      <p:sp>
        <p:nvSpPr>
          <p:cNvPr id="14" name="TextBox 13"/>
          <p:cNvSpPr txBox="1"/>
          <p:nvPr/>
        </p:nvSpPr>
        <p:spPr>
          <a:xfrm>
            <a:off x="521207" y="4754880"/>
            <a:ext cx="11027664" cy="1124712"/>
          </a:xfrm>
          <a:prstGeom prst="rect">
            <a:avLst/>
          </a:prstGeom>
          <a:noFill/>
        </p:spPr>
        <p:txBody>
          <a:bodyPr wrap="square" lIns="82296" tIns="64008" rIns="82296" bIns="18288">
            <a:spAutoFit/>
          </a:bodyPr>
          <a:lstStyle/>
          <a:p>
            <a:pPr>
              <a:spcAft>
                <a:spcPts val="500"/>
              </a:spcAft>
              <a:defRPr sz="1800" b="0">
                <a:solidFill>
                  <a:srgbClr val="242E3C"/>
                </a:solidFill>
                <a:latin typeface="Yu Gothic"/>
              </a:defRPr>
            </a:pPr>
            <a:r>
              <a:t>離散潜在変数は直接サンプリングできず、必要に応じて周辺化する。</a:t>
            </a:r>
          </a:p>
        </p:txBody>
      </p:sp>
      <p:sp>
        <p:nvSpPr>
          <p:cNvPr id="15" name="TextBox 14"/>
          <p:cNvSpPr txBox="1"/>
          <p:nvPr/>
        </p:nvSpPr>
        <p:spPr>
          <a:xfrm>
            <a:off x="521207" y="6108192"/>
            <a:ext cx="10881360" cy="228600"/>
          </a:xfrm>
          <a:prstGeom prst="rect">
            <a:avLst/>
          </a:prstGeom>
          <a:noFill/>
        </p:spPr>
        <p:txBody>
          <a:bodyPr wrap="square" lIns="82296" tIns="64008" rIns="82296" bIns="18288">
            <a:spAutoFit/>
          </a:bodyPr>
          <a:lstStyle/>
          <a:p>
            <a:pPr>
              <a:spcAft>
                <a:spcPts val="500"/>
              </a:spcAft>
              <a:defRPr sz="1000" b="0">
                <a:solidFill>
                  <a:srgbClr val="667482"/>
                </a:solidFill>
                <a:latin typeface="Yu Gothic"/>
              </a:defRPr>
            </a:pPr>
            <a:r>
              <a:t>確認：出力の収束・妥当性は実際のR実行後に判断する（本資料で推定値は創作しない）。</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8.8.2  自作尤度（optim）｜コードの読み方</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8  |  原著Rコードに基づく学習資料  |  二要因：交互作用</a:t>
            </a:r>
          </a:p>
        </p:txBody>
      </p:sp>
      <p:sp>
        <p:nvSpPr>
          <p:cNvPr id="5" name="TextBox 4"/>
          <p:cNvSpPr txBox="1"/>
          <p:nvPr/>
        </p:nvSpPr>
        <p:spPr>
          <a:xfrm>
            <a:off x="502920" y="960120"/>
            <a:ext cx="6656832"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原著コード抜粋</a:t>
            </a:r>
          </a:p>
        </p:txBody>
      </p:sp>
      <p:sp>
        <p:nvSpPr>
          <p:cNvPr id="6" name="TextBox 5"/>
          <p:cNvSpPr txBox="1"/>
          <p:nvPr/>
        </p:nvSpPr>
        <p:spPr>
          <a:xfrm>
            <a:off x="7315200" y="960120"/>
            <a:ext cx="429768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どこに注目するか</a:t>
            </a:r>
          </a:p>
        </p:txBody>
      </p:sp>
      <p:sp>
        <p:nvSpPr>
          <p:cNvPr id="7" name="Rounded Rectangle 6"/>
          <p:cNvSpPr/>
          <p:nvPr/>
        </p:nvSpPr>
        <p:spPr>
          <a:xfrm>
            <a:off x="484632" y="1399032"/>
            <a:ext cx="6629400" cy="4434840"/>
          </a:xfrm>
          <a:prstGeom prst="round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wrap="square" lIns="146304" tIns="64008" rIns="146304" bIns="18288" rtlCol="0" anchor="ctr"/>
          <a:lstStyle/>
          <a:p>
            <a:pPr algn="ctr">
              <a:spcAft>
                <a:spcPts val="500"/>
              </a:spcAft>
              <a:defRPr sz="1019" b="0">
                <a:solidFill>
                  <a:srgbClr val="242E3C"/>
                </a:solidFill>
                <a:latin typeface="Consolas"/>
              </a:defRPr>
            </a:pPr>
            <a:r>
              <a:t>NLL &lt;- function(param, y, Xmat) {</a:t>
            </a:r>
          </a:p>
          <a:p>
            <a:pPr>
              <a:spcAft>
                <a:spcPts val="500"/>
              </a:spcAft>
              <a:defRPr sz="1019" b="0">
                <a:solidFill>
                  <a:srgbClr val="242E3C"/>
                </a:solidFill>
                <a:latin typeface="Consolas"/>
              </a:defRPr>
            </a:pPr>
            <a:r>
              <a:t>beta &lt;- param[1:15]                # Interaction parameters</a:t>
            </a:r>
          </a:p>
          <a:p>
            <a:pPr>
              <a:spcAft>
                <a:spcPts val="500"/>
              </a:spcAft>
              <a:defRPr sz="1019" b="0">
                <a:solidFill>
                  <a:srgbClr val="242E3C"/>
                </a:solidFill>
                <a:latin typeface="Consolas"/>
              </a:defRPr>
            </a:pPr>
            <a:r>
              <a:t>sigma &lt;- exp(param[16])            # Residual SD</a:t>
            </a:r>
          </a:p>
          <a:p>
            <a:pPr>
              <a:spcAft>
                <a:spcPts val="500"/>
              </a:spcAft>
              <a:defRPr sz="1019" b="0">
                <a:solidFill>
                  <a:srgbClr val="242E3C"/>
                </a:solidFill>
                <a:latin typeface="Consolas"/>
              </a:defRPr>
            </a:pPr>
            <a:r>
              <a:t>mu &lt;- Xmat %*% beta</a:t>
            </a:r>
          </a:p>
          <a:p>
            <a:pPr>
              <a:spcAft>
                <a:spcPts val="500"/>
              </a:spcAft>
              <a:defRPr sz="1019" b="0">
                <a:solidFill>
                  <a:srgbClr val="242E3C"/>
                </a:solidFill>
                <a:latin typeface="Consolas"/>
              </a:defRPr>
            </a:pPr>
            <a:r>
              <a:t>LL &lt;- dnorm(y, mu, sigma, log = TRUE) # Log-lik for each observation</a:t>
            </a:r>
          </a:p>
          <a:p>
            <a:pPr>
              <a:spcAft>
                <a:spcPts val="500"/>
              </a:spcAft>
              <a:defRPr sz="1019" b="0">
                <a:solidFill>
                  <a:srgbClr val="242E3C"/>
                </a:solidFill>
                <a:latin typeface="Consolas"/>
              </a:defRPr>
            </a:pPr>
            <a:r>
              <a:t>NLL &lt;- -sum(LL)                    # NLL for all observations (whole data set)</a:t>
            </a:r>
          </a:p>
          <a:p>
            <a:pPr>
              <a:spcAft>
                <a:spcPts val="500"/>
              </a:spcAft>
              <a:defRPr sz="1019" b="0">
                <a:solidFill>
                  <a:srgbClr val="242E3C"/>
                </a:solidFill>
                <a:latin typeface="Consolas"/>
              </a:defRPr>
            </a:pPr>
            <a:r>
              <a:t>return(NLL)</a:t>
            </a:r>
          </a:p>
          <a:p>
            <a:pPr>
              <a:spcAft>
                <a:spcPts val="500"/>
              </a:spcAft>
              <a:defRPr sz="1019" b="0">
                <a:solidFill>
                  <a:srgbClr val="242E3C"/>
                </a:solidFill>
                <a:latin typeface="Consolas"/>
              </a:defRPr>
            </a:pPr>
            <a:r>
              <a:t>out88.int &lt;- optim(inits, NLL, y = wing, Xmat = Xmat, hessian = TRUE, method = 'BFGS')</a:t>
            </a:r>
          </a:p>
        </p:txBody>
      </p:sp>
      <p:sp>
        <p:nvSpPr>
          <p:cNvPr id="8" name="TextBox 7"/>
          <p:cNvSpPr txBox="1"/>
          <p:nvPr/>
        </p:nvSpPr>
        <p:spPr>
          <a:xfrm>
            <a:off x="7315200" y="1408176"/>
            <a:ext cx="4251960" cy="457200"/>
          </a:xfrm>
          <a:prstGeom prst="rect">
            <a:avLst/>
          </a:prstGeom>
          <a:noFill/>
        </p:spPr>
        <p:txBody>
          <a:bodyPr wrap="square" lIns="82296" tIns="64008" rIns="82296" bIns="18288">
            <a:spAutoFit/>
          </a:bodyPr>
          <a:lstStyle/>
          <a:p>
            <a:pPr>
              <a:spcAft>
                <a:spcPts val="500"/>
              </a:spcAft>
              <a:defRPr sz="1800" b="1">
                <a:solidFill>
                  <a:srgbClr val="1D5D8C"/>
                </a:solidFill>
                <a:latin typeface="Yu Gothic"/>
              </a:defRPr>
            </a:pPr>
            <a:r>
              <a:t>負の対数尤度を自分で作る</a:t>
            </a:r>
          </a:p>
        </p:txBody>
      </p:sp>
      <p:sp>
        <p:nvSpPr>
          <p:cNvPr id="9" name="TextBox 8"/>
          <p:cNvSpPr txBox="1"/>
          <p:nvPr/>
        </p:nvSpPr>
        <p:spPr>
          <a:xfrm>
            <a:off x="7315200" y="1947672"/>
            <a:ext cx="4206240" cy="141732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尤度の対数を合計し符号を反転する。optim() はこの負の対数尤度を最小化する。</a:t>
            </a:r>
          </a:p>
        </p:txBody>
      </p:sp>
      <p:sp>
        <p:nvSpPr>
          <p:cNvPr id="10" name="TextBox 9"/>
          <p:cNvSpPr txBox="1"/>
          <p:nvPr/>
        </p:nvSpPr>
        <p:spPr>
          <a:xfrm>
            <a:off x="7315200" y="3584448"/>
            <a:ext cx="4206240" cy="196596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標準偏差の正値制約を exp(log_sigma) で実装する例を確認。</a:t>
            </a:r>
          </a:p>
        </p:txBody>
      </p:sp>
      <p:sp>
        <p:nvSpPr>
          <p:cNvPr id="11" name="TextBox 10"/>
          <p:cNvSpPr txBox="1"/>
          <p:nvPr/>
        </p:nvSpPr>
        <p:spPr>
          <a:xfrm>
            <a:off x="539496" y="5971032"/>
            <a:ext cx="11064240" cy="347472"/>
          </a:xfrm>
          <a:prstGeom prst="rect">
            <a:avLst/>
          </a:prstGeom>
          <a:noFill/>
        </p:spPr>
        <p:txBody>
          <a:bodyPr wrap="square" lIns="82296" tIns="64008" rIns="82296" bIns="18288">
            <a:spAutoFit/>
          </a:bodyPr>
          <a:lstStyle/>
          <a:p>
            <a:pPr>
              <a:spcAft>
                <a:spcPts val="500"/>
              </a:spcAft>
              <a:defRPr sz="1100" b="0">
                <a:solidFill>
                  <a:srgbClr val="667482"/>
                </a:solidFill>
                <a:latin typeface="Yu Gothic"/>
              </a:defRPr>
            </a:pPr>
            <a:r>
              <a:t>抜粋したコードの変数名・関数名は原著のまま。モデル全文は添付の原著Rファイルを参照。</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8.8.2  自作尤度（optim）｜推定手順を理解する</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8  |  原著Rコードに基づく学習資料  |  二要因：交互作用</a:t>
            </a:r>
          </a:p>
        </p:txBody>
      </p:sp>
      <p:sp>
        <p:nvSpPr>
          <p:cNvPr id="5" name="TextBox 4"/>
          <p:cNvSpPr txBox="1"/>
          <p:nvPr/>
        </p:nvSpPr>
        <p:spPr>
          <a:xfrm>
            <a:off x="512064" y="9601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コードの実行・推定フロー</a:t>
            </a:r>
          </a:p>
        </p:txBody>
      </p:sp>
      <p:sp>
        <p:nvSpPr>
          <p:cNvPr id="6" name="Rounded Rectangle 5"/>
          <p:cNvSpPr/>
          <p:nvPr/>
        </p:nvSpPr>
        <p:spPr>
          <a:xfrm>
            <a:off x="530352" y="1517904"/>
            <a:ext cx="274320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NLL &lt;- function(...)</a:t>
            </a:r>
          </a:p>
        </p:txBody>
      </p:sp>
      <p:sp>
        <p:nvSpPr>
          <p:cNvPr id="7" name="Rounded Rectangle 6"/>
          <p:cNvSpPr/>
          <p:nvPr/>
        </p:nvSpPr>
        <p:spPr>
          <a:xfrm>
            <a:off x="3474720" y="1517904"/>
            <a:ext cx="274320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optim(...)</a:t>
            </a:r>
          </a:p>
        </p:txBody>
      </p:sp>
      <p:sp>
        <p:nvSpPr>
          <p:cNvPr id="8" name="Rounded Rectangle 7"/>
          <p:cNvSpPr/>
          <p:nvPr/>
        </p:nvSpPr>
        <p:spPr>
          <a:xfrm>
            <a:off x="6419088" y="1517904"/>
            <a:ext cx="274320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推定係数</a:t>
            </a:r>
          </a:p>
        </p:txBody>
      </p:sp>
      <p:sp>
        <p:nvSpPr>
          <p:cNvPr id="9" name="TextBox 8"/>
          <p:cNvSpPr txBox="1"/>
          <p:nvPr/>
        </p:nvSpPr>
        <p:spPr>
          <a:xfrm>
            <a:off x="512064" y="27889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モデルとコードの接続</a:t>
            </a:r>
          </a:p>
        </p:txBody>
      </p:sp>
      <p:sp>
        <p:nvSpPr>
          <p:cNvPr id="10" name="TextBox 9"/>
          <p:cNvSpPr txBox="1"/>
          <p:nvPr/>
        </p:nvSpPr>
        <p:spPr>
          <a:xfrm>
            <a:off x="521207" y="3246120"/>
            <a:ext cx="11018520" cy="877824"/>
          </a:xfrm>
          <a:prstGeom prst="rect">
            <a:avLst/>
          </a:prstGeom>
          <a:noFill/>
        </p:spPr>
        <p:txBody>
          <a:bodyPr wrap="square" lIns="82296" tIns="64008" rIns="82296" bIns="18288">
            <a:spAutoFit/>
          </a:bodyPr>
          <a:lstStyle/>
          <a:p>
            <a:pPr>
              <a:spcAft>
                <a:spcPts val="500"/>
              </a:spcAft>
              <a:defRPr sz="1700" b="0">
                <a:solidFill>
                  <a:srgbClr val="242E3C"/>
                </a:solidFill>
                <a:latin typeface="Yu Gothic"/>
              </a:defRPr>
            </a:pPr>
            <a:r>
              <a:t>尤度の対数を合計し符号を反転する。optim() はこの負の対数尤度を最小化する。</a:t>
            </a:r>
          </a:p>
        </p:txBody>
      </p:sp>
      <p:sp>
        <p:nvSpPr>
          <p:cNvPr id="11" name="TextBox 10"/>
          <p:cNvSpPr txBox="1"/>
          <p:nvPr/>
        </p:nvSpPr>
        <p:spPr>
          <a:xfrm>
            <a:off x="512064" y="4325112"/>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確認すべき点・読み違えやすい点</a:t>
            </a:r>
          </a:p>
        </p:txBody>
      </p:sp>
      <p:sp>
        <p:nvSpPr>
          <p:cNvPr id="12" name="TextBox 11"/>
          <p:cNvSpPr txBox="1"/>
          <p:nvPr/>
        </p:nvSpPr>
        <p:spPr>
          <a:xfrm>
            <a:off x="521207" y="4754880"/>
            <a:ext cx="11027664" cy="1124712"/>
          </a:xfrm>
          <a:prstGeom prst="rect">
            <a:avLst/>
          </a:prstGeom>
          <a:noFill/>
        </p:spPr>
        <p:txBody>
          <a:bodyPr wrap="square" lIns="82296" tIns="64008" rIns="82296" bIns="18288">
            <a:spAutoFit/>
          </a:bodyPr>
          <a:lstStyle/>
          <a:p>
            <a:pPr>
              <a:spcAft>
                <a:spcPts val="500"/>
              </a:spcAft>
              <a:defRPr sz="1800" b="0">
                <a:solidFill>
                  <a:srgbClr val="242E3C"/>
                </a:solidFill>
                <a:latin typeface="Yu Gothic"/>
              </a:defRPr>
            </a:pPr>
            <a:r>
              <a:t>標準偏差の正値制約を exp(log_sigma) で実装する例を確認。</a:t>
            </a:r>
          </a:p>
        </p:txBody>
      </p:sp>
      <p:sp>
        <p:nvSpPr>
          <p:cNvPr id="13" name="TextBox 12"/>
          <p:cNvSpPr txBox="1"/>
          <p:nvPr/>
        </p:nvSpPr>
        <p:spPr>
          <a:xfrm>
            <a:off x="521207" y="6108192"/>
            <a:ext cx="10881360" cy="228600"/>
          </a:xfrm>
          <a:prstGeom prst="rect">
            <a:avLst/>
          </a:prstGeom>
          <a:noFill/>
        </p:spPr>
        <p:txBody>
          <a:bodyPr wrap="square" lIns="82296" tIns="64008" rIns="82296" bIns="18288">
            <a:spAutoFit/>
          </a:bodyPr>
          <a:lstStyle/>
          <a:p>
            <a:pPr>
              <a:spcAft>
                <a:spcPts val="500"/>
              </a:spcAft>
              <a:defRPr sz="1000" b="0">
                <a:solidFill>
                  <a:srgbClr val="667482"/>
                </a:solidFill>
                <a:latin typeface="Yu Gothic"/>
              </a:defRPr>
            </a:pPr>
            <a:r>
              <a:t>確認：出力の収束・妥当性は実際のR実行後に判断する（本資料で推定値は創作しない）。</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8.9.2  TMB｜コードの読み方</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8  |  原著Rコードに基づく学習資料  |  二要因：交互作用</a:t>
            </a:r>
          </a:p>
        </p:txBody>
      </p:sp>
      <p:sp>
        <p:nvSpPr>
          <p:cNvPr id="5" name="TextBox 4"/>
          <p:cNvSpPr txBox="1"/>
          <p:nvPr/>
        </p:nvSpPr>
        <p:spPr>
          <a:xfrm>
            <a:off x="502920" y="960120"/>
            <a:ext cx="6656832"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原著コード抜粋</a:t>
            </a:r>
          </a:p>
        </p:txBody>
      </p:sp>
      <p:sp>
        <p:nvSpPr>
          <p:cNvPr id="6" name="TextBox 5"/>
          <p:cNvSpPr txBox="1"/>
          <p:nvPr/>
        </p:nvSpPr>
        <p:spPr>
          <a:xfrm>
            <a:off x="7315200" y="960120"/>
            <a:ext cx="429768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どこに注目するか</a:t>
            </a:r>
          </a:p>
        </p:txBody>
      </p:sp>
      <p:sp>
        <p:nvSpPr>
          <p:cNvPr id="7" name="Rounded Rectangle 6"/>
          <p:cNvSpPr/>
          <p:nvPr/>
        </p:nvSpPr>
        <p:spPr>
          <a:xfrm>
            <a:off x="484632" y="1399032"/>
            <a:ext cx="6629400" cy="4434840"/>
          </a:xfrm>
          <a:prstGeom prst="round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wrap="square" lIns="146304" tIns="64008" rIns="146304" bIns="18288" rtlCol="0" anchor="ctr"/>
          <a:lstStyle/>
          <a:p>
            <a:pPr algn="ctr">
              <a:spcAft>
                <a:spcPts val="500"/>
              </a:spcAft>
              <a:defRPr sz="1200" b="0">
                <a:solidFill>
                  <a:srgbClr val="242E3C"/>
                </a:solidFill>
                <a:latin typeface="Consolas"/>
              </a:defRPr>
            </a:pPr>
            <a:r>
              <a:t>DATA_VECTOR(wing);                 //response</a:t>
            </a:r>
          </a:p>
          <a:p>
            <a:pPr>
              <a:spcAft>
                <a:spcPts val="500"/>
              </a:spcAft>
              <a:defRPr sz="1200" b="0">
                <a:solidFill>
                  <a:srgbClr val="242E3C"/>
                </a:solidFill>
                <a:latin typeface="Consolas"/>
              </a:defRPr>
            </a:pPr>
            <a:r>
              <a:t>DATA_IVECTOR(pop);                 //Population of each obs</a:t>
            </a:r>
          </a:p>
          <a:p>
            <a:pPr>
              <a:spcAft>
                <a:spcPts val="500"/>
              </a:spcAft>
              <a:defRPr sz="1200" b="0">
                <a:solidFill>
                  <a:srgbClr val="242E3C"/>
                </a:solidFill>
                <a:latin typeface="Consolas"/>
              </a:defRPr>
            </a:pPr>
            <a:r>
              <a:t>DATA_IVECTOR(hab);                 //Habitat group of each obs</a:t>
            </a:r>
          </a:p>
          <a:p>
            <a:pPr>
              <a:spcAft>
                <a:spcPts val="500"/>
              </a:spcAft>
              <a:defRPr sz="1200" b="0">
                <a:solidFill>
                  <a:srgbClr val="242E3C"/>
                </a:solidFill>
                <a:latin typeface="Consolas"/>
              </a:defRPr>
            </a:pPr>
            <a:r>
              <a:t>DATA_INTEGER(n);                   //Number of obs</a:t>
            </a:r>
          </a:p>
          <a:p>
            <a:pPr>
              <a:spcAft>
                <a:spcPts val="500"/>
              </a:spcAft>
              <a:defRPr sz="1200" b="0">
                <a:solidFill>
                  <a:srgbClr val="242E3C"/>
                </a:solidFill>
                <a:latin typeface="Consolas"/>
              </a:defRPr>
            </a:pPr>
            <a:r>
              <a:t>PARAMETER_MATRIX(group_mean);</a:t>
            </a:r>
          </a:p>
          <a:p>
            <a:pPr>
              <a:spcAft>
                <a:spcPts val="500"/>
              </a:spcAft>
              <a:defRPr sz="1200" b="0">
                <a:solidFill>
                  <a:srgbClr val="242E3C"/>
                </a:solidFill>
                <a:latin typeface="Consolas"/>
              </a:defRPr>
            </a:pPr>
            <a:r>
              <a:t>PARAMETER(log_sigma);              //log(residual standard deviation)</a:t>
            </a:r>
          </a:p>
          <a:p>
            <a:pPr>
              <a:spcAft>
                <a:spcPts val="500"/>
              </a:spcAft>
              <a:defRPr sz="1200" b="0">
                <a:solidFill>
                  <a:srgbClr val="242E3C"/>
                </a:solidFill>
                <a:latin typeface="Consolas"/>
              </a:defRPr>
            </a:pPr>
            <a:r>
              <a:t>LL += dnorm(wing(i), group_mean(pop(i), hab(i)), sigma, true);</a:t>
            </a:r>
          </a:p>
          <a:p>
            <a:pPr>
              <a:spcAft>
                <a:spcPts val="500"/>
              </a:spcAft>
              <a:defRPr sz="1200" b="0">
                <a:solidFill>
                  <a:srgbClr val="242E3C"/>
                </a:solidFill>
                <a:latin typeface="Consolas"/>
              </a:defRPr>
            </a:pPr>
            <a:r>
              <a:t>return -LL;                        //Return negative of total log likelihood</a:t>
            </a:r>
          </a:p>
          <a:p>
            <a:pPr>
              <a:spcAft>
                <a:spcPts val="500"/>
              </a:spcAft>
              <a:defRPr sz="1200" b="0">
                <a:solidFill>
                  <a:srgbClr val="242E3C"/>
                </a:solidFill>
                <a:latin typeface="Consolas"/>
              </a:defRPr>
            </a:pPr>
            <a:r>
              <a:t>out89ie &lt;- MakeADFun(data = tmbData, parameters = params,</a:t>
            </a:r>
          </a:p>
        </p:txBody>
      </p:sp>
      <p:sp>
        <p:nvSpPr>
          <p:cNvPr id="8" name="TextBox 7"/>
          <p:cNvSpPr txBox="1"/>
          <p:nvPr/>
        </p:nvSpPr>
        <p:spPr>
          <a:xfrm>
            <a:off x="7315200" y="1408176"/>
            <a:ext cx="4251960" cy="457200"/>
          </a:xfrm>
          <a:prstGeom prst="rect">
            <a:avLst/>
          </a:prstGeom>
          <a:noFill/>
        </p:spPr>
        <p:txBody>
          <a:bodyPr wrap="square" lIns="82296" tIns="64008" rIns="82296" bIns="18288">
            <a:spAutoFit/>
          </a:bodyPr>
          <a:lstStyle/>
          <a:p>
            <a:pPr>
              <a:spcAft>
                <a:spcPts val="500"/>
              </a:spcAft>
              <a:defRPr sz="1800" b="1">
                <a:solidFill>
                  <a:srgbClr val="1D5D8C"/>
                </a:solidFill>
                <a:latin typeface="Yu Gothic"/>
              </a:defRPr>
            </a:pPr>
            <a:r>
              <a:t>C++の目的関数と自動微分</a:t>
            </a:r>
          </a:p>
        </p:txBody>
      </p:sp>
      <p:sp>
        <p:nvSpPr>
          <p:cNvPr id="9" name="TextBox 8"/>
          <p:cNvSpPr txBox="1"/>
          <p:nvPr/>
        </p:nvSpPr>
        <p:spPr>
          <a:xfrm>
            <a:off x="7315200" y="1947672"/>
            <a:ext cx="4206240" cy="141732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DATA_* で観測値、PARAMETER* で未知量を宣言。対数尤度を足して最後に -LL を返す。</a:t>
            </a:r>
          </a:p>
        </p:txBody>
      </p:sp>
      <p:sp>
        <p:nvSpPr>
          <p:cNvPr id="10" name="TextBox 9"/>
          <p:cNvSpPr txBox="1"/>
          <p:nvPr/>
        </p:nvSpPr>
        <p:spPr>
          <a:xfrm>
            <a:off x="7315200" y="3584448"/>
            <a:ext cx="4206240" cy="196596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C++の添字は0開始。random 指定時はランダム効果をラプラス近似で積分。</a:t>
            </a:r>
          </a:p>
        </p:txBody>
      </p:sp>
      <p:sp>
        <p:nvSpPr>
          <p:cNvPr id="11" name="TextBox 10"/>
          <p:cNvSpPr txBox="1"/>
          <p:nvPr/>
        </p:nvSpPr>
        <p:spPr>
          <a:xfrm>
            <a:off x="539496" y="5971032"/>
            <a:ext cx="11064240" cy="347472"/>
          </a:xfrm>
          <a:prstGeom prst="rect">
            <a:avLst/>
          </a:prstGeom>
          <a:noFill/>
        </p:spPr>
        <p:txBody>
          <a:bodyPr wrap="square" lIns="82296" tIns="64008" rIns="82296" bIns="18288">
            <a:spAutoFit/>
          </a:bodyPr>
          <a:lstStyle/>
          <a:p>
            <a:pPr>
              <a:spcAft>
                <a:spcPts val="500"/>
              </a:spcAft>
              <a:defRPr sz="1100" b="0">
                <a:solidFill>
                  <a:srgbClr val="667482"/>
                </a:solidFill>
                <a:latin typeface="Yu Gothic"/>
              </a:defRPr>
            </a:pPr>
            <a:r>
              <a:t>抜粋したコードの変数名・関数名は原著のまま。モデル全文は添付の原著Rファイルを参照。</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8.9.2  TMB｜推定手順を理解する</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8  |  原著Rコードに基づく学習資料  |  二要因：交互作用</a:t>
            </a:r>
          </a:p>
        </p:txBody>
      </p:sp>
      <p:sp>
        <p:nvSpPr>
          <p:cNvPr id="5" name="TextBox 4"/>
          <p:cNvSpPr txBox="1"/>
          <p:nvPr/>
        </p:nvSpPr>
        <p:spPr>
          <a:xfrm>
            <a:off x="512064" y="9601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コードの実行・推定フロー</a:t>
            </a:r>
          </a:p>
        </p:txBody>
      </p:sp>
      <p:sp>
        <p:nvSpPr>
          <p:cNvPr id="6" name="Rounded Rectangle 5"/>
          <p:cNvSpPr/>
          <p:nvPr/>
        </p:nvSpPr>
        <p:spPr>
          <a:xfrm>
            <a:off x="530352"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C++</a:t>
            </a:r>
          </a:p>
        </p:txBody>
      </p:sp>
      <p:sp>
        <p:nvSpPr>
          <p:cNvPr id="7" name="Rounded Rectangle 6"/>
          <p:cNvSpPr/>
          <p:nvPr/>
        </p:nvSpPr>
        <p:spPr>
          <a:xfrm>
            <a:off x="3337560"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compile()/dyn.load()</a:t>
            </a:r>
          </a:p>
        </p:txBody>
      </p:sp>
      <p:sp>
        <p:nvSpPr>
          <p:cNvPr id="8" name="Rounded Rectangle 7"/>
          <p:cNvSpPr/>
          <p:nvPr/>
        </p:nvSpPr>
        <p:spPr>
          <a:xfrm>
            <a:off x="6144768"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MakeADFun()</a:t>
            </a:r>
          </a:p>
        </p:txBody>
      </p:sp>
      <p:sp>
        <p:nvSpPr>
          <p:cNvPr id="9" name="Rounded Rectangle 8"/>
          <p:cNvSpPr/>
          <p:nvPr/>
        </p:nvSpPr>
        <p:spPr>
          <a:xfrm>
            <a:off x="8951976"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optim()</a:t>
            </a:r>
          </a:p>
        </p:txBody>
      </p:sp>
      <p:sp>
        <p:nvSpPr>
          <p:cNvPr id="10" name="TextBox 9"/>
          <p:cNvSpPr txBox="1"/>
          <p:nvPr/>
        </p:nvSpPr>
        <p:spPr>
          <a:xfrm>
            <a:off x="512064" y="27889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モデルとコードの接続</a:t>
            </a:r>
          </a:p>
        </p:txBody>
      </p:sp>
      <p:sp>
        <p:nvSpPr>
          <p:cNvPr id="11" name="TextBox 10"/>
          <p:cNvSpPr txBox="1"/>
          <p:nvPr/>
        </p:nvSpPr>
        <p:spPr>
          <a:xfrm>
            <a:off x="521207" y="3246120"/>
            <a:ext cx="11018520" cy="877824"/>
          </a:xfrm>
          <a:prstGeom prst="rect">
            <a:avLst/>
          </a:prstGeom>
          <a:noFill/>
        </p:spPr>
        <p:txBody>
          <a:bodyPr wrap="square" lIns="82296" tIns="64008" rIns="82296" bIns="18288">
            <a:spAutoFit/>
          </a:bodyPr>
          <a:lstStyle/>
          <a:p>
            <a:pPr>
              <a:spcAft>
                <a:spcPts val="500"/>
              </a:spcAft>
              <a:defRPr sz="1700" b="0">
                <a:solidFill>
                  <a:srgbClr val="242E3C"/>
                </a:solidFill>
                <a:latin typeface="Yu Gothic"/>
              </a:defRPr>
            </a:pPr>
            <a:r>
              <a:t>DATA_* で観測値、PARAMETER* で未知量を宣言。対数尤度を足して最後に -LL を返す。</a:t>
            </a:r>
          </a:p>
        </p:txBody>
      </p:sp>
      <p:sp>
        <p:nvSpPr>
          <p:cNvPr id="12" name="TextBox 11"/>
          <p:cNvSpPr txBox="1"/>
          <p:nvPr/>
        </p:nvSpPr>
        <p:spPr>
          <a:xfrm>
            <a:off x="512064" y="4325112"/>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確認すべき点・読み違えやすい点</a:t>
            </a:r>
          </a:p>
        </p:txBody>
      </p:sp>
      <p:sp>
        <p:nvSpPr>
          <p:cNvPr id="13" name="TextBox 12"/>
          <p:cNvSpPr txBox="1"/>
          <p:nvPr/>
        </p:nvSpPr>
        <p:spPr>
          <a:xfrm>
            <a:off x="521207" y="4754880"/>
            <a:ext cx="11027664" cy="1124712"/>
          </a:xfrm>
          <a:prstGeom prst="rect">
            <a:avLst/>
          </a:prstGeom>
          <a:noFill/>
        </p:spPr>
        <p:txBody>
          <a:bodyPr wrap="square" lIns="82296" tIns="64008" rIns="82296" bIns="18288">
            <a:spAutoFit/>
          </a:bodyPr>
          <a:lstStyle/>
          <a:p>
            <a:pPr>
              <a:spcAft>
                <a:spcPts val="500"/>
              </a:spcAft>
              <a:defRPr sz="1800" b="0">
                <a:solidFill>
                  <a:srgbClr val="242E3C"/>
                </a:solidFill>
                <a:latin typeface="Yu Gothic"/>
              </a:defRPr>
            </a:pPr>
            <a:r>
              <a:t>C++の添字は0開始。random 指定時はランダム効果をラプラス近似で積分。</a:t>
            </a:r>
          </a:p>
        </p:txBody>
      </p:sp>
      <p:sp>
        <p:nvSpPr>
          <p:cNvPr id="14" name="TextBox 13"/>
          <p:cNvSpPr txBox="1"/>
          <p:nvPr/>
        </p:nvSpPr>
        <p:spPr>
          <a:xfrm>
            <a:off x="521207" y="6108192"/>
            <a:ext cx="10881360" cy="228600"/>
          </a:xfrm>
          <a:prstGeom prst="rect">
            <a:avLst/>
          </a:prstGeom>
          <a:noFill/>
        </p:spPr>
        <p:txBody>
          <a:bodyPr wrap="square" lIns="82296" tIns="64008" rIns="82296" bIns="18288">
            <a:spAutoFit/>
          </a:bodyPr>
          <a:lstStyle/>
          <a:p>
            <a:pPr>
              <a:spcAft>
                <a:spcPts val="500"/>
              </a:spcAft>
              <a:defRPr sz="1000" b="0">
                <a:solidFill>
                  <a:srgbClr val="667482"/>
                </a:solidFill>
                <a:latin typeface="Yu Gothic"/>
              </a:defRPr>
            </a:pPr>
            <a:r>
              <a:t>確認：出力の収束・妥当性は実際のR実行後に判断する（本資料で推定値は創作しない）。</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TotalTime>
  <Words>2903</Words>
  <Application>Microsoft Office PowerPoint</Application>
  <PresentationFormat>ワイド画面</PresentationFormat>
  <Paragraphs>367</Paragraphs>
  <Slides>35</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35</vt:i4>
      </vt:variant>
    </vt:vector>
  </HeadingPairs>
  <TitlesOfParts>
    <vt:vector size="41" baseType="lpstr">
      <vt:lpstr>BIZ UDゴシック</vt:lpstr>
      <vt:lpstr>Yu Gothic</vt:lpstr>
      <vt:lpstr>Aptos</vt:lpstr>
      <vt:lpstr>Arial</vt:lpstr>
      <vt:lpstr>Calibri</vt:lpstr>
      <vt:lpstr>Office Theme</vt:lpstr>
      <vt:lpstr>Applied Statistical Modelling for Ecologists  ASME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大下　誠二</dc:creator>
  <cp:keywords/>
  <dc:description>generated using python-pptx</dc:description>
  <cp:lastModifiedBy>大下　誠二</cp:lastModifiedBy>
  <cp:revision>1</cp:revision>
  <dcterms:created xsi:type="dcterms:W3CDTF">2013-01-27T09:14:16Z</dcterms:created>
  <dcterms:modified xsi:type="dcterms:W3CDTF">2026-10-21T02:22:34Z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a7f20da-a1a1-4a35-a6a7-15fbbc2fd93a_Enabled">
    <vt:lpwstr>true</vt:lpwstr>
  </property>
  <property fmtid="{D5CDD505-2E9C-101B-9397-08002B2CF9AE}" pid="3" name="MSIP_Label_2a7f20da-a1a1-4a35-a6a7-15fbbc2fd93a_SetDate">
    <vt:lpwstr>2026-10-21T02:20:06Z</vt:lpwstr>
  </property>
  <property fmtid="{D5CDD505-2E9C-101B-9397-08002B2CF9AE}" pid="4" name="MSIP_Label_2a7f20da-a1a1-4a35-a6a7-15fbbc2fd93a_Method">
    <vt:lpwstr>Standard</vt:lpwstr>
  </property>
  <property fmtid="{D5CDD505-2E9C-101B-9397-08002B2CF9AE}" pid="5" name="MSIP_Label_2a7f20da-a1a1-4a35-a6a7-15fbbc2fd93a_Name">
    <vt:lpwstr>機密性２情報</vt:lpwstr>
  </property>
  <property fmtid="{D5CDD505-2E9C-101B-9397-08002B2CF9AE}" pid="6" name="MSIP_Label_2a7f20da-a1a1-4a35-a6a7-15fbbc2fd93a_SiteId">
    <vt:lpwstr>b4a530b7-04dc-4923-a02e-b4eaa332ba4a</vt:lpwstr>
  </property>
  <property fmtid="{D5CDD505-2E9C-101B-9397-08002B2CF9AE}" pid="7" name="MSIP_Label_2a7f20da-a1a1-4a35-a6a7-15fbbc2fd93a_ActionId">
    <vt:lpwstr>546e81db-16d7-47f2-9ad7-ca056d67447e</vt:lpwstr>
  </property>
  <property fmtid="{D5CDD505-2E9C-101B-9397-08002B2CF9AE}" pid="8" name="MSIP_Label_2a7f20da-a1a1-4a35-a6a7-15fbbc2fd93a_ContentBits">
    <vt:lpwstr>1</vt:lpwstr>
  </property>
  <property fmtid="{D5CDD505-2E9C-101B-9397-08002B2CF9AE}" pid="9" name="MSIP_Label_2a7f20da-a1a1-4a35-a6a7-15fbbc2fd93a_Tag">
    <vt:lpwstr>10, 3, 0, 1</vt:lpwstr>
  </property>
  <property fmtid="{D5CDD505-2E9C-101B-9397-08002B2CF9AE}" pid="10" name="ClassificationContentMarkingHeaderLocations">
    <vt:lpwstr>Office Theme:8</vt:lpwstr>
  </property>
  <property fmtid="{D5CDD505-2E9C-101B-9397-08002B2CF9AE}" pid="11" name="ClassificationContentMarkingHeaderText">
    <vt:lpwstr>【機密性2情報】</vt:lpwstr>
  </property>
</Properties>
</file>