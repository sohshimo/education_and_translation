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67" r:id="rId3"/>
    <p:sldId id="256" r:id="rId4"/>
    <p:sldId id="257" r:id="rId5"/>
    <p:sldId id="258" r:id="rId6"/>
    <p:sldId id="259" r:id="rId7"/>
    <p:sldId id="260" r:id="rId8"/>
    <p:sldId id="261" r:id="rId9"/>
    <p:sldId id="262" r:id="rId10"/>
    <p:sldId id="263" r:id="rId11"/>
    <p:sldId id="264" r:id="rId12"/>
    <p:sldId id="265"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CC83A5-CCCB-4BC3-AC05-E6E85D8C4ECF}" v="2" dt="2026-10-22T05:45:11.7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mod addSld modSld sldOrd modMainMaster">
      <pc:chgData name="大下　誠二" userId="e5774685-19fa-48b9-bec1-68eebf9ac578" providerId="ADAL" clId="{CDBA04F6-D5A6-4F8F-A920-1860374E7F12}" dt="2026-10-22T05:45:11.783" v="7"/>
      <pc:docMkLst>
        <pc:docMk/>
      </pc:docMkLst>
      <pc:sldChg chg="ord">
        <pc:chgData name="大下　誠二" userId="e5774685-19fa-48b9-bec1-68eebf9ac578" providerId="ADAL" clId="{CDBA04F6-D5A6-4F8F-A920-1860374E7F12}" dt="2026-10-22T05:44:10.809" v="2"/>
        <pc:sldMkLst>
          <pc:docMk/>
          <pc:sldMk cId="0" sldId="256"/>
        </pc:sldMkLst>
      </pc:sldChg>
      <pc:sldChg chg="modSp add mod">
        <pc:chgData name="大下　誠二" userId="e5774685-19fa-48b9-bec1-68eebf9ac578" providerId="ADAL" clId="{CDBA04F6-D5A6-4F8F-A920-1860374E7F12}" dt="2026-10-22T05:44:15.669" v="3" actId="20577"/>
        <pc:sldMkLst>
          <pc:docMk/>
          <pc:sldMk cId="1006064969" sldId="266"/>
        </pc:sldMkLst>
        <pc:spChg chg="mod">
          <ac:chgData name="大下　誠二" userId="e5774685-19fa-48b9-bec1-68eebf9ac578" providerId="ADAL" clId="{CDBA04F6-D5A6-4F8F-A920-1860374E7F12}" dt="2026-10-22T05:44:15.669" v="3" actId="20577"/>
          <ac:spMkLst>
            <pc:docMk/>
            <pc:sldMk cId="1006064969" sldId="266"/>
            <ac:spMk id="3" creationId="{0EC5D841-2E60-B1EB-3102-76804FA3912E}"/>
          </ac:spMkLst>
        </pc:spChg>
      </pc:sldChg>
      <pc:sldChg chg="addSp add mod">
        <pc:chgData name="大下　誠二" userId="e5774685-19fa-48b9-bec1-68eebf9ac578" providerId="ADAL" clId="{CDBA04F6-D5A6-4F8F-A920-1860374E7F12}" dt="2026-10-22T05:44:32.387" v="6" actId="22"/>
        <pc:sldMkLst>
          <pc:docMk/>
          <pc:sldMk cId="2683881835" sldId="267"/>
        </pc:sldMkLst>
        <pc:picChg chg="add">
          <ac:chgData name="大下　誠二" userId="e5774685-19fa-48b9-bec1-68eebf9ac578" providerId="ADAL" clId="{CDBA04F6-D5A6-4F8F-A920-1860374E7F12}" dt="2026-10-22T05:44:32.387" v="6" actId="22"/>
          <ac:picMkLst>
            <pc:docMk/>
            <pc:sldMk cId="2683881835" sldId="267"/>
            <ac:picMk id="5" creationId="{8E506E1F-6514-E709-28C9-A70399D06703}"/>
          </ac:picMkLst>
        </pc:picChg>
      </pc:sldChg>
      <pc:sldChg chg="add">
        <pc:chgData name="大下　誠二" userId="e5774685-19fa-48b9-bec1-68eebf9ac578" providerId="ADAL" clId="{CDBA04F6-D5A6-4F8F-A920-1860374E7F12}" dt="2026-10-22T05:45:11.783" v="7"/>
        <pc:sldMkLst>
          <pc:docMk/>
          <pc:sldMk cId="0" sldId="268"/>
        </pc:sldMkLst>
      </pc:sldChg>
      <pc:sldChg chg="add">
        <pc:chgData name="大下　誠二" userId="e5774685-19fa-48b9-bec1-68eebf9ac578" providerId="ADAL" clId="{CDBA04F6-D5A6-4F8F-A920-1860374E7F12}" dt="2026-10-22T05:45:11.783" v="7"/>
        <pc:sldMkLst>
          <pc:docMk/>
          <pc:sldMk cId="0" sldId="269"/>
        </pc:sldMkLst>
      </pc:sldChg>
      <pc:sldChg chg="add">
        <pc:chgData name="大下　誠二" userId="e5774685-19fa-48b9-bec1-68eebf9ac578" providerId="ADAL" clId="{CDBA04F6-D5A6-4F8F-A920-1860374E7F12}" dt="2026-10-22T05:45:11.783" v="7"/>
        <pc:sldMkLst>
          <pc:docMk/>
          <pc:sldMk cId="0" sldId="270"/>
        </pc:sldMkLst>
      </pc:sldChg>
      <pc:sldChg chg="add">
        <pc:chgData name="大下　誠二" userId="e5774685-19fa-48b9-bec1-68eebf9ac578" providerId="ADAL" clId="{CDBA04F6-D5A6-4F8F-A920-1860374E7F12}" dt="2026-10-22T05:45:11.783" v="7"/>
        <pc:sldMkLst>
          <pc:docMk/>
          <pc:sldMk cId="0" sldId="271"/>
        </pc:sldMkLst>
      </pc:sldChg>
      <pc:sldChg chg="add">
        <pc:chgData name="大下　誠二" userId="e5774685-19fa-48b9-bec1-68eebf9ac578" providerId="ADAL" clId="{CDBA04F6-D5A6-4F8F-A920-1860374E7F12}" dt="2026-10-22T05:45:11.783" v="7"/>
        <pc:sldMkLst>
          <pc:docMk/>
          <pc:sldMk cId="0" sldId="272"/>
        </pc:sldMkLst>
      </pc:sldChg>
      <pc:sldChg chg="add">
        <pc:chgData name="大下　誠二" userId="e5774685-19fa-48b9-bec1-68eebf9ac578" providerId="ADAL" clId="{CDBA04F6-D5A6-4F8F-A920-1860374E7F12}" dt="2026-10-22T05:45:11.783" v="7"/>
        <pc:sldMkLst>
          <pc:docMk/>
          <pc:sldMk cId="0" sldId="273"/>
        </pc:sldMkLst>
      </pc:sldChg>
      <pc:sldChg chg="add">
        <pc:chgData name="大下　誠二" userId="e5774685-19fa-48b9-bec1-68eebf9ac578" providerId="ADAL" clId="{CDBA04F6-D5A6-4F8F-A920-1860374E7F12}" dt="2026-10-22T05:45:11.783" v="7"/>
        <pc:sldMkLst>
          <pc:docMk/>
          <pc:sldMk cId="0" sldId="274"/>
        </pc:sldMkLst>
      </pc:sldChg>
      <pc:sldChg chg="add">
        <pc:chgData name="大下　誠二" userId="e5774685-19fa-48b9-bec1-68eebf9ac578" providerId="ADAL" clId="{CDBA04F6-D5A6-4F8F-A920-1860374E7F12}" dt="2026-10-22T05:45:11.783" v="7"/>
        <pc:sldMkLst>
          <pc:docMk/>
          <pc:sldMk cId="0" sldId="275"/>
        </pc:sldMkLst>
      </pc:sldChg>
      <pc:sldChg chg="add">
        <pc:chgData name="大下　誠二" userId="e5774685-19fa-48b9-bec1-68eebf9ac578" providerId="ADAL" clId="{CDBA04F6-D5A6-4F8F-A920-1860374E7F12}" dt="2026-10-22T05:45:11.783" v="7"/>
        <pc:sldMkLst>
          <pc:docMk/>
          <pc:sldMk cId="0" sldId="276"/>
        </pc:sldMkLst>
      </pc:sldChg>
      <pc:sldChg chg="add">
        <pc:chgData name="大下　誠二" userId="e5774685-19fa-48b9-bec1-68eebf9ac578" providerId="ADAL" clId="{CDBA04F6-D5A6-4F8F-A920-1860374E7F12}" dt="2026-10-22T05:45:11.783" v="7"/>
        <pc:sldMkLst>
          <pc:docMk/>
          <pc:sldMk cId="0" sldId="277"/>
        </pc:sldMkLst>
      </pc:sldChg>
      <pc:sldChg chg="add">
        <pc:chgData name="大下　誠二" userId="e5774685-19fa-48b9-bec1-68eebf9ac578" providerId="ADAL" clId="{CDBA04F6-D5A6-4F8F-A920-1860374E7F12}" dt="2026-10-22T05:45:11.783" v="7"/>
        <pc:sldMkLst>
          <pc:docMk/>
          <pc:sldMk cId="0" sldId="278"/>
        </pc:sldMkLst>
      </pc:sldChg>
      <pc:sldMasterChg chg="addSp mod">
        <pc:chgData name="大下　誠二" userId="e5774685-19fa-48b9-bec1-68eebf9ac578" providerId="ADAL" clId="{CDBA04F6-D5A6-4F8F-A920-1860374E7F12}" dt="2026-10-22T05:44:17.668" v="4" actId="33475"/>
        <pc:sldMasterMkLst>
          <pc:docMk/>
          <pc:sldMasterMk cId="2209977519" sldId="2147483648"/>
        </pc:sldMasterMkLst>
        <pc:spChg chg="add">
          <ac:chgData name="大下　誠二" userId="e5774685-19fa-48b9-bec1-68eebf9ac578" providerId="ADAL" clId="{CDBA04F6-D5A6-4F8F-A920-1860374E7F12}" dt="2026-10-22T05:44:17.668" v="4" actId="33475"/>
          <ac:spMkLst>
            <pc:docMk/>
            <pc:sldMasterMk cId="2209977519" sldId="2147483648"/>
            <ac:spMk id="8" creationId="{060673DF-7ADE-AF94-D608-EFFB83CA4949}"/>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060673DF-7ADE-AF94-D608-EFFB83CA4949}"/>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13</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8E506E1F-6514-E709-28C9-A70399D06703}"/>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13.1  Introduction｜はじめに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ポアソン回帰に連続変数とカテゴリ変数を同時に含め、さらに両者の交互作用を導入する。構造は第9章の正規応答のANCOVAモデルに対応し、応答が計数であることからポアソン分布と対数リンクを使用する。</a:t>
            </a:r>
          </a:p>
          <a:p>
            <a:pPr>
              <a:lnSpc>
                <a:spcPct val="118000"/>
              </a:lnSpc>
              <a:spcAft>
                <a:spcPts val="1200"/>
              </a:spcAft>
            </a:pPr>
            <a:r>
              <a:rPr sz="1680">
                <a:solidFill>
                  <a:srgbClr val="222A35"/>
                </a:solidFill>
                <a:latin typeface="Yu Gothic"/>
              </a:rPr>
              <a:t>• 例は3山域のトンボに付着したダニの個体数であり、翅長と山域、翅長×山域の交互作用が寄生ダニ数へ与える影響を表す。</a:t>
            </a:r>
          </a:p>
          <a:p>
            <a:pPr>
              <a:lnSpc>
                <a:spcPct val="118000"/>
              </a:lnSpc>
              <a:spcAft>
                <a:spcPts val="1200"/>
              </a:spcAft>
            </a:pPr>
            <a:r>
              <a:rPr sz="1680">
                <a:solidFill>
                  <a:srgbClr val="222A35"/>
                </a:solidFill>
                <a:latin typeface="Yu Gothic"/>
              </a:rPr>
              <a:t>• 3地域のトンボにおけるダニの付着数は非負整数の計数であるため、正規線形モデルと異なりPoisson(λ)を観測分布とする。地域別の変化を対数期待計数上の交互作用で表す。</a:t>
            </a:r>
          </a:p>
          <a:p>
            <a:pPr>
              <a:lnSpc>
                <a:spcPct val="118000"/>
              </a:lnSpc>
              <a:spcAft>
                <a:spcPts val="1200"/>
              </a:spcAft>
            </a:pPr>
            <a:r>
              <a:rPr sz="1680">
                <a:solidFill>
                  <a:srgbClr val="222A35"/>
                </a:solidFill>
                <a:latin typeface="Yu Gothic"/>
              </a:rPr>
              <a:t>• 交互作用があれば、翅長が1単位大きくなったときの期待寄生数の倍率exp(β)が地域で異なる。元の計数尺度では回帰曲線が非平行になる。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13  |  01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13.2  Data generation｜データ生成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3山域から各100個体、計300個体を想定する。山域別の基準切片と翅長の効果、交互作用を指定し、線形予測子ηからλ=exp(η)を計算してポアソン計数を生成する。</a:t>
            </a:r>
          </a:p>
          <a:p>
            <a:pPr>
              <a:lnSpc>
                <a:spcPct val="118000"/>
              </a:lnSpc>
              <a:spcAft>
                <a:spcPts val="1200"/>
              </a:spcAft>
            </a:pPr>
            <a:r>
              <a:rPr sz="1680">
                <a:solidFill>
                  <a:srgbClr val="222A35"/>
                </a:solidFill>
                <a:latin typeface="Yu Gothic"/>
              </a:rPr>
              <a:t>• 図13.2では翅長と寄生ダニ数の関係が山域によって異なる。山域の違いは一定の上乗せだけでなく、翅長の増加に伴う期待計数の変化の仕方にも現れる。</a:t>
            </a:r>
          </a:p>
          <a:p>
            <a:pPr>
              <a:lnSpc>
                <a:spcPct val="118000"/>
              </a:lnSpc>
              <a:spcAft>
                <a:spcPts val="1200"/>
              </a:spcAft>
            </a:pPr>
            <a:r>
              <a:rPr sz="1680">
                <a:solidFill>
                  <a:srgbClr val="222A35"/>
                </a:solidFill>
                <a:latin typeface="Yu Gothic"/>
              </a:rPr>
              <a:t>• 原著は3集団×100個体の300観測を用い、設計行列と係数ベクトルの積で線形予測子を作る。そこで指数変換して期待計数λを計算し、最後にポアソン乱数を加えて実現データを得る。</a:t>
            </a:r>
          </a:p>
          <a:p>
            <a:pPr>
              <a:lnSpc>
                <a:spcPct val="118000"/>
              </a:lnSpc>
              <a:spcAft>
                <a:spcPts val="1200"/>
              </a:spcAft>
            </a:pPr>
            <a:r>
              <a:rPr sz="1680">
                <a:solidFill>
                  <a:srgbClr val="222A35"/>
                </a:solidFill>
                <a:latin typeface="Yu Gothic"/>
              </a:rPr>
              <a:t>• 図13.2の散布図では、山域によって翅長に対する寄生数の変化方向・変化率が違う。小さな計数が多数ありながら大きな計数も現れる点も、単純な正規応答とは異なる。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13  |  02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13.3  Likelihood analysis with canned functions in R｜Rの既成関数による尤度解析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Poisson(log)のGLMに山域・翅長・交互作用を入れる。回帰係数は対数期待計数に作用するため、効果を元の計数尺度で解釈する場合は指数変換を行う。</a:t>
            </a:r>
          </a:p>
          <a:p>
            <a:pPr>
              <a:lnSpc>
                <a:spcPct val="118000"/>
              </a:lnSpc>
              <a:spcAft>
                <a:spcPts val="1200"/>
              </a:spcAft>
            </a:pPr>
            <a:r>
              <a:rPr sz="1680">
                <a:solidFill>
                  <a:srgbClr val="222A35"/>
                </a:solidFill>
                <a:latin typeface="Yu Gothic"/>
              </a:rPr>
              <a:t>• 原著の結果では山域ごとの翅長の効果が大きく異なり、単一の共通傾きを仮定するモデルでは不十分となる。通常の残差に加え、DHARMaの分位残差を確認する。</a:t>
            </a:r>
          </a:p>
          <a:p>
            <a:pPr>
              <a:lnSpc>
                <a:spcPct val="118000"/>
              </a:lnSpc>
              <a:spcAft>
                <a:spcPts val="1200"/>
              </a:spcAft>
            </a:pPr>
            <a:r>
              <a:rPr sz="1680">
                <a:solidFill>
                  <a:srgbClr val="222A35"/>
                </a:solidFill>
                <a:latin typeface="Yu Gothic"/>
              </a:rPr>
              <a:t>• 原著のRモデルでは基準山域の係数に、地域の切片差と翅長の傾き差を加える効果母数化を用いる。地域ごとの直線を記述する平均値母数化とは、予測として同じモデルを別の係数体系で表している。</a:t>
            </a:r>
          </a:p>
          <a:p>
            <a:pPr>
              <a:lnSpc>
                <a:spcPct val="118000"/>
              </a:lnSpc>
              <a:spcAft>
                <a:spcPts val="1200"/>
              </a:spcAft>
            </a:pPr>
            <a:r>
              <a:rPr sz="1680">
                <a:solidFill>
                  <a:srgbClr val="222A35"/>
                </a:solidFill>
                <a:latin typeface="Yu Gothic"/>
              </a:rPr>
              <a:t>• モデルの妥当性は係数の有意性だけから決めず、観測計数とモデル予測の一致や、DHARMaのシミュレーション残差を用いて確かめる。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13  |  03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13.4  Bayesian analysis with JAGS｜JAGSによるベイズ解析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13.4.1では山域ごとに切片αⱼ、傾きβⱼを定める平均値母数化を用いる。log(λᵢ)=αⱼ₍ᵢ₎+βⱼ₍ᵢ₎wing_lengthᵢ とし、観測ダニ数はPoisson(λᵢ)とする。</a:t>
            </a:r>
          </a:p>
          <a:p>
            <a:pPr>
              <a:lnSpc>
                <a:spcPct val="118000"/>
              </a:lnSpc>
              <a:spcAft>
                <a:spcPts val="1200"/>
              </a:spcAft>
            </a:pPr>
            <a:r>
              <a:rPr sz="1540">
                <a:solidFill>
                  <a:srgbClr val="222A35"/>
                </a:solidFill>
                <a:latin typeface="Yu Gothic"/>
              </a:rPr>
              <a:t>• 原著は山域間の切片差・傾き差を導出パラメータとして求め、3地域の係数を比較する。推定値はRのGLMと概ね整合する。</a:t>
            </a:r>
          </a:p>
          <a:p>
            <a:pPr>
              <a:lnSpc>
                <a:spcPct val="118000"/>
              </a:lnSpc>
              <a:spcAft>
                <a:spcPts val="1200"/>
              </a:spcAft>
            </a:pPr>
            <a:r>
              <a:rPr sz="1540">
                <a:solidFill>
                  <a:srgbClr val="222A35"/>
                </a:solidFill>
                <a:latin typeface="Yu Gothic"/>
              </a:rPr>
              <a:t>• 13.4.2では翅長の範囲にわたって各山域の予測λを計算し、事後平均と95%信用区間を描く。図13.3の非平行な曲線は交互作用を計数尺度で示す。</a:t>
            </a:r>
          </a:p>
          <a:p>
            <a:pPr>
              <a:lnSpc>
                <a:spcPct val="118000"/>
              </a:lnSpc>
              <a:spcAft>
                <a:spcPts val="1200"/>
              </a:spcAft>
            </a:pPr>
            <a:r>
              <a:rPr sz="1540">
                <a:solidFill>
                  <a:srgbClr val="222A35"/>
                </a:solidFill>
                <a:latin typeface="Yu Gothic"/>
              </a:rPr>
              <a:t>• 13.4.1ではα₁,α₂,α₃とβ₁,β₂,β₃を直接推定し、地域間の係数差を事後計算する。これにより、基準水準の取り方に依存せず地域別の予測式を示しやすくなる。</a:t>
            </a:r>
          </a:p>
          <a:p>
            <a:pPr>
              <a:lnSpc>
                <a:spcPct val="118000"/>
              </a:lnSpc>
              <a:spcAft>
                <a:spcPts val="1200"/>
              </a:spcAft>
            </a:pPr>
            <a:r>
              <a:rPr sz="1540">
                <a:solidFill>
                  <a:srgbClr val="222A35"/>
                </a:solidFill>
                <a:latin typeface="Yu Gothic"/>
              </a:rPr>
              <a:t>• 13.4.2の図13.3では翅長に対する期待寄生数の曲線に95%信用区間を付ける。信用区間は線形予測子を指数変換した先の計数尺度に描き、地域間の変化の違いを示す。</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13  |  04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13.5  Bayesian analysis with NIMBLE｜NIMBLEによるベイズ解析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JAGSと同じ確率モデルをNIMBLEに実装したコードを、書籍の付属Webサイトで提供する。</a:t>
            </a:r>
          </a:p>
          <a:p>
            <a:pPr>
              <a:lnSpc>
                <a:spcPct val="118000"/>
              </a:lnSpc>
              <a:spcAft>
                <a:spcPts val="1200"/>
              </a:spcAft>
            </a:pPr>
            <a:r>
              <a:rPr sz="1680">
                <a:solidFill>
                  <a:srgbClr val="222A35"/>
                </a:solidFill>
                <a:latin typeface="Yu Gothic"/>
              </a:rPr>
              <a:t>• 係数推定と地域間対比の意味は変わらず、ソフトウェア間の推定値の整合性を確かめる。</a:t>
            </a:r>
          </a:p>
          <a:p>
            <a:pPr>
              <a:lnSpc>
                <a:spcPct val="118000"/>
              </a:lnSpc>
              <a:spcAft>
                <a:spcPts val="1200"/>
              </a:spcAft>
            </a:pPr>
            <a:r>
              <a:rPr sz="1680">
                <a:solidFill>
                  <a:srgbClr val="222A35"/>
                </a:solidFill>
                <a:latin typeface="Yu Gothic"/>
              </a:rPr>
              <a:t>• 原著のNIMBLEモデルコードは本書の補助ウェブサイトに掲載され、本文では同じポアソン回帰の枠組みを採用する点が示されている。</a:t>
            </a:r>
          </a:p>
          <a:p>
            <a:pPr>
              <a:lnSpc>
                <a:spcPct val="118000"/>
              </a:lnSpc>
              <a:spcAft>
                <a:spcPts val="1200"/>
              </a:spcAft>
            </a:pPr>
            <a:r>
              <a:rPr sz="1680">
                <a:solidFill>
                  <a:srgbClr val="222A35"/>
                </a:solidFill>
                <a:latin typeface="Yu Gothic"/>
              </a:rPr>
              <a:t>• 本節から新しい独自の推定値を作るのではなく、平均値母数化での地域別切片・傾きおよび地域差が他手法と同じ意味を持つことを確認する。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13  |  05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13.6  Bayesian analysis with Stan｜Stanによるベイズ解析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Stanも山域別の切片と傾きを推定し、生成量として切片差・傾き差を計算する。</a:t>
            </a:r>
          </a:p>
          <a:p>
            <a:pPr>
              <a:lnSpc>
                <a:spcPct val="118000"/>
              </a:lnSpc>
              <a:spcAft>
                <a:spcPts val="1200"/>
              </a:spcAft>
            </a:pPr>
            <a:r>
              <a:rPr sz="1680">
                <a:solidFill>
                  <a:srgbClr val="222A35"/>
                </a:solidFill>
                <a:latin typeface="Yu Gothic"/>
              </a:rPr>
              <a:t>• ポアソン分布の期待値λはexp(αⱼ+βⱼx)であり、推定対象となる尺度と予測する計数尺度を区別することが重要である。</a:t>
            </a:r>
          </a:p>
          <a:p>
            <a:pPr>
              <a:lnSpc>
                <a:spcPct val="118000"/>
              </a:lnSpc>
              <a:spcAft>
                <a:spcPts val="1200"/>
              </a:spcAft>
            </a:pPr>
            <a:r>
              <a:rPr sz="1680">
                <a:solidFill>
                  <a:srgbClr val="222A35"/>
                </a:solidFill>
                <a:latin typeface="Yu Gothic"/>
              </a:rPr>
              <a:t>• Stanでも地域ごとの平均値母数化を行い、線形予測子を指数変換した値をポアソン平均として使う。地域間の切片差と傾き差は生成量として定義できる。</a:t>
            </a:r>
          </a:p>
          <a:p>
            <a:pPr>
              <a:lnSpc>
                <a:spcPct val="118000"/>
              </a:lnSpc>
              <a:spcAft>
                <a:spcPts val="1200"/>
              </a:spcAft>
            </a:pPr>
            <a:r>
              <a:rPr sz="1680">
                <a:solidFill>
                  <a:srgbClr val="222A35"/>
                </a:solidFill>
                <a:latin typeface="Yu Gothic"/>
              </a:rPr>
              <a:t>• 原著はJAGS、NIMBLE、Stanを並行して示すことで、モデルを説明する数式とプログラムの指定が対応していることを示している。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13  |  06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13.7  Do-it-yourself maximum likelihood estimates｜自作の最尤推定</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設計行列Xと係数ベクトルからη=Xβを計算し、λ=exp(Xβ)を得る。各観測のポアソン対数確率を合計した負の対数尤度を最小化する。</a:t>
            </a:r>
          </a:p>
          <a:p>
            <a:pPr>
              <a:lnSpc>
                <a:spcPct val="118000"/>
              </a:lnSpc>
              <a:spcAft>
                <a:spcPts val="1200"/>
              </a:spcAft>
            </a:pPr>
            <a:r>
              <a:rPr sz="1680">
                <a:solidFill>
                  <a:srgbClr val="222A35"/>
                </a:solidFill>
                <a:latin typeface="Yu Gothic"/>
              </a:rPr>
              <a:t>• 第11章の最尤関数と本質的に同じであり、説明変数が増えても線形予測子を設計行列で表せば統一的に扱える。</a:t>
            </a:r>
          </a:p>
          <a:p>
            <a:pPr>
              <a:lnSpc>
                <a:spcPct val="118000"/>
              </a:lnSpc>
              <a:spcAft>
                <a:spcPts val="1200"/>
              </a:spcAft>
            </a:pPr>
            <a:r>
              <a:rPr sz="1680">
                <a:solidFill>
                  <a:srgbClr val="222A35"/>
                </a:solidFill>
                <a:latin typeface="Yu Gothic"/>
              </a:rPr>
              <a:t>• DIY最尤法は、既製GLMと同じ確率質量関数を用いつつ、説明変数が増えても設計行列によるη=Xβの表現で一括計算できる。</a:t>
            </a:r>
          </a:p>
          <a:p>
            <a:pPr>
              <a:lnSpc>
                <a:spcPct val="118000"/>
              </a:lnSpc>
              <a:spcAft>
                <a:spcPts val="1200"/>
              </a:spcAft>
            </a:pPr>
            <a:r>
              <a:rPr sz="1680">
                <a:solidFill>
                  <a:srgbClr val="222A35"/>
                </a:solidFill>
                <a:latin typeface="Yu Gothic"/>
              </a:rPr>
              <a:t>• 原著では各観測の対数ポアソン確率を合計し、その負値を最小化する。これは線形回帰からポアソン回帰へ移る際に変わる部分が、主として分布と逆リンクであることを示す。</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13  |  07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13.8  Likelihood analysis with TMB｜TMBによる尤度解析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TMBでも山域ごとの切片・傾きからλを作り、ポアソン対数尤度を足し合わせる。</a:t>
            </a:r>
          </a:p>
          <a:p>
            <a:pPr>
              <a:lnSpc>
                <a:spcPct val="118000"/>
              </a:lnSpc>
              <a:spcAft>
                <a:spcPts val="1200"/>
              </a:spcAft>
            </a:pPr>
            <a:r>
              <a:rPr sz="1680">
                <a:solidFill>
                  <a:srgbClr val="222A35"/>
                </a:solidFill>
                <a:latin typeface="Yu Gothic"/>
              </a:rPr>
              <a:t>• 山域差については導出パラメータをADREPORTで報告し、差の標準誤差もあわせて推定する。</a:t>
            </a:r>
          </a:p>
          <a:p>
            <a:pPr>
              <a:lnSpc>
                <a:spcPct val="118000"/>
              </a:lnSpc>
              <a:spcAft>
                <a:spcPts val="1200"/>
              </a:spcAft>
            </a:pPr>
            <a:r>
              <a:rPr sz="1680">
                <a:solidFill>
                  <a:srgbClr val="222A35"/>
                </a:solidFill>
                <a:latin typeface="Yu Gothic"/>
              </a:rPr>
              <a:t>• TMBでは山域ごとの切片と傾きを指定し、C++側でポアソン尤度を積み上げる。独自の数値積分を行う混合モデルではなく、固定効果だけの回帰である。</a:t>
            </a:r>
          </a:p>
          <a:p>
            <a:pPr>
              <a:lnSpc>
                <a:spcPct val="118000"/>
              </a:lnSpc>
              <a:spcAft>
                <a:spcPts val="1200"/>
              </a:spcAft>
            </a:pPr>
            <a:r>
              <a:rPr sz="1680">
                <a:solidFill>
                  <a:srgbClr val="222A35"/>
                </a:solidFill>
                <a:latin typeface="Yu Gothic"/>
              </a:rPr>
              <a:t>• ADREPORTによる地域間対比は、係数の推定値だけでなく、その差の不確実性を得るために用いられる。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13  |  08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13.9  Comparison of the parameter estimates｜推定値の比較</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RのGLM、JAGS、NIMBLE、Stan、DIY、TMBの係数は全体としてよく一致している。</a:t>
            </a:r>
          </a:p>
          <a:p>
            <a:pPr>
              <a:lnSpc>
                <a:spcPct val="118000"/>
              </a:lnSpc>
              <a:spcAft>
                <a:spcPts val="1200"/>
              </a:spcAft>
            </a:pPr>
            <a:r>
              <a:rPr sz="1680">
                <a:solidFill>
                  <a:srgbClr val="222A35"/>
                </a:solidFill>
                <a:latin typeface="Yu Gothic"/>
              </a:rPr>
              <a:t>• 同じデータに同じ確率モデルを適用していることが、異なる推定エンジンでも整合した結果が得られる理由である。</a:t>
            </a:r>
          </a:p>
          <a:p>
            <a:pPr>
              <a:lnSpc>
                <a:spcPct val="118000"/>
              </a:lnSpc>
              <a:spcAft>
                <a:spcPts val="1200"/>
              </a:spcAft>
            </a:pPr>
            <a:r>
              <a:rPr sz="1680">
                <a:solidFill>
                  <a:srgbClr val="222A35"/>
                </a:solidFill>
                <a:latin typeface="Yu Gothic"/>
              </a:rPr>
              <a:t>• 原著の総合表では6つのエンジンがほぼ同じ係数を返す。例えば基準切片は約−1.86、山域別の傾きは相互に大きく異なり、同じ確率モデルなら推定方法が違っても結果は揃う。</a:t>
            </a:r>
          </a:p>
          <a:p>
            <a:pPr>
              <a:lnSpc>
                <a:spcPct val="118000"/>
              </a:lnSpc>
              <a:spcAft>
                <a:spcPts val="1200"/>
              </a:spcAft>
            </a:pPr>
            <a:r>
              <a:rPr sz="1680">
                <a:solidFill>
                  <a:srgbClr val="222A35"/>
                </a:solidFill>
                <a:latin typeface="Yu Gothic"/>
              </a:rPr>
              <a:t>• 推定結果を比較するときは、Rの効果母数化とJAGS等の平均値母数化の係数の並びを揃える。係数の表示形式が異なっても、対応する地域別の期待計数は一致する。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13  |  09 / 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13.10  Summary｜まとめ</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連続変数とカテゴリ変数、交互作用を含むポアソンGLMは、第9章の一般線形モデルを計数応答へ拡張したものである。</a:t>
            </a:r>
          </a:p>
          <a:p>
            <a:pPr>
              <a:lnSpc>
                <a:spcPct val="118000"/>
              </a:lnSpc>
              <a:spcAft>
                <a:spcPts val="1200"/>
              </a:spcAft>
            </a:pPr>
            <a:r>
              <a:rPr sz="1680">
                <a:solidFill>
                  <a:srgbClr val="222A35"/>
                </a:solidFill>
                <a:latin typeface="Yu Gothic"/>
              </a:rPr>
              <a:t>• 次章では山域・集団の係数を独立の固定値として扱うのではなく、共通の分布から生成されるランダム効果として扱う。</a:t>
            </a:r>
          </a:p>
          <a:p>
            <a:pPr>
              <a:lnSpc>
                <a:spcPct val="118000"/>
              </a:lnSpc>
              <a:spcAft>
                <a:spcPts val="1200"/>
              </a:spcAft>
            </a:pPr>
            <a:r>
              <a:rPr sz="1680">
                <a:solidFill>
                  <a:srgbClr val="222A35"/>
                </a:solidFill>
                <a:latin typeface="Yu Gothic"/>
              </a:rPr>
              <a:t>• 本章の重要な拡張は、第9章の連続変数と群との交互作用構造を保ったまま、応答を正規からポアソンへ置き換えた点である。</a:t>
            </a:r>
          </a:p>
          <a:p>
            <a:pPr>
              <a:lnSpc>
                <a:spcPct val="118000"/>
              </a:lnSpc>
              <a:spcAft>
                <a:spcPts val="1200"/>
              </a:spcAft>
            </a:pPr>
            <a:r>
              <a:rPr sz="1680">
                <a:solidFill>
                  <a:srgbClr val="222A35"/>
                </a:solidFill>
                <a:latin typeface="Yu Gothic"/>
              </a:rPr>
              <a:t>• 交互作用を含むポアソンGLMは地域別の期待計数曲線を柔軟に記述できる。次章ではこの地域・集団別の係数を共通分布からのランダム効果として扱う。</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13  |  10 / 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ポアソンGLM：連続×カテゴリ｜まず統計モデルを読む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13  |  原著Rコードに基づく学習資料  |  モデル導入 13.4.1</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loadᵢ~Poisson(λᵢ)</a:t>
            </a:r>
          </a:p>
          <a:p>
            <a:pPr>
              <a:spcAft>
                <a:spcPts val="500"/>
              </a:spcAft>
              <a:defRPr sz="2200" b="1">
                <a:solidFill>
                  <a:srgbClr val="192B45"/>
                </a:solidFill>
                <a:latin typeface="Yu Gothic"/>
              </a:defRPr>
            </a:pPr>
            <a:r>
              <a:t>log λᵢ=α[popᵢ]+β[popᵢ] wing.lengthᵢ</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3集団×100個体。集団別の切片・傾きで寄生虫数を説明。</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中心化された wing.length と予測の指数変換を確認。</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13.4.1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13  |  原著Rコードに基づく学習資料  |  ポアソンGLM：連続×カテゴリ</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019" b="0">
                <a:solidFill>
                  <a:srgbClr val="242E3C"/>
                </a:solidFill>
                <a:latin typeface="Consolas"/>
              </a:defRPr>
            </a:pPr>
            <a:r>
              <a:t>alpha[i] ~ dnorm(0, 0.0001) # Intercepts</a:t>
            </a:r>
          </a:p>
          <a:p>
            <a:pPr>
              <a:spcAft>
                <a:spcPts val="500"/>
              </a:spcAft>
              <a:defRPr sz="1019" b="0">
                <a:solidFill>
                  <a:srgbClr val="242E3C"/>
                </a:solidFill>
                <a:latin typeface="Consolas"/>
              </a:defRPr>
            </a:pPr>
            <a:r>
              <a:t>beta[i] ~ dnorm(0, 0.0001) # Slopes</a:t>
            </a:r>
          </a:p>
          <a:p>
            <a:pPr>
              <a:spcAft>
                <a:spcPts val="500"/>
              </a:spcAft>
              <a:defRPr sz="1019" b="0">
                <a:solidFill>
                  <a:srgbClr val="242E3C"/>
                </a:solidFill>
                <a:latin typeface="Consolas"/>
              </a:defRPr>
            </a:pPr>
            <a:r>
              <a:t>load[i] ~ dpois(lambda[i]) # The response variable (C above)</a:t>
            </a:r>
          </a:p>
          <a:p>
            <a:pPr>
              <a:spcAft>
                <a:spcPts val="500"/>
              </a:spcAft>
              <a:defRPr sz="1019" b="0">
                <a:solidFill>
                  <a:srgbClr val="242E3C"/>
                </a:solidFill>
                <a:latin typeface="Consolas"/>
              </a:defRPr>
            </a:pPr>
            <a:r>
              <a:t>lambda[i] &lt;- exp(alpha[pop[i]] + beta[pop[i]]* wing.length[i])</a:t>
            </a:r>
          </a:p>
          <a:p>
            <a:pPr>
              <a:spcAft>
                <a:spcPts val="500"/>
              </a:spcAft>
              <a:defRPr sz="1019" b="0">
                <a:solidFill>
                  <a:srgbClr val="242E3C"/>
                </a:solidFill>
                <a:latin typeface="Consolas"/>
              </a:defRPr>
            </a:pPr>
            <a:r>
              <a:t>} # Note nested indexing: alpha[pop[i]] and beta[pop[i]]</a:t>
            </a:r>
          </a:p>
          <a:p>
            <a:pPr>
              <a:spcAft>
                <a:spcPts val="500"/>
              </a:spcAft>
              <a:defRPr sz="1019" b="0">
                <a:solidFill>
                  <a:srgbClr val="242E3C"/>
                </a:solidFill>
                <a:latin typeface="Consolas"/>
              </a:defRPr>
            </a:pPr>
            <a:r>
              <a:t>a.effe2 &lt;- alpha[2] - alpha[1] # Intercept Massif Central vs. Pyr.</a:t>
            </a:r>
          </a:p>
          <a:p>
            <a:pPr>
              <a:spcAft>
                <a:spcPts val="500"/>
              </a:spcAft>
              <a:defRPr sz="1019" b="0">
                <a:solidFill>
                  <a:srgbClr val="242E3C"/>
                </a:solidFill>
                <a:latin typeface="Consolas"/>
              </a:defRPr>
            </a:pPr>
            <a:r>
              <a:t>b.effe2 &lt;- beta[2] - beta[1] # Slope Massif Central vs. Pyr.</a:t>
            </a:r>
          </a:p>
          <a:p>
            <a:pPr>
              <a:spcAft>
                <a:spcPts val="500"/>
              </a:spcAft>
              <a:defRPr sz="1019" b="0">
                <a:solidFill>
                  <a:srgbClr val="242E3C"/>
                </a:solidFill>
                <a:latin typeface="Consolas"/>
              </a:defRPr>
            </a:pPr>
            <a:r>
              <a:t>params &lt;- c("alpha", "beta", "a.effe2", "a.effe3", "b.effe2", "b.effe3", "test1")</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生成後の MCMC サンプルから各集団の λ を予測し、信用区間を構築。</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13.4.1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13  |  原著Rコードに基づく学習資料  |  ポアソンGLM：連続×カテゴリ</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生成後の MCMC サンプルから各集団の λ を予測し、信用区間を構築。</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13.5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13  |  原著Rコードに基づく学習資料  |  ポアソンGLM：連続×カテゴリ</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alpha[i] ~ dnorm(0, sd = 100)  # Intercepts</a:t>
            </a:r>
          </a:p>
          <a:p>
            <a:pPr>
              <a:spcAft>
                <a:spcPts val="500"/>
              </a:spcAft>
              <a:defRPr sz="1200" b="0">
                <a:solidFill>
                  <a:srgbClr val="242E3C"/>
                </a:solidFill>
                <a:latin typeface="Consolas"/>
              </a:defRPr>
            </a:pPr>
            <a:r>
              <a:t>beta[i] ~ dnorm(0, sd = 100)   # Slopes</a:t>
            </a:r>
          </a:p>
          <a:p>
            <a:pPr>
              <a:spcAft>
                <a:spcPts val="500"/>
              </a:spcAft>
              <a:defRPr sz="1200" b="0">
                <a:solidFill>
                  <a:srgbClr val="242E3C"/>
                </a:solidFill>
                <a:latin typeface="Consolas"/>
              </a:defRPr>
            </a:pPr>
            <a:r>
              <a:t>load[i] ~ dpois(lambda[i])     # The response variable</a:t>
            </a:r>
          </a:p>
          <a:p>
            <a:pPr>
              <a:spcAft>
                <a:spcPts val="500"/>
              </a:spcAft>
              <a:defRPr sz="1200" b="0">
                <a:solidFill>
                  <a:srgbClr val="242E3C"/>
                </a:solidFill>
                <a:latin typeface="Consolas"/>
              </a:defRPr>
            </a:pPr>
            <a:r>
              <a:t>lambda[i] &lt;- exp(alpha[pop[i]] + beta[pop[i]]* wing.length[i])</a:t>
            </a:r>
          </a:p>
          <a:p>
            <a:pPr>
              <a:spcAft>
                <a:spcPts val="500"/>
              </a:spcAft>
              <a:defRPr sz="1200" b="0">
                <a:solidFill>
                  <a:srgbClr val="242E3C"/>
                </a:solidFill>
                <a:latin typeface="Consolas"/>
              </a:defRPr>
            </a:pPr>
            <a:r>
              <a:t>}   # Note nested indexing: alpha[pop[i]] and beta[pop[i]]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13.5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13  |  原著Rコードに基づく学習資料  |  ポアソンGLM：連続×カテゴリ</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13.6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13  |  原著Rコードに基づく学習資料  |  ポアソンGLM：連続×カテゴリ</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 {</a:t>
            </a:r>
          </a:p>
          <a:p>
            <a:pPr>
              <a:spcAft>
                <a:spcPts val="500"/>
              </a:spcAft>
              <a:defRPr sz="1200" b="0">
                <a:solidFill>
                  <a:srgbClr val="242E3C"/>
                </a:solidFill>
                <a:latin typeface="Consolas"/>
              </a:defRPr>
            </a:pPr>
            <a:r>
              <a:t>parameters {</a:t>
            </a:r>
          </a:p>
          <a:p>
            <a:pPr>
              <a:spcAft>
                <a:spcPts val="500"/>
              </a:spcAft>
              <a:defRPr sz="1200" b="0">
                <a:solidFill>
                  <a:srgbClr val="242E3C"/>
                </a:solidFill>
                <a:latin typeface="Consolas"/>
              </a:defRPr>
            </a:pPr>
            <a:r>
              <a:t>model {</a:t>
            </a:r>
          </a:p>
          <a:p>
            <a:pPr>
              <a:spcAft>
                <a:spcPts val="500"/>
              </a:spcAft>
              <a:defRPr sz="1200" b="0">
                <a:solidFill>
                  <a:srgbClr val="242E3C"/>
                </a:solidFill>
                <a:latin typeface="Consolas"/>
              </a:defRPr>
            </a:pPr>
            <a:r>
              <a:t>alpha[i] ~ normal(0, 100);</a:t>
            </a:r>
          </a:p>
          <a:p>
            <a:pPr>
              <a:spcAft>
                <a:spcPts val="500"/>
              </a:spcAft>
              <a:defRPr sz="1200" b="0">
                <a:solidFill>
                  <a:srgbClr val="242E3C"/>
                </a:solidFill>
                <a:latin typeface="Consolas"/>
              </a:defRPr>
            </a:pPr>
            <a:r>
              <a:t>beta[i] ~ normal(0, 100);</a:t>
            </a:r>
          </a:p>
          <a:p>
            <a:pPr>
              <a:spcAft>
                <a:spcPts val="500"/>
              </a:spcAft>
              <a:defRPr sz="1200" b="0">
                <a:solidFill>
                  <a:srgbClr val="242E3C"/>
                </a:solidFill>
                <a:latin typeface="Consolas"/>
              </a:defRPr>
            </a:pPr>
            <a:r>
              <a:t>lambda[i] = exp(alpha[pop[i]] + beta[pop[i]] * wing_length[i]);</a:t>
            </a:r>
          </a:p>
          <a:p>
            <a:pPr>
              <a:spcAft>
                <a:spcPts val="500"/>
              </a:spcAft>
              <a:defRPr sz="1200" b="0">
                <a:solidFill>
                  <a:srgbClr val="242E3C"/>
                </a:solidFill>
                <a:latin typeface="Consolas"/>
              </a:defRPr>
            </a:pPr>
            <a:r>
              <a:t>load[i] ~ poisson(lambda[i]);</a:t>
            </a:r>
          </a:p>
          <a:p>
            <a:pPr>
              <a:spcAft>
                <a:spcPts val="500"/>
              </a:spcAft>
              <a:defRPr sz="1200" b="0">
                <a:solidFill>
                  <a:srgbClr val="242E3C"/>
                </a:solidFill>
                <a:latin typeface="Consolas"/>
              </a:defRPr>
            </a:pPr>
            <a:r>
              <a:t>generated quantities {</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13.6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13  |  原著Rコードに基づく学習資料  |  ポアソンGLM：連続×カテゴリ</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13.7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13  |  原著Rコードに基づく学習資料  |  ポアソンGLM：連続×カテゴリ</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019" b="0">
                <a:solidFill>
                  <a:srgbClr val="242E3C"/>
                </a:solidFill>
                <a:latin typeface="Consolas"/>
              </a:defRPr>
            </a:pPr>
            <a:r>
              <a:t>NLL &lt;- function(beta, y, Xmat) {</a:t>
            </a:r>
          </a:p>
          <a:p>
            <a:pPr>
              <a:spcAft>
                <a:spcPts val="500"/>
              </a:spcAft>
              <a:defRPr sz="1019" b="0">
                <a:solidFill>
                  <a:srgbClr val="242E3C"/>
                </a:solidFill>
                <a:latin typeface="Consolas"/>
              </a:defRPr>
            </a:pPr>
            <a:r>
              <a:t>lambda &lt;- exp(Xmat %*% beta) # Multiply design matrix by beta</a:t>
            </a:r>
          </a:p>
          <a:p>
            <a:pPr>
              <a:spcAft>
                <a:spcPts val="500"/>
              </a:spcAft>
              <a:defRPr sz="1019" b="0">
                <a:solidFill>
                  <a:srgbClr val="242E3C"/>
                </a:solidFill>
                <a:latin typeface="Consolas"/>
              </a:defRPr>
            </a:pPr>
            <a:r>
              <a:t>LL &lt;- dpois(y, lambda, log = TRUE) # Log-likelihood of each obs</a:t>
            </a:r>
          </a:p>
          <a:p>
            <a:pPr>
              <a:spcAft>
                <a:spcPts val="500"/>
              </a:spcAft>
              <a:defRPr sz="1019" b="0">
                <a:solidFill>
                  <a:srgbClr val="242E3C"/>
                </a:solidFill>
                <a:latin typeface="Consolas"/>
              </a:defRPr>
            </a:pPr>
            <a:r>
              <a:t>NLL &lt;- -sum(LL) # NLL for all observations in data set</a:t>
            </a:r>
          </a:p>
          <a:p>
            <a:pPr>
              <a:spcAft>
                <a:spcPts val="500"/>
              </a:spcAft>
              <a:defRPr sz="1019" b="0">
                <a:solidFill>
                  <a:srgbClr val="242E3C"/>
                </a:solidFill>
                <a:latin typeface="Consolas"/>
              </a:defRPr>
            </a:pPr>
            <a:r>
              <a:t>return(NLL)</a:t>
            </a:r>
          </a:p>
          <a:p>
            <a:pPr>
              <a:spcAft>
                <a:spcPts val="500"/>
              </a:spcAft>
              <a:defRPr sz="1019" b="0">
                <a:solidFill>
                  <a:srgbClr val="242E3C"/>
                </a:solidFill>
                <a:latin typeface="Consolas"/>
              </a:defRPr>
            </a:pPr>
            <a:r>
              <a:t>out13.7 &lt;- optim(inits, NLL, y = load, Xmat = Xmat, hessian = TRUE, method = "BFGS")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13.7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13  |  原著Rコードに基づく学習資料  |  ポアソンGLM：連続×カテゴリ</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13.8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13  |  原著Rコードに基づく学習資料  |  ポアソンGLM：連続×カテゴリ</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DATA_VECTOR(load); //response</a:t>
            </a:r>
          </a:p>
          <a:p>
            <a:pPr>
              <a:spcAft>
                <a:spcPts val="500"/>
              </a:spcAft>
              <a:defRPr sz="1200" b="0">
                <a:solidFill>
                  <a:srgbClr val="242E3C"/>
                </a:solidFill>
                <a:latin typeface="Consolas"/>
              </a:defRPr>
            </a:pPr>
            <a:r>
              <a:t>DATA_VECTOR(wing_length); //covariate</a:t>
            </a:r>
          </a:p>
          <a:p>
            <a:pPr>
              <a:spcAft>
                <a:spcPts val="500"/>
              </a:spcAft>
              <a:defRPr sz="1200" b="0">
                <a:solidFill>
                  <a:srgbClr val="242E3C"/>
                </a:solidFill>
                <a:latin typeface="Consolas"/>
              </a:defRPr>
            </a:pPr>
            <a:r>
              <a:t>DATA_INTEGER(n); //Number of observations</a:t>
            </a:r>
          </a:p>
          <a:p>
            <a:pPr>
              <a:spcAft>
                <a:spcPts val="500"/>
              </a:spcAft>
              <a:defRPr sz="1200" b="0">
                <a:solidFill>
                  <a:srgbClr val="242E3C"/>
                </a:solidFill>
                <a:latin typeface="Consolas"/>
              </a:defRPr>
            </a:pPr>
            <a:r>
              <a:t>PARAMETER_VECTOR(alpha);</a:t>
            </a:r>
          </a:p>
          <a:p>
            <a:pPr>
              <a:spcAft>
                <a:spcPts val="500"/>
              </a:spcAft>
              <a:defRPr sz="1200" b="0">
                <a:solidFill>
                  <a:srgbClr val="242E3C"/>
                </a:solidFill>
                <a:latin typeface="Consolas"/>
              </a:defRPr>
            </a:pPr>
            <a:r>
              <a:t>Type lambda = exp(alpha(pop(i)) + beta(pop(i)) * wing_length(i));</a:t>
            </a:r>
          </a:p>
          <a:p>
            <a:pPr>
              <a:spcAft>
                <a:spcPts val="500"/>
              </a:spcAft>
              <a:defRPr sz="1200" b="0">
                <a:solidFill>
                  <a:srgbClr val="242E3C"/>
                </a:solidFill>
                <a:latin typeface="Consolas"/>
              </a:defRPr>
            </a:pPr>
            <a:r>
              <a:t>LL += dpois(load(i), lambda, true);</a:t>
            </a:r>
          </a:p>
          <a:p>
            <a:pPr>
              <a:spcAft>
                <a:spcPts val="500"/>
              </a:spcAft>
              <a:defRPr sz="1200" b="0">
                <a:solidFill>
                  <a:srgbClr val="242E3C"/>
                </a:solidFill>
                <a:latin typeface="Consolas"/>
              </a:defRPr>
            </a:pPr>
            <a:r>
              <a:t>ADREPORT(a_effe2);</a:t>
            </a:r>
          </a:p>
          <a:p>
            <a:pPr>
              <a:spcAft>
                <a:spcPts val="500"/>
              </a:spcAft>
              <a:defRPr sz="1200" b="0">
                <a:solidFill>
                  <a:srgbClr val="242E3C"/>
                </a:solidFill>
                <a:latin typeface="Consolas"/>
              </a:defRPr>
            </a:pPr>
            <a:r>
              <a:t>ADREPORT(b_effe2);</a:t>
            </a:r>
          </a:p>
          <a:p>
            <a:pPr>
              <a:spcAft>
                <a:spcPts val="500"/>
              </a:spcAft>
              <a:defRPr sz="1200" b="0">
                <a:solidFill>
                  <a:srgbClr val="242E3C"/>
                </a:solidFill>
                <a:latin typeface="Consolas"/>
              </a:defRPr>
            </a:pPr>
            <a:r>
              <a:t>ADREPORT(b_effe3);</a:t>
            </a:r>
          </a:p>
          <a:p>
            <a:pPr>
              <a:spcAft>
                <a:spcPts val="500"/>
              </a:spcAft>
              <a:defRPr sz="1200" b="0">
                <a:solidFill>
                  <a:srgbClr val="242E3C"/>
                </a:solidFill>
                <a:latin typeface="Consolas"/>
              </a:defRPr>
            </a:pPr>
            <a:r>
              <a:t>return -LL; //Return negative log likelihood</a:t>
            </a:r>
          </a:p>
          <a:p>
            <a:pPr>
              <a:spcAft>
                <a:spcPts val="500"/>
              </a:spcAft>
              <a:defRPr sz="1200" b="0">
                <a:solidFill>
                  <a:srgbClr val="242E3C"/>
                </a:solidFill>
                <a:latin typeface="Consolas"/>
              </a:defRPr>
            </a:pPr>
            <a:r>
              <a:t>out13.8 &lt;- MakeADFun(data = tmbData,</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13.8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13  |  原著Rコードに基づく学習資料  |  ポアソンGLM：連続×カテゴリ</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1860</Words>
  <Application>Microsoft Office PowerPoint</Application>
  <PresentationFormat>ワイド画面</PresentationFormat>
  <Paragraphs>211</Paragraphs>
  <Slides>23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23</vt:i4>
      </vt:variant>
    </vt:vector>
  </HeadingPairs>
  <TitlesOfParts>
    <vt:vector size="29" baseType="lpstr">
      <vt:lpstr>BIZ UDゴシック</vt:lpstr>
      <vt:lpstr>Yu Gothic</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2026-10-22T05:45:30Z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2026-10-22T05:44:17Z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6998473b-bdb9-4550-924d-0fb6291da567</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