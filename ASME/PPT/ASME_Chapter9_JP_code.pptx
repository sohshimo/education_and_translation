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4" d="100"/>
          <a:sy n="104" d="100"/>
        </p:scale>
        <p:origin x="87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CC6D3B-DE21-6EAC-5D2A-634944F25A9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B8DDC94E-0A8A-02B3-86B8-67F8AB4ADD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5902414-41A8-14CF-CA4C-0BC7A1F22091}"/>
              </a:ext>
            </a:extLst>
          </p:cNvPr>
          <p:cNvSpPr>
            <a:spLocks noGrp="1"/>
          </p:cNvSpPr>
          <p:nvPr>
            <p:ph type="dt" sz="half" idx="10"/>
          </p:nvPr>
        </p:nvSpPr>
        <p:spPr/>
        <p:txBody>
          <a:bodyPr/>
          <a:lstStyle/>
          <a:p>
            <a:fld id="{337D95D0-8BB4-41AF-BC7D-0DD2CBA9C5B7}"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2965CCE0-646D-510B-5E1A-E6FC3DA4EB8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140ADAA-BA7B-D393-C571-9BB8D5EDA367}"/>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169437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F689CA-809D-EC2E-F42D-51DA21E10E8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C71E619-DDD1-A880-251B-8618138E4D4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A54BE2D-F637-3F7F-C2EE-4AF004B18FED}"/>
              </a:ext>
            </a:extLst>
          </p:cNvPr>
          <p:cNvSpPr>
            <a:spLocks noGrp="1"/>
          </p:cNvSpPr>
          <p:nvPr>
            <p:ph type="dt" sz="half" idx="10"/>
          </p:nvPr>
        </p:nvSpPr>
        <p:spPr/>
        <p:txBody>
          <a:bodyPr/>
          <a:lstStyle/>
          <a:p>
            <a:fld id="{337D95D0-8BB4-41AF-BC7D-0DD2CBA9C5B7}"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8F5F4E32-7EBC-9328-50AA-01278180512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E21E142-AEAB-CBC9-6AA7-02191D3E27F2}"/>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2259703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46BE4B-4A35-1360-8BC3-620E0FEA0AB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DCE3DD8-BADC-F81E-FD4F-6F5C3A752C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E403AC6-230A-A712-8397-57460796F17E}"/>
              </a:ext>
            </a:extLst>
          </p:cNvPr>
          <p:cNvSpPr>
            <a:spLocks noGrp="1"/>
          </p:cNvSpPr>
          <p:nvPr>
            <p:ph type="dt" sz="half" idx="10"/>
          </p:nvPr>
        </p:nvSpPr>
        <p:spPr/>
        <p:txBody>
          <a:bodyPr/>
          <a:lstStyle/>
          <a:p>
            <a:fld id="{337D95D0-8BB4-41AF-BC7D-0DD2CBA9C5B7}"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5A509A3C-BD45-2301-A19A-D8F47DE0410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62B8E95-19B8-562A-195E-B97CAB19F14E}"/>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1441542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C3CF66-0CE0-9770-4B3D-EDE4BF22CF5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2430839-DC72-6840-7135-880B6F3318E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68C0A13-BC41-C2C2-254E-959725D366E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C3FC1AD-844F-F2EB-5CD4-7ECBE986C228}"/>
              </a:ext>
            </a:extLst>
          </p:cNvPr>
          <p:cNvSpPr>
            <a:spLocks noGrp="1"/>
          </p:cNvSpPr>
          <p:nvPr>
            <p:ph type="dt" sz="half" idx="10"/>
          </p:nvPr>
        </p:nvSpPr>
        <p:spPr/>
        <p:txBody>
          <a:bodyPr/>
          <a:lstStyle/>
          <a:p>
            <a:fld id="{337D95D0-8BB4-41AF-BC7D-0DD2CBA9C5B7}" type="datetimeFigureOut">
              <a:rPr kumimoji="1" lang="ja-JP" altLang="en-US" smtClean="0"/>
              <a:t>2026/10/21</a:t>
            </a:fld>
            <a:endParaRPr kumimoji="1" lang="ja-JP" altLang="en-US"/>
          </a:p>
        </p:txBody>
      </p:sp>
      <p:sp>
        <p:nvSpPr>
          <p:cNvPr id="6" name="フッター プレースホルダー 5">
            <a:extLst>
              <a:ext uri="{FF2B5EF4-FFF2-40B4-BE49-F238E27FC236}">
                <a16:creationId xmlns:a16="http://schemas.microsoft.com/office/drawing/2014/main" id="{2DFD71B2-B10A-3189-AE8E-C8770E7B4E3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758EB0C-CD20-EA24-3C4D-B8C7DB7A7188}"/>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1830975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A0BD50-8C71-827A-6EC1-AF51D847CA8E}"/>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989B170-986F-C31F-825B-7EBED4BD49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318AC9C-6C90-D8D2-6288-1D513D83EC2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5F24543-B2CB-E027-40CC-B0FF7FE6D1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DD201EA-DB17-A7BD-790C-13263CC2A71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2CFFB64-C910-8328-522C-65422DC5BDC3}"/>
              </a:ext>
            </a:extLst>
          </p:cNvPr>
          <p:cNvSpPr>
            <a:spLocks noGrp="1"/>
          </p:cNvSpPr>
          <p:nvPr>
            <p:ph type="dt" sz="half" idx="10"/>
          </p:nvPr>
        </p:nvSpPr>
        <p:spPr/>
        <p:txBody>
          <a:bodyPr/>
          <a:lstStyle/>
          <a:p>
            <a:fld id="{337D95D0-8BB4-41AF-BC7D-0DD2CBA9C5B7}" type="datetimeFigureOut">
              <a:rPr kumimoji="1" lang="ja-JP" altLang="en-US" smtClean="0"/>
              <a:t>2026/10/21</a:t>
            </a:fld>
            <a:endParaRPr kumimoji="1" lang="ja-JP" altLang="en-US"/>
          </a:p>
        </p:txBody>
      </p:sp>
      <p:sp>
        <p:nvSpPr>
          <p:cNvPr id="8" name="フッター プレースホルダー 7">
            <a:extLst>
              <a:ext uri="{FF2B5EF4-FFF2-40B4-BE49-F238E27FC236}">
                <a16:creationId xmlns:a16="http://schemas.microsoft.com/office/drawing/2014/main" id="{71ACDE15-9236-F758-F8DA-AA2CE97AE8C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3F28DB3-43AE-A9D6-2402-6609B39C3364}"/>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300025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5505AF-A1C2-CBC5-4541-E3BBD7C6C5F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4C82E2D-EB7E-2F58-1D8E-DFD5E9ED666A}"/>
              </a:ext>
            </a:extLst>
          </p:cNvPr>
          <p:cNvSpPr>
            <a:spLocks noGrp="1"/>
          </p:cNvSpPr>
          <p:nvPr>
            <p:ph type="dt" sz="half" idx="10"/>
          </p:nvPr>
        </p:nvSpPr>
        <p:spPr/>
        <p:txBody>
          <a:bodyPr/>
          <a:lstStyle/>
          <a:p>
            <a:fld id="{337D95D0-8BB4-41AF-BC7D-0DD2CBA9C5B7}" type="datetimeFigureOut">
              <a:rPr kumimoji="1" lang="ja-JP" altLang="en-US" smtClean="0"/>
              <a:t>2026/10/21</a:t>
            </a:fld>
            <a:endParaRPr kumimoji="1" lang="ja-JP" altLang="en-US"/>
          </a:p>
        </p:txBody>
      </p:sp>
      <p:sp>
        <p:nvSpPr>
          <p:cNvPr id="4" name="フッター プレースホルダー 3">
            <a:extLst>
              <a:ext uri="{FF2B5EF4-FFF2-40B4-BE49-F238E27FC236}">
                <a16:creationId xmlns:a16="http://schemas.microsoft.com/office/drawing/2014/main" id="{E61517C2-9DC9-1FC7-BAA1-F079D0EBF6D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AB984E0-F2A7-0601-1D98-ADAABBA13D15}"/>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412023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45A27BF-84F8-7F53-609F-4F8A70924D59}"/>
              </a:ext>
            </a:extLst>
          </p:cNvPr>
          <p:cNvSpPr>
            <a:spLocks noGrp="1"/>
          </p:cNvSpPr>
          <p:nvPr>
            <p:ph type="dt" sz="half" idx="10"/>
          </p:nvPr>
        </p:nvSpPr>
        <p:spPr/>
        <p:txBody>
          <a:bodyPr/>
          <a:lstStyle/>
          <a:p>
            <a:fld id="{337D95D0-8BB4-41AF-BC7D-0DD2CBA9C5B7}" type="datetimeFigureOut">
              <a:rPr kumimoji="1" lang="ja-JP" altLang="en-US" smtClean="0"/>
              <a:t>2026/10/21</a:t>
            </a:fld>
            <a:endParaRPr kumimoji="1" lang="ja-JP" altLang="en-US"/>
          </a:p>
        </p:txBody>
      </p:sp>
      <p:sp>
        <p:nvSpPr>
          <p:cNvPr id="3" name="フッター プレースホルダー 2">
            <a:extLst>
              <a:ext uri="{FF2B5EF4-FFF2-40B4-BE49-F238E27FC236}">
                <a16:creationId xmlns:a16="http://schemas.microsoft.com/office/drawing/2014/main" id="{7BC85232-C11B-8E0B-2796-3620AB78825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163503A-3C58-B141-4C18-B8662B7A5727}"/>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671484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EFBC3C-7162-359A-EF01-13661AD8267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7354480-09EF-2E42-E3FE-EF8ED81B70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C0E653F2-221C-99A3-C1B8-DB77BEAFB6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090D2D9-092D-0C41-9CE2-7C104E31D310}"/>
              </a:ext>
            </a:extLst>
          </p:cNvPr>
          <p:cNvSpPr>
            <a:spLocks noGrp="1"/>
          </p:cNvSpPr>
          <p:nvPr>
            <p:ph type="dt" sz="half" idx="10"/>
          </p:nvPr>
        </p:nvSpPr>
        <p:spPr/>
        <p:txBody>
          <a:bodyPr/>
          <a:lstStyle/>
          <a:p>
            <a:fld id="{337D95D0-8BB4-41AF-BC7D-0DD2CBA9C5B7}" type="datetimeFigureOut">
              <a:rPr kumimoji="1" lang="ja-JP" altLang="en-US" smtClean="0"/>
              <a:t>2026/10/21</a:t>
            </a:fld>
            <a:endParaRPr kumimoji="1" lang="ja-JP" altLang="en-US"/>
          </a:p>
        </p:txBody>
      </p:sp>
      <p:sp>
        <p:nvSpPr>
          <p:cNvPr id="6" name="フッター プレースホルダー 5">
            <a:extLst>
              <a:ext uri="{FF2B5EF4-FFF2-40B4-BE49-F238E27FC236}">
                <a16:creationId xmlns:a16="http://schemas.microsoft.com/office/drawing/2014/main" id="{46BD2603-912B-32D5-C64F-36FC10DE337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D239B87-DEE4-474D-D6A6-40621140231E}"/>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272735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52B2CF-351C-10E8-9400-DFE83250F34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40F68A4-4F5F-A43A-0798-CFFCB204EE9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97CF935-3E83-2100-57AC-CD42FE903F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5ECA0EA-9447-A015-BEC4-F179CFB34C5A}"/>
              </a:ext>
            </a:extLst>
          </p:cNvPr>
          <p:cNvSpPr>
            <a:spLocks noGrp="1"/>
          </p:cNvSpPr>
          <p:nvPr>
            <p:ph type="dt" sz="half" idx="10"/>
          </p:nvPr>
        </p:nvSpPr>
        <p:spPr/>
        <p:txBody>
          <a:bodyPr/>
          <a:lstStyle/>
          <a:p>
            <a:fld id="{337D95D0-8BB4-41AF-BC7D-0DD2CBA9C5B7}" type="datetimeFigureOut">
              <a:rPr kumimoji="1" lang="ja-JP" altLang="en-US" smtClean="0"/>
              <a:t>2026/10/21</a:t>
            </a:fld>
            <a:endParaRPr kumimoji="1" lang="ja-JP" altLang="en-US"/>
          </a:p>
        </p:txBody>
      </p:sp>
      <p:sp>
        <p:nvSpPr>
          <p:cNvPr id="6" name="フッター プレースホルダー 5">
            <a:extLst>
              <a:ext uri="{FF2B5EF4-FFF2-40B4-BE49-F238E27FC236}">
                <a16:creationId xmlns:a16="http://schemas.microsoft.com/office/drawing/2014/main" id="{D1D4A49E-132A-9075-B13E-0F9CF0F0712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2D7FD69-1261-377E-B2E9-4FAC302B1E88}"/>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070553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E86154-6B32-9FA7-AC64-0401BBA865B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F18E00B-875E-22FB-0F3E-C86D394A8E1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F5EC8F4-56D4-7835-4D70-10A949B38340}"/>
              </a:ext>
            </a:extLst>
          </p:cNvPr>
          <p:cNvSpPr>
            <a:spLocks noGrp="1"/>
          </p:cNvSpPr>
          <p:nvPr>
            <p:ph type="dt" sz="half" idx="10"/>
          </p:nvPr>
        </p:nvSpPr>
        <p:spPr/>
        <p:txBody>
          <a:bodyPr/>
          <a:lstStyle/>
          <a:p>
            <a:fld id="{337D95D0-8BB4-41AF-BC7D-0DD2CBA9C5B7}"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5B721F0E-8EB6-74D5-90A2-DBF52A69428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23BE141-607E-04CC-8BC3-3BE43A0D6E97}"/>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2426026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F714B61-1775-8DD8-7529-027DE6E9F24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FB42191-A290-F301-F947-9D924AF33EC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13FE194-4488-3B20-9F7D-BD0FC38CEE67}"/>
              </a:ext>
            </a:extLst>
          </p:cNvPr>
          <p:cNvSpPr>
            <a:spLocks noGrp="1"/>
          </p:cNvSpPr>
          <p:nvPr>
            <p:ph type="dt" sz="half" idx="10"/>
          </p:nvPr>
        </p:nvSpPr>
        <p:spPr/>
        <p:txBody>
          <a:bodyPr/>
          <a:lstStyle/>
          <a:p>
            <a:fld id="{337D95D0-8BB4-41AF-BC7D-0DD2CBA9C5B7}"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2F66573A-78EB-526D-3D9C-70CC93A6393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01D1A8A-E8E3-CA69-39C9-1A2CCBC63F5F}"/>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1173366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04F7D86-38D1-B73A-6E09-30D6926308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92B2C88-8058-D973-C51F-094C1EB448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41471AE-E4DB-F7BA-533C-DF217BD2FA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37D95D0-8BB4-41AF-BC7D-0DD2CBA9C5B7}"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53AFA1C1-1EF2-D9E0-5A4C-B9A1EA0D63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128741D-5005-70D2-EB07-8383A143C0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C072CE-95FA-40FE-BC99-878DBE9A4B81}" type="slidenum">
              <a:rPr kumimoji="1" lang="ja-JP" altLang="en-US" smtClean="0"/>
              <a:t>‹#›</a:t>
            </a:fld>
            <a:endParaRPr kumimoji="1" lang="ja-JP" altLang="en-US"/>
          </a:p>
        </p:txBody>
      </p:sp>
      <p:sp>
        <p:nvSpPr>
          <p:cNvPr id="8" name="テキスト ボックス 7">
            <a:extLst>
              <a:ext uri="{FF2B5EF4-FFF2-40B4-BE49-F238E27FC236}">
                <a16:creationId xmlns:a16="http://schemas.microsoft.com/office/drawing/2014/main" id="{48E4CB5C-2952-02E4-ED93-80C2AC616E36}"/>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998248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a:latin typeface="BIZ UDゴシック" panose="020B0400000000000000" pitchFamily="49" charset="-128"/>
                <a:ea typeface="BIZ UDゴシック" panose="020B0400000000000000" pitchFamily="49" charset="-128"/>
              </a:rPr>
            </a:br>
            <a:r>
              <a:rPr kumimoji="1" lang="en-US" altLang="ja-JP" sz="3600">
                <a:latin typeface="BIZ UDゴシック" panose="020B0400000000000000" pitchFamily="49" charset="-128"/>
                <a:ea typeface="BIZ UDゴシック" panose="020B0400000000000000" pitchFamily="49" charset="-128"/>
              </a:rPr>
              <a:t>ASME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lstStyle/>
          <a:p>
            <a:r>
              <a:rPr lang="en-US" altLang="ja-JP" dirty="0">
                <a:latin typeface="BIZ UDゴシック" panose="020B0400000000000000" pitchFamily="49" charset="-128"/>
                <a:ea typeface="BIZ UDゴシック" panose="020B0400000000000000" pitchFamily="49" charset="-128"/>
              </a:rPr>
              <a:t>Chapter 9</a:t>
            </a:r>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FF80AA-6315-D800-2AFE-40B34E2FFD76}"/>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75585550-5E78-8FF2-C968-413C64E14A1B}"/>
              </a:ext>
            </a:extLst>
          </p:cNvPr>
          <p:cNvSpPr>
            <a:spLocks noGrp="1"/>
          </p:cNvSpPr>
          <p:nvPr>
            <p:ph idx="1"/>
          </p:nvPr>
        </p:nvSpPr>
        <p:spPr/>
        <p:txBody>
          <a:bodyPr/>
          <a:lstStyle/>
          <a:p>
            <a:endParaRPr kumimoji="1" lang="ja-JP" altLang="en-US"/>
          </a:p>
        </p:txBody>
      </p:sp>
      <p:pic>
        <p:nvPicPr>
          <p:cNvPr id="5" name="図 4">
            <a:extLst>
              <a:ext uri="{FF2B5EF4-FFF2-40B4-BE49-F238E27FC236}">
                <a16:creationId xmlns:a16="http://schemas.microsoft.com/office/drawing/2014/main" id="{99DBEF1E-DCD8-DF42-8506-555B14714CEA}"/>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178527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B3A58"/>
                </a:solidFill>
                <a:latin typeface="Yu Gothic"/>
              </a:defRPr>
            </a:pPr>
            <a:r>
              <a:t>9.1  Introduction｜はじめに</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64008" tIns="54864" rIns="109728" bIns="36576">
            <a:spAutoFit/>
          </a:bodyPr>
          <a:lstStyle/>
          <a:p>
            <a:pPr>
              <a:lnSpc>
                <a:spcPct val="118000"/>
              </a:lnSpc>
              <a:spcAft>
                <a:spcPts val="1300"/>
              </a:spcAft>
              <a:defRPr sz="1610">
                <a:solidFill>
                  <a:srgbClr val="232A33"/>
                </a:solidFill>
                <a:latin typeface="Yu Gothic"/>
              </a:defRPr>
            </a:pPr>
            <a:r>
              <a:t>• 第5章では連続説明変数による回帰、第6～8章ではカテゴリ説明変数（因子）の効果を学んだ。本章は両者を一つの正規線形モデルに組み合わせ、さらに連続変数と因子の交互作用を扱う。最小二乗法の文脈では、このモデルは共分散分析（ANCOVA）とも呼ばれる。</a:t>
            </a:r>
          </a:p>
          <a:p>
            <a:pPr>
              <a:lnSpc>
                <a:spcPct val="118000"/>
              </a:lnSpc>
              <a:spcAft>
                <a:spcPts val="1300"/>
              </a:spcAft>
              <a:defRPr sz="1610">
                <a:solidFill>
                  <a:srgbClr val="232A33"/>
                </a:solidFill>
                <a:latin typeface="Yu Gothic"/>
              </a:defRPr>
            </a:pPr>
            <a:r>
              <a:t>• 例題は、フランスのPyrenees、Massif Central、Juraという3地域のクサリヘビについて、体長（連続変数）と体重（応答変数）の関係を調べるものである。主な関心は、体長に対する体重の増加率、すなわち回帰直線の傾きが地域によって異なるかどうかにある。</a:t>
            </a:r>
          </a:p>
          <a:p>
            <a:pPr>
              <a:lnSpc>
                <a:spcPct val="118000"/>
              </a:lnSpc>
              <a:spcAft>
                <a:spcPts val="1300"/>
              </a:spcAft>
              <a:defRPr sz="1610">
                <a:solidFill>
                  <a:srgbClr val="232A33"/>
                </a:solidFill>
                <a:latin typeface="Yu Gothic"/>
              </a:defRPr>
            </a:pPr>
            <a:r>
              <a:t>• 平均値母数化では yᵢ = αⱼ₍ᵢ₎ + βⱼ₍ᵢ₎ xᵢ + εᵢ、εᵢ ~ Normal(0, σ²) と書く。αⱼとβⱼは個体iが属する地域jの切片と傾き、σは地域共通の残差標準偏差である。残差は測定誤差と未測定要因をまとめて表す。</a:t>
            </a:r>
          </a:p>
          <a:p>
            <a:pPr>
              <a:lnSpc>
                <a:spcPct val="118000"/>
              </a:lnSpc>
              <a:spcAft>
                <a:spcPts val="1300"/>
              </a:spcAft>
              <a:defRPr sz="1610">
                <a:solidFill>
                  <a:srgbClr val="232A33"/>
                </a:solidFill>
                <a:latin typeface="Yu Gothic"/>
              </a:defRPr>
            </a:pPr>
            <a:r>
              <a:t>• 効果母数化ではPyreneesを基準地域とし、地域ダミー変数 I(MC)、I(Jura) と体長との積を加える。E(yᵢ) = αPyr + β₁I(MC) + β₂I(Jura) + β₃xᵢ + β₄xᵢI(MC) + β₅xᵢI(Jura)。β₁・β₂は切片差、β₄・β₅は傾き差を表し、参照地域の選択はモデルの推論そのものを変えない。</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707981"/>
                </a:solidFill>
                <a:latin typeface="Arial"/>
              </a:defRPr>
            </a:pPr>
            <a:r>
              <a:t>Applied Statistical Modelling for Ecologists  |  Chapter 9  |  01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B3A58"/>
                </a:solidFill>
                <a:latin typeface="Yu Gothic"/>
              </a:defRPr>
            </a:pPr>
            <a:r>
              <a:t>9.2  Data generation｜データの生成</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64008" tIns="54864" rIns="109728" bIns="36576">
            <a:spAutoFit/>
          </a:bodyPr>
          <a:lstStyle/>
          <a:p>
            <a:pPr>
              <a:lnSpc>
                <a:spcPct val="118000"/>
              </a:lnSpc>
              <a:spcAft>
                <a:spcPts val="1300"/>
              </a:spcAft>
              <a:defRPr sz="1610">
                <a:solidFill>
                  <a:srgbClr val="232A33"/>
                </a:solidFill>
                <a:latin typeface="Yu Gothic"/>
              </a:defRPr>
            </a:pPr>
            <a:r>
              <a:t>• 3地域それぞれ10個体、合計30個体を想定する。標本数を地域間で等しくしているのは簡単に説明するためであり、等標本数であることはモデルの必須条件ではない。各個体の体長は45～70 cmの一様分布から生成し、体長から全個体の平均体長を引いて中心化体長 lengthC を作る。</a:t>
            </a:r>
          </a:p>
          <a:p>
            <a:pPr>
              <a:lnSpc>
                <a:spcPct val="118000"/>
              </a:lnSpc>
              <a:spcAft>
                <a:spcPts val="1300"/>
              </a:spcAft>
              <a:defRPr sz="1610">
                <a:solidFill>
                  <a:srgbClr val="232A33"/>
                </a:solidFill>
                <a:latin typeface="Yu Gothic"/>
              </a:defRPr>
            </a:pPr>
            <a:r>
              <a:t>• モデル式「pop * lengthC」に対応するデザイン行列 X は、切片、Massif Central指標、Jura指標、中心化体長、Massif Central×体長、Jura×体長の6列からなる。原著では係数ベクトルを (80, −30, −20, 6, −3, −4) と設定し、デザイン行列と係数ベクトルの積 Xβ から期待体重を計算する。</a:t>
            </a:r>
          </a:p>
          <a:p>
            <a:pPr>
              <a:lnSpc>
                <a:spcPct val="118000"/>
              </a:lnSpc>
              <a:spcAft>
                <a:spcPts val="1300"/>
              </a:spcAft>
              <a:defRPr sz="1610">
                <a:solidFill>
                  <a:srgbClr val="232A33"/>
                </a:solidFill>
                <a:latin typeface="Yu Gothic"/>
              </a:defRPr>
            </a:pPr>
            <a:r>
              <a:t>• したがって中心化体長に対する切片は、Pyrenees 80、Massif Central 50、Jura 60となる。傾きはそれぞれ6、3、2であり、Pyreneesが最も急、次がMassif Central、最後がJuraとなる。</a:t>
            </a:r>
          </a:p>
          <a:p>
            <a:pPr>
              <a:lnSpc>
                <a:spcPct val="118000"/>
              </a:lnSpc>
              <a:spcAft>
                <a:spcPts val="1300"/>
              </a:spcAft>
              <a:defRPr sz="1610">
                <a:solidFill>
                  <a:srgbClr val="232A33"/>
                </a:solidFill>
                <a:latin typeface="Yu Gothic"/>
              </a:defRPr>
            </a:pPr>
            <a:r>
              <a:t>• 期待体重に標準偏差σ=10の正規乱数を加え、観測体重を生成する。原著の図9.2では地域別に色分けした30個体の体長と体重を表示しており、地域により傾きが異なる一方、観測値には残差によるばらつきが生じることが示されてい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707981"/>
                </a:solidFill>
                <a:latin typeface="Arial"/>
              </a:defRPr>
            </a:pPr>
            <a:r>
              <a:t>Applied Statistical Modelling for Ecologists  |  Chapter 9  |  02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B3A58"/>
                </a:solidFill>
                <a:latin typeface="Yu Gothic"/>
              </a:defRPr>
            </a:pPr>
            <a:r>
              <a:t>9.3  Likelihood analysis with canned functions in R｜標準関数による尤度分析</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64008" tIns="54864" rIns="109728" bIns="36576">
            <a:spAutoFit/>
          </a:bodyPr>
          <a:lstStyle/>
          <a:p>
            <a:pPr>
              <a:lnSpc>
                <a:spcPct val="118000"/>
              </a:lnSpc>
              <a:spcAft>
                <a:spcPts val="900"/>
              </a:spcAft>
              <a:defRPr sz="1500">
                <a:solidFill>
                  <a:srgbClr val="232A33"/>
                </a:solidFill>
                <a:latin typeface="Yu Gothic"/>
              </a:defRPr>
            </a:pPr>
            <a:r>
              <a:t>• 原著は lm(mass ~ pop * lengthC) で正規線形モデルを推定する。* は地域と中心化体長の主効果、および両者の交互作用を含む指定である。Rの既定の効果母数化ではPyreneesが基準地域となり、係数はデータ生成時の6つの値と直接比較できる。</a:t>
            </a:r>
          </a:p>
          <a:p>
            <a:pPr>
              <a:lnSpc>
                <a:spcPct val="118000"/>
              </a:lnSpc>
              <a:spcAft>
                <a:spcPts val="900"/>
              </a:spcAft>
              <a:defRPr sz="1500">
                <a:solidFill>
                  <a:srgbClr val="232A33"/>
                </a:solidFill>
                <a:latin typeface="Yu Gothic"/>
              </a:defRPr>
            </a:pPr>
            <a:r>
              <a:t>• 推定値は切片78.337、Massif Central切片差−25.330、Jura切片差−20.991、Pyreneesの体長係数5.901、Massif Central傾き差−3.318、Jura傾き差−3.803である。したがって地域別の推定傾きはPyrenees 5.901、Massif Central 2.583、Jura 2.097となる。</a:t>
            </a:r>
          </a:p>
          <a:p>
            <a:pPr>
              <a:lnSpc>
                <a:spcPct val="118000"/>
              </a:lnSpc>
              <a:spcAft>
                <a:spcPts val="900"/>
              </a:spcAft>
              <a:defRPr sz="1500">
                <a:solidFill>
                  <a:srgbClr val="232A33"/>
                </a:solidFill>
                <a:latin typeface="Yu Gothic"/>
              </a:defRPr>
            </a:pPr>
            <a:r>
              <a:t>• 残差標準誤差は11.40（残差自由度24）、決定係数R²は0.881、調整R²は0.8562である。原著の出力では交互作用のp値はMassif Centralで0.000146、Juraで1.13×10⁻⁵となる。標本数は少ないものの、生成時に設定した傾きの相違を推定できている。</a:t>
            </a:r>
          </a:p>
          <a:p>
            <a:pPr>
              <a:lnSpc>
                <a:spcPct val="118000"/>
              </a:lnSpc>
              <a:spcAft>
                <a:spcPts val="900"/>
              </a:spcAft>
              <a:defRPr sz="1500">
                <a:solidFill>
                  <a:srgbClr val="232A33"/>
                </a:solidFill>
                <a:latin typeface="Yu Gothic"/>
              </a:defRPr>
            </a:pPr>
            <a:r>
              <a:t>• 推定後は通常の残差図とDHARMaのシミュレーションに基づく分位残差を確認する。著者らは、標本数の小さいデータでは、モデルが適切でも残差プロットに奇妙な模様が現れる可能性に注意を促している。</a:t>
            </a:r>
          </a:p>
          <a:p>
            <a:pPr>
              <a:lnSpc>
                <a:spcPct val="118000"/>
              </a:lnSpc>
              <a:spcAft>
                <a:spcPts val="900"/>
              </a:spcAft>
              <a:defRPr sz="1500">
                <a:solidFill>
                  <a:srgbClr val="232A33"/>
                </a:solidFill>
                <a:latin typeface="Yu Gothic"/>
              </a:defRPr>
            </a:pPr>
            <a:r>
              <a:t>• 図9.3では一度に一つの説明変数だけを変化させて予測を作る。左図は地域をPyreneesに固定し体長を100点で変化させる。右図は体長を中央値に固定し3地域の予測値を比較する。赤い線・点は予測値、赤い帯・誤差線は標準誤差に基づくWald型95%信頼区間を示す。</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707981"/>
                </a:solidFill>
                <a:latin typeface="Arial"/>
              </a:defRPr>
            </a:pPr>
            <a:r>
              <a:t>Applied Statistical Modelling for Ecologists  |  Chapter 9  |  03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B3A58"/>
                </a:solidFill>
                <a:latin typeface="Yu Gothic"/>
              </a:defRPr>
            </a:pPr>
            <a:r>
              <a:t>9.4  Bayesian analysis with JAGS｜JAGSによるベイズ推定</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64008" tIns="54864" rIns="109728" bIns="36576">
            <a:spAutoFit/>
          </a:bodyPr>
          <a:lstStyle/>
          <a:p>
            <a:pPr>
              <a:lnSpc>
                <a:spcPct val="118000"/>
              </a:lnSpc>
              <a:spcAft>
                <a:spcPts val="1300"/>
              </a:spcAft>
              <a:defRPr sz="1500">
                <a:solidFill>
                  <a:srgbClr val="232A33"/>
                </a:solidFill>
                <a:latin typeface="Yu Gothic"/>
              </a:defRPr>
            </a:pPr>
            <a:r>
              <a:t>• JAGSでは平均値母数化を採用し、各地域の切片αⱼと傾きβⱼを別々のパラメータとして与える。個体iの期待体重は α[pop[i]] + β[pop[i]] × lengthC[i] で表し、体重は平均がこの期待値、標準偏差が共通σの正規分布に従うと仮定する。</a:t>
            </a:r>
          </a:p>
          <a:p>
            <a:pPr>
              <a:lnSpc>
                <a:spcPct val="118000"/>
              </a:lnSpc>
              <a:spcAft>
                <a:spcPts val="1300"/>
              </a:spcAft>
              <a:defRPr sz="1500">
                <a:solidFill>
                  <a:srgbClr val="232A33"/>
                </a:solidFill>
                <a:latin typeface="Yu Gothic"/>
              </a:defRPr>
            </a:pPr>
            <a:r>
              <a:t>• 事前分布は地域別の切片と傾きに平均0・精度0.0001の正規分布、σに0～100の一様分布を指定する。JAGSでは正規分布の第2引数が分散ではなく精度τ=1/σ²である。</a:t>
            </a:r>
          </a:p>
          <a:p>
            <a:pPr>
              <a:lnSpc>
                <a:spcPct val="118000"/>
              </a:lnSpc>
              <a:spcAft>
                <a:spcPts val="1300"/>
              </a:spcAft>
              <a:defRPr sz="1500">
                <a:solidFill>
                  <a:srgbClr val="232A33"/>
                </a:solidFill>
                <a:latin typeface="Yu Gothic"/>
              </a:defRPr>
            </a:pPr>
            <a:r>
              <a:t>• 参照地域Pyreneesとの差は派生パラメータとして計算する。切片差はα₂−α₁およびα₃−α₁、傾き差はβ₂−β₁およびβ₃−β₁であり、さらにJuraとMassif Centralの傾き差β₃−β₂も直接調べる。</a:t>
            </a:r>
          </a:p>
          <a:p>
            <a:pPr>
              <a:lnSpc>
                <a:spcPct val="118000"/>
              </a:lnSpc>
              <a:spcAft>
                <a:spcPts val="1300"/>
              </a:spcAft>
              <a:defRPr sz="1500">
                <a:solidFill>
                  <a:srgbClr val="232A33"/>
                </a:solidFill>
                <a:latin typeface="Yu Gothic"/>
              </a:defRPr>
            </a:pPr>
            <a:r>
              <a:t>• 原著では4チェーン、適応期間1,000、各チェーン3,000反復、バーンイン1,000とし、トレースプロットとRhatを調べる。事後平均はPyreneesの切片78.138、傾き5.891、σ11.991で、lm()の推定値とよく一致する。</a:t>
            </a:r>
          </a:p>
          <a:p>
            <a:pPr>
              <a:lnSpc>
                <a:spcPct val="118000"/>
              </a:lnSpc>
              <a:spcAft>
                <a:spcPts val="1300"/>
              </a:spcAft>
              <a:defRPr sz="1500">
                <a:solidFill>
                  <a:srgbClr val="232A33"/>
                </a:solidFill>
                <a:latin typeface="Yu Gothic"/>
              </a:defRPr>
            </a:pPr>
            <a:r>
              <a:t>• 地域別の傾きの事後平均（95%信用区間）は、Pyrenees 5.891（4.760～7.040）、Massif Central 2.586（1.505～3.627）、Jura 2.102（1.187～3.013）。Jura−Massif Centralの傾き差は−0.484（−1.923～0.922）であり、この比較の信用区間には0が含まれる。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707981"/>
                </a:solidFill>
                <a:latin typeface="Arial"/>
              </a:defRPr>
            </a:pPr>
            <a:r>
              <a:t>Applied Statistical Modelling for Ecologists  |  Chapter 9  |  04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B3A58"/>
                </a:solidFill>
                <a:latin typeface="Yu Gothic"/>
              </a:defRPr>
            </a:pPr>
            <a:r>
              <a:t>9.5  Bayesian analysis with NIMBLE｜NIMBLEによるベイズ推定</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64008" tIns="54864" rIns="109728" bIns="36576">
            <a:spAutoFit/>
          </a:bodyPr>
          <a:lstStyle/>
          <a:p>
            <a:pPr>
              <a:lnSpc>
                <a:spcPct val="118000"/>
              </a:lnSpc>
              <a:spcAft>
                <a:spcPts val="1300"/>
              </a:spcAft>
              <a:defRPr sz="1610">
                <a:solidFill>
                  <a:srgbClr val="232A33"/>
                </a:solidFill>
                <a:latin typeface="Yu Gothic"/>
              </a:defRPr>
            </a:pPr>
            <a:r>
              <a:t>• 原著の9.5節では、NIMBLEを用いた同じモデルの解析を扱う。ただし、この節の本文にはNIMBLEのコードが掲載されておらず、コードは書籍の付属Webサイトにあると明記されている。</a:t>
            </a:r>
          </a:p>
          <a:p>
            <a:pPr>
              <a:lnSpc>
                <a:spcPct val="118000"/>
              </a:lnSpc>
              <a:spcAft>
                <a:spcPts val="1300"/>
              </a:spcAft>
              <a:defRPr sz="1610">
                <a:solidFill>
                  <a:srgbClr val="232A33"/>
                </a:solidFill>
                <a:latin typeface="Yu Gothic"/>
              </a:defRPr>
            </a:pPr>
            <a:r>
              <a:t>• 原著の9.9節の比較表にはNIMBLEの推定結果が掲載されており、切片78.28、Massif Central切片差−25.38、Jura切片差−21.09、Pyreneesの体長係数5.90、Massif Central傾き差−3.31、Jura傾き差−3.80、残差標準偏差12.16である。</a:t>
            </a:r>
          </a:p>
          <a:p>
            <a:pPr>
              <a:lnSpc>
                <a:spcPct val="118000"/>
              </a:lnSpc>
              <a:spcAft>
                <a:spcPts val="1300"/>
              </a:spcAft>
              <a:defRPr sz="1610">
                <a:solidFill>
                  <a:srgbClr val="232A33"/>
                </a:solidFill>
                <a:latin typeface="Yu Gothic"/>
              </a:defRPr>
            </a:pPr>
            <a:r>
              <a:t>• この章でのNIMBLEの位置づけは、JAGSおよびStanと並ぶベイズ推定方法の一つとして、同じデータとモデルに対する推定結果を比較することである。原著本文が示していないコードの詳細や実装上の違いについては、ここでは補っていない。</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707981"/>
                </a:solidFill>
                <a:latin typeface="Arial"/>
              </a:defRPr>
            </a:pPr>
            <a:r>
              <a:t>Applied Statistical Modelling for Ecologists  |  Chapter 9  |  05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B3A58"/>
                </a:solidFill>
                <a:latin typeface="Yu Gothic"/>
              </a:defRPr>
            </a:pPr>
            <a:r>
              <a:t>9.6  Bayesian analysis with Stan｜Stanによるベイズ推定</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64008" tIns="54864" rIns="109728" bIns="36576">
            <a:spAutoFit/>
          </a:bodyPr>
          <a:lstStyle/>
          <a:p>
            <a:pPr>
              <a:lnSpc>
                <a:spcPct val="118000"/>
              </a:lnSpc>
              <a:spcAft>
                <a:spcPts val="1300"/>
              </a:spcAft>
              <a:defRPr sz="1610">
                <a:solidFill>
                  <a:srgbClr val="232A33"/>
                </a:solidFill>
                <a:latin typeface="Yu Gothic"/>
              </a:defRPr>
            </a:pPr>
            <a:r>
              <a:t>• StanでもJAGSと同様に平均値母数化を用い、3地域の切片αと傾きβをそれぞれ長さ3のベクトルとして定義する。個体iの予測平均はα[pop[i]] + β[pop[i]] × lengthC[i]であり、応答は共通残差標準偏差σの正規分布に従う。</a:t>
            </a:r>
          </a:p>
          <a:p>
            <a:pPr>
              <a:lnSpc>
                <a:spcPct val="118000"/>
              </a:lnSpc>
              <a:spcAft>
                <a:spcPts val="1300"/>
              </a:spcAft>
              <a:defRPr sz="1610">
                <a:solidFill>
                  <a:srgbClr val="232A33"/>
                </a:solidFill>
                <a:latin typeface="Yu Gothic"/>
              </a:defRPr>
            </a:pPr>
            <a:r>
              <a:t>• 切片と傾きの事前分布にはNormal(0,100)、σにはUniform(0,100)を指定する。Stanではデータ、推定パラメータ、モデル、派生量を別のブロックに記述する。派生量にはPyreneesとの切片差・傾き差、JuraとMassif Centralの傾き差を含める。</a:t>
            </a:r>
          </a:p>
          <a:p>
            <a:pPr>
              <a:lnSpc>
                <a:spcPct val="118000"/>
              </a:lnSpc>
              <a:spcAft>
                <a:spcPts val="1300"/>
              </a:spcAft>
              <a:defRPr sz="1610">
                <a:solidFill>
                  <a:srgbClr val="232A33"/>
                </a:solidFill>
                <a:latin typeface="Yu Gothic"/>
              </a:defRPr>
            </a:pPr>
            <a:r>
              <a:t>• 原著では4チェーン、各チェーン1,000反復、そのうちウォームアップ500反復を指定し、推定後にトレースプロットを確認する。比較表に示されたStanの結果は、切片78.32、Massif Central切片差−25.33、Jura切片差−21.07、Pyrenees体長係数5.91、傾き差−3.33と−3.80、σ12.04である。</a:t>
            </a:r>
          </a:p>
          <a:p>
            <a:pPr>
              <a:lnSpc>
                <a:spcPct val="118000"/>
              </a:lnSpc>
              <a:spcAft>
                <a:spcPts val="1300"/>
              </a:spcAft>
              <a:defRPr sz="1610">
                <a:solidFill>
                  <a:srgbClr val="232A33"/>
                </a:solidFill>
                <a:latin typeface="Yu Gothic"/>
              </a:defRPr>
            </a:pPr>
            <a:r>
              <a:t>• これらはJAGSおよび標準線形モデルの推定値と非常に近い。原著では、弱い情報をもつ事前分布によるベイズ事後平均と最尤推定値との数値的な一致に注目している。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707981"/>
                </a:solidFill>
                <a:latin typeface="Arial"/>
              </a:defRPr>
            </a:pPr>
            <a:r>
              <a:t>Applied Statistical Modelling for Ecologists  |  Chapter 9  |  06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B3A58"/>
                </a:solidFill>
                <a:latin typeface="Yu Gothic"/>
              </a:defRPr>
            </a:pPr>
            <a:r>
              <a:t>9.7  Do-it-yourself maximum likelihood estimates｜自作最尤推定</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64008" tIns="54864" rIns="109728" bIns="36576">
            <a:spAutoFit/>
          </a:bodyPr>
          <a:lstStyle/>
          <a:p>
            <a:pPr>
              <a:lnSpc>
                <a:spcPct val="118000"/>
              </a:lnSpc>
              <a:spcAft>
                <a:spcPts val="1300"/>
              </a:spcAft>
              <a:defRPr sz="1610">
                <a:solidFill>
                  <a:srgbClr val="232A33"/>
                </a:solidFill>
                <a:latin typeface="Yu Gothic"/>
              </a:defRPr>
            </a:pPr>
            <a:r>
              <a:t>• 自作の最尤推定では、lm()と同じ効果母数化を使う。切片、二つの地域指標、中心化体長、二つの交互作用係数の計6個の係数をβとし、デザイン行列Xとの積μ=Xβで全個体の期待体重をまとめて表す。</a:t>
            </a:r>
          </a:p>
          <a:p>
            <a:pPr>
              <a:lnSpc>
                <a:spcPct val="118000"/>
              </a:lnSpc>
              <a:spcAft>
                <a:spcPts val="1300"/>
              </a:spcAft>
              <a:defRPr sz="1610">
                <a:solidFill>
                  <a:srgbClr val="232A33"/>
                </a:solidFill>
                <a:latin typeface="Yu Gothic"/>
              </a:defRPr>
            </a:pPr>
            <a:r>
              <a:t>• 各観測体重yᵢについて平均μᵢ・標準偏差σの正規分布の密度を計算し、全個体の対数尤度を合計する。最適化では、その符号を反転した負の対数尤度を最小化する。σが必ず正になるよう、実際に最適化するパラメータはlog(σ)とする。</a:t>
            </a:r>
          </a:p>
          <a:p>
            <a:pPr>
              <a:lnSpc>
                <a:spcPct val="118000"/>
              </a:lnSpc>
              <a:spcAft>
                <a:spcPts val="1300"/>
              </a:spcAft>
              <a:defRPr sz="1610">
                <a:solidFill>
                  <a:srgbClr val="232A33"/>
                </a:solidFill>
                <a:latin typeface="Yu Gothic"/>
              </a:defRPr>
            </a:pPr>
            <a:r>
              <a:t>• 原著は最適化が適切に進むよう、切片の初期値を全体の平均体重に、log(σ)の初期値を観測体重の標準偏差の対数に設定する。他の5つの回帰係数の初期値は0とし、BFGS法による最適化とHessianの計算を行う。</a:t>
            </a:r>
          </a:p>
          <a:p>
            <a:pPr>
              <a:lnSpc>
                <a:spcPct val="118000"/>
              </a:lnSpc>
              <a:spcAft>
                <a:spcPts val="1300"/>
              </a:spcAft>
              <a:defRPr sz="1610">
                <a:solidFill>
                  <a:srgbClr val="232A33"/>
                </a:solidFill>
                <a:latin typeface="Yu Gothic"/>
              </a:defRPr>
            </a:pPr>
            <a:r>
              <a:t>• 推定結果は切片78.343、Massif Central切片差−25.340、Jura切片差−20.998、体長係数5.901、傾き差−3.318と−3.804であり、lm()とほぼ一致する。σの最尤推定値は約10.20となる。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707981"/>
                </a:solidFill>
                <a:latin typeface="Arial"/>
              </a:defRPr>
            </a:pPr>
            <a:r>
              <a:t>Applied Statistical Modelling for Ecologists  |  Chapter 9  |  07 /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B3A58"/>
                </a:solidFill>
                <a:latin typeface="Yu Gothic"/>
              </a:defRPr>
            </a:pPr>
            <a:r>
              <a:t>9.8  Likelihood analysis with TMB｜TMBによる尤度分析</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64008" tIns="54864" rIns="109728" bIns="36576">
            <a:spAutoFit/>
          </a:bodyPr>
          <a:lstStyle/>
          <a:p>
            <a:pPr>
              <a:lnSpc>
                <a:spcPct val="118000"/>
              </a:lnSpc>
              <a:spcAft>
                <a:spcPts val="1300"/>
              </a:spcAft>
              <a:defRPr sz="1610">
                <a:solidFill>
                  <a:srgbClr val="232A33"/>
                </a:solidFill>
                <a:latin typeface="Yu Gothic"/>
              </a:defRPr>
            </a:pPr>
            <a:r>
              <a:t>• TMBでは同じ正規尤度をC++で記述する。平均値母数化により地域ごとに切片αⱼと傾きβⱼを推定し、各個体の期待体重を計算して正規分布の対数尤度を足し合わせ、負の対数尤度を返す。σはlog(σ)から指数変換して求める。</a:t>
            </a:r>
          </a:p>
          <a:p>
            <a:pPr>
              <a:lnSpc>
                <a:spcPct val="118000"/>
              </a:lnSpc>
              <a:spcAft>
                <a:spcPts val="1300"/>
              </a:spcAft>
              <a:defRPr sz="1610">
                <a:solidFill>
                  <a:srgbClr val="232A33"/>
                </a:solidFill>
                <a:latin typeface="Yu Gothic"/>
              </a:defRPr>
            </a:pPr>
            <a:r>
              <a:t>• R、JAGS、Stanでは地域番号が通常1から始まるが、C++では配列の添字が0から始まるため、TMBに渡す地域番号を1だけ減らす。原著ではこの実装上の違いを明示している。</a:t>
            </a:r>
          </a:p>
          <a:p>
            <a:pPr>
              <a:lnSpc>
                <a:spcPct val="118000"/>
              </a:lnSpc>
              <a:spcAft>
                <a:spcPts val="1300"/>
              </a:spcAft>
              <a:defRPr sz="1610">
                <a:solidFill>
                  <a:srgbClr val="232A33"/>
                </a:solidFill>
                <a:latin typeface="Yu Gothic"/>
              </a:defRPr>
            </a:pPr>
            <a:r>
              <a:t>• 地域間の切片差α₂−α₁、α₃−α₁と、傾き差β₂−β₁、β₃−β₁、β₃−β₂を派生量として計算し、ADREPORTの対象に指定する。これにより推定値だけでなく、派生量の標準誤差も得られる。</a:t>
            </a:r>
          </a:p>
          <a:p>
            <a:pPr>
              <a:lnSpc>
                <a:spcPct val="118000"/>
              </a:lnSpc>
              <a:spcAft>
                <a:spcPts val="1300"/>
              </a:spcAft>
              <a:defRPr sz="1610">
                <a:solidFill>
                  <a:srgbClr val="232A33"/>
                </a:solidFill>
                <a:latin typeface="Yu Gothic"/>
              </a:defRPr>
            </a:pPr>
            <a:r>
              <a:t>• 原著は自作最尤推定の場合と同様の初期値を用い、コンパイルしたTMBモデルをRのBFGS法で最適化する。9.9節の比較表では、TMBの回帰係数はlm()・DIYとほぼ一致し、σの推定値は10.20となっている。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707981"/>
                </a:solidFill>
                <a:latin typeface="Arial"/>
              </a:defRPr>
            </a:pPr>
            <a:r>
              <a:t>Applied Statistical Modelling for Ecologists  |  Chapter 9  |  08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B3A58"/>
                </a:solidFill>
                <a:latin typeface="Yu Gothic"/>
              </a:defRPr>
            </a:pPr>
            <a:r>
              <a:t>9.9  Comparison of the parameter estimates｜推定値の比較</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64008" tIns="54864" rIns="109728" bIns="36576">
            <a:spAutoFit/>
          </a:bodyPr>
          <a:lstStyle/>
          <a:p>
            <a:pPr>
              <a:lnSpc>
                <a:spcPct val="118000"/>
              </a:lnSpc>
              <a:spcAft>
                <a:spcPts val="1300"/>
              </a:spcAft>
              <a:defRPr sz="1610">
                <a:solidFill>
                  <a:srgbClr val="232A33"/>
                </a:solidFill>
                <a:latin typeface="Yu Gothic"/>
              </a:defRPr>
            </a:pPr>
            <a:r>
              <a:t>• 原著は真の生成値とlm、JAGS、NIMBLE、Stan、DIY、TMBの推定結果を一覧で比較する。切片の生成値は80、各方法の推定値は順に78.34、78.14、78.28、78.32、78.34、78.34であり、ほぼ同じ値を与える。</a:t>
            </a:r>
          </a:p>
          <a:p>
            <a:pPr>
              <a:lnSpc>
                <a:spcPct val="118000"/>
              </a:lnSpc>
              <a:spcAft>
                <a:spcPts val="1300"/>
              </a:spcAft>
              <a:defRPr sz="1610">
                <a:solidFill>
                  <a:srgbClr val="232A33"/>
                </a:solidFill>
                <a:latin typeface="Yu Gothic"/>
              </a:defRPr>
            </a:pPr>
            <a:r>
              <a:t>• Massif Centralの切片差は生成値−30に対して約−25.23～−25.38、Juraの切片差は生成値−20に対して約−20.88～−21.09である。体長の主効果は生成値6に対し5.89～5.91、二つの傾き差は生成値−3、−4に対し、それぞれ約−3.30～−3.33、−3.79～−3.80となる。</a:t>
            </a:r>
          </a:p>
          <a:p>
            <a:pPr>
              <a:lnSpc>
                <a:spcPct val="118000"/>
              </a:lnSpc>
              <a:spcAft>
                <a:spcPts val="1300"/>
              </a:spcAft>
              <a:defRPr sz="1610">
                <a:solidFill>
                  <a:srgbClr val="232A33"/>
                </a:solidFill>
                <a:latin typeface="Yu Gothic"/>
              </a:defRPr>
            </a:pPr>
            <a:r>
              <a:t>• 一方、残差標準偏差σは生成値10に対して、lm 11.40、JAGS 11.99、NIMBLE 12.16、Stan 12.04、DIY 10.20、TMB 10.20と違いがある。原著では、この違いを比較的小さな標本数と、最小二乗法・ベイズ推定・最尤推定という方法の違いに関連づけて説明している。</a:t>
            </a:r>
          </a:p>
          <a:p>
            <a:pPr>
              <a:lnSpc>
                <a:spcPct val="118000"/>
              </a:lnSpc>
              <a:spcAft>
                <a:spcPts val="1300"/>
              </a:spcAft>
              <a:defRPr sz="1610">
                <a:solidFill>
                  <a:srgbClr val="232A33"/>
                </a:solidFill>
                <a:latin typeface="Yu Gothic"/>
              </a:defRPr>
            </a:pPr>
            <a:r>
              <a:t>• このデータに限ればσの最尤推定値10.20が生成値10に最も近い。しかし原著は、標本数が少ない場合の最尤分散推定にはバイアスがあることを指摘し、この一致が偶然に生じたもので、一般的な傾向ではないと注意している。シミュレーションの反復による確認を勧めてい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707981"/>
                </a:solidFill>
                <a:latin typeface="Arial"/>
              </a:defRPr>
            </a:pPr>
            <a:r>
              <a:t>Applied Statistical Modelling for Ecologists  |  Chapter 9  |  09 / 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B3A58"/>
                </a:solidFill>
                <a:latin typeface="Yu Gothic"/>
              </a:defRPr>
            </a:pPr>
            <a:r>
              <a:t>9.10  Summary and outlook｜まとめと展望</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64008" tIns="54864" rIns="109728" bIns="36576">
            <a:spAutoFit/>
          </a:bodyPr>
          <a:lstStyle/>
          <a:p>
            <a:pPr>
              <a:lnSpc>
                <a:spcPct val="118000"/>
              </a:lnSpc>
              <a:spcAft>
                <a:spcPts val="1300"/>
              </a:spcAft>
              <a:defRPr sz="1610">
                <a:solidFill>
                  <a:srgbClr val="232A33"/>
                </a:solidFill>
                <a:latin typeface="Yu Gothic"/>
              </a:defRPr>
            </a:pPr>
            <a:r>
              <a:t>• 本章では、連続説明変数とカテゴリ説明変数を一つずつ含み、両者の交互作用を持つ正規線形モデルを扱った。地域別に切片と傾きの異なる回帰関係を表現することで、単純な回帰モデルと因子モデルを統合している。</a:t>
            </a:r>
          </a:p>
          <a:p>
            <a:pPr>
              <a:lnSpc>
                <a:spcPct val="118000"/>
              </a:lnSpc>
              <a:spcAft>
                <a:spcPts val="1300"/>
              </a:spcAft>
              <a:defRPr sz="1610">
                <a:solidFill>
                  <a:srgbClr val="232A33"/>
                </a:solidFill>
                <a:latin typeface="Yu Gothic"/>
              </a:defRPr>
            </a:pPr>
            <a:r>
              <a:t>• 平均値母数化では地域ごとの回帰係数を直接表し、効果母数化では参照地域に対する切片差・傾き差を表す。どちらも同じモデルであり、lm、JAGS、NIMBLE、Stan、DIY、TMBの各手法による推定結果が比較された。</a:t>
            </a:r>
          </a:p>
          <a:p>
            <a:pPr>
              <a:lnSpc>
                <a:spcPct val="118000"/>
              </a:lnSpc>
              <a:spcAft>
                <a:spcPts val="1300"/>
              </a:spcAft>
              <a:defRPr sz="1610">
                <a:solidFill>
                  <a:srgbClr val="232A33"/>
                </a:solidFill>
                <a:latin typeface="Yu Gothic"/>
              </a:defRPr>
            </a:pPr>
            <a:r>
              <a:t>• 実際の研究では、連続説明変数や因子を複数含むモデルを考えることができる。交互作用には因子×因子、因子×連続変数、連続変数×連続変数があり、連続変数同士の場合も両者の積を線形予測子に加えれば表現できる。</a:t>
            </a:r>
          </a:p>
          <a:p>
            <a:pPr>
              <a:lnSpc>
                <a:spcPct val="118000"/>
              </a:lnSpc>
              <a:spcAft>
                <a:spcPts val="1300"/>
              </a:spcAft>
              <a:defRPr sz="1610">
                <a:solidFill>
                  <a:srgbClr val="232A33"/>
                </a:solidFill>
                <a:latin typeface="Yu Gothic"/>
              </a:defRPr>
            </a:pPr>
            <a:r>
              <a:t>• 連続説明変数が二つで主効果のみの線形モデルは幾何学的には平面だが、交互作用を加えると平面がねじれた形になる。著者らは、両変数の値を格子状に変えて予測値を作り、画像として表示すると理解しやすいとしている。本章は次章の線形混合モデルを理解するための中間段階に位置づけられ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707981"/>
                </a:solidFill>
                <a:latin typeface="Arial"/>
              </a:defRPr>
            </a:pPr>
            <a:r>
              <a:t>Applied Statistical Modelling for Ecologists  |  Chapter 9  |  10 / 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連続×カテゴリ：線形モデル｜まず統計モデルを読む</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9  |  原著Rコードに基づく学習資料  |  モデル導入 9.4</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モデルの構造（記号は説明のために整理）</a:t>
            </a:r>
          </a:p>
        </p:txBody>
      </p:sp>
      <p:sp>
        <p:nvSpPr>
          <p:cNvPr id="6" name="Rounded Rectangle 5"/>
          <p:cNvSpPr/>
          <p:nvPr/>
        </p:nvSpPr>
        <p:spPr>
          <a:xfrm>
            <a:off x="493776" y="1371600"/>
            <a:ext cx="11082528" cy="1060704"/>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2200" b="1">
                <a:solidFill>
                  <a:srgbClr val="192B45"/>
                </a:solidFill>
                <a:latin typeface="Yu Gothic"/>
              </a:defRPr>
            </a:pPr>
            <a:r>
              <a:t>massᵢ ~ Normal(α[popᵢ]+β[popᵢ] lengthCᵢ, σ²)</a:t>
            </a:r>
          </a:p>
        </p:txBody>
      </p:sp>
      <p:sp>
        <p:nvSpPr>
          <p:cNvPr id="7" name="TextBox 6"/>
          <p:cNvSpPr txBox="1"/>
          <p:nvPr/>
        </p:nvSpPr>
        <p:spPr>
          <a:xfrm>
            <a:off x="512064" y="2578608"/>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観測データとパラメータ</a:t>
            </a:r>
          </a:p>
        </p:txBody>
      </p:sp>
      <p:sp>
        <p:nvSpPr>
          <p:cNvPr id="8" name="TextBox 7"/>
          <p:cNvSpPr txBox="1"/>
          <p:nvPr/>
        </p:nvSpPr>
        <p:spPr>
          <a:xfrm>
            <a:off x="502920" y="2999232"/>
            <a:ext cx="10972800" cy="1005840"/>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3集団・各10個体。体長を中心化し、集団別の切片と傾きを推定。</a:t>
            </a:r>
          </a:p>
        </p:txBody>
      </p:sp>
      <p:sp>
        <p:nvSpPr>
          <p:cNvPr id="9" name="TextBox 8"/>
          <p:cNvSpPr txBox="1"/>
          <p:nvPr/>
        </p:nvSpPr>
        <p:spPr>
          <a:xfrm>
            <a:off x="512064" y="414223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このモデルで注目すること</a:t>
            </a:r>
          </a:p>
        </p:txBody>
      </p:sp>
      <p:sp>
        <p:nvSpPr>
          <p:cNvPr id="10" name="TextBox 9"/>
          <p:cNvSpPr txBox="1"/>
          <p:nvPr/>
        </p:nvSpPr>
        <p:spPr>
          <a:xfrm>
            <a:off x="502920" y="4590288"/>
            <a:ext cx="10972800" cy="1033271"/>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切片差 a.effe と傾き差 b.effe を区別。</a:t>
            </a:r>
          </a:p>
          <a:p>
            <a:pPr>
              <a:spcAft>
                <a:spcPts val="500"/>
              </a:spcAft>
              <a:defRPr sz="1800" b="0">
                <a:solidFill>
                  <a:srgbClr val="242E3C"/>
                </a:solidFill>
                <a:latin typeface="Yu Gothic"/>
              </a:defRPr>
            </a:pPr>
            <a:r>
              <a:t>同じ統計モデルを異なる5種類の実装方法で表現する。</a:t>
            </a:r>
          </a:p>
        </p:txBody>
      </p:sp>
      <p:sp>
        <p:nvSpPr>
          <p:cNvPr id="11" name="TextBox 10"/>
          <p:cNvSpPr txBox="1"/>
          <p:nvPr/>
        </p:nvSpPr>
        <p:spPr>
          <a:xfrm>
            <a:off x="502920" y="5989320"/>
            <a:ext cx="10972800" cy="274320"/>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※数式表現はコード理解用の整理であり、原著の本文翻訳ではありません。</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9.4  JAGS｜コードの読み方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9  |  原著Rコードに基づく学習資料  |  連続×カテゴリ：線形モデル</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019" b="0">
                <a:solidFill>
                  <a:srgbClr val="242E3C"/>
                </a:solidFill>
                <a:latin typeface="Consolas"/>
              </a:defRPr>
            </a:pPr>
            <a:r>
              <a:t>alpha[i] ~ dnorm(0, 0.0001) # Intercepts</a:t>
            </a:r>
          </a:p>
          <a:p>
            <a:pPr>
              <a:spcAft>
                <a:spcPts val="500"/>
              </a:spcAft>
              <a:defRPr sz="1019" b="0">
                <a:solidFill>
                  <a:srgbClr val="242E3C"/>
                </a:solidFill>
                <a:latin typeface="Consolas"/>
              </a:defRPr>
            </a:pPr>
            <a:r>
              <a:t>beta[i] ~ dnorm(0, 0.0001) # Slopes</a:t>
            </a:r>
          </a:p>
          <a:p>
            <a:pPr>
              <a:spcAft>
                <a:spcPts val="500"/>
              </a:spcAft>
              <a:defRPr sz="1019" b="0">
                <a:solidFill>
                  <a:srgbClr val="242E3C"/>
                </a:solidFill>
                <a:latin typeface="Consolas"/>
              </a:defRPr>
            </a:pPr>
            <a:r>
              <a:t>tau &lt;- pow(sigma, -2)</a:t>
            </a:r>
          </a:p>
          <a:p>
            <a:pPr>
              <a:spcAft>
                <a:spcPts val="500"/>
              </a:spcAft>
              <a:defRPr sz="1019" b="0">
                <a:solidFill>
                  <a:srgbClr val="242E3C"/>
                </a:solidFill>
                <a:latin typeface="Consolas"/>
              </a:defRPr>
            </a:pPr>
            <a:r>
              <a:t>mass[i] ~ dnorm(mu[i], tau)</a:t>
            </a:r>
          </a:p>
          <a:p>
            <a:pPr>
              <a:spcAft>
                <a:spcPts val="500"/>
              </a:spcAft>
              <a:defRPr sz="1019" b="0">
                <a:solidFill>
                  <a:srgbClr val="242E3C"/>
                </a:solidFill>
                <a:latin typeface="Consolas"/>
              </a:defRPr>
            </a:pPr>
            <a:r>
              <a:t>mu[i] &lt;- alpha[pop[i]] + beta[pop[i]] * lengthC[i]</a:t>
            </a:r>
          </a:p>
          <a:p>
            <a:pPr>
              <a:spcAft>
                <a:spcPts val="500"/>
              </a:spcAft>
              <a:defRPr sz="1019" b="0">
                <a:solidFill>
                  <a:srgbClr val="242E3C"/>
                </a:solidFill>
                <a:latin typeface="Consolas"/>
              </a:defRPr>
            </a:pPr>
            <a:r>
              <a:t>a.effe2 &lt;- alpha[2] - alpha[1] # Intercept Massif Central vs. Pyr.</a:t>
            </a:r>
          </a:p>
          <a:p>
            <a:pPr>
              <a:spcAft>
                <a:spcPts val="500"/>
              </a:spcAft>
              <a:defRPr sz="1019" b="0">
                <a:solidFill>
                  <a:srgbClr val="242E3C"/>
                </a:solidFill>
                <a:latin typeface="Consolas"/>
              </a:defRPr>
            </a:pPr>
            <a:r>
              <a:t>b.effe2 &lt;- beta[2] - beta[1] # Slope Massif Central vs. Pyr.</a:t>
            </a:r>
          </a:p>
          <a:p>
            <a:pPr>
              <a:spcAft>
                <a:spcPts val="500"/>
              </a:spcAft>
              <a:defRPr sz="1019" b="0">
                <a:solidFill>
                  <a:srgbClr val="242E3C"/>
                </a:solidFill>
                <a:latin typeface="Consolas"/>
              </a:defRPr>
            </a:pPr>
            <a:r>
              <a:t>params &lt;- c("alpha", "beta", "sigma", "a.effe2", "a.effe3", "b.effe2", "b.effe3", "test1")</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確率モデル・事前分布</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モデル内の ~ は確率分布、&lt;- は決定的な計算。dnorm の第2引数は精度 tau = 1/σ²。</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n.iter, n.burnin, n.chains と事前分布の指定を実際のコードで確認。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9.4  JAGS｜推定手順を理解する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9  |  原著Rコードに基づく学習資料  |  連続×カテゴリ：線形モデル</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dataList</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BUGSモデル</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jags()</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traceplot/summary</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モデル内の ~ は確率分布、&lt;- は決定的な計算。dnorm の第2引数は精度 tau = 1/σ²。</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n.iter, n.burnin, n.chains と事前分布の指定を実際のコードで確認。</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9.5  NIMBLE｜コードの読み方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9  |  原著Rコードに基づく学習資料  |  連続×カテゴリ：線形モデル</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alpha[i] ~ dnorm(0, 0.0001)     # Intercepts</a:t>
            </a:r>
          </a:p>
          <a:p>
            <a:pPr>
              <a:spcAft>
                <a:spcPts val="500"/>
              </a:spcAft>
              <a:defRPr sz="1200" b="0">
                <a:solidFill>
                  <a:srgbClr val="242E3C"/>
                </a:solidFill>
                <a:latin typeface="Consolas"/>
              </a:defRPr>
            </a:pPr>
            <a:r>
              <a:t>beta[i] ~ dnorm(0, 0.0001)      # Slopes</a:t>
            </a:r>
          </a:p>
          <a:p>
            <a:pPr>
              <a:spcAft>
                <a:spcPts val="500"/>
              </a:spcAft>
              <a:defRPr sz="1200" b="0">
                <a:solidFill>
                  <a:srgbClr val="242E3C"/>
                </a:solidFill>
                <a:latin typeface="Consolas"/>
              </a:defRPr>
            </a:pPr>
            <a:r>
              <a:t>tau &lt;- pow(sigma, -2)</a:t>
            </a:r>
          </a:p>
          <a:p>
            <a:pPr>
              <a:spcAft>
                <a:spcPts val="500"/>
              </a:spcAft>
              <a:defRPr sz="1200" b="0">
                <a:solidFill>
                  <a:srgbClr val="242E3C"/>
                </a:solidFill>
                <a:latin typeface="Consolas"/>
              </a:defRPr>
            </a:pPr>
            <a:r>
              <a:t>mass[i] ~ dnorm(mu[i], tau)</a:t>
            </a:r>
          </a:p>
          <a:p>
            <a:pPr>
              <a:spcAft>
                <a:spcPts val="500"/>
              </a:spcAft>
              <a:defRPr sz="1200" b="0">
                <a:solidFill>
                  <a:srgbClr val="242E3C"/>
                </a:solidFill>
                <a:latin typeface="Consolas"/>
              </a:defRPr>
            </a:pPr>
            <a:r>
              <a:t>mu[i] &lt;- alpha[pop[i]] + beta[pop[i]] * lengthC[i]</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nimbleCode による階層モデル</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モデルの確率的な構造はJAGSと類似。dnorm では sd= と tau= の記述の違いを読む。</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constants・inits・monitors をどこに渡すかに注目。</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9.5  NIMBLE｜推定手順を理解する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9  |  原著Rコードに基づく学習資料  |  連続×カテゴリ：線形モデル</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nimbleCode()</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nimbleMCMC()</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coda::traceplot()</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モデルの確率的な構造はJAGSと類似。dnorm では sd= と tau= の記述の違いを読む。</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constants・inits・monitors をどこに渡すかに注目。</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9.6  Stan｜コードの読み方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9  |  原著Rコードに基づく学習資料  |  連続×カテゴリ：線形モデル</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 {</a:t>
            </a:r>
          </a:p>
          <a:p>
            <a:pPr>
              <a:spcAft>
                <a:spcPts val="500"/>
              </a:spcAft>
              <a:defRPr sz="1200" b="0">
                <a:solidFill>
                  <a:srgbClr val="242E3C"/>
                </a:solidFill>
                <a:latin typeface="Consolas"/>
              </a:defRPr>
            </a:pPr>
            <a:r>
              <a:t>parameters {</a:t>
            </a:r>
          </a:p>
          <a:p>
            <a:pPr>
              <a:spcAft>
                <a:spcPts val="500"/>
              </a:spcAft>
              <a:defRPr sz="1200" b="0">
                <a:solidFill>
                  <a:srgbClr val="242E3C"/>
                </a:solidFill>
                <a:latin typeface="Consolas"/>
              </a:defRPr>
            </a:pPr>
            <a:r>
              <a:t>model {</a:t>
            </a:r>
          </a:p>
          <a:p>
            <a:pPr>
              <a:spcAft>
                <a:spcPts val="500"/>
              </a:spcAft>
              <a:defRPr sz="1200" b="0">
                <a:solidFill>
                  <a:srgbClr val="242E3C"/>
                </a:solidFill>
                <a:latin typeface="Consolas"/>
              </a:defRPr>
            </a:pPr>
            <a:r>
              <a:t>alpha[i] ~ normal(0, 100);</a:t>
            </a:r>
          </a:p>
          <a:p>
            <a:pPr>
              <a:spcAft>
                <a:spcPts val="500"/>
              </a:spcAft>
              <a:defRPr sz="1200" b="0">
                <a:solidFill>
                  <a:srgbClr val="242E3C"/>
                </a:solidFill>
                <a:latin typeface="Consolas"/>
              </a:defRPr>
            </a:pPr>
            <a:r>
              <a:t>beta[i] ~ normal(0, 100);</a:t>
            </a:r>
          </a:p>
          <a:p>
            <a:pPr>
              <a:spcAft>
                <a:spcPts val="500"/>
              </a:spcAft>
              <a:defRPr sz="1200" b="0">
                <a:solidFill>
                  <a:srgbClr val="242E3C"/>
                </a:solidFill>
                <a:latin typeface="Consolas"/>
              </a:defRPr>
            </a:pPr>
            <a:r>
              <a:t>sigma ~ uniform(0, 100);</a:t>
            </a:r>
          </a:p>
          <a:p>
            <a:pPr>
              <a:spcAft>
                <a:spcPts val="500"/>
              </a:spcAft>
              <a:defRPr sz="1200" b="0">
                <a:solidFill>
                  <a:srgbClr val="242E3C"/>
                </a:solidFill>
                <a:latin typeface="Consolas"/>
              </a:defRPr>
            </a:pPr>
            <a:r>
              <a:t>mu[i] = alpha[pop[i]] + beta[pop[i]] * lengthC[i];</a:t>
            </a:r>
          </a:p>
          <a:p>
            <a:pPr>
              <a:spcAft>
                <a:spcPts val="500"/>
              </a:spcAft>
              <a:defRPr sz="1200" b="0">
                <a:solidFill>
                  <a:srgbClr val="242E3C"/>
                </a:solidFill>
                <a:latin typeface="Consolas"/>
              </a:defRPr>
            </a:pPr>
            <a:r>
              <a:t>mass[i] ~ normal(mu[i], sigma);</a:t>
            </a:r>
          </a:p>
          <a:p>
            <a:pPr>
              <a:spcAft>
                <a:spcPts val="500"/>
              </a:spcAft>
              <a:defRPr sz="1200" b="0">
                <a:solidFill>
                  <a:srgbClr val="242E3C"/>
                </a:solidFill>
                <a:latin typeface="Consolas"/>
              </a:defRPr>
            </a:pPr>
            <a:r>
              <a:t>generated quantities {</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ブロックと連続パラメータ</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 は観測値、parameters は未知量、model は事前分布・尤度。generated quantities は事後の派生量。</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離散潜在変数は直接サンプリングできず、必要に応じて周辺化する。</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9.6  Stan｜推定手順を理解する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9  |  原著Rコードに基づく学習資料  |  連続×カテゴリ：線形モデル</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a:t>
            </a:r>
          </a:p>
        </p:txBody>
      </p:sp>
      <p:sp>
        <p:nvSpPr>
          <p:cNvPr id="7" name="Rounded Rectangle 6"/>
          <p:cNvSpPr/>
          <p:nvPr/>
        </p:nvSpPr>
        <p:spPr>
          <a:xfrm>
            <a:off x="2798064"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parameters</a:t>
            </a:r>
          </a:p>
        </p:txBody>
      </p:sp>
      <p:sp>
        <p:nvSpPr>
          <p:cNvPr id="8" name="Rounded Rectangle 7"/>
          <p:cNvSpPr/>
          <p:nvPr/>
        </p:nvSpPr>
        <p:spPr>
          <a:xfrm>
            <a:off x="5065776"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model</a:t>
            </a:r>
          </a:p>
        </p:txBody>
      </p:sp>
      <p:sp>
        <p:nvSpPr>
          <p:cNvPr id="9" name="Rounded Rectangle 8"/>
          <p:cNvSpPr/>
          <p:nvPr/>
        </p:nvSpPr>
        <p:spPr>
          <a:xfrm>
            <a:off x="7333488"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stan()</a:t>
            </a:r>
          </a:p>
        </p:txBody>
      </p:sp>
      <p:sp>
        <p:nvSpPr>
          <p:cNvPr id="10" name="Rounded Rectangle 9"/>
          <p:cNvSpPr/>
          <p:nvPr/>
        </p:nvSpPr>
        <p:spPr>
          <a:xfrm>
            <a:off x="9601200"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summary</a:t>
            </a:r>
          </a:p>
        </p:txBody>
      </p:sp>
      <p:sp>
        <p:nvSpPr>
          <p:cNvPr id="11" name="TextBox 10"/>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2" name="TextBox 11"/>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 は観測値、parameters は未知量、model は事前分布・尤度。generated quantities は事後の派生量。</a:t>
            </a:r>
          </a:p>
        </p:txBody>
      </p:sp>
      <p:sp>
        <p:nvSpPr>
          <p:cNvPr id="13" name="TextBox 12"/>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4" name="TextBox 13"/>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離散潜在変数は直接サンプリングできず、必要に応じて周辺化する。</a:t>
            </a:r>
          </a:p>
        </p:txBody>
      </p:sp>
      <p:sp>
        <p:nvSpPr>
          <p:cNvPr id="15" name="TextBox 14"/>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9.7  自作尤度（optim）｜コードの読み方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9  |  原著Rコードに基づく学習資料  |  連続×カテゴリ：線形モデル</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019" b="0">
                <a:solidFill>
                  <a:srgbClr val="242E3C"/>
                </a:solidFill>
                <a:latin typeface="Consolas"/>
              </a:defRPr>
            </a:pPr>
            <a:r>
              <a:t>NLL &lt;- function(param, y, Xmat) {</a:t>
            </a:r>
          </a:p>
          <a:p>
            <a:pPr>
              <a:spcAft>
                <a:spcPts val="500"/>
              </a:spcAft>
              <a:defRPr sz="1019" b="0">
                <a:solidFill>
                  <a:srgbClr val="242E3C"/>
                </a:solidFill>
                <a:latin typeface="Consolas"/>
              </a:defRPr>
            </a:pPr>
            <a:r>
              <a:t>beta &lt;- param[1:6] # Intercept/slopes matching columns of Xmat</a:t>
            </a:r>
          </a:p>
          <a:p>
            <a:pPr>
              <a:spcAft>
                <a:spcPts val="500"/>
              </a:spcAft>
              <a:defRPr sz="1019" b="0">
                <a:solidFill>
                  <a:srgbClr val="242E3C"/>
                </a:solidFill>
                <a:latin typeface="Consolas"/>
              </a:defRPr>
            </a:pPr>
            <a:r>
              <a:t>sigma &lt;- exp(param[7]) # Residual SD</a:t>
            </a:r>
          </a:p>
          <a:p>
            <a:pPr>
              <a:spcAft>
                <a:spcPts val="500"/>
              </a:spcAft>
              <a:defRPr sz="1019" b="0">
                <a:solidFill>
                  <a:srgbClr val="242E3C"/>
                </a:solidFill>
                <a:latin typeface="Consolas"/>
              </a:defRPr>
            </a:pPr>
            <a:r>
              <a:t>mu &lt;- Xmat %*% beta # Matrix-multiply beta and design matrix</a:t>
            </a:r>
          </a:p>
          <a:p>
            <a:pPr>
              <a:spcAft>
                <a:spcPts val="500"/>
              </a:spcAft>
              <a:defRPr sz="1019" b="0">
                <a:solidFill>
                  <a:srgbClr val="242E3C"/>
                </a:solidFill>
                <a:latin typeface="Consolas"/>
              </a:defRPr>
            </a:pPr>
            <a:r>
              <a:t>LL &lt;- dnorm(y, mu, sigma, log = TRUE) # Log-lik for each obs</a:t>
            </a:r>
          </a:p>
          <a:p>
            <a:pPr>
              <a:spcAft>
                <a:spcPts val="500"/>
              </a:spcAft>
              <a:defRPr sz="1019" b="0">
                <a:solidFill>
                  <a:srgbClr val="242E3C"/>
                </a:solidFill>
                <a:latin typeface="Consolas"/>
              </a:defRPr>
            </a:pPr>
            <a:r>
              <a:t>out9.7 &lt;- optim(inits, NLL, y = mass, Xmat = Xmat, hessian = TRUE, method = "BFGS")</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負の対数尤度を自分で作る</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尤度の対数を合計し符号を反転する。optim() はこの負の対数尤度を最小化する。</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標準偏差の正値制約を exp(log_sigma) で実装する例を確認。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9.7  自作尤度（optim）｜推定手順を理解する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9  |  原著Rコードに基づく学習資料  |  連続×カテゴリ：線形モデル</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NLL &lt;- function(...)</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推定係数</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尤度の対数を合計し符号を反転する。optim() はこの負の対数尤度を最小化する。</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標準偏差の正値制約を exp(log_sigma) で実装する例を確認。</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9.8  TMB｜コードの読み方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9  |  原著Rコードに基づく学習資料  |  連続×カテゴリ：線形モデル</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DATA_INTEGER(n); //number of obs</a:t>
            </a:r>
          </a:p>
          <a:p>
            <a:pPr>
              <a:spcAft>
                <a:spcPts val="500"/>
              </a:spcAft>
              <a:defRPr sz="1200" b="0">
                <a:solidFill>
                  <a:srgbClr val="242E3C"/>
                </a:solidFill>
                <a:latin typeface="Consolas"/>
              </a:defRPr>
            </a:pPr>
            <a:r>
              <a:t>DATA_VECTOR(mass); //response</a:t>
            </a:r>
          </a:p>
          <a:p>
            <a:pPr>
              <a:spcAft>
                <a:spcPts val="500"/>
              </a:spcAft>
              <a:defRPr sz="1200" b="0">
                <a:solidFill>
                  <a:srgbClr val="242E3C"/>
                </a:solidFill>
                <a:latin typeface="Consolas"/>
              </a:defRPr>
            </a:pPr>
            <a:r>
              <a:t>DATA_IVECTOR(pop); //population index</a:t>
            </a:r>
          </a:p>
          <a:p>
            <a:pPr>
              <a:spcAft>
                <a:spcPts val="500"/>
              </a:spcAft>
              <a:defRPr sz="1200" b="0">
                <a:solidFill>
                  <a:srgbClr val="242E3C"/>
                </a:solidFill>
                <a:latin typeface="Consolas"/>
              </a:defRPr>
            </a:pPr>
            <a:r>
              <a:t>PARAMETER_VECTOR(alpha); //Intercepts</a:t>
            </a:r>
          </a:p>
          <a:p>
            <a:pPr>
              <a:spcAft>
                <a:spcPts val="500"/>
              </a:spcAft>
              <a:defRPr sz="1200" b="0">
                <a:solidFill>
                  <a:srgbClr val="242E3C"/>
                </a:solidFill>
                <a:latin typeface="Consolas"/>
              </a:defRPr>
            </a:pPr>
            <a:r>
              <a:t>PARAMETER(log_sigma); //Residual sd on log scale</a:t>
            </a:r>
          </a:p>
          <a:p>
            <a:pPr>
              <a:spcAft>
                <a:spcPts val="500"/>
              </a:spcAft>
              <a:defRPr sz="1200" b="0">
                <a:solidFill>
                  <a:srgbClr val="242E3C"/>
                </a:solidFill>
                <a:latin typeface="Consolas"/>
              </a:defRPr>
            </a:pPr>
            <a:r>
              <a:t>LL += dnorm(mass(i), mu(i), sigma, true);</a:t>
            </a:r>
          </a:p>
          <a:p>
            <a:pPr>
              <a:spcAft>
                <a:spcPts val="500"/>
              </a:spcAft>
              <a:defRPr sz="1200" b="0">
                <a:solidFill>
                  <a:srgbClr val="242E3C"/>
                </a:solidFill>
                <a:latin typeface="Consolas"/>
              </a:defRPr>
            </a:pPr>
            <a:r>
              <a:t>ADREPORT(a_effe2);</a:t>
            </a:r>
          </a:p>
          <a:p>
            <a:pPr>
              <a:spcAft>
                <a:spcPts val="500"/>
              </a:spcAft>
              <a:defRPr sz="1200" b="0">
                <a:solidFill>
                  <a:srgbClr val="242E3C"/>
                </a:solidFill>
                <a:latin typeface="Consolas"/>
              </a:defRPr>
            </a:pPr>
            <a:r>
              <a:t>ADREPORT(b_effe2);</a:t>
            </a:r>
          </a:p>
          <a:p>
            <a:pPr>
              <a:spcAft>
                <a:spcPts val="500"/>
              </a:spcAft>
              <a:defRPr sz="1200" b="0">
                <a:solidFill>
                  <a:srgbClr val="242E3C"/>
                </a:solidFill>
                <a:latin typeface="Consolas"/>
              </a:defRPr>
            </a:pPr>
            <a:r>
              <a:t>ADREPORT(b_effe3);</a:t>
            </a:r>
          </a:p>
          <a:p>
            <a:pPr>
              <a:spcAft>
                <a:spcPts val="500"/>
              </a:spcAft>
              <a:defRPr sz="1200" b="0">
                <a:solidFill>
                  <a:srgbClr val="242E3C"/>
                </a:solidFill>
                <a:latin typeface="Consolas"/>
              </a:defRPr>
            </a:pPr>
            <a:r>
              <a:t>return -LL; //Return negative of total log likelihood</a:t>
            </a:r>
          </a:p>
          <a:p>
            <a:pPr>
              <a:spcAft>
                <a:spcPts val="500"/>
              </a:spcAft>
              <a:defRPr sz="1200" b="0">
                <a:solidFill>
                  <a:srgbClr val="242E3C"/>
                </a:solidFill>
                <a:latin typeface="Consolas"/>
              </a:defRPr>
            </a:pPr>
            <a:r>
              <a:t>out9.8 &lt;- MakeADFun(data = tmbData, parameters = params,</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C++の目的関数と自動微分</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DATA_* で観測値、PARAMETER* で未知量を宣言。対数尤度を足して最後に -LL を返す。</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C++の添字は0開始。random 指定時はランダム効果をラプラス近似で積分。</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9.8  TMB｜推定手順を理解する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9  |  原著Rコードに基づく学習資料  |  連続×カテゴリ：線形モデル</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compile()/dyn.load()</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MakeADFun()</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DATA_* で観測値、PARAMETER* で未知量を宣言。対数尤度を足して最後に -LL を返す。</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C++の添字は0開始。random 指定時はランダム効果をラプラス近似で積分。</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2581</Words>
  <Application>Microsoft Office PowerPoint</Application>
  <PresentationFormat>ワイド画面</PresentationFormat>
  <Paragraphs>211</Paragraphs>
  <Slides>23</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23</vt:i4>
      </vt:variant>
    </vt:vector>
  </HeadingPairs>
  <TitlesOfParts>
    <vt:vector size="29" baseType="lpstr">
      <vt:lpstr>BIZ UDゴシック</vt:lpstr>
      <vt:lpstr>游ゴシック</vt:lpstr>
      <vt:lpstr>游ゴシック Light</vt:lpstr>
      <vt:lpstr>Aptos</vt:lpstr>
      <vt:lpstr>Arial</vt:lpstr>
      <vt:lpstr>Office テーマ</vt:lpstr>
      <vt:lpstr>Applied Statistical Modelling for Ecologists  ASME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大下　誠二</dc:creator>
  <cp:lastModifiedBy>大下　誠二</cp:lastModifiedBy>
  <cp:revision>1</cp:revision>
  <dcterms:created xsi:type="dcterms:W3CDTF">2026-10-06T23:13:34Z</dcterms:created>
  <dcterms:modified xsi:type="dcterms:W3CDTF">2026-10-21T02:27:48Z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2026-10-06T23:15:09Z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1d969f6b-a62f-407a-9855-5580c37b838a</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テーマ:8</vt:lpwstr>
  </property>
  <property fmtid="{D5CDD505-2E9C-101B-9397-08002B2CF9AE}" pid="11" name="ClassificationContentMarkingHeaderText">
    <vt:lpwstr>【機密性2情報】</vt:lpwstr>
  </property>
</Properties>
</file>