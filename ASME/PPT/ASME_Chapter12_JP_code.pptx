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2"/>
    <p:sldId id="262" r:id="rId3"/>
    <p:sldId id="256" r:id="rId4"/>
    <p:sldId id="257" r:id="rId5"/>
    <p:sldId id="258" r:id="rId6"/>
    <p:sldId id="259" r:id="rId7"/>
    <p:sldId id="260"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812E08-65BF-4685-92F1-B2FA15721A11}" v="2" dt="2026-10-22T05:43:17.4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mod addSld modSld sldOrd modMainMaster">
      <pc:chgData name="大下　誠二" userId="e5774685-19fa-48b9-bec1-68eebf9ac578" providerId="ADAL" clId="{CDBA04F6-D5A6-4F8F-A920-1860374E7F12}" dt="2026-10-22T05:43:17.452" v="9"/>
      <pc:docMkLst>
        <pc:docMk/>
      </pc:docMkLst>
      <pc:sldChg chg="ord">
        <pc:chgData name="大下　誠二" userId="e5774685-19fa-48b9-bec1-68eebf9ac578" providerId="ADAL" clId="{CDBA04F6-D5A6-4F8F-A920-1860374E7F12}" dt="2026-10-22T05:42:08.856" v="4"/>
        <pc:sldMkLst>
          <pc:docMk/>
          <pc:sldMk cId="0" sldId="256"/>
        </pc:sldMkLst>
      </pc:sldChg>
      <pc:sldChg chg="modSp add mod">
        <pc:chgData name="大下　誠二" userId="e5774685-19fa-48b9-bec1-68eebf9ac578" providerId="ADAL" clId="{CDBA04F6-D5A6-4F8F-A920-1860374E7F12}" dt="2026-10-22T05:42:14.207" v="7" actId="20577"/>
        <pc:sldMkLst>
          <pc:docMk/>
          <pc:sldMk cId="1006064969" sldId="261"/>
        </pc:sldMkLst>
        <pc:spChg chg="mod">
          <ac:chgData name="大下　誠二" userId="e5774685-19fa-48b9-bec1-68eebf9ac578" providerId="ADAL" clId="{CDBA04F6-D5A6-4F8F-A920-1860374E7F12}" dt="2026-10-22T05:42:14.207" v="7" actId="20577"/>
          <ac:spMkLst>
            <pc:docMk/>
            <pc:sldMk cId="1006064969" sldId="261"/>
            <ac:spMk id="3" creationId="{0EC5D841-2E60-B1EB-3102-76804FA3912E}"/>
          </ac:spMkLst>
        </pc:spChg>
      </pc:sldChg>
      <pc:sldChg chg="addSp add mod">
        <pc:chgData name="大下　誠二" userId="e5774685-19fa-48b9-bec1-68eebf9ac578" providerId="ADAL" clId="{CDBA04F6-D5A6-4F8F-A920-1860374E7F12}" dt="2026-10-22T05:42:29.955" v="8" actId="22"/>
        <pc:sldMkLst>
          <pc:docMk/>
          <pc:sldMk cId="2683881835" sldId="262"/>
        </pc:sldMkLst>
        <pc:picChg chg="add">
          <ac:chgData name="大下　誠二" userId="e5774685-19fa-48b9-bec1-68eebf9ac578" providerId="ADAL" clId="{CDBA04F6-D5A6-4F8F-A920-1860374E7F12}" dt="2026-10-22T05:42:29.955" v="8" actId="22"/>
          <ac:picMkLst>
            <pc:docMk/>
            <pc:sldMk cId="2683881835" sldId="262"/>
            <ac:picMk id="5" creationId="{CDE58761-99DB-EB28-A784-F756D325A21F}"/>
          </ac:picMkLst>
        </pc:picChg>
      </pc:sldChg>
      <pc:sldChg chg="add">
        <pc:chgData name="大下　誠二" userId="e5774685-19fa-48b9-bec1-68eebf9ac578" providerId="ADAL" clId="{CDBA04F6-D5A6-4F8F-A920-1860374E7F12}" dt="2026-10-22T05:43:17.452" v="9"/>
        <pc:sldMkLst>
          <pc:docMk/>
          <pc:sldMk cId="0" sldId="263"/>
        </pc:sldMkLst>
      </pc:sldChg>
      <pc:sldChg chg="add">
        <pc:chgData name="大下　誠二" userId="e5774685-19fa-48b9-bec1-68eebf9ac578" providerId="ADAL" clId="{CDBA04F6-D5A6-4F8F-A920-1860374E7F12}" dt="2026-10-22T05:43:17.452" v="9"/>
        <pc:sldMkLst>
          <pc:docMk/>
          <pc:sldMk cId="0" sldId="264"/>
        </pc:sldMkLst>
      </pc:sldChg>
      <pc:sldChg chg="add">
        <pc:chgData name="大下　誠二" userId="e5774685-19fa-48b9-bec1-68eebf9ac578" providerId="ADAL" clId="{CDBA04F6-D5A6-4F8F-A920-1860374E7F12}" dt="2026-10-22T05:43:17.452" v="9"/>
        <pc:sldMkLst>
          <pc:docMk/>
          <pc:sldMk cId="0" sldId="265"/>
        </pc:sldMkLst>
      </pc:sldChg>
      <pc:sldChg chg="add">
        <pc:chgData name="大下　誠二" userId="e5774685-19fa-48b9-bec1-68eebf9ac578" providerId="ADAL" clId="{CDBA04F6-D5A6-4F8F-A920-1860374E7F12}" dt="2026-10-22T05:43:17.452" v="9"/>
        <pc:sldMkLst>
          <pc:docMk/>
          <pc:sldMk cId="0" sldId="266"/>
        </pc:sldMkLst>
      </pc:sldChg>
      <pc:sldChg chg="add">
        <pc:chgData name="大下　誠二" userId="e5774685-19fa-48b9-bec1-68eebf9ac578" providerId="ADAL" clId="{CDBA04F6-D5A6-4F8F-A920-1860374E7F12}" dt="2026-10-22T05:43:17.452" v="9"/>
        <pc:sldMkLst>
          <pc:docMk/>
          <pc:sldMk cId="0" sldId="267"/>
        </pc:sldMkLst>
      </pc:sldChg>
      <pc:sldChg chg="add">
        <pc:chgData name="大下　誠二" userId="e5774685-19fa-48b9-bec1-68eebf9ac578" providerId="ADAL" clId="{CDBA04F6-D5A6-4F8F-A920-1860374E7F12}" dt="2026-10-22T05:43:17.452" v="9"/>
        <pc:sldMkLst>
          <pc:docMk/>
          <pc:sldMk cId="0" sldId="268"/>
        </pc:sldMkLst>
      </pc:sldChg>
      <pc:sldChg chg="add">
        <pc:chgData name="大下　誠二" userId="e5774685-19fa-48b9-bec1-68eebf9ac578" providerId="ADAL" clId="{CDBA04F6-D5A6-4F8F-A920-1860374E7F12}" dt="2026-10-22T05:43:17.452" v="9"/>
        <pc:sldMkLst>
          <pc:docMk/>
          <pc:sldMk cId="0" sldId="269"/>
        </pc:sldMkLst>
      </pc:sldChg>
      <pc:sldChg chg="add">
        <pc:chgData name="大下　誠二" userId="e5774685-19fa-48b9-bec1-68eebf9ac578" providerId="ADAL" clId="{CDBA04F6-D5A6-4F8F-A920-1860374E7F12}" dt="2026-10-22T05:43:17.452" v="9"/>
        <pc:sldMkLst>
          <pc:docMk/>
          <pc:sldMk cId="0" sldId="270"/>
        </pc:sldMkLst>
      </pc:sldChg>
      <pc:sldChg chg="add">
        <pc:chgData name="大下　誠二" userId="e5774685-19fa-48b9-bec1-68eebf9ac578" providerId="ADAL" clId="{CDBA04F6-D5A6-4F8F-A920-1860374E7F12}" dt="2026-10-22T05:43:17.452" v="9"/>
        <pc:sldMkLst>
          <pc:docMk/>
          <pc:sldMk cId="0" sldId="271"/>
        </pc:sldMkLst>
      </pc:sldChg>
      <pc:sldChg chg="add">
        <pc:chgData name="大下　誠二" userId="e5774685-19fa-48b9-bec1-68eebf9ac578" providerId="ADAL" clId="{CDBA04F6-D5A6-4F8F-A920-1860374E7F12}" dt="2026-10-22T05:43:17.452" v="9"/>
        <pc:sldMkLst>
          <pc:docMk/>
          <pc:sldMk cId="0" sldId="272"/>
        </pc:sldMkLst>
      </pc:sldChg>
      <pc:sldChg chg="add">
        <pc:chgData name="大下　誠二" userId="e5774685-19fa-48b9-bec1-68eebf9ac578" providerId="ADAL" clId="{CDBA04F6-D5A6-4F8F-A920-1860374E7F12}" dt="2026-10-22T05:43:17.452" v="9"/>
        <pc:sldMkLst>
          <pc:docMk/>
          <pc:sldMk cId="0" sldId="273"/>
        </pc:sldMkLst>
      </pc:sldChg>
      <pc:sldChg chg="add">
        <pc:chgData name="大下　誠二" userId="e5774685-19fa-48b9-bec1-68eebf9ac578" providerId="ADAL" clId="{CDBA04F6-D5A6-4F8F-A920-1860374E7F12}" dt="2026-10-22T05:43:17.452" v="9"/>
        <pc:sldMkLst>
          <pc:docMk/>
          <pc:sldMk cId="0" sldId="274"/>
        </pc:sldMkLst>
      </pc:sldChg>
      <pc:sldChg chg="add">
        <pc:chgData name="大下　誠二" userId="e5774685-19fa-48b9-bec1-68eebf9ac578" providerId="ADAL" clId="{CDBA04F6-D5A6-4F8F-A920-1860374E7F12}" dt="2026-10-22T05:43:17.452" v="9"/>
        <pc:sldMkLst>
          <pc:docMk/>
          <pc:sldMk cId="0" sldId="275"/>
        </pc:sldMkLst>
      </pc:sldChg>
      <pc:sldChg chg="add">
        <pc:chgData name="大下　誠二" userId="e5774685-19fa-48b9-bec1-68eebf9ac578" providerId="ADAL" clId="{CDBA04F6-D5A6-4F8F-A920-1860374E7F12}" dt="2026-10-22T05:43:17.452" v="9"/>
        <pc:sldMkLst>
          <pc:docMk/>
          <pc:sldMk cId="0" sldId="276"/>
        </pc:sldMkLst>
      </pc:sldChg>
      <pc:sldChg chg="add">
        <pc:chgData name="大下　誠二" userId="e5774685-19fa-48b9-bec1-68eebf9ac578" providerId="ADAL" clId="{CDBA04F6-D5A6-4F8F-A920-1860374E7F12}" dt="2026-10-22T05:43:17.452" v="9"/>
        <pc:sldMkLst>
          <pc:docMk/>
          <pc:sldMk cId="0" sldId="277"/>
        </pc:sldMkLst>
      </pc:sldChg>
      <pc:sldChg chg="add">
        <pc:chgData name="大下　誠二" userId="e5774685-19fa-48b9-bec1-68eebf9ac578" providerId="ADAL" clId="{CDBA04F6-D5A6-4F8F-A920-1860374E7F12}" dt="2026-10-22T05:43:17.452" v="9"/>
        <pc:sldMkLst>
          <pc:docMk/>
          <pc:sldMk cId="0" sldId="278"/>
        </pc:sldMkLst>
      </pc:sldChg>
      <pc:sldChg chg="add">
        <pc:chgData name="大下　誠二" userId="e5774685-19fa-48b9-bec1-68eebf9ac578" providerId="ADAL" clId="{CDBA04F6-D5A6-4F8F-A920-1860374E7F12}" dt="2026-10-22T05:43:17.452" v="9"/>
        <pc:sldMkLst>
          <pc:docMk/>
          <pc:sldMk cId="0" sldId="279"/>
        </pc:sldMkLst>
      </pc:sldChg>
      <pc:sldChg chg="add">
        <pc:chgData name="大下　誠二" userId="e5774685-19fa-48b9-bec1-68eebf9ac578" providerId="ADAL" clId="{CDBA04F6-D5A6-4F8F-A920-1860374E7F12}" dt="2026-10-22T05:43:17.452" v="9"/>
        <pc:sldMkLst>
          <pc:docMk/>
          <pc:sldMk cId="0" sldId="280"/>
        </pc:sldMkLst>
      </pc:sldChg>
      <pc:sldChg chg="add">
        <pc:chgData name="大下　誠二" userId="e5774685-19fa-48b9-bec1-68eebf9ac578" providerId="ADAL" clId="{CDBA04F6-D5A6-4F8F-A920-1860374E7F12}" dt="2026-10-22T05:43:17.452" v="9"/>
        <pc:sldMkLst>
          <pc:docMk/>
          <pc:sldMk cId="0" sldId="281"/>
        </pc:sldMkLst>
      </pc:sldChg>
      <pc:sldChg chg="add">
        <pc:chgData name="大下　誠二" userId="e5774685-19fa-48b9-bec1-68eebf9ac578" providerId="ADAL" clId="{CDBA04F6-D5A6-4F8F-A920-1860374E7F12}" dt="2026-10-22T05:43:17.452" v="9"/>
        <pc:sldMkLst>
          <pc:docMk/>
          <pc:sldMk cId="0" sldId="282"/>
        </pc:sldMkLst>
      </pc:sldChg>
      <pc:sldChg chg="add">
        <pc:chgData name="大下　誠二" userId="e5774685-19fa-48b9-bec1-68eebf9ac578" providerId="ADAL" clId="{CDBA04F6-D5A6-4F8F-A920-1860374E7F12}" dt="2026-10-22T05:43:17.452" v="9"/>
        <pc:sldMkLst>
          <pc:docMk/>
          <pc:sldMk cId="0" sldId="283"/>
        </pc:sldMkLst>
      </pc:sldChg>
      <pc:sldChg chg="add">
        <pc:chgData name="大下　誠二" userId="e5774685-19fa-48b9-bec1-68eebf9ac578" providerId="ADAL" clId="{CDBA04F6-D5A6-4F8F-A920-1860374E7F12}" dt="2026-10-22T05:43:17.452" v="9"/>
        <pc:sldMkLst>
          <pc:docMk/>
          <pc:sldMk cId="0" sldId="284"/>
        </pc:sldMkLst>
      </pc:sldChg>
      <pc:sldChg chg="add">
        <pc:chgData name="大下　誠二" userId="e5774685-19fa-48b9-bec1-68eebf9ac578" providerId="ADAL" clId="{CDBA04F6-D5A6-4F8F-A920-1860374E7F12}" dt="2026-10-22T05:43:17.452" v="9"/>
        <pc:sldMkLst>
          <pc:docMk/>
          <pc:sldMk cId="0" sldId="285"/>
        </pc:sldMkLst>
      </pc:sldChg>
      <pc:sldChg chg="add">
        <pc:chgData name="大下　誠二" userId="e5774685-19fa-48b9-bec1-68eebf9ac578" providerId="ADAL" clId="{CDBA04F6-D5A6-4F8F-A920-1860374E7F12}" dt="2026-10-22T05:43:17.452" v="9"/>
        <pc:sldMkLst>
          <pc:docMk/>
          <pc:sldMk cId="0" sldId="286"/>
        </pc:sldMkLst>
      </pc:sldChg>
      <pc:sldChg chg="add">
        <pc:chgData name="大下　誠二" userId="e5774685-19fa-48b9-bec1-68eebf9ac578" providerId="ADAL" clId="{CDBA04F6-D5A6-4F8F-A920-1860374E7F12}" dt="2026-10-22T05:43:17.452" v="9"/>
        <pc:sldMkLst>
          <pc:docMk/>
          <pc:sldMk cId="0" sldId="287"/>
        </pc:sldMkLst>
      </pc:sldChg>
      <pc:sldChg chg="add">
        <pc:chgData name="大下　誠二" userId="e5774685-19fa-48b9-bec1-68eebf9ac578" providerId="ADAL" clId="{CDBA04F6-D5A6-4F8F-A920-1860374E7F12}" dt="2026-10-22T05:43:17.452" v="9"/>
        <pc:sldMkLst>
          <pc:docMk/>
          <pc:sldMk cId="0" sldId="288"/>
        </pc:sldMkLst>
      </pc:sldChg>
      <pc:sldChg chg="add">
        <pc:chgData name="大下　誠二" userId="e5774685-19fa-48b9-bec1-68eebf9ac578" providerId="ADAL" clId="{CDBA04F6-D5A6-4F8F-A920-1860374E7F12}" dt="2026-10-22T05:43:17.452" v="9"/>
        <pc:sldMkLst>
          <pc:docMk/>
          <pc:sldMk cId="0" sldId="289"/>
        </pc:sldMkLst>
      </pc:sldChg>
      <pc:sldChg chg="add">
        <pc:chgData name="大下　誠二" userId="e5774685-19fa-48b9-bec1-68eebf9ac578" providerId="ADAL" clId="{CDBA04F6-D5A6-4F8F-A920-1860374E7F12}" dt="2026-10-22T05:43:17.452" v="9"/>
        <pc:sldMkLst>
          <pc:docMk/>
          <pc:sldMk cId="0" sldId="290"/>
        </pc:sldMkLst>
      </pc:sldChg>
      <pc:sldChg chg="add">
        <pc:chgData name="大下　誠二" userId="e5774685-19fa-48b9-bec1-68eebf9ac578" providerId="ADAL" clId="{CDBA04F6-D5A6-4F8F-A920-1860374E7F12}" dt="2026-10-22T05:43:17.452" v="9"/>
        <pc:sldMkLst>
          <pc:docMk/>
          <pc:sldMk cId="0" sldId="291"/>
        </pc:sldMkLst>
      </pc:sldChg>
      <pc:sldChg chg="add">
        <pc:chgData name="大下　誠二" userId="e5774685-19fa-48b9-bec1-68eebf9ac578" providerId="ADAL" clId="{CDBA04F6-D5A6-4F8F-A920-1860374E7F12}" dt="2026-10-22T05:43:17.452" v="9"/>
        <pc:sldMkLst>
          <pc:docMk/>
          <pc:sldMk cId="0" sldId="292"/>
        </pc:sldMkLst>
      </pc:sldChg>
      <pc:sldChg chg="add">
        <pc:chgData name="大下　誠二" userId="e5774685-19fa-48b9-bec1-68eebf9ac578" providerId="ADAL" clId="{CDBA04F6-D5A6-4F8F-A920-1860374E7F12}" dt="2026-10-22T05:43:17.452" v="9"/>
        <pc:sldMkLst>
          <pc:docMk/>
          <pc:sldMk cId="0" sldId="293"/>
        </pc:sldMkLst>
      </pc:sldChg>
      <pc:sldChg chg="add">
        <pc:chgData name="大下　誠二" userId="e5774685-19fa-48b9-bec1-68eebf9ac578" providerId="ADAL" clId="{CDBA04F6-D5A6-4F8F-A920-1860374E7F12}" dt="2026-10-22T05:43:17.452" v="9"/>
        <pc:sldMkLst>
          <pc:docMk/>
          <pc:sldMk cId="0" sldId="294"/>
        </pc:sldMkLst>
      </pc:sldChg>
      <pc:sldChg chg="add">
        <pc:chgData name="大下　誠二" userId="e5774685-19fa-48b9-bec1-68eebf9ac578" providerId="ADAL" clId="{CDBA04F6-D5A6-4F8F-A920-1860374E7F12}" dt="2026-10-22T05:43:17.452" v="9"/>
        <pc:sldMkLst>
          <pc:docMk/>
          <pc:sldMk cId="0" sldId="295"/>
        </pc:sldMkLst>
      </pc:sldChg>
      <pc:sldMasterChg chg="addSp mod">
        <pc:chgData name="大下　誠二" userId="e5774685-19fa-48b9-bec1-68eebf9ac578" providerId="ADAL" clId="{CDBA04F6-D5A6-4F8F-A920-1860374E7F12}" dt="2026-10-22T05:42:06.248" v="1" actId="33475"/>
        <pc:sldMasterMkLst>
          <pc:docMk/>
          <pc:sldMasterMk cId="2209977519" sldId="2147483648"/>
        </pc:sldMasterMkLst>
        <pc:spChg chg="add">
          <ac:chgData name="大下　誠二" userId="e5774685-19fa-48b9-bec1-68eebf9ac578" providerId="ADAL" clId="{CDBA04F6-D5A6-4F8F-A920-1860374E7F12}" dt="2026-10-22T05:42:06.248" v="1" actId="33475"/>
          <ac:spMkLst>
            <pc:docMk/>
            <pc:sldMasterMk cId="2209977519" sldId="2147483648"/>
            <ac:spMk id="8" creationId="{64BD7628-A42C-956C-E615-3866D0C184F4}"/>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64BD7628-A42C-956C-E615-3866D0C184F4}"/>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12</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CDE58761-99DB-EB28-A784-F756D325A21F}"/>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12.1  Introduction｜はじめに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ポアソンGLMを計数データへ適用するときに頻繁に現れる3つの問題、過分散、ゼロ過剰、オフセットを扱う。これらは互いに異なる性質の問題であり、モデル構造も異なる。</a:t>
            </a:r>
          </a:p>
          <a:p>
            <a:pPr>
              <a:lnSpc>
                <a:spcPct val="118000"/>
              </a:lnSpc>
              <a:spcAft>
                <a:spcPts val="1200"/>
              </a:spcAft>
            </a:pPr>
            <a:r>
              <a:rPr sz="1680">
                <a:solidFill>
                  <a:srgbClr val="222A35"/>
                </a:solidFill>
                <a:latin typeface="Yu Gothic"/>
              </a:rPr>
              <a:t>• 本章ではウサギの計数を例に、同じ説明変数の効果を保ったまま、それぞれの問題をどのようにモデル化するか比較する。</a:t>
            </a:r>
          </a:p>
          <a:p>
            <a:pPr>
              <a:lnSpc>
                <a:spcPct val="118000"/>
              </a:lnSpc>
              <a:spcAft>
                <a:spcPts val="1200"/>
              </a:spcAft>
            </a:pPr>
            <a:r>
              <a:rPr sz="1680">
                <a:solidFill>
                  <a:srgbClr val="222A35"/>
                </a:solidFill>
                <a:latin typeface="Yu Gothic"/>
              </a:rPr>
              <a:t>• 3つの問題はいずれも「計数データ」という同じ応答で発生するが、過分散は変動の大きさ、ゼロ過剰は生成過程の混合、オフセットは観測単位の規模という別々の側面を修正する。</a:t>
            </a:r>
          </a:p>
          <a:p>
            <a:pPr>
              <a:lnSpc>
                <a:spcPct val="118000"/>
              </a:lnSpc>
              <a:spcAft>
                <a:spcPts val="1200"/>
              </a:spcAft>
            </a:pPr>
            <a:r>
              <a:rPr sz="1680">
                <a:solidFill>
                  <a:srgbClr val="222A35"/>
                </a:solidFill>
                <a:latin typeface="Yu Gothic"/>
              </a:rPr>
              <a:t>• 後続の節ではそれぞれ生成過程を明示し、既製関数、ベイズ法、DIY最尤法、TMBで同じモデルをどのように表すかを比較する。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12  |  01 / 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12.2  Overdispersion｜過分散</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900"/>
              </a:spcAft>
            </a:pPr>
            <a:r>
              <a:rPr sz="1420">
                <a:solidFill>
                  <a:srgbClr val="222A35"/>
                </a:solidFill>
                <a:latin typeface="Yu Gothic"/>
              </a:rPr>
              <a:t>• ポアソン分布では分散と平均が等しいが、実データの分散が平均を上回ることが多い。未測定の地点差、個体の凝集、隠れた異質性などが原因となり得る。</a:t>
            </a:r>
          </a:p>
          <a:p>
            <a:pPr>
              <a:lnSpc>
                <a:spcPct val="118000"/>
              </a:lnSpc>
              <a:spcAft>
                <a:spcPts val="900"/>
              </a:spcAft>
            </a:pPr>
            <a:r>
              <a:rPr sz="1420">
                <a:solidFill>
                  <a:srgbClr val="222A35"/>
                </a:solidFill>
                <a:latin typeface="Yu Gothic"/>
              </a:rPr>
              <a:t>• 12.2.1では個々の地点に平均0の正規効果を加えたポアソン・対数正規混合モデルを生成し、過分散のない対照データと比較する。生成時の追加効果の標準偏差は0.5である。</a:t>
            </a:r>
          </a:p>
          <a:p>
            <a:pPr>
              <a:lnSpc>
                <a:spcPct val="118000"/>
              </a:lnSpc>
              <a:spcAft>
                <a:spcPts val="900"/>
              </a:spcAft>
            </a:pPr>
            <a:r>
              <a:rPr sz="1420">
                <a:solidFill>
                  <a:srgbClr val="222A35"/>
                </a:solidFill>
                <a:latin typeface="Yu Gothic"/>
              </a:rPr>
              <a:t>• 12.2.2では通常のポアソンGLMとquasi-Poissonを比較する。quasi-Poissonでは平均構造の点推定は変わらず、分散の拡大を反映して標準誤差が変化する。</a:t>
            </a:r>
          </a:p>
          <a:p>
            <a:pPr>
              <a:lnSpc>
                <a:spcPct val="118000"/>
              </a:lnSpc>
              <a:spcAft>
                <a:spcPts val="900"/>
              </a:spcAft>
            </a:pPr>
            <a:r>
              <a:rPr sz="1420">
                <a:solidFill>
                  <a:srgbClr val="222A35"/>
                </a:solidFill>
                <a:latin typeface="Yu Gothic"/>
              </a:rPr>
              <a:t>• 12.2.3～12.2.8では、観測単位のランダム効果を組み込んだポアソン・対数正規モデルをJAGS、NIMBLE、Stan、DIY、TMBで推定し、モデル間の数値的整合性を確認する。</a:t>
            </a:r>
          </a:p>
          <a:p>
            <a:pPr>
              <a:lnSpc>
                <a:spcPct val="118000"/>
              </a:lnSpc>
              <a:spcAft>
                <a:spcPts val="900"/>
              </a:spcAft>
            </a:pPr>
            <a:r>
              <a:rPr sz="1420">
                <a:solidFill>
                  <a:srgbClr val="222A35"/>
                </a:solidFill>
                <a:latin typeface="Yu Gothic"/>
              </a:rPr>
              <a:t>• 12.2.3のポアソン・対数正規混合モデルでは、log(λᵢ)=α+βxᵢ+εᵢ、εᵢ∼Normal(0,σ²)とする。地点ごとの未観測変動を入れるため、計数の周辺分散が通常のポアソンより大きくなる。</a:t>
            </a:r>
          </a:p>
          <a:p>
            <a:pPr>
              <a:lnSpc>
                <a:spcPct val="118000"/>
              </a:lnSpc>
              <a:spcAft>
                <a:spcPts val="900"/>
              </a:spcAft>
            </a:pPr>
            <a:r>
              <a:rPr sz="1420">
                <a:solidFill>
                  <a:srgbClr val="222A35"/>
                </a:solidFill>
                <a:latin typeface="Yu Gothic"/>
              </a:rPr>
              <a:t>• quasi-Poissonは分散を平均の定数倍とする補正であり、標準誤差を調整するが、明示的な確率分布の追加成分を推定するポアソン・対数正規モデルとは同一ではない。原著では分散構造の区別が重要になる。</a:t>
            </a:r>
          </a:p>
          <a:p>
            <a:pPr>
              <a:lnSpc>
                <a:spcPct val="118000"/>
              </a:lnSpc>
              <a:spcAft>
                <a:spcPts val="900"/>
              </a:spcAft>
            </a:pPr>
            <a:r>
              <a:rPr sz="1420">
                <a:solidFill>
                  <a:srgbClr val="222A35"/>
                </a:solidFill>
                <a:latin typeface="Yu Gothic"/>
              </a:rPr>
              <a:t>• DIY最尤法ではεを積分して周辺尤度を作る必要がある一方、TMBでは正規効果をランダムとして指定する。12.2.8では手法間の係数と過分散SDの比較を行う。</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12  |  02 / 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12.3  Zero inflation｜ゼロ過剰</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900"/>
              </a:spcAft>
            </a:pPr>
            <a:r>
              <a:rPr sz="1420">
                <a:solidFill>
                  <a:srgbClr val="222A35"/>
                </a:solidFill>
                <a:latin typeface="Yu Gothic"/>
              </a:rPr>
              <a:t>• 観測されるゼロの一部がポアソンの偶然のゼロとは別の過程から生じると考える。ゼロ過剰ポアソンモデル（ZIP）は、ゼロとなる状態とポアソン計数を生じる状態の混合モデルである。</a:t>
            </a:r>
          </a:p>
          <a:p>
            <a:pPr>
              <a:lnSpc>
                <a:spcPct val="118000"/>
              </a:lnSpc>
              <a:spcAft>
                <a:spcPts val="900"/>
              </a:spcAft>
            </a:pPr>
            <a:r>
              <a:rPr sz="1420">
                <a:solidFill>
                  <a:srgbClr val="222A35"/>
                </a:solidFill>
                <a:latin typeface="Yu Gothic"/>
              </a:rPr>
              <a:t>• ZIPには、ゼロを追加する確率ψと、ポアソン平均λがある。原著の例ではψ=0.20を設定し、草地・耕地ごとの計数を生成する。生息不適地の状態では必ずゼロになり、生息可能な状態でもポアソン計数が0になることがある。</a:t>
            </a:r>
          </a:p>
          <a:p>
            <a:pPr>
              <a:lnSpc>
                <a:spcPct val="118000"/>
              </a:lnSpc>
              <a:spcAft>
                <a:spcPts val="900"/>
              </a:spcAft>
            </a:pPr>
            <a:r>
              <a:rPr sz="1420">
                <a:solidFill>
                  <a:srgbClr val="222A35"/>
                </a:solidFill>
                <a:latin typeface="Yu Gothic"/>
              </a:rPr>
              <a:t>• 12.3.2では既製のZIPモデルを当てはめ、12.3.3～12.3.8ではJAGS、Stan、DIY、TMB等に展開する。Stanなどでは潜在的な離散状態を明示的にサンプルせず、状態について和をとった混合尤度を使う。</a:t>
            </a:r>
          </a:p>
          <a:p>
            <a:pPr>
              <a:lnSpc>
                <a:spcPct val="118000"/>
              </a:lnSpc>
              <a:spcAft>
                <a:spcPts val="900"/>
              </a:spcAft>
            </a:pPr>
            <a:r>
              <a:rPr sz="1420">
                <a:solidFill>
                  <a:srgbClr val="222A35"/>
                </a:solidFill>
                <a:latin typeface="Yu Gothic"/>
              </a:rPr>
              <a:t>• ゼロ過剰は必ずしも生物学的な不在状態と同一とは限らない。原著は、ZIPと占有モデルで潜在状態をどう解釈するかの違いにも触れている。</a:t>
            </a:r>
          </a:p>
          <a:p>
            <a:pPr>
              <a:lnSpc>
                <a:spcPct val="118000"/>
              </a:lnSpc>
              <a:spcAft>
                <a:spcPts val="900"/>
              </a:spcAft>
            </a:pPr>
            <a:r>
              <a:rPr sz="1420">
                <a:solidFill>
                  <a:srgbClr val="222A35"/>
                </a:solidFill>
                <a:latin typeface="Yu Gothic"/>
              </a:rPr>
              <a:t>• 12.3のモデルは「適地ならポアソン計数、非適地なら必ずゼロ」という2段階の生成機構を想定する。ゼロの確率は、非適地に由来するゼロと、適地でポアソン計数がたまたま0になる場合を合算する。</a:t>
            </a:r>
          </a:p>
          <a:p>
            <a:pPr>
              <a:lnSpc>
                <a:spcPct val="118000"/>
              </a:lnSpc>
              <a:spcAft>
                <a:spcPts val="900"/>
              </a:spcAft>
            </a:pPr>
            <a:r>
              <a:rPr sz="1420">
                <a:solidFill>
                  <a:srgbClr val="222A35"/>
                </a:solidFill>
                <a:latin typeface="Yu Gothic"/>
              </a:rPr>
              <a:t>• 原著で用いるゼロ過剰確率はψ=0.2であり、P(Y=0)=ψ+(1−ψ)exp(−λ)、正の計数についてはP(Y=y)=(1−ψ)Poisson(y;λ)となる。これは単純に全ゼロを取り除く「ゼロ切断」とは異なる。</a:t>
            </a:r>
          </a:p>
          <a:p>
            <a:pPr>
              <a:lnSpc>
                <a:spcPct val="118000"/>
              </a:lnSpc>
              <a:spcAft>
                <a:spcPts val="900"/>
              </a:spcAft>
            </a:pPr>
            <a:r>
              <a:rPr sz="1420">
                <a:solidFill>
                  <a:srgbClr val="222A35"/>
                </a:solidFill>
                <a:latin typeface="Yu Gothic"/>
              </a:rPr>
              <a:t>• Stanでは離散的な潜在適地状態そのものを直接サンプリングせず、2状態を周辺化した尤度を記述する。JAGSでは潜在的適地状態を明示し、推定法の違いを対比している。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12  |  03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12.4  Offsets｜オフセット</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地点間で調査面積、調査時間などの努力量が違う場合、計数はそれらの大きさに比例し得る。期待計数λᵢを面積Aᵢと密度Dᵢの積とすると、log(λᵢ)=log(Aᵢ)+α+βxᵢである。</a:t>
            </a:r>
          </a:p>
          <a:p>
            <a:pPr>
              <a:lnSpc>
                <a:spcPct val="118000"/>
              </a:lnSpc>
              <a:spcAft>
                <a:spcPts val="1200"/>
              </a:spcAft>
            </a:pPr>
            <a:r>
              <a:rPr sz="1540">
                <a:solidFill>
                  <a:srgbClr val="222A35"/>
                </a:solidFill>
                <a:latin typeface="Yu Gothic"/>
              </a:rPr>
              <a:t>• log(Aᵢ)を係数1で線形予測子へ入れるのがオフセットであり、面積効果そのものを推定するわけではない。これにより群差は計数の差ではなく、単位面積当たり密度の差として解釈できる。</a:t>
            </a:r>
          </a:p>
          <a:p>
            <a:pPr>
              <a:lnSpc>
                <a:spcPct val="118000"/>
              </a:lnSpc>
              <a:spcAft>
                <a:spcPts val="1200"/>
              </a:spcAft>
            </a:pPr>
            <a:r>
              <a:rPr sz="1540">
                <a:solidFill>
                  <a:srgbClr val="222A35"/>
                </a:solidFill>
                <a:latin typeface="Yu Gothic"/>
              </a:rPr>
              <a:t>• 12.4.1～12.4.8では調査面積が2～5の範囲で異なるデータを生成し、R、JAGS、NIMBLE、Stan、DIY、TMBで比較する。モデルは同じオフセットを用い、推定値は概ね一致する。</a:t>
            </a:r>
          </a:p>
          <a:p>
            <a:pPr>
              <a:lnSpc>
                <a:spcPct val="118000"/>
              </a:lnSpc>
              <a:spcAft>
                <a:spcPts val="1200"/>
              </a:spcAft>
            </a:pPr>
            <a:r>
              <a:rPr sz="1540">
                <a:solidFill>
                  <a:srgbClr val="222A35"/>
                </a:solidFill>
                <a:latin typeface="Yu Gothic"/>
              </a:rPr>
              <a:t>• 12.4では計数窓の面積が2～5の間で異なる状況を生成する。期待密度Dᵢ=exp(α+βxᵢ)として期待計数はλᵢ=AᵢDᵢとなり、log(Aᵢ)は係数1を固定した説明項として作用する。</a:t>
            </a:r>
          </a:p>
          <a:p>
            <a:pPr>
              <a:lnSpc>
                <a:spcPct val="118000"/>
              </a:lnSpc>
              <a:spcAft>
                <a:spcPts val="1200"/>
              </a:spcAft>
            </a:pPr>
            <a:r>
              <a:rPr sz="1540">
                <a:solidFill>
                  <a:srgbClr val="222A35"/>
                </a:solidFill>
                <a:latin typeface="Yu Gothic"/>
              </a:rPr>
              <a:t>• 面積を説明変数として係数まで推定すると、面積に対する比例関係をあらかじめ仮定するオフセットとは意味が変わる。原著は「調査努力量の大きさを標準化する」役割を明確にしている。</a:t>
            </a:r>
          </a:p>
          <a:p>
            <a:pPr>
              <a:lnSpc>
                <a:spcPct val="118000"/>
              </a:lnSpc>
              <a:spcAft>
                <a:spcPts val="1200"/>
              </a:spcAft>
            </a:pPr>
            <a:r>
              <a:rPr sz="1540">
                <a:solidFill>
                  <a:srgbClr val="222A35"/>
                </a:solidFill>
                <a:latin typeface="Yu Gothic"/>
              </a:rPr>
              <a:t>• オフセットを省略すると、同じ面積当たり密度の違いが計数の違いとして扱われ、切片の尺度が変わる。各推定方法ではオフセットあり・なしを比較してこの点を示す。</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12  |  04 / 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12.5  Summary and outlook｜まとめと展望</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過分散は分散の問題、ゼロ過剰はゼロを生む追加過程の問題、オフセットは観測窓の大きさの問題である。ポアソンGLMを適用する際には、それぞれを区別して検討する必要がある。</a:t>
            </a:r>
          </a:p>
          <a:p>
            <a:pPr>
              <a:lnSpc>
                <a:spcPct val="118000"/>
              </a:lnSpc>
              <a:spcAft>
                <a:spcPts val="1200"/>
              </a:spcAft>
            </a:pPr>
            <a:r>
              <a:rPr sz="1680">
                <a:solidFill>
                  <a:srgbClr val="222A35"/>
                </a:solidFill>
                <a:latin typeface="Yu Gothic"/>
              </a:rPr>
              <a:t>• 原著は3つを別々に説明したが、現実のデータでは同時に現れることもあり、必要に応じて複数の構造を組み合わせたモデルが考えられる。</a:t>
            </a:r>
          </a:p>
          <a:p>
            <a:pPr>
              <a:lnSpc>
                <a:spcPct val="118000"/>
              </a:lnSpc>
              <a:spcAft>
                <a:spcPts val="1200"/>
              </a:spcAft>
            </a:pPr>
            <a:r>
              <a:rPr sz="1680">
                <a:solidFill>
                  <a:srgbClr val="222A35"/>
                </a:solidFill>
                <a:latin typeface="Yu Gothic"/>
              </a:rPr>
              <a:t>• 過分散の補正、ゼロ過剰のモデル化、オフセットの指定は、同じ「よく当てはまる」目的だけで交換可能な技術ではない。観測値を生んだ仕組みのどこが異なるかを見極めて使い分ける。</a:t>
            </a:r>
          </a:p>
          <a:p>
            <a:pPr>
              <a:lnSpc>
                <a:spcPct val="118000"/>
              </a:lnSpc>
              <a:spcAft>
                <a:spcPts val="1200"/>
              </a:spcAft>
            </a:pPr>
            <a:r>
              <a:rPr sz="1680">
                <a:solidFill>
                  <a:srgbClr val="222A35"/>
                </a:solidFill>
                <a:latin typeface="Yu Gothic"/>
              </a:rPr>
              <a:t>• 原著では3構造を独立に示したが、最終節で現実には同時発生し得ると述べる。必要な構造を組み合わせることが可能でも、その分だけ推定対象と識別性の検討が重要になる。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12  |  05 / 05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過分散：ポアソン・対数正規｜まず統計モデルを読む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モデル導入 12.2.3</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Cᵢ ~ Poisson(λᵢ)</a:t>
            </a:r>
          </a:p>
          <a:p>
            <a:pPr>
              <a:spcAft>
                <a:spcPts val="500"/>
              </a:spcAft>
              <a:defRPr sz="2200" b="1">
                <a:solidFill>
                  <a:srgbClr val="192B45"/>
                </a:solidFill>
                <a:latin typeface="Yu Gothic"/>
              </a:defRPr>
            </a:pPr>
            <a:r>
              <a:t>log(λᵢ)=α+βxᵢ+εᵢ, εᵢ~Normal(0,σ²)</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観測単位ごとの正規乱数項 ε がポアソンの平均を揺らす。</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ε を積分する DIY/TMB と、推定する MCMC の対比。</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12.2.3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過分散：ポアソン・対数正規</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 ~ dnorm(0, 0.0001)</a:t>
            </a:r>
          </a:p>
          <a:p>
            <a:pPr>
              <a:spcAft>
                <a:spcPts val="500"/>
              </a:spcAft>
              <a:defRPr sz="1200" b="0">
                <a:solidFill>
                  <a:srgbClr val="242E3C"/>
                </a:solidFill>
                <a:latin typeface="Consolas"/>
              </a:defRPr>
            </a:pPr>
            <a:r>
              <a:t>beta ~ dnorm(0, 0.0001)</a:t>
            </a:r>
          </a:p>
          <a:p>
            <a:pPr>
              <a:spcAft>
                <a:spcPts val="500"/>
              </a:spcAft>
              <a:defRPr sz="1200" b="0">
                <a:solidFill>
                  <a:srgbClr val="242E3C"/>
                </a:solidFill>
                <a:latin typeface="Consolas"/>
              </a:defRPr>
            </a:pPr>
            <a:r>
              <a:t>tau &lt;- pow(sigma, -2)</a:t>
            </a:r>
          </a:p>
          <a:p>
            <a:pPr>
              <a:spcAft>
                <a:spcPts val="500"/>
              </a:spcAft>
              <a:defRPr sz="1200" b="0">
                <a:solidFill>
                  <a:srgbClr val="242E3C"/>
                </a:solidFill>
                <a:latin typeface="Consolas"/>
              </a:defRPr>
            </a:pPr>
            <a:r>
              <a:t>sigma ~ dt(0, 0.1, 1)T(0, ) # Half-Cauchy</a:t>
            </a:r>
          </a:p>
          <a:p>
            <a:pPr>
              <a:spcAft>
                <a:spcPts val="500"/>
              </a:spcAft>
              <a:defRPr sz="1200" b="0">
                <a:solidFill>
                  <a:srgbClr val="242E3C"/>
                </a:solidFill>
                <a:latin typeface="Consolas"/>
              </a:defRPr>
            </a:pPr>
            <a:r>
              <a:t>C_OD[i] ~ dpois(lambda[i])</a:t>
            </a:r>
          </a:p>
          <a:p>
            <a:pPr>
              <a:spcAft>
                <a:spcPts val="500"/>
              </a:spcAft>
              <a:defRPr sz="1200" b="0">
                <a:solidFill>
                  <a:srgbClr val="242E3C"/>
                </a:solidFill>
                <a:latin typeface="Consolas"/>
              </a:defRPr>
            </a:pPr>
            <a:r>
              <a:t>log(lambda[i]) &lt;- alpha + beta *x[i] + eps[i]</a:t>
            </a:r>
          </a:p>
          <a:p>
            <a:pPr>
              <a:spcAft>
                <a:spcPts val="500"/>
              </a:spcAft>
              <a:defRPr sz="1200" b="0">
                <a:solidFill>
                  <a:srgbClr val="242E3C"/>
                </a:solidFill>
                <a:latin typeface="Consolas"/>
              </a:defRPr>
            </a:pPr>
            <a:r>
              <a:t>eps[i] ~ dnorm(0, tau)</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12.2.3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過分散：ポアソン・対数正規</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12.2.4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過分散：ポアソン・対数正規</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 ~ dnorm(0, 0.0001)</a:t>
            </a:r>
          </a:p>
          <a:p>
            <a:pPr>
              <a:spcAft>
                <a:spcPts val="500"/>
              </a:spcAft>
              <a:defRPr sz="1200" b="0">
                <a:solidFill>
                  <a:srgbClr val="242E3C"/>
                </a:solidFill>
                <a:latin typeface="Consolas"/>
              </a:defRPr>
            </a:pPr>
            <a:r>
              <a:t>beta ~ dnorm(0, 0.0001)</a:t>
            </a:r>
          </a:p>
          <a:p>
            <a:pPr>
              <a:spcAft>
                <a:spcPts val="500"/>
              </a:spcAft>
              <a:defRPr sz="1200" b="0">
                <a:solidFill>
                  <a:srgbClr val="242E3C"/>
                </a:solidFill>
                <a:latin typeface="Consolas"/>
              </a:defRPr>
            </a:pPr>
            <a:r>
              <a:t>C_OD[i] ~ dpois(lambda[i])</a:t>
            </a:r>
          </a:p>
          <a:p>
            <a:pPr>
              <a:spcAft>
                <a:spcPts val="500"/>
              </a:spcAft>
              <a:defRPr sz="1200" b="0">
                <a:solidFill>
                  <a:srgbClr val="242E3C"/>
                </a:solidFill>
                <a:latin typeface="Consolas"/>
              </a:defRPr>
            </a:pPr>
            <a:r>
              <a:t>log(lambda[i]) &lt;- alpha + beta *x[i] + eps[i]</a:t>
            </a:r>
          </a:p>
          <a:p>
            <a:pPr>
              <a:spcAft>
                <a:spcPts val="500"/>
              </a:spcAft>
              <a:defRPr sz="1200" b="0">
                <a:solidFill>
                  <a:srgbClr val="242E3C"/>
                </a:solidFill>
                <a:latin typeface="Consolas"/>
              </a:defRPr>
            </a:pPr>
            <a:r>
              <a:t>eps[i] ~ dnorm(0, sd = sigma)</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12.2.4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過分散：ポアソン・対数正規</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12.2.5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過分散：ポアソン・対数正規</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a:t>
            </a:r>
          </a:p>
          <a:p>
            <a:pPr>
              <a:spcAft>
                <a:spcPts val="500"/>
              </a:spcAft>
              <a:defRPr sz="1200" b="0">
                <a:solidFill>
                  <a:srgbClr val="242E3C"/>
                </a:solidFill>
                <a:latin typeface="Consolas"/>
              </a:defRPr>
            </a:pPr>
            <a:r>
              <a:t>parameters{</a:t>
            </a:r>
          </a:p>
          <a:p>
            <a:pPr>
              <a:spcAft>
                <a:spcPts val="500"/>
              </a:spcAft>
              <a:defRPr sz="1200" b="0">
                <a:solidFill>
                  <a:srgbClr val="242E3C"/>
                </a:solidFill>
                <a:latin typeface="Consolas"/>
              </a:defRPr>
            </a:pPr>
            <a:r>
              <a:t>model{</a:t>
            </a:r>
          </a:p>
          <a:p>
            <a:pPr>
              <a:spcAft>
                <a:spcPts val="500"/>
              </a:spcAft>
              <a:defRPr sz="1200" b="0">
                <a:solidFill>
                  <a:srgbClr val="242E3C"/>
                </a:solidFill>
                <a:latin typeface="Consolas"/>
              </a:defRPr>
            </a:pPr>
            <a:r>
              <a:t>alpha ~ normal(0, 100);</a:t>
            </a:r>
          </a:p>
          <a:p>
            <a:pPr>
              <a:spcAft>
                <a:spcPts val="500"/>
              </a:spcAft>
              <a:defRPr sz="1200" b="0">
                <a:solidFill>
                  <a:srgbClr val="242E3C"/>
                </a:solidFill>
                <a:latin typeface="Consolas"/>
              </a:defRPr>
            </a:pPr>
            <a:r>
              <a:t>beta ~ normal(0, 100);</a:t>
            </a:r>
          </a:p>
          <a:p>
            <a:pPr>
              <a:spcAft>
                <a:spcPts val="500"/>
              </a:spcAft>
              <a:defRPr sz="1200" b="0">
                <a:solidFill>
                  <a:srgbClr val="242E3C"/>
                </a:solidFill>
                <a:latin typeface="Consolas"/>
              </a:defRPr>
            </a:pPr>
            <a:r>
              <a:t>sigma ~ cauchy(0, 10);</a:t>
            </a:r>
          </a:p>
          <a:p>
            <a:pPr>
              <a:spcAft>
                <a:spcPts val="500"/>
              </a:spcAft>
              <a:defRPr sz="1200" b="0">
                <a:solidFill>
                  <a:srgbClr val="242E3C"/>
                </a:solidFill>
                <a:latin typeface="Consolas"/>
              </a:defRPr>
            </a:pPr>
            <a:r>
              <a:t>eps[i] ~ normal(0, sigma);</a:t>
            </a:r>
          </a:p>
          <a:p>
            <a:pPr>
              <a:spcAft>
                <a:spcPts val="500"/>
              </a:spcAft>
              <a:defRPr sz="1200" b="0">
                <a:solidFill>
                  <a:srgbClr val="242E3C"/>
                </a:solidFill>
                <a:latin typeface="Consolas"/>
              </a:defRPr>
            </a:pPr>
            <a:r>
              <a:t>lambda[i] = exp(alpha + beta * x[i] + eps[i]);</a:t>
            </a:r>
          </a:p>
          <a:p>
            <a:pPr>
              <a:spcAft>
                <a:spcPts val="500"/>
              </a:spcAft>
              <a:defRPr sz="1200" b="0">
                <a:solidFill>
                  <a:srgbClr val="242E3C"/>
                </a:solidFill>
                <a:latin typeface="Consolas"/>
              </a:defRPr>
            </a:pPr>
            <a:r>
              <a:t>C_OD[i] ~ poisson(lambda[i]);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12.2.5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過分散：ポアソン・対数正規</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12.2.6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過分散：ポアソン・対数正規</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NLL &lt;- function(param, data) {</a:t>
            </a:r>
          </a:p>
          <a:p>
            <a:pPr>
              <a:spcAft>
                <a:spcPts val="500"/>
              </a:spcAft>
              <a:defRPr sz="1200" b="0">
                <a:solidFill>
                  <a:srgbClr val="242E3C"/>
                </a:solidFill>
                <a:latin typeface="Consolas"/>
              </a:defRPr>
            </a:pPr>
            <a:r>
              <a:t>alpha &lt;- param[1]</a:t>
            </a:r>
          </a:p>
          <a:p>
            <a:pPr>
              <a:spcAft>
                <a:spcPts val="500"/>
              </a:spcAft>
              <a:defRPr sz="1200" b="0">
                <a:solidFill>
                  <a:srgbClr val="242E3C"/>
                </a:solidFill>
                <a:latin typeface="Consolas"/>
              </a:defRPr>
            </a:pPr>
            <a:r>
              <a:t>beta &lt;- param[2]</a:t>
            </a:r>
          </a:p>
          <a:p>
            <a:pPr>
              <a:spcAft>
                <a:spcPts val="500"/>
              </a:spcAft>
              <a:defRPr sz="1200" b="0">
                <a:solidFill>
                  <a:srgbClr val="242E3C"/>
                </a:solidFill>
                <a:latin typeface="Consolas"/>
              </a:defRPr>
            </a:pPr>
            <a:r>
              <a:t>sigma &lt;- exp(param[3])</a:t>
            </a:r>
          </a:p>
          <a:p>
            <a:pPr>
              <a:spcAft>
                <a:spcPts val="500"/>
              </a:spcAft>
              <a:defRPr sz="1200" b="0">
                <a:solidFill>
                  <a:srgbClr val="242E3C"/>
                </a:solidFill>
                <a:latin typeface="Consolas"/>
              </a:defRPr>
            </a:pPr>
            <a:r>
              <a:t>L &lt;- numeric(n)</a:t>
            </a:r>
          </a:p>
          <a:p>
            <a:pPr>
              <a:spcAft>
                <a:spcPts val="500"/>
              </a:spcAft>
              <a:defRPr sz="1200" b="0">
                <a:solidFill>
                  <a:srgbClr val="242E3C"/>
                </a:solidFill>
                <a:latin typeface="Consolas"/>
              </a:defRPr>
            </a:pPr>
            <a:r>
              <a:t>L[i] &lt;- integrate(function(eps){</a:t>
            </a:r>
          </a:p>
          <a:p>
            <a:pPr>
              <a:spcAft>
                <a:spcPts val="500"/>
              </a:spcAft>
              <a:defRPr sz="1200" b="0">
                <a:solidFill>
                  <a:srgbClr val="242E3C"/>
                </a:solidFill>
                <a:latin typeface="Consolas"/>
              </a:defRPr>
            </a:pPr>
            <a:r>
              <a:t>lambda &lt;- exp(alpha + beta * data$x[i] + eps)</a:t>
            </a:r>
          </a:p>
          <a:p>
            <a:pPr>
              <a:spcAft>
                <a:spcPts val="500"/>
              </a:spcAft>
              <a:defRPr sz="1200" b="0">
                <a:solidFill>
                  <a:srgbClr val="242E3C"/>
                </a:solidFill>
                <a:latin typeface="Consolas"/>
              </a:defRPr>
            </a:pPr>
            <a:r>
              <a:t>dpois(data$C_OD[i], lambda)* dnorm(eps, 0, sigma)},</a:t>
            </a:r>
          </a:p>
          <a:p>
            <a:pPr>
              <a:spcAft>
                <a:spcPts val="500"/>
              </a:spcAft>
              <a:defRPr sz="1200" b="0">
                <a:solidFill>
                  <a:srgbClr val="242E3C"/>
                </a:solidFill>
                <a:latin typeface="Consolas"/>
              </a:defRPr>
            </a:pPr>
            <a:r>
              <a:t>NLL &lt;- -sum(log(L))</a:t>
            </a:r>
          </a:p>
          <a:p>
            <a:pPr>
              <a:spcAft>
                <a:spcPts val="500"/>
              </a:spcAft>
              <a:defRPr sz="1200" b="0">
                <a:solidFill>
                  <a:srgbClr val="242E3C"/>
                </a:solidFill>
                <a:latin typeface="Consolas"/>
              </a:defRPr>
            </a:pPr>
            <a:r>
              <a:t>out12.2.6 &lt;- optim(inits, NLL, data = dataList, hessian = TRUE)</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12.2.6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過分散：ポアソン・対数正規</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12.2.7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過分散：ポアソン・対数正規</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DATA_VECTOR(C_OD);                 //response</a:t>
            </a:r>
          </a:p>
          <a:p>
            <a:pPr>
              <a:spcAft>
                <a:spcPts val="500"/>
              </a:spcAft>
              <a:defRPr sz="1200" b="0">
                <a:solidFill>
                  <a:srgbClr val="242E3C"/>
                </a:solidFill>
                <a:latin typeface="Consolas"/>
              </a:defRPr>
            </a:pPr>
            <a:r>
              <a:t>DATA_VECTOR(x);                    //covariate</a:t>
            </a:r>
          </a:p>
          <a:p>
            <a:pPr>
              <a:spcAft>
                <a:spcPts val="500"/>
              </a:spcAft>
              <a:defRPr sz="1200" b="0">
                <a:solidFill>
                  <a:srgbClr val="242E3C"/>
                </a:solidFill>
                <a:latin typeface="Consolas"/>
              </a:defRPr>
            </a:pPr>
            <a:r>
              <a:t>DATA_INTEGER(n);                   //Number of observations</a:t>
            </a:r>
          </a:p>
          <a:p>
            <a:pPr>
              <a:spcAft>
                <a:spcPts val="500"/>
              </a:spcAft>
              <a:defRPr sz="1200" b="0">
                <a:solidFill>
                  <a:srgbClr val="242E3C"/>
                </a:solidFill>
                <a:latin typeface="Consolas"/>
              </a:defRPr>
            </a:pPr>
            <a:r>
              <a:t>PARAMETER(beta);</a:t>
            </a:r>
          </a:p>
          <a:p>
            <a:pPr>
              <a:spcAft>
                <a:spcPts val="500"/>
              </a:spcAft>
              <a:defRPr sz="1200" b="0">
                <a:solidFill>
                  <a:srgbClr val="242E3C"/>
                </a:solidFill>
                <a:latin typeface="Consolas"/>
              </a:defRPr>
            </a:pPr>
            <a:r>
              <a:t>PARAMETER(log_sigma);</a:t>
            </a:r>
          </a:p>
          <a:p>
            <a:pPr>
              <a:spcAft>
                <a:spcPts val="500"/>
              </a:spcAft>
              <a:defRPr sz="1200" b="0">
                <a:solidFill>
                  <a:srgbClr val="242E3C"/>
                </a:solidFill>
                <a:latin typeface="Consolas"/>
              </a:defRPr>
            </a:pPr>
            <a:r>
              <a:t>PARAMETER_VECTOR(eps);</a:t>
            </a:r>
          </a:p>
          <a:p>
            <a:pPr>
              <a:spcAft>
                <a:spcPts val="500"/>
              </a:spcAft>
              <a:defRPr sz="1200" b="0">
                <a:solidFill>
                  <a:srgbClr val="242E3C"/>
                </a:solidFill>
                <a:latin typeface="Consolas"/>
              </a:defRPr>
            </a:pPr>
            <a:r>
              <a:t>LL += dnorm(eps(i), Type(0.0), sigma, true);</a:t>
            </a:r>
          </a:p>
          <a:p>
            <a:pPr>
              <a:spcAft>
                <a:spcPts val="500"/>
              </a:spcAft>
              <a:defRPr sz="1200" b="0">
                <a:solidFill>
                  <a:srgbClr val="242E3C"/>
                </a:solidFill>
                <a:latin typeface="Consolas"/>
              </a:defRPr>
            </a:pPr>
            <a:r>
              <a:t>Type lambda = exp(alpha + beta * x(i) + eps(i));</a:t>
            </a:r>
          </a:p>
          <a:p>
            <a:pPr>
              <a:spcAft>
                <a:spcPts val="500"/>
              </a:spcAft>
              <a:defRPr sz="1200" b="0">
                <a:solidFill>
                  <a:srgbClr val="242E3C"/>
                </a:solidFill>
                <a:latin typeface="Consolas"/>
              </a:defRPr>
            </a:pPr>
            <a:r>
              <a:t>return -LL;                        //Return negative log likelihood</a:t>
            </a:r>
          </a:p>
          <a:p>
            <a:pPr>
              <a:spcAft>
                <a:spcPts val="500"/>
              </a:spcAft>
              <a:defRPr sz="1200" b="0">
                <a:solidFill>
                  <a:srgbClr val="242E3C"/>
                </a:solidFill>
                <a:latin typeface="Consolas"/>
              </a:defRPr>
            </a:pPr>
            <a:r>
              <a:t>out12.2.7 &lt;- MakeADFun(data = dataList,</a:t>
            </a:r>
          </a:p>
          <a:p>
            <a:pPr>
              <a:spcAft>
                <a:spcPts val="500"/>
              </a:spcAft>
              <a:defRPr sz="1200" b="0">
                <a:solidFill>
                  <a:srgbClr val="242E3C"/>
                </a:solidFill>
                <a:latin typeface="Consolas"/>
              </a:defRPr>
            </a:pPr>
            <a:r>
              <a:t>random = "eps",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12.2.7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過分散：ポアソン・対数正規</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ゼロ過剰：ZIP｜まず統計モデルを読む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モデル導入 12.3.3</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wᵢ~Bernoulli(1−ψ)</a:t>
            </a:r>
          </a:p>
          <a:p>
            <a:pPr>
              <a:spcAft>
                <a:spcPts val="500"/>
              </a:spcAft>
              <a:defRPr sz="2200" b="1">
                <a:solidFill>
                  <a:srgbClr val="192B45"/>
                </a:solidFill>
                <a:latin typeface="Yu Gothic"/>
              </a:defRPr>
            </a:pPr>
            <a:r>
              <a:t>Cᵢ~Poisson(wᵢ λᵢ)</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構造的なゼロの割合 ψ と通常のポアソン過程を区別。</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Stan/DIY/TMB は w を周辺化した混合尤度を使用。</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12.3.3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ゼロ過剰：ZIP</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 ~ dnorm(0, 0.0001)</a:t>
            </a:r>
          </a:p>
          <a:p>
            <a:pPr>
              <a:spcAft>
                <a:spcPts val="500"/>
              </a:spcAft>
              <a:defRPr sz="1200" b="0">
                <a:solidFill>
                  <a:srgbClr val="242E3C"/>
                </a:solidFill>
                <a:latin typeface="Consolas"/>
              </a:defRPr>
            </a:pPr>
            <a:r>
              <a:t>beta ~ dnorm(0, 0.0001)</a:t>
            </a:r>
          </a:p>
          <a:p>
            <a:pPr>
              <a:spcAft>
                <a:spcPts val="500"/>
              </a:spcAft>
              <a:defRPr sz="1200" b="0">
                <a:solidFill>
                  <a:srgbClr val="242E3C"/>
                </a:solidFill>
                <a:latin typeface="Consolas"/>
              </a:defRPr>
            </a:pPr>
            <a:r>
              <a:t>w[i] ~ dbern(1-psi) # Habitat suitability</a:t>
            </a:r>
          </a:p>
          <a:p>
            <a:pPr>
              <a:spcAft>
                <a:spcPts val="500"/>
              </a:spcAft>
              <a:defRPr sz="1200" b="0">
                <a:solidFill>
                  <a:srgbClr val="242E3C"/>
                </a:solidFill>
                <a:latin typeface="Consolas"/>
              </a:defRPr>
            </a:pPr>
            <a:r>
              <a:t>C[i] ~ dpois(eff.lambda[i])</a:t>
            </a:r>
          </a:p>
          <a:p>
            <a:pPr>
              <a:spcAft>
                <a:spcPts val="500"/>
              </a:spcAft>
              <a:defRPr sz="1200" b="0">
                <a:solidFill>
                  <a:srgbClr val="242E3C"/>
                </a:solidFill>
                <a:latin typeface="Consolas"/>
              </a:defRPr>
            </a:pPr>
            <a:r>
              <a:t>log(lambda[i]) &lt;- alpha + beta * x[i] # expected abundance at suitable sites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12.3.3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ゼロ過剰：ZIP</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12.3.4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ゼロ過剰：ZIP</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 ~ dnorm(0, 0.0001)</a:t>
            </a:r>
          </a:p>
          <a:p>
            <a:pPr>
              <a:spcAft>
                <a:spcPts val="500"/>
              </a:spcAft>
              <a:defRPr sz="1200" b="0">
                <a:solidFill>
                  <a:srgbClr val="242E3C"/>
                </a:solidFill>
                <a:latin typeface="Consolas"/>
              </a:defRPr>
            </a:pPr>
            <a:r>
              <a:t>beta ~ dnorm(0, 0.0001)</a:t>
            </a:r>
          </a:p>
          <a:p>
            <a:pPr>
              <a:spcAft>
                <a:spcPts val="500"/>
              </a:spcAft>
              <a:defRPr sz="1200" b="0">
                <a:solidFill>
                  <a:srgbClr val="242E3C"/>
                </a:solidFill>
                <a:latin typeface="Consolas"/>
              </a:defRPr>
            </a:pPr>
            <a:r>
              <a:t>w[i] ~ dbern(1 - psi)</a:t>
            </a:r>
          </a:p>
          <a:p>
            <a:pPr>
              <a:spcAft>
                <a:spcPts val="500"/>
              </a:spcAft>
              <a:defRPr sz="1200" b="0">
                <a:solidFill>
                  <a:srgbClr val="242E3C"/>
                </a:solidFill>
                <a:latin typeface="Consolas"/>
              </a:defRPr>
            </a:pPr>
            <a:r>
              <a:t>C[i] ~ dpois(eff.lambda[i])</a:t>
            </a:r>
          </a:p>
          <a:p>
            <a:pPr>
              <a:spcAft>
                <a:spcPts val="500"/>
              </a:spcAft>
              <a:defRPr sz="1200" b="0">
                <a:solidFill>
                  <a:srgbClr val="242E3C"/>
                </a:solidFill>
                <a:latin typeface="Consolas"/>
              </a:defRPr>
            </a:pPr>
            <a:r>
              <a:t>log(lambda[i]) &lt;- alpha + beta * x[i]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12.3.4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ゼロ過剰：ZIP</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12.3.5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ゼロ過剰：ZIP</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a:t>
            </a:r>
          </a:p>
          <a:p>
            <a:pPr>
              <a:spcAft>
                <a:spcPts val="500"/>
              </a:spcAft>
              <a:defRPr sz="1200" b="0">
                <a:solidFill>
                  <a:srgbClr val="242E3C"/>
                </a:solidFill>
                <a:latin typeface="Consolas"/>
              </a:defRPr>
            </a:pPr>
            <a:r>
              <a:t>parameters{</a:t>
            </a:r>
          </a:p>
          <a:p>
            <a:pPr>
              <a:spcAft>
                <a:spcPts val="500"/>
              </a:spcAft>
              <a:defRPr sz="1200" b="0">
                <a:solidFill>
                  <a:srgbClr val="242E3C"/>
                </a:solidFill>
                <a:latin typeface="Consolas"/>
              </a:defRPr>
            </a:pPr>
            <a:r>
              <a:t>model{</a:t>
            </a:r>
          </a:p>
          <a:p>
            <a:pPr>
              <a:spcAft>
                <a:spcPts val="500"/>
              </a:spcAft>
              <a:defRPr sz="1200" b="0">
                <a:solidFill>
                  <a:srgbClr val="242E3C"/>
                </a:solidFill>
                <a:latin typeface="Consolas"/>
              </a:defRPr>
            </a:pPr>
            <a:r>
              <a:t>alpha ~ normal(0, 100);</a:t>
            </a:r>
          </a:p>
          <a:p>
            <a:pPr>
              <a:spcAft>
                <a:spcPts val="500"/>
              </a:spcAft>
              <a:defRPr sz="1200" b="0">
                <a:solidFill>
                  <a:srgbClr val="242E3C"/>
                </a:solidFill>
                <a:latin typeface="Consolas"/>
              </a:defRPr>
            </a:pPr>
            <a:r>
              <a:t>beta ~ normal(0, 100);</a:t>
            </a:r>
          </a:p>
          <a:p>
            <a:pPr>
              <a:spcAft>
                <a:spcPts val="500"/>
              </a:spcAft>
              <a:defRPr sz="1200" b="0">
                <a:solidFill>
                  <a:srgbClr val="242E3C"/>
                </a:solidFill>
                <a:latin typeface="Consolas"/>
              </a:defRPr>
            </a:pPr>
            <a:r>
              <a:t>lambda[i] = exp(alpha + beta * x[i]);</a:t>
            </a:r>
          </a:p>
          <a:p>
            <a:pPr>
              <a:spcAft>
                <a:spcPts val="500"/>
              </a:spcAft>
              <a:defRPr sz="1200" b="0">
                <a:solidFill>
                  <a:srgbClr val="242E3C"/>
                </a:solidFill>
                <a:latin typeface="Consolas"/>
              </a:defRPr>
            </a:pPr>
            <a:r>
              <a:t>lik[i] = psi + (1-psi) * exp(poisson_lpmf(0 | lambda[i]));</a:t>
            </a:r>
          </a:p>
          <a:p>
            <a:pPr>
              <a:spcAft>
                <a:spcPts val="500"/>
              </a:spcAft>
              <a:defRPr sz="1200" b="0">
                <a:solidFill>
                  <a:srgbClr val="242E3C"/>
                </a:solidFill>
                <a:latin typeface="Consolas"/>
              </a:defRPr>
            </a:pPr>
            <a:r>
              <a:t>lik[i] = (1-psi) * exp(poisson_lpmf(C[i] | lambda[i]));</a:t>
            </a:r>
          </a:p>
          <a:p>
            <a:pPr>
              <a:spcAft>
                <a:spcPts val="500"/>
              </a:spcAft>
              <a:defRPr sz="1200" b="0">
                <a:solidFill>
                  <a:srgbClr val="242E3C"/>
                </a:solidFill>
                <a:latin typeface="Consolas"/>
              </a:defRPr>
            </a:pPr>
            <a:r>
              <a:t>target += log(lik[i]); //target is the total log likelihood</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12.3.5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ゼロ過剰：ZIP</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12.3.6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ゼロ過剰：ZIP</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NLL &lt;- function(param, data) {</a:t>
            </a:r>
          </a:p>
          <a:p>
            <a:pPr>
              <a:spcAft>
                <a:spcPts val="500"/>
              </a:spcAft>
              <a:defRPr sz="1200" b="0">
                <a:solidFill>
                  <a:srgbClr val="242E3C"/>
                </a:solidFill>
                <a:latin typeface="Consolas"/>
              </a:defRPr>
            </a:pPr>
            <a:r>
              <a:t>alpha &lt;- param[1]</a:t>
            </a:r>
          </a:p>
          <a:p>
            <a:pPr>
              <a:spcAft>
                <a:spcPts val="500"/>
              </a:spcAft>
              <a:defRPr sz="1200" b="0">
                <a:solidFill>
                  <a:srgbClr val="242E3C"/>
                </a:solidFill>
                <a:latin typeface="Consolas"/>
              </a:defRPr>
            </a:pPr>
            <a:r>
              <a:t>beta &lt;- param[2]</a:t>
            </a:r>
          </a:p>
          <a:p>
            <a:pPr>
              <a:spcAft>
                <a:spcPts val="500"/>
              </a:spcAft>
              <a:defRPr sz="1200" b="0">
                <a:solidFill>
                  <a:srgbClr val="242E3C"/>
                </a:solidFill>
                <a:latin typeface="Consolas"/>
              </a:defRPr>
            </a:pPr>
            <a:r>
              <a:t>psi &lt;- plogis(param[3])</a:t>
            </a:r>
          </a:p>
          <a:p>
            <a:pPr>
              <a:spcAft>
                <a:spcPts val="500"/>
              </a:spcAft>
              <a:defRPr sz="1200" b="0">
                <a:solidFill>
                  <a:srgbClr val="242E3C"/>
                </a:solidFill>
                <a:latin typeface="Consolas"/>
              </a:defRPr>
            </a:pPr>
            <a:r>
              <a:t>lambda &lt;- exp(alpha + beta * data$x)</a:t>
            </a:r>
          </a:p>
          <a:p>
            <a:pPr>
              <a:spcAft>
                <a:spcPts val="500"/>
              </a:spcAft>
              <a:defRPr sz="1200" b="0">
                <a:solidFill>
                  <a:srgbClr val="242E3C"/>
                </a:solidFill>
                <a:latin typeface="Consolas"/>
              </a:defRPr>
            </a:pPr>
            <a:r>
              <a:t>lik[i] &lt;- psi + (1-psi) * dpois(0, lambda[i])</a:t>
            </a:r>
          </a:p>
          <a:p>
            <a:pPr>
              <a:spcAft>
                <a:spcPts val="500"/>
              </a:spcAft>
              <a:defRPr sz="1200" b="0">
                <a:solidFill>
                  <a:srgbClr val="242E3C"/>
                </a:solidFill>
                <a:latin typeface="Consolas"/>
              </a:defRPr>
            </a:pPr>
            <a:r>
              <a:t>lik[i] &lt;- (1-psi) * dpois(data$C[i], lambda[i])</a:t>
            </a:r>
          </a:p>
          <a:p>
            <a:pPr>
              <a:spcAft>
                <a:spcPts val="500"/>
              </a:spcAft>
              <a:defRPr sz="1200" b="0">
                <a:solidFill>
                  <a:srgbClr val="242E3C"/>
                </a:solidFill>
                <a:latin typeface="Consolas"/>
              </a:defRPr>
            </a:pPr>
            <a:r>
              <a:t>NLL &lt;- -sum(log(lik))</a:t>
            </a:r>
          </a:p>
          <a:p>
            <a:pPr>
              <a:spcAft>
                <a:spcPts val="500"/>
              </a:spcAft>
              <a:defRPr sz="1200" b="0">
                <a:solidFill>
                  <a:srgbClr val="242E3C"/>
                </a:solidFill>
                <a:latin typeface="Consolas"/>
              </a:defRPr>
            </a:pPr>
            <a:r>
              <a:t>return(NLL)</a:t>
            </a:r>
          </a:p>
          <a:p>
            <a:pPr>
              <a:spcAft>
                <a:spcPts val="500"/>
              </a:spcAft>
              <a:defRPr sz="1200" b="0">
                <a:solidFill>
                  <a:srgbClr val="242E3C"/>
                </a:solidFill>
                <a:latin typeface="Consolas"/>
              </a:defRPr>
            </a:pPr>
            <a:r>
              <a:t>out12.3.6 &lt;- optim(inits, NLL, data = dataList, hessian = TRUE)</a:t>
            </a:r>
          </a:p>
          <a:p>
            <a:pPr>
              <a:spcAft>
                <a:spcPts val="500"/>
              </a:spcAft>
              <a:defRPr sz="1200" b="0">
                <a:solidFill>
                  <a:srgbClr val="242E3C"/>
                </a:solidFill>
                <a:latin typeface="Consolas"/>
              </a:defRPr>
            </a:pPr>
            <a:r>
              <a:t>diy_est &lt;- c(out12.3.6$par[1:2], plogis(out12.3.6$par[3]))</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12.3.6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ゼロ過剰：ZIP</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12.3.7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ゼロ過剰：ZIP</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DATA_VECTOR(C);                    //response</a:t>
            </a:r>
          </a:p>
          <a:p>
            <a:pPr>
              <a:spcAft>
                <a:spcPts val="500"/>
              </a:spcAft>
              <a:defRPr sz="1200" b="0">
                <a:solidFill>
                  <a:srgbClr val="242E3C"/>
                </a:solidFill>
                <a:latin typeface="Consolas"/>
              </a:defRPr>
            </a:pPr>
            <a:r>
              <a:t>DATA_VECTOR(x);                    //covariate</a:t>
            </a:r>
          </a:p>
          <a:p>
            <a:pPr>
              <a:spcAft>
                <a:spcPts val="500"/>
              </a:spcAft>
              <a:defRPr sz="1200" b="0">
                <a:solidFill>
                  <a:srgbClr val="242E3C"/>
                </a:solidFill>
                <a:latin typeface="Consolas"/>
              </a:defRPr>
            </a:pPr>
            <a:r>
              <a:t>DATA_INTEGER(n);                   //Number of observations</a:t>
            </a:r>
          </a:p>
          <a:p>
            <a:pPr>
              <a:spcAft>
                <a:spcPts val="500"/>
              </a:spcAft>
              <a:defRPr sz="1200" b="0">
                <a:solidFill>
                  <a:srgbClr val="242E3C"/>
                </a:solidFill>
                <a:latin typeface="Consolas"/>
              </a:defRPr>
            </a:pPr>
            <a:r>
              <a:t>PARAMETER(alpha);</a:t>
            </a:r>
          </a:p>
          <a:p>
            <a:pPr>
              <a:spcAft>
                <a:spcPts val="500"/>
              </a:spcAft>
              <a:defRPr sz="1200" b="0">
                <a:solidFill>
                  <a:srgbClr val="242E3C"/>
                </a:solidFill>
                <a:latin typeface="Consolas"/>
              </a:defRPr>
            </a:pPr>
            <a:r>
              <a:t>PARAMETER(beta);</a:t>
            </a:r>
          </a:p>
          <a:p>
            <a:pPr>
              <a:spcAft>
                <a:spcPts val="500"/>
              </a:spcAft>
              <a:defRPr sz="1200" b="0">
                <a:solidFill>
                  <a:srgbClr val="242E3C"/>
                </a:solidFill>
                <a:latin typeface="Consolas"/>
              </a:defRPr>
            </a:pPr>
            <a:r>
              <a:t>Type lambda = exp(alpha + beta * x(i));</a:t>
            </a:r>
          </a:p>
          <a:p>
            <a:pPr>
              <a:spcAft>
                <a:spcPts val="500"/>
              </a:spcAft>
              <a:defRPr sz="1200" b="0">
                <a:solidFill>
                  <a:srgbClr val="242E3C"/>
                </a:solidFill>
                <a:latin typeface="Consolas"/>
              </a:defRPr>
            </a:pPr>
            <a:r>
              <a:t>lik = psi + (1-psi) * dpois(Type(0), lambda, false);</a:t>
            </a:r>
          </a:p>
          <a:p>
            <a:pPr>
              <a:spcAft>
                <a:spcPts val="500"/>
              </a:spcAft>
              <a:defRPr sz="1200" b="0">
                <a:solidFill>
                  <a:srgbClr val="242E3C"/>
                </a:solidFill>
                <a:latin typeface="Consolas"/>
              </a:defRPr>
            </a:pPr>
            <a:r>
              <a:t>lik = (1-psi) * dpois(C[i], lambda, false);</a:t>
            </a:r>
          </a:p>
          <a:p>
            <a:pPr>
              <a:spcAft>
                <a:spcPts val="500"/>
              </a:spcAft>
              <a:defRPr sz="1200" b="0">
                <a:solidFill>
                  <a:srgbClr val="242E3C"/>
                </a:solidFill>
                <a:latin typeface="Consolas"/>
              </a:defRPr>
            </a:pPr>
            <a:r>
              <a:t>LL += log(lik);</a:t>
            </a:r>
          </a:p>
          <a:p>
            <a:pPr>
              <a:spcAft>
                <a:spcPts val="500"/>
              </a:spcAft>
              <a:defRPr sz="1200" b="0">
                <a:solidFill>
                  <a:srgbClr val="242E3C"/>
                </a:solidFill>
                <a:latin typeface="Consolas"/>
              </a:defRPr>
            </a:pPr>
            <a:r>
              <a:t>return -LL;                        //Return negative log-likelihood</a:t>
            </a:r>
          </a:p>
          <a:p>
            <a:pPr>
              <a:spcAft>
                <a:spcPts val="500"/>
              </a:spcAft>
              <a:defRPr sz="1200" b="0">
                <a:solidFill>
                  <a:srgbClr val="242E3C"/>
                </a:solidFill>
                <a:latin typeface="Consolas"/>
              </a:defRPr>
            </a:pPr>
            <a:r>
              <a:t>out12.3.7 &lt;- MakeADFun(data = dataList,</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12.3.7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ゼロ過剰：ZIP</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オフセット：調査面積｜まず統計モデルを読む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モデル導入 12.4.3</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Cᵢ~Poisson(λᵢ)</a:t>
            </a:r>
          </a:p>
          <a:p>
            <a:pPr>
              <a:spcAft>
                <a:spcPts val="500"/>
              </a:spcAft>
              <a:defRPr sz="2200" b="1">
                <a:solidFill>
                  <a:srgbClr val="192B45"/>
                </a:solidFill>
                <a:latin typeface="Yu Gothic"/>
              </a:defRPr>
            </a:pPr>
            <a:r>
              <a:t>log λᵢ=log Aᵢ+α+βxᵢ</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調査面積 A の対数を係数1の固定項として加える。</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log(A) は推定対象の係数ではない。</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12.4.3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オフセット：調査面積</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 ~ dnorm(0, 0.0001)</a:t>
            </a:r>
          </a:p>
          <a:p>
            <a:pPr>
              <a:spcAft>
                <a:spcPts val="500"/>
              </a:spcAft>
              <a:defRPr sz="1200" b="0">
                <a:solidFill>
                  <a:srgbClr val="242E3C"/>
                </a:solidFill>
                <a:latin typeface="Consolas"/>
              </a:defRPr>
            </a:pPr>
            <a:r>
              <a:t>beta ~ dnorm(0, 0.0001)</a:t>
            </a:r>
          </a:p>
          <a:p>
            <a:pPr>
              <a:spcAft>
                <a:spcPts val="500"/>
              </a:spcAft>
              <a:defRPr sz="1200" b="0">
                <a:solidFill>
                  <a:srgbClr val="242E3C"/>
                </a:solidFill>
                <a:latin typeface="Consolas"/>
              </a:defRPr>
            </a:pPr>
            <a:r>
              <a:t>C[i] ~ dpois(lambda[i])</a:t>
            </a:r>
          </a:p>
          <a:p>
            <a:pPr>
              <a:spcAft>
                <a:spcPts val="500"/>
              </a:spcAft>
              <a:defRPr sz="1200" b="0">
                <a:solidFill>
                  <a:srgbClr val="242E3C"/>
                </a:solidFill>
                <a:latin typeface="Consolas"/>
              </a:defRPr>
            </a:pPr>
            <a:r>
              <a:t>log(lambda[i]) &lt;- 1 * log(A[i]) + alpha + beta *x[i] # Note offset</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12.4.3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オフセット：調査面積</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12.4.4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オフセット：調査面積</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 ~ dnorm(0, 0.0001)</a:t>
            </a:r>
          </a:p>
          <a:p>
            <a:pPr>
              <a:spcAft>
                <a:spcPts val="500"/>
              </a:spcAft>
              <a:defRPr sz="1200" b="0">
                <a:solidFill>
                  <a:srgbClr val="242E3C"/>
                </a:solidFill>
                <a:latin typeface="Consolas"/>
              </a:defRPr>
            </a:pPr>
            <a:r>
              <a:t>beta ~ dnorm(0, 0.0001)</a:t>
            </a:r>
          </a:p>
          <a:p>
            <a:pPr>
              <a:spcAft>
                <a:spcPts val="500"/>
              </a:spcAft>
              <a:defRPr sz="1200" b="0">
                <a:solidFill>
                  <a:srgbClr val="242E3C"/>
                </a:solidFill>
                <a:latin typeface="Consolas"/>
              </a:defRPr>
            </a:pPr>
            <a:r>
              <a:t>C[i] ~ dpois(lambda[i])</a:t>
            </a:r>
          </a:p>
          <a:p>
            <a:pPr>
              <a:spcAft>
                <a:spcPts val="500"/>
              </a:spcAft>
              <a:defRPr sz="1200" b="0">
                <a:solidFill>
                  <a:srgbClr val="242E3C"/>
                </a:solidFill>
                <a:latin typeface="Consolas"/>
              </a:defRPr>
            </a:pPr>
            <a:r>
              <a:t>log(lambda[i]) &lt;- 1 * log(A[i]) + alpha + beta *x[i]  # Note offset</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12.4.4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オフセット：調査面積</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12.4.5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オフセット：調査面積</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a:t>
            </a:r>
          </a:p>
          <a:p>
            <a:pPr>
              <a:spcAft>
                <a:spcPts val="500"/>
              </a:spcAft>
              <a:defRPr sz="1200" b="0">
                <a:solidFill>
                  <a:srgbClr val="242E3C"/>
                </a:solidFill>
                <a:latin typeface="Consolas"/>
              </a:defRPr>
            </a:pPr>
            <a:r>
              <a:t>parameters{</a:t>
            </a:r>
          </a:p>
          <a:p>
            <a:pPr>
              <a:spcAft>
                <a:spcPts val="500"/>
              </a:spcAft>
              <a:defRPr sz="1200" b="0">
                <a:solidFill>
                  <a:srgbClr val="242E3C"/>
                </a:solidFill>
                <a:latin typeface="Consolas"/>
              </a:defRPr>
            </a:pPr>
            <a:r>
              <a:t>model{</a:t>
            </a:r>
          </a:p>
          <a:p>
            <a:pPr>
              <a:spcAft>
                <a:spcPts val="500"/>
              </a:spcAft>
              <a:defRPr sz="1200" b="0">
                <a:solidFill>
                  <a:srgbClr val="242E3C"/>
                </a:solidFill>
                <a:latin typeface="Consolas"/>
              </a:defRPr>
            </a:pPr>
            <a:r>
              <a:t>alpha ~ normal(0, 100);</a:t>
            </a:r>
          </a:p>
          <a:p>
            <a:pPr>
              <a:spcAft>
                <a:spcPts val="500"/>
              </a:spcAft>
              <a:defRPr sz="1200" b="0">
                <a:solidFill>
                  <a:srgbClr val="242E3C"/>
                </a:solidFill>
                <a:latin typeface="Consolas"/>
              </a:defRPr>
            </a:pPr>
            <a:r>
              <a:t>beta ~ normal(0, 100);</a:t>
            </a:r>
          </a:p>
          <a:p>
            <a:pPr>
              <a:spcAft>
                <a:spcPts val="500"/>
              </a:spcAft>
              <a:defRPr sz="1200" b="0">
                <a:solidFill>
                  <a:srgbClr val="242E3C"/>
                </a:solidFill>
                <a:latin typeface="Consolas"/>
              </a:defRPr>
            </a:pPr>
            <a:r>
              <a:t>lambda[i] = exp(alpha + beta * x[i] + log(A[i]));</a:t>
            </a:r>
          </a:p>
          <a:p>
            <a:pPr>
              <a:spcAft>
                <a:spcPts val="500"/>
              </a:spcAft>
              <a:defRPr sz="1200" b="0">
                <a:solidFill>
                  <a:srgbClr val="242E3C"/>
                </a:solidFill>
                <a:latin typeface="Consolas"/>
              </a:defRPr>
            </a:pPr>
            <a:r>
              <a:t>C[i] ~ poisson(lambda[i]);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12.4.5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オフセット：調査面積</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12.4.6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オフセット：調査面積</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019" b="0">
                <a:solidFill>
                  <a:srgbClr val="242E3C"/>
                </a:solidFill>
                <a:latin typeface="Consolas"/>
              </a:defRPr>
            </a:pPr>
            <a:r>
              <a:t>NLL &lt;- function(param, data) {</a:t>
            </a:r>
          </a:p>
          <a:p>
            <a:pPr>
              <a:spcAft>
                <a:spcPts val="500"/>
              </a:spcAft>
              <a:defRPr sz="1019" b="0">
                <a:solidFill>
                  <a:srgbClr val="242E3C"/>
                </a:solidFill>
                <a:latin typeface="Consolas"/>
              </a:defRPr>
            </a:pPr>
            <a:r>
              <a:t>alpha &lt;- param[1]</a:t>
            </a:r>
          </a:p>
          <a:p>
            <a:pPr>
              <a:spcAft>
                <a:spcPts val="500"/>
              </a:spcAft>
              <a:defRPr sz="1019" b="0">
                <a:solidFill>
                  <a:srgbClr val="242E3C"/>
                </a:solidFill>
                <a:latin typeface="Consolas"/>
              </a:defRPr>
            </a:pPr>
            <a:r>
              <a:t>beta &lt;- param[2]</a:t>
            </a:r>
          </a:p>
          <a:p>
            <a:pPr>
              <a:spcAft>
                <a:spcPts val="500"/>
              </a:spcAft>
              <a:defRPr sz="1019" b="0">
                <a:solidFill>
                  <a:srgbClr val="242E3C"/>
                </a:solidFill>
                <a:latin typeface="Consolas"/>
              </a:defRPr>
            </a:pPr>
            <a:r>
              <a:t>mu &lt;- exp(log(data$A) + alpha + beta * data$x)</a:t>
            </a:r>
          </a:p>
          <a:p>
            <a:pPr>
              <a:spcAft>
                <a:spcPts val="500"/>
              </a:spcAft>
              <a:defRPr sz="1019" b="0">
                <a:solidFill>
                  <a:srgbClr val="242E3C"/>
                </a:solidFill>
                <a:latin typeface="Consolas"/>
              </a:defRPr>
            </a:pPr>
            <a:r>
              <a:t>L &lt;- dpois(data$C, mu)                      # Likelihood contr. for 1 observation</a:t>
            </a:r>
          </a:p>
          <a:p>
            <a:pPr>
              <a:spcAft>
                <a:spcPts val="500"/>
              </a:spcAft>
              <a:defRPr sz="1019" b="0">
                <a:solidFill>
                  <a:srgbClr val="242E3C"/>
                </a:solidFill>
                <a:latin typeface="Consolas"/>
              </a:defRPr>
            </a:pPr>
            <a:r>
              <a:t>LL &lt;- log(L)                                # Loglikelihood contr. for 1 observation</a:t>
            </a:r>
          </a:p>
          <a:p>
            <a:pPr>
              <a:spcAft>
                <a:spcPts val="500"/>
              </a:spcAft>
              <a:defRPr sz="1019" b="0">
                <a:solidFill>
                  <a:srgbClr val="242E3C"/>
                </a:solidFill>
                <a:latin typeface="Consolas"/>
              </a:defRPr>
            </a:pPr>
            <a:r>
              <a:t>NLL &lt;- -sum(LL)                             # NLL for all observations</a:t>
            </a:r>
          </a:p>
          <a:p>
            <a:pPr>
              <a:spcAft>
                <a:spcPts val="500"/>
              </a:spcAft>
              <a:defRPr sz="1019" b="0">
                <a:solidFill>
                  <a:srgbClr val="242E3C"/>
                </a:solidFill>
                <a:latin typeface="Consolas"/>
              </a:defRPr>
            </a:pPr>
            <a:r>
              <a:t>return(NLL)</a:t>
            </a:r>
          </a:p>
          <a:p>
            <a:pPr>
              <a:spcAft>
                <a:spcPts val="500"/>
              </a:spcAft>
              <a:defRPr sz="1019" b="0">
                <a:solidFill>
                  <a:srgbClr val="242E3C"/>
                </a:solidFill>
                <a:latin typeface="Consolas"/>
              </a:defRPr>
            </a:pPr>
            <a:r>
              <a:t>out12.4.6 &lt;- optim(inits, NLL, data = dataList, hessian = TRUE, method = "BFGS")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12.4.6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オフセット：調査面積</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12.4.7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オフセット：調査面積</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DATA_VECTOR(C);                    //response</a:t>
            </a:r>
          </a:p>
          <a:p>
            <a:pPr>
              <a:spcAft>
                <a:spcPts val="500"/>
              </a:spcAft>
              <a:defRPr sz="1200" b="0">
                <a:solidFill>
                  <a:srgbClr val="242E3C"/>
                </a:solidFill>
                <a:latin typeface="Consolas"/>
              </a:defRPr>
            </a:pPr>
            <a:r>
              <a:t>DATA_VECTOR(x);                    //covariate</a:t>
            </a:r>
          </a:p>
          <a:p>
            <a:pPr>
              <a:spcAft>
                <a:spcPts val="500"/>
              </a:spcAft>
              <a:defRPr sz="1200" b="0">
                <a:solidFill>
                  <a:srgbClr val="242E3C"/>
                </a:solidFill>
                <a:latin typeface="Consolas"/>
              </a:defRPr>
            </a:pPr>
            <a:r>
              <a:t>DATA_VECTOR(A);                    //offset</a:t>
            </a:r>
          </a:p>
          <a:p>
            <a:pPr>
              <a:spcAft>
                <a:spcPts val="500"/>
              </a:spcAft>
              <a:defRPr sz="1200" b="0">
                <a:solidFill>
                  <a:srgbClr val="242E3C"/>
                </a:solidFill>
                <a:latin typeface="Consolas"/>
              </a:defRPr>
            </a:pPr>
            <a:r>
              <a:t>DATA_INTEGER(n);                   //Number of observations</a:t>
            </a:r>
          </a:p>
          <a:p>
            <a:pPr>
              <a:spcAft>
                <a:spcPts val="500"/>
              </a:spcAft>
              <a:defRPr sz="1200" b="0">
                <a:solidFill>
                  <a:srgbClr val="242E3C"/>
                </a:solidFill>
                <a:latin typeface="Consolas"/>
              </a:defRPr>
            </a:pPr>
            <a:r>
              <a:t>PARAMETER(alpha);</a:t>
            </a:r>
          </a:p>
          <a:p>
            <a:pPr>
              <a:spcAft>
                <a:spcPts val="500"/>
              </a:spcAft>
              <a:defRPr sz="1200" b="0">
                <a:solidFill>
                  <a:srgbClr val="242E3C"/>
                </a:solidFill>
                <a:latin typeface="Consolas"/>
              </a:defRPr>
            </a:pPr>
            <a:r>
              <a:t>PARAMETER(beta);</a:t>
            </a:r>
          </a:p>
          <a:p>
            <a:pPr>
              <a:spcAft>
                <a:spcPts val="500"/>
              </a:spcAft>
              <a:defRPr sz="1200" b="0">
                <a:solidFill>
                  <a:srgbClr val="242E3C"/>
                </a:solidFill>
                <a:latin typeface="Consolas"/>
              </a:defRPr>
            </a:pPr>
            <a:r>
              <a:t>Type mu = exp(alpha + beta * x(i) + log(A(i)));</a:t>
            </a:r>
          </a:p>
          <a:p>
            <a:pPr>
              <a:spcAft>
                <a:spcPts val="500"/>
              </a:spcAft>
              <a:defRPr sz="1200" b="0">
                <a:solidFill>
                  <a:srgbClr val="242E3C"/>
                </a:solidFill>
                <a:latin typeface="Consolas"/>
              </a:defRPr>
            </a:pPr>
            <a:r>
              <a:t>LL += dpois(C[i], mu, true);     //arg true means log-lik is returned</a:t>
            </a:r>
          </a:p>
          <a:p>
            <a:pPr>
              <a:spcAft>
                <a:spcPts val="500"/>
              </a:spcAft>
              <a:defRPr sz="1200" b="0">
                <a:solidFill>
                  <a:srgbClr val="242E3C"/>
                </a:solidFill>
                <a:latin typeface="Consolas"/>
              </a:defRPr>
            </a:pPr>
            <a:r>
              <a:t>return -LL;                        //Return negative log likelihood}</a:t>
            </a:r>
          </a:p>
          <a:p>
            <a:pPr>
              <a:spcAft>
                <a:spcPts val="500"/>
              </a:spcAft>
              <a:defRPr sz="1200" b="0">
                <a:solidFill>
                  <a:srgbClr val="242E3C"/>
                </a:solidFill>
                <a:latin typeface="Consolas"/>
              </a:defRPr>
            </a:pPr>
            <a:r>
              <a:t>out12.4.7 &lt;- MakeADFun(data = dataList,</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12.4.7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12  |  原著Rコードに基づく学習資料  |  オフセット：調査面積</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3693</Words>
  <Application>Microsoft Office PowerPoint</Application>
  <PresentationFormat>ワイド画面</PresentationFormat>
  <Paragraphs>487</Paragraphs>
  <Slides>40</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40</vt:i4>
      </vt:variant>
    </vt:vector>
  </HeadingPairs>
  <TitlesOfParts>
    <vt:vector size="46" baseType="lpstr">
      <vt:lpstr>BIZ UDゴシック</vt:lpstr>
      <vt:lpstr>Yu Gothic</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2026-10-22T05:43:39Z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2026-10-22T05:42:06Z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14a0b745-90ed-4d30-b5d9-176b23594494</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