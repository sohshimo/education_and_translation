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2"/>
    <p:sldId id="260" r:id="rId3"/>
    <p:sldId id="256" r:id="rId4"/>
    <p:sldId id="257" r:id="rId5"/>
    <p:sldId id="258"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A4390B-E807-4B2B-8B18-5E82815D4832}" v="2" dt="2026-10-21T01:50:02.0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undo custSel mod addSld modSld sldOrd modMainMaster">
      <pc:chgData name="大下　誠二" userId="e5774685-19fa-48b9-bec1-68eebf9ac578" providerId="ADAL" clId="{CDBA04F6-D5A6-4F8F-A920-1860374E7F12}" dt="2026-10-21T01:50:11.922" v="17" actId="27636"/>
      <pc:docMkLst>
        <pc:docMk/>
      </pc:docMkLst>
      <pc:sldChg chg="addSp delSp mod">
        <pc:chgData name="大下　誠二" userId="e5774685-19fa-48b9-bec1-68eebf9ac578" providerId="ADAL" clId="{CDBA04F6-D5A6-4F8F-A920-1860374E7F12}" dt="2026-10-21T01:48:35.184" v="1" actId="22"/>
        <pc:sldMkLst>
          <pc:docMk/>
          <pc:sldMk cId="0" sldId="256"/>
        </pc:sldMkLst>
        <pc:picChg chg="add del">
          <ac:chgData name="大下　誠二" userId="e5774685-19fa-48b9-bec1-68eebf9ac578" providerId="ADAL" clId="{CDBA04F6-D5A6-4F8F-A920-1860374E7F12}" dt="2026-10-21T01:48:35.184" v="1" actId="22"/>
          <ac:picMkLst>
            <pc:docMk/>
            <pc:sldMk cId="0" sldId="256"/>
            <ac:picMk id="7" creationId="{5E87ED9E-8B9B-C4DC-41EB-F717A73604C6}"/>
          </ac:picMkLst>
        </pc:picChg>
      </pc:sldChg>
      <pc:sldChg chg="addSp new mod ord">
        <pc:chgData name="大下　誠二" userId="e5774685-19fa-48b9-bec1-68eebf9ac578" providerId="ADAL" clId="{CDBA04F6-D5A6-4F8F-A920-1860374E7F12}" dt="2026-10-21T01:48:40.069" v="5"/>
        <pc:sldMkLst>
          <pc:docMk/>
          <pc:sldMk cId="2194651755" sldId="260"/>
        </pc:sldMkLst>
        <pc:picChg chg="add">
          <ac:chgData name="大下　誠二" userId="e5774685-19fa-48b9-bec1-68eebf9ac578" providerId="ADAL" clId="{CDBA04F6-D5A6-4F8F-A920-1860374E7F12}" dt="2026-10-21T01:48:38.560" v="3" actId="22"/>
          <ac:picMkLst>
            <pc:docMk/>
            <pc:sldMk cId="2194651755" sldId="260"/>
            <ac:picMk id="3" creationId="{442F36B6-4F14-0711-FF0D-DC2240324A75}"/>
          </ac:picMkLst>
        </pc:picChg>
      </pc:sldChg>
      <pc:sldChg chg="add">
        <pc:chgData name="大下　誠二" userId="e5774685-19fa-48b9-bec1-68eebf9ac578" providerId="ADAL" clId="{CDBA04F6-D5A6-4F8F-A920-1860374E7F12}" dt="2026-10-21T01:49:17.999" v="8"/>
        <pc:sldMkLst>
          <pc:docMk/>
          <pc:sldMk cId="0" sldId="261"/>
        </pc:sldMkLst>
      </pc:sldChg>
      <pc:sldChg chg="add">
        <pc:chgData name="大下　誠二" userId="e5774685-19fa-48b9-bec1-68eebf9ac578" providerId="ADAL" clId="{CDBA04F6-D5A6-4F8F-A920-1860374E7F12}" dt="2026-10-21T01:49:17.999" v="8"/>
        <pc:sldMkLst>
          <pc:docMk/>
          <pc:sldMk cId="0" sldId="262"/>
        </pc:sldMkLst>
      </pc:sldChg>
      <pc:sldChg chg="add">
        <pc:chgData name="大下　誠二" userId="e5774685-19fa-48b9-bec1-68eebf9ac578" providerId="ADAL" clId="{CDBA04F6-D5A6-4F8F-A920-1860374E7F12}" dt="2026-10-21T01:49:17.999" v="8"/>
        <pc:sldMkLst>
          <pc:docMk/>
          <pc:sldMk cId="0" sldId="263"/>
        </pc:sldMkLst>
      </pc:sldChg>
      <pc:sldChg chg="add">
        <pc:chgData name="大下　誠二" userId="e5774685-19fa-48b9-bec1-68eebf9ac578" providerId="ADAL" clId="{CDBA04F6-D5A6-4F8F-A920-1860374E7F12}" dt="2026-10-21T01:49:17.999" v="8"/>
        <pc:sldMkLst>
          <pc:docMk/>
          <pc:sldMk cId="0" sldId="264"/>
        </pc:sldMkLst>
      </pc:sldChg>
      <pc:sldChg chg="add">
        <pc:chgData name="大下　誠二" userId="e5774685-19fa-48b9-bec1-68eebf9ac578" providerId="ADAL" clId="{CDBA04F6-D5A6-4F8F-A920-1860374E7F12}" dt="2026-10-21T01:49:17.999" v="8"/>
        <pc:sldMkLst>
          <pc:docMk/>
          <pc:sldMk cId="0" sldId="265"/>
        </pc:sldMkLst>
      </pc:sldChg>
      <pc:sldChg chg="add">
        <pc:chgData name="大下　誠二" userId="e5774685-19fa-48b9-bec1-68eebf9ac578" providerId="ADAL" clId="{CDBA04F6-D5A6-4F8F-A920-1860374E7F12}" dt="2026-10-21T01:49:17.999" v="8"/>
        <pc:sldMkLst>
          <pc:docMk/>
          <pc:sldMk cId="0" sldId="266"/>
        </pc:sldMkLst>
      </pc:sldChg>
      <pc:sldChg chg="add">
        <pc:chgData name="大下　誠二" userId="e5774685-19fa-48b9-bec1-68eebf9ac578" providerId="ADAL" clId="{CDBA04F6-D5A6-4F8F-A920-1860374E7F12}" dt="2026-10-21T01:49:17.999" v="8"/>
        <pc:sldMkLst>
          <pc:docMk/>
          <pc:sldMk cId="0" sldId="267"/>
        </pc:sldMkLst>
      </pc:sldChg>
      <pc:sldChg chg="add">
        <pc:chgData name="大下　誠二" userId="e5774685-19fa-48b9-bec1-68eebf9ac578" providerId="ADAL" clId="{CDBA04F6-D5A6-4F8F-A920-1860374E7F12}" dt="2026-10-21T01:49:17.999" v="8"/>
        <pc:sldMkLst>
          <pc:docMk/>
          <pc:sldMk cId="0" sldId="268"/>
        </pc:sldMkLst>
      </pc:sldChg>
      <pc:sldChg chg="add">
        <pc:chgData name="大下　誠二" userId="e5774685-19fa-48b9-bec1-68eebf9ac578" providerId="ADAL" clId="{CDBA04F6-D5A6-4F8F-A920-1860374E7F12}" dt="2026-10-21T01:49:17.999" v="8"/>
        <pc:sldMkLst>
          <pc:docMk/>
          <pc:sldMk cId="0" sldId="269"/>
        </pc:sldMkLst>
      </pc:sldChg>
      <pc:sldChg chg="add">
        <pc:chgData name="大下　誠二" userId="e5774685-19fa-48b9-bec1-68eebf9ac578" providerId="ADAL" clId="{CDBA04F6-D5A6-4F8F-A920-1860374E7F12}" dt="2026-10-21T01:49:17.999" v="8"/>
        <pc:sldMkLst>
          <pc:docMk/>
          <pc:sldMk cId="0" sldId="270"/>
        </pc:sldMkLst>
      </pc:sldChg>
      <pc:sldChg chg="add">
        <pc:chgData name="大下　誠二" userId="e5774685-19fa-48b9-bec1-68eebf9ac578" providerId="ADAL" clId="{CDBA04F6-D5A6-4F8F-A920-1860374E7F12}" dt="2026-10-21T01:49:17.999" v="8"/>
        <pc:sldMkLst>
          <pc:docMk/>
          <pc:sldMk cId="0" sldId="271"/>
        </pc:sldMkLst>
      </pc:sldChg>
      <pc:sldChg chg="add">
        <pc:chgData name="大下　誠二" userId="e5774685-19fa-48b9-bec1-68eebf9ac578" providerId="ADAL" clId="{CDBA04F6-D5A6-4F8F-A920-1860374E7F12}" dt="2026-10-21T01:49:17.999" v="8"/>
        <pc:sldMkLst>
          <pc:docMk/>
          <pc:sldMk cId="0" sldId="272"/>
        </pc:sldMkLst>
      </pc:sldChg>
      <pc:sldChg chg="add">
        <pc:chgData name="大下　誠二" userId="e5774685-19fa-48b9-bec1-68eebf9ac578" providerId="ADAL" clId="{CDBA04F6-D5A6-4F8F-A920-1860374E7F12}" dt="2026-10-21T01:49:17.999" v="8"/>
        <pc:sldMkLst>
          <pc:docMk/>
          <pc:sldMk cId="0" sldId="273"/>
        </pc:sldMkLst>
      </pc:sldChg>
      <pc:sldChg chg="add">
        <pc:chgData name="大下　誠二" userId="e5774685-19fa-48b9-bec1-68eebf9ac578" providerId="ADAL" clId="{CDBA04F6-D5A6-4F8F-A920-1860374E7F12}" dt="2026-10-21T01:49:17.999" v="8"/>
        <pc:sldMkLst>
          <pc:docMk/>
          <pc:sldMk cId="0" sldId="274"/>
        </pc:sldMkLst>
      </pc:sldChg>
      <pc:sldChg chg="add">
        <pc:chgData name="大下　誠二" userId="e5774685-19fa-48b9-bec1-68eebf9ac578" providerId="ADAL" clId="{CDBA04F6-D5A6-4F8F-A920-1860374E7F12}" dt="2026-10-21T01:49:17.999" v="8"/>
        <pc:sldMkLst>
          <pc:docMk/>
          <pc:sldMk cId="0" sldId="275"/>
        </pc:sldMkLst>
      </pc:sldChg>
      <pc:sldChg chg="add">
        <pc:chgData name="大下　誠二" userId="e5774685-19fa-48b9-bec1-68eebf9ac578" providerId="ADAL" clId="{CDBA04F6-D5A6-4F8F-A920-1860374E7F12}" dt="2026-10-21T01:49:17.999" v="8"/>
        <pc:sldMkLst>
          <pc:docMk/>
          <pc:sldMk cId="0" sldId="276"/>
        </pc:sldMkLst>
      </pc:sldChg>
      <pc:sldChg chg="add">
        <pc:chgData name="大下　誠二" userId="e5774685-19fa-48b9-bec1-68eebf9ac578" providerId="ADAL" clId="{CDBA04F6-D5A6-4F8F-A920-1860374E7F12}" dt="2026-10-21T01:49:17.999" v="8"/>
        <pc:sldMkLst>
          <pc:docMk/>
          <pc:sldMk cId="0" sldId="277"/>
        </pc:sldMkLst>
      </pc:sldChg>
      <pc:sldChg chg="add">
        <pc:chgData name="大下　誠二" userId="e5774685-19fa-48b9-bec1-68eebf9ac578" providerId="ADAL" clId="{CDBA04F6-D5A6-4F8F-A920-1860374E7F12}" dt="2026-10-21T01:49:17.999" v="8"/>
        <pc:sldMkLst>
          <pc:docMk/>
          <pc:sldMk cId="0" sldId="278"/>
        </pc:sldMkLst>
      </pc:sldChg>
      <pc:sldChg chg="add">
        <pc:chgData name="大下　誠二" userId="e5774685-19fa-48b9-bec1-68eebf9ac578" providerId="ADAL" clId="{CDBA04F6-D5A6-4F8F-A920-1860374E7F12}" dt="2026-10-21T01:49:17.999" v="8"/>
        <pc:sldMkLst>
          <pc:docMk/>
          <pc:sldMk cId="0" sldId="279"/>
        </pc:sldMkLst>
      </pc:sldChg>
      <pc:sldChg chg="add">
        <pc:chgData name="大下　誠二" userId="e5774685-19fa-48b9-bec1-68eebf9ac578" providerId="ADAL" clId="{CDBA04F6-D5A6-4F8F-A920-1860374E7F12}" dt="2026-10-21T01:49:17.999" v="8"/>
        <pc:sldMkLst>
          <pc:docMk/>
          <pc:sldMk cId="0" sldId="280"/>
        </pc:sldMkLst>
      </pc:sldChg>
      <pc:sldChg chg="add">
        <pc:chgData name="大下　誠二" userId="e5774685-19fa-48b9-bec1-68eebf9ac578" providerId="ADAL" clId="{CDBA04F6-D5A6-4F8F-A920-1860374E7F12}" dt="2026-10-21T01:49:17.999" v="8"/>
        <pc:sldMkLst>
          <pc:docMk/>
          <pc:sldMk cId="0" sldId="281"/>
        </pc:sldMkLst>
      </pc:sldChg>
      <pc:sldChg chg="add">
        <pc:chgData name="大下　誠二" userId="e5774685-19fa-48b9-bec1-68eebf9ac578" providerId="ADAL" clId="{CDBA04F6-D5A6-4F8F-A920-1860374E7F12}" dt="2026-10-21T01:49:17.999" v="8"/>
        <pc:sldMkLst>
          <pc:docMk/>
          <pc:sldMk cId="0" sldId="282"/>
        </pc:sldMkLst>
      </pc:sldChg>
      <pc:sldChg chg="modSp add mod ord">
        <pc:chgData name="大下　誠二" userId="e5774685-19fa-48b9-bec1-68eebf9ac578" providerId="ADAL" clId="{CDBA04F6-D5A6-4F8F-A920-1860374E7F12}" dt="2026-10-21T01:50:11.922" v="17" actId="27636"/>
        <pc:sldMkLst>
          <pc:docMk/>
          <pc:sldMk cId="1006064969" sldId="283"/>
        </pc:sldMkLst>
        <pc:spChg chg="mod">
          <ac:chgData name="大下　誠二" userId="e5774685-19fa-48b9-bec1-68eebf9ac578" providerId="ADAL" clId="{CDBA04F6-D5A6-4F8F-A920-1860374E7F12}" dt="2026-10-21T01:50:11.922" v="17" actId="27636"/>
          <ac:spMkLst>
            <pc:docMk/>
            <pc:sldMk cId="1006064969" sldId="283"/>
            <ac:spMk id="3" creationId="{0EC5D841-2E60-B1EB-3102-76804FA3912E}"/>
          </ac:spMkLst>
        </pc:spChg>
      </pc:sldChg>
      <pc:sldMasterChg chg="addSp mod">
        <pc:chgData name="大下　誠二" userId="e5774685-19fa-48b9-bec1-68eebf9ac578" providerId="ADAL" clId="{CDBA04F6-D5A6-4F8F-A920-1860374E7F12}" dt="2026-10-21T01:48:47.822" v="6" actId="33475"/>
        <pc:sldMasterMkLst>
          <pc:docMk/>
          <pc:sldMasterMk cId="2209977519" sldId="2147483648"/>
        </pc:sldMasterMkLst>
        <pc:spChg chg="add">
          <ac:chgData name="大下　誠二" userId="e5774685-19fa-48b9-bec1-68eebf9ac578" providerId="ADAL" clId="{CDBA04F6-D5A6-4F8F-A920-1860374E7F12}" dt="2026-10-21T01:48:47.822" v="6" actId="33475"/>
          <ac:spMkLst>
            <pc:docMk/>
            <pc:sldMasterMk cId="2209977519" sldId="2147483648"/>
            <ac:spMk id="8" creationId="{86FDAFA9-3B32-CBA5-B58D-EC273F08FE2A}"/>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86FDAFA9-3B32-CBA5-B58D-EC273F08FE2A}"/>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normAutofit/>
          </a:bodyPr>
          <a:lstStyle/>
          <a:p>
            <a:r>
              <a:rPr lang="en-US" altLang="ja-JP" dirty="0">
                <a:latin typeface="BIZ UDゴシック" panose="020B0400000000000000" pitchFamily="49" charset="-128"/>
                <a:ea typeface="BIZ UDゴシック" panose="020B0400000000000000" pitchFamily="49" charset="-128"/>
              </a:rPr>
              <a:t>Chapter 7</a:t>
            </a:r>
          </a:p>
          <a:p>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42F36B6-4F14-0711-FF0D-DC2240324A75}"/>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19465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7.1  Fixed versus random effects｜固定効果とランダム効果</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一つの因子が3水準以上を持つ場合へ二群比較を一般化する。原著では5個体群のヘビの吻端–総排泄孔長（SVL）を例に、群平均を個別の未知定数とする固定効果モデルと、共通分布からの実現値とするランダム効果モデルを比較する。</a:t>
            </a:r>
          </a:p>
          <a:p>
            <a:pPr>
              <a:lnSpc>
                <a:spcPct val="118000"/>
              </a:lnSpc>
              <a:spcAft>
                <a:spcPts val="800"/>
              </a:spcAft>
            </a:pPr>
            <a:r>
              <a:rPr sz="1420">
                <a:solidFill>
                  <a:srgbClr val="222A35"/>
                </a:solidFill>
                <a:latin typeface="Yu Gothic"/>
              </a:rPr>
              <a:t>• 固定効果モデルは yᵢ=αⱼ₍ᵢ₎+εᵢ、εᵢ~Normal(0,σ²)。ランダム効果モデルではさらにαⱼ~Normal(μ,τ²)を加え、群間の分布と群内残差の分布を別々に定める。</a:t>
            </a:r>
          </a:p>
          <a:p>
            <a:pPr>
              <a:lnSpc>
                <a:spcPct val="118000"/>
              </a:lnSpc>
              <a:spcAft>
                <a:spcPts val="800"/>
              </a:spcAft>
            </a:pPr>
            <a:r>
              <a:rPr sz="1420">
                <a:solidFill>
                  <a:srgbClr val="222A35"/>
                </a:solidFill>
                <a:latin typeface="Yu Gothic"/>
              </a:rPr>
              <a:t>• 固定効果は観測した水準自体の違いに関心がある場合、ランダム効果は共通の確率過程から得られた交換可能な水準として扱い、母集団の平均・分散や未観測水準にも関心がある場合に適する。</a:t>
            </a:r>
          </a:p>
          <a:p>
            <a:pPr>
              <a:lnSpc>
                <a:spcPct val="118000"/>
              </a:lnSpc>
              <a:spcAft>
                <a:spcPts val="800"/>
              </a:spcAft>
            </a:pPr>
            <a:r>
              <a:rPr sz="1420">
                <a:solidFill>
                  <a:srgbClr val="222A35"/>
                </a:solidFill>
                <a:latin typeface="Yu Gothic"/>
              </a:rPr>
              <a:t>• ランダム効果では各群の推定値が全体平均へ縮小（shrinkage）し、情報の少ない群ほど縮小が強い。群間で情報を共有する「部分プーリング」が生じる。</a:t>
            </a:r>
          </a:p>
          <a:p>
            <a:pPr>
              <a:lnSpc>
                <a:spcPct val="118000"/>
              </a:lnSpc>
              <a:spcAft>
                <a:spcPts val="800"/>
              </a:spcAft>
            </a:pPr>
            <a:r>
              <a:rPr sz="1420">
                <a:solidFill>
                  <a:srgbClr val="222A35"/>
                </a:solidFill>
                <a:latin typeface="Yu Gothic"/>
              </a:rPr>
              <a:t>• ランダム効果は群間の分散や相関、繰返し測定、パラメータへの制約を表せる。一方で群数が非常に少ないと高次パラメータの推定精度が乏しくなり得る。</a:t>
            </a:r>
          </a:p>
          <a:p>
            <a:pPr>
              <a:lnSpc>
                <a:spcPct val="118000"/>
              </a:lnSpc>
              <a:spcAft>
                <a:spcPts val="800"/>
              </a:spcAft>
            </a:pPr>
            <a:r>
              <a:rPr sz="1420">
                <a:solidFill>
                  <a:srgbClr val="222A35"/>
                </a:solidFill>
                <a:latin typeface="Yu Gothic"/>
              </a:rPr>
              <a:t>• 固定効果では対象となる各個体群の平均そのものに関心を置き、それぞれを別個の係数として推定する。一方ランダム効果では、観測した個体群を共通分布からの実現値と考え、その分布の平均とばらつきを主要な推定対象にする。</a:t>
            </a:r>
          </a:p>
          <a:p>
            <a:pPr>
              <a:lnSpc>
                <a:spcPct val="118000"/>
              </a:lnSpc>
              <a:spcAft>
                <a:spcPts val="800"/>
              </a:spcAft>
            </a:pPr>
            <a:r>
              <a:rPr sz="1420">
                <a:solidFill>
                  <a:srgbClr val="222A35"/>
                </a:solidFill>
                <a:latin typeface="Yu Gothic"/>
              </a:rPr>
              <a:t>• ランダム効果とするかどうかは、どの個体群について推論したいか、個体群間の変動をどのように表したいかというモデルの設計に関わる。観測されたデータだけで機械的に決まる属性ではない。</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7  |  01 / 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7.2  Fixed-effects model｜固定効果モデル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7.2.1 5個体群それぞれ10個体を測定し、真の平均SVLを50、40、45、55、60、共通残差SDを5としてデータを生成する。個体群の平均は互いに独立の固定パラメータとする。</a:t>
            </a:r>
          </a:p>
          <a:p>
            <a:pPr>
              <a:lnSpc>
                <a:spcPct val="118000"/>
              </a:lnSpc>
              <a:spcAft>
                <a:spcPts val="800"/>
              </a:spcAft>
            </a:pPr>
            <a:r>
              <a:rPr sz="1420">
                <a:solidFill>
                  <a:srgbClr val="222A35"/>
                </a:solidFill>
                <a:latin typeface="Yu Gothic"/>
              </a:rPr>
              <a:t>• 7.2.2 平均値母数化のlm()では、各群の平均推定値が52.473、39.306、47.034、50.611、62.257となり、残差SDは4.296と推定された。効果母数化を選べば第1群との差として同じ関係を記述できる。</a:t>
            </a:r>
          </a:p>
          <a:p>
            <a:pPr>
              <a:lnSpc>
                <a:spcPct val="118000"/>
              </a:lnSpc>
              <a:spcAft>
                <a:spcPts val="800"/>
              </a:spcAft>
            </a:pPr>
            <a:r>
              <a:rPr sz="1420">
                <a:solidFill>
                  <a:srgbClr val="222A35"/>
                </a:solidFill>
                <a:latin typeface="Yu Gothic"/>
              </a:rPr>
              <a:t>• 7.2.3 JAGSは各個体群に別々の事前分布を設定し、群平均に関する差や特定の対比を派生パラメータとして計算する。個体群2＋3と4＋5の差、個体群5の効果が4の2倍か、といった仮説の量も定義できる。</a:t>
            </a:r>
          </a:p>
          <a:p>
            <a:pPr>
              <a:lnSpc>
                <a:spcPct val="118000"/>
              </a:lnSpc>
              <a:spcAft>
                <a:spcPts val="800"/>
              </a:spcAft>
            </a:pPr>
            <a:r>
              <a:rPr sz="1420">
                <a:solidFill>
                  <a:srgbClr val="222A35"/>
                </a:solidFill>
                <a:latin typeface="Yu Gothic"/>
              </a:rPr>
              <a:t>• 7.2.4–7.2.7 NIMBLE、Stan、自作MLE、TMBでも群平均と共通残差分散を推定する。モデル式は同じであり、推定法による点推定値を比較する。</a:t>
            </a:r>
          </a:p>
          <a:p>
            <a:pPr>
              <a:lnSpc>
                <a:spcPct val="118000"/>
              </a:lnSpc>
              <a:spcAft>
                <a:spcPts val="800"/>
              </a:spcAft>
            </a:pPr>
            <a:r>
              <a:rPr sz="1420">
                <a:solidFill>
                  <a:srgbClr val="222A35"/>
                </a:solidFill>
                <a:latin typeface="Yu Gothic"/>
              </a:rPr>
              <a:t>• 7.2.8 曖昧な事前分布によるJAGS推定値はlm()と近い。ここでは個体群間の平均差と、その推定不確実性が中心的な対象となる。</a:t>
            </a:r>
          </a:p>
          <a:p>
            <a:pPr>
              <a:lnSpc>
                <a:spcPct val="118000"/>
              </a:lnSpc>
              <a:spcAft>
                <a:spcPts val="800"/>
              </a:spcAft>
            </a:pPr>
            <a:r>
              <a:rPr sz="1420">
                <a:solidFill>
                  <a:srgbClr val="222A35"/>
                </a:solidFill>
                <a:latin typeface="Yu Gothic"/>
              </a:rPr>
              <a:t>• 固定効果の一元配置モデルでは、個体群jの期待値αⱼと共通の個体内残差分散σ²を仮定する。各個体群に十分な観測があれば、個体群ごとの平均とその差を直接推定できる。</a:t>
            </a:r>
          </a:p>
          <a:p>
            <a:pPr>
              <a:lnSpc>
                <a:spcPct val="118000"/>
              </a:lnSpc>
              <a:spcAft>
                <a:spcPts val="800"/>
              </a:spcAft>
            </a:pPr>
            <a:r>
              <a:rPr sz="1420">
                <a:solidFill>
                  <a:srgbClr val="222A35"/>
                </a:solidFill>
                <a:latin typeface="Yu Gothic"/>
              </a:rPr>
              <a:t>• モデルの切片の有無や基準群の指定によって出力される係数の意味は変わる。原著は既製関数とベイズ・最尤エンジンによる比較を通じて、群平均・群間差・残差SDが同じ現象の異なる表現であることを示す。</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7  |  02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7.3  Random-effects model｜ランダム効果モデル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7.3.1 各群の平均αⱼをNormal(μ,τ²)から生成し、その群平均の周囲にNormal(0,σ²)の個体差を加える。これにより群間変動τ²と群内変動σ²の二つの確率的水準をもつ階層モデルとなる。</a:t>
            </a:r>
          </a:p>
          <a:p>
            <a:pPr>
              <a:lnSpc>
                <a:spcPct val="118000"/>
              </a:lnSpc>
              <a:spcAft>
                <a:spcPts val="800"/>
              </a:spcAft>
            </a:pPr>
            <a:r>
              <a:rPr sz="1420">
                <a:solidFill>
                  <a:srgbClr val="222A35"/>
                </a:solidFill>
                <a:latin typeface="Yu Gothic"/>
              </a:rPr>
              <a:t>• 7.3.2 既製の混合モデル関数では個体群をランダム切片として指定し、全体平均μ、群間SDτ、残差SDσを推定する。固定効果モデルの群別平均推定とは異なる構造を明示している。</a:t>
            </a:r>
          </a:p>
          <a:p>
            <a:pPr>
              <a:lnSpc>
                <a:spcPct val="118000"/>
              </a:lnSpc>
              <a:spcAft>
                <a:spcPts val="800"/>
              </a:spcAft>
            </a:pPr>
            <a:r>
              <a:rPr sz="1420">
                <a:solidFill>
                  <a:srgbClr val="222A35"/>
                </a:solidFill>
                <a:latin typeface="Yu Gothic"/>
              </a:rPr>
              <a:t>• 7.3.3 JAGSでは個体群固有のαⱼに正規分布を与え、αⱼとμ、τの事後分布を推定する。固定効果推定との比較から、個体群の推定値が全体平均へ縮小することを確認する。</a:t>
            </a:r>
          </a:p>
          <a:p>
            <a:pPr>
              <a:lnSpc>
                <a:spcPct val="118000"/>
              </a:lnSpc>
              <a:spcAft>
                <a:spcPts val="800"/>
              </a:spcAft>
            </a:pPr>
            <a:r>
              <a:rPr sz="1420">
                <a:solidFill>
                  <a:srgbClr val="222A35"/>
                </a:solidFill>
                <a:latin typeface="Yu Gothic"/>
              </a:rPr>
              <a:t>• 7.3.4–7.3.5 NIMBLEとStanでも階層分布を明示したベイズモデルを推定する。7.3.6–7.3.7 自作MLEやTMBでは潜在ランダム効果を考慮した周辺尤度を評価する必要があり、固定効果の場合より計算上の扱いが複雑になる。</a:t>
            </a:r>
          </a:p>
          <a:p>
            <a:pPr>
              <a:lnSpc>
                <a:spcPct val="118000"/>
              </a:lnSpc>
              <a:spcAft>
                <a:spcPts val="800"/>
              </a:spcAft>
            </a:pPr>
            <a:r>
              <a:rPr sz="1420">
                <a:solidFill>
                  <a:srgbClr val="222A35"/>
                </a:solidFill>
                <a:latin typeface="Yu Gothic"/>
              </a:rPr>
              <a:t>• 7.3.8 各エンジンの結果を比較するとともに、群間の変動・群内の変動・各群の縮小推定という三つの水準を区別して解釈する。</a:t>
            </a:r>
          </a:p>
          <a:p>
            <a:pPr>
              <a:lnSpc>
                <a:spcPct val="118000"/>
              </a:lnSpc>
              <a:spcAft>
                <a:spcPts val="800"/>
              </a:spcAft>
            </a:pPr>
            <a:r>
              <a:rPr sz="1420">
                <a:solidFill>
                  <a:srgbClr val="222A35"/>
                </a:solidFill>
                <a:latin typeface="Yu Gothic"/>
              </a:rPr>
              <a:t>• ランダム効果モデルでは、個体群平均αⱼの分布の平均μと標準偏差τ、さらに観測値の個体内残差SDσを分ける。二つの分散成分を混ぜると、群間変動と群内変動の意味を失う。</a:t>
            </a:r>
          </a:p>
          <a:p>
            <a:pPr>
              <a:lnSpc>
                <a:spcPct val="118000"/>
              </a:lnSpc>
              <a:spcAft>
                <a:spcPts val="800"/>
              </a:spcAft>
            </a:pPr>
            <a:r>
              <a:rPr sz="1420">
                <a:solidFill>
                  <a:srgbClr val="222A35"/>
                </a:solidFill>
                <a:latin typeface="Yu Gothic"/>
              </a:rPr>
              <a:t>• 個体群ごとの係数は共通の平均方向へ縮小して推定され得る。これは独立した群平均を単純に置き換えるのではなく、群間分布に関する情報を各群の推定に用いることに対応する。原著はこの点を混合モデルに進む重要な基礎と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7  |  03 / 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7.4  Summary and outlook｜まとめと展望</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多水準因子を持つ線形モデルは一元配置ANOVAと対応する。固定効果では各水準を独立に推定し、ランダム効果では各水準を共通分布からの実現値とみなす。</a:t>
            </a:r>
          </a:p>
          <a:p>
            <a:pPr>
              <a:lnSpc>
                <a:spcPct val="118000"/>
              </a:lnSpc>
              <a:spcAft>
                <a:spcPts val="1200"/>
              </a:spcAft>
            </a:pPr>
            <a:r>
              <a:rPr sz="1680">
                <a:solidFill>
                  <a:srgbClr val="222A35"/>
                </a:solidFill>
                <a:latin typeface="Yu Gothic"/>
              </a:rPr>
              <a:t>• ランダム効果モデルは、全体平均、群間分散、群内分散を分けて記述し、群間で情報を共有する。その結果、観測数の少ない水準についても部分プーリングによる推定が可能となる。</a:t>
            </a:r>
          </a:p>
          <a:p>
            <a:pPr>
              <a:lnSpc>
                <a:spcPct val="118000"/>
              </a:lnSpc>
              <a:spcAft>
                <a:spcPts val="1200"/>
              </a:spcAft>
            </a:pPr>
            <a:r>
              <a:rPr sz="1680">
                <a:solidFill>
                  <a:srgbClr val="222A35"/>
                </a:solidFill>
                <a:latin typeface="Yu Gothic"/>
              </a:rPr>
              <a:t>• この構造は後続のランダム切片・ランダム傾き、GLMM、階層モデルの基礎となる。</a:t>
            </a:r>
          </a:p>
          <a:p>
            <a:pPr>
              <a:lnSpc>
                <a:spcPct val="118000"/>
              </a:lnSpc>
              <a:spcAft>
                <a:spcPts val="1200"/>
              </a:spcAft>
            </a:pPr>
            <a:r>
              <a:rPr sz="1680">
                <a:solidFill>
                  <a:srgbClr val="222A35"/>
                </a:solidFill>
                <a:latin typeface="Yu Gothic"/>
              </a:rPr>
              <a:t>• 固定効果モデルは水準間の個別比較に直接的だが、ランダム効果モデルでは個体群を越えた分布への推論が可能になる。どちらか一方がすべての研究目的に対して優れているのではない。</a:t>
            </a:r>
          </a:p>
          <a:p>
            <a:pPr>
              <a:lnSpc>
                <a:spcPct val="118000"/>
              </a:lnSpc>
              <a:spcAft>
                <a:spcPts val="1200"/>
              </a:spcAft>
            </a:pPr>
            <a:r>
              <a:rPr sz="1680">
                <a:solidFill>
                  <a:srgbClr val="222A35"/>
                </a:solidFill>
                <a:latin typeface="Yu Gothic"/>
              </a:rPr>
              <a:t>• 第7章で扱った平均のランダム変動は、後の線形混合モデルで切片や傾きのランダム効果を組み込むための準備となる。母集団の分散成分を推定するときは、観測した群の数と群内標本数の両方が情報量を左右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7  |  04 / 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固定効果：集団別平均｜まず統計モデルを読む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モデル導入 7.2</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yᵢ ~ Normal(α[popᵢ], σ²)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5集団×10個体。各集団の平均 α を別々のパラメータとして推定する。</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集団差 effe は α の差として導出。</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7.2.3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019" b="0">
                <a:solidFill>
                  <a:srgbClr val="242E3C"/>
                </a:solidFill>
                <a:latin typeface="Consolas"/>
              </a:defRPr>
            </a:pPr>
            <a:r>
              <a:t>alpha[i] ~ dnorm(0, 0.0001)</a:t>
            </a:r>
          </a:p>
          <a:p>
            <a:pPr>
              <a:spcAft>
                <a:spcPts val="500"/>
              </a:spcAft>
              <a:defRPr sz="1019" b="0">
                <a:solidFill>
                  <a:srgbClr val="242E3C"/>
                </a:solidFill>
                <a:latin typeface="Consolas"/>
              </a:defRPr>
            </a:pPr>
            <a:r>
              <a:t>tau &lt;- pow(sigma, -2)</a:t>
            </a:r>
          </a:p>
          <a:p>
            <a:pPr>
              <a:spcAft>
                <a:spcPts val="500"/>
              </a:spcAft>
              <a:defRPr sz="1019" b="0">
                <a:solidFill>
                  <a:srgbClr val="242E3C"/>
                </a:solidFill>
                <a:latin typeface="Consolas"/>
              </a:defRPr>
            </a:pPr>
            <a:r>
              <a:t>y[i] ~ dnorm(mean[i], tau)</a:t>
            </a:r>
          </a:p>
          <a:p>
            <a:pPr>
              <a:spcAft>
                <a:spcPts val="500"/>
              </a:spcAft>
              <a:defRPr sz="1019" b="0">
                <a:solidFill>
                  <a:srgbClr val="242E3C"/>
                </a:solidFill>
                <a:latin typeface="Consolas"/>
              </a:defRPr>
            </a:pPr>
            <a:r>
              <a:t>mean[i] &lt;- alpha[pop[i]]</a:t>
            </a:r>
          </a:p>
          <a:p>
            <a:pPr>
              <a:spcAft>
                <a:spcPts val="500"/>
              </a:spcAft>
              <a:defRPr sz="1019" b="0">
                <a:solidFill>
                  <a:srgbClr val="242E3C"/>
                </a:solidFill>
                <a:latin typeface="Consolas"/>
              </a:defRPr>
            </a:pPr>
            <a:r>
              <a:t>effe2 &lt;- alpha[2] - alpha[1]</a:t>
            </a:r>
          </a:p>
          <a:p>
            <a:pPr>
              <a:spcAft>
                <a:spcPts val="500"/>
              </a:spcAft>
              <a:defRPr sz="1019" b="0">
                <a:solidFill>
                  <a:srgbClr val="242E3C"/>
                </a:solidFill>
                <a:latin typeface="Consolas"/>
              </a:defRPr>
            </a:pPr>
            <a:r>
              <a:t>test1 &lt;- (effe2 + effe3) - (effe4 + effe5) # Equals 0 when 2 + 3 = 4 + 5</a:t>
            </a:r>
          </a:p>
          <a:p>
            <a:pPr>
              <a:spcAft>
                <a:spcPts val="500"/>
              </a:spcAft>
              <a:defRPr sz="1019" b="0">
                <a:solidFill>
                  <a:srgbClr val="242E3C"/>
                </a:solidFill>
                <a:latin typeface="Consolas"/>
              </a:defRPr>
            </a:pPr>
            <a:r>
              <a:t>params &lt;- c("alpha", "sigma", "effe2", "effe3", "effe4", "effe5", "test1", "test2")</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7.2.3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7.2.4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alpha[i] ~ dnorm(0, 0.001)</a:t>
            </a:r>
          </a:p>
          <a:p>
            <a:pPr>
              <a:spcAft>
                <a:spcPts val="500"/>
              </a:spcAft>
              <a:defRPr sz="1200" b="0">
                <a:solidFill>
                  <a:srgbClr val="242E3C"/>
                </a:solidFill>
                <a:latin typeface="Consolas"/>
              </a:defRPr>
            </a:pPr>
            <a:r>
              <a:t>y[i] ~ dnorm(mean[i], sd = sigma) # Note use of sigma</a:t>
            </a:r>
          </a:p>
          <a:p>
            <a:pPr>
              <a:spcAft>
                <a:spcPts val="500"/>
              </a:spcAft>
              <a:defRPr sz="1200" b="0">
                <a:solidFill>
                  <a:srgbClr val="242E3C"/>
                </a:solidFill>
                <a:latin typeface="Consolas"/>
              </a:defRPr>
            </a:pPr>
            <a:r>
              <a:t>mean[i] &lt;- alpha[pop[i]]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7.2.4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7.2.5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 {</a:t>
            </a:r>
          </a:p>
          <a:p>
            <a:pPr>
              <a:spcAft>
                <a:spcPts val="500"/>
              </a:spcAft>
              <a:defRPr sz="1200" b="0">
                <a:solidFill>
                  <a:srgbClr val="242E3C"/>
                </a:solidFill>
                <a:latin typeface="Consolas"/>
              </a:defRPr>
            </a:pPr>
            <a:r>
              <a:t>parameters { // Define format for all parameters</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alpha ~ normal(0, 100);</a:t>
            </a:r>
          </a:p>
          <a:p>
            <a:pPr>
              <a:spcAft>
                <a:spcPts val="500"/>
              </a:spcAft>
              <a:defRPr sz="1200" b="0">
                <a:solidFill>
                  <a:srgbClr val="242E3C"/>
                </a:solidFill>
                <a:latin typeface="Consolas"/>
              </a:defRPr>
            </a:pPr>
            <a:r>
              <a:t>sigma ~ cauchy(0, 10);</a:t>
            </a:r>
          </a:p>
          <a:p>
            <a:pPr>
              <a:spcAft>
                <a:spcPts val="500"/>
              </a:spcAft>
              <a:defRPr sz="1200" b="0">
                <a:solidFill>
                  <a:srgbClr val="242E3C"/>
                </a:solidFill>
                <a:latin typeface="Consolas"/>
              </a:defRPr>
            </a:pPr>
            <a:r>
              <a:t>y[i] ~ normal(alpha[pop[i]], sigma);</a:t>
            </a:r>
          </a:p>
          <a:p>
            <a:pPr>
              <a:spcAft>
                <a:spcPts val="500"/>
              </a:spcAft>
              <a:defRPr sz="1200" b="0">
                <a:solidFill>
                  <a:srgbClr val="242E3C"/>
                </a:solidFill>
                <a:latin typeface="Consolas"/>
              </a:defRPr>
            </a:pPr>
            <a:r>
              <a:t>generated quantities {</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7.2.5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7.2.6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NLL &lt;- function(param, y, X) {</a:t>
            </a:r>
          </a:p>
          <a:p>
            <a:pPr>
              <a:spcAft>
                <a:spcPts val="500"/>
              </a:spcAft>
              <a:defRPr sz="1200" b="0">
                <a:solidFill>
                  <a:srgbClr val="242E3C"/>
                </a:solidFill>
                <a:latin typeface="Consolas"/>
              </a:defRPr>
            </a:pPr>
            <a:r>
              <a:t>alpha &lt;- param[1:5] # Population means</a:t>
            </a:r>
          </a:p>
          <a:p>
            <a:pPr>
              <a:spcAft>
                <a:spcPts val="500"/>
              </a:spcAft>
              <a:defRPr sz="1200" b="0">
                <a:solidFill>
                  <a:srgbClr val="242E3C"/>
                </a:solidFill>
                <a:latin typeface="Consolas"/>
              </a:defRPr>
            </a:pPr>
            <a:r>
              <a:t>sigma &lt;- param[6] # Residual SD</a:t>
            </a:r>
          </a:p>
          <a:p>
            <a:pPr>
              <a:spcAft>
                <a:spcPts val="500"/>
              </a:spcAft>
              <a:defRPr sz="1200" b="0">
                <a:solidFill>
                  <a:srgbClr val="242E3C"/>
                </a:solidFill>
                <a:latin typeface="Consolas"/>
              </a:defRPr>
            </a:pPr>
            <a:r>
              <a:t>mu &lt;- X %*% alpha # Get pop mean for each datum</a:t>
            </a:r>
          </a:p>
          <a:p>
            <a:pPr>
              <a:spcAft>
                <a:spcPts val="500"/>
              </a:spcAft>
              <a:defRPr sz="1200" b="0">
                <a:solidFill>
                  <a:srgbClr val="242E3C"/>
                </a:solidFill>
                <a:latin typeface="Consolas"/>
              </a:defRPr>
            </a:pPr>
            <a:r>
              <a:t>LL &lt;- dnorm(y, mu, sigma, log = TRUE) # log-likelihood each datum</a:t>
            </a:r>
          </a:p>
          <a:p>
            <a:pPr>
              <a:spcAft>
                <a:spcPts val="500"/>
              </a:spcAft>
              <a:defRPr sz="1200" b="0">
                <a:solidFill>
                  <a:srgbClr val="242E3C"/>
                </a:solidFill>
                <a:latin typeface="Consolas"/>
              </a:defRPr>
            </a:pPr>
            <a:r>
              <a:t>NLL &lt;- -sum(LL) # NLL for all data points</a:t>
            </a:r>
          </a:p>
          <a:p>
            <a:pPr>
              <a:spcAft>
                <a:spcPts val="500"/>
              </a:spcAft>
              <a:defRPr sz="1200" b="0">
                <a:solidFill>
                  <a:srgbClr val="242E3C"/>
                </a:solidFill>
                <a:latin typeface="Consolas"/>
              </a:defRPr>
            </a:pPr>
            <a:r>
              <a:t>return(NLL)</a:t>
            </a:r>
          </a:p>
          <a:p>
            <a:pPr>
              <a:spcAft>
                <a:spcPts val="500"/>
              </a:spcAft>
              <a:defRPr sz="1200" b="0">
                <a:solidFill>
                  <a:srgbClr val="242E3C"/>
                </a:solidFill>
                <a:latin typeface="Consolas"/>
              </a:defRPr>
            </a:pPr>
            <a:r>
              <a:t>out72.6 &lt;- optim(inits, NLL, y = y, X = X, hessian = TRUE)</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7.2.6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7.2.7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DATA_VECTOR(y); //response</a:t>
            </a:r>
          </a:p>
          <a:p>
            <a:pPr>
              <a:spcAft>
                <a:spcPts val="500"/>
              </a:spcAft>
              <a:defRPr sz="1200" b="0">
                <a:solidFill>
                  <a:srgbClr val="242E3C"/>
                </a:solidFill>
                <a:latin typeface="Consolas"/>
              </a:defRPr>
            </a:pPr>
            <a:r>
              <a:t>DATA_IVECTOR(pop); //Population index: note IVECTOR, not VECTOR</a:t>
            </a:r>
          </a:p>
          <a:p>
            <a:pPr>
              <a:spcAft>
                <a:spcPts val="500"/>
              </a:spcAft>
              <a:defRPr sz="1200" b="0">
                <a:solidFill>
                  <a:srgbClr val="242E3C"/>
                </a:solidFill>
                <a:latin typeface="Consolas"/>
              </a:defRPr>
            </a:pPr>
            <a:r>
              <a:t>PARAMETER_VECTOR(alpha); //Population means</a:t>
            </a:r>
          </a:p>
          <a:p>
            <a:pPr>
              <a:spcAft>
                <a:spcPts val="500"/>
              </a:spcAft>
              <a:defRPr sz="1200" b="0">
                <a:solidFill>
                  <a:srgbClr val="242E3C"/>
                </a:solidFill>
                <a:latin typeface="Consolas"/>
              </a:defRPr>
            </a:pPr>
            <a:r>
              <a:t>PARAMETER(log_sigma); //log(residual standard deviation)</a:t>
            </a:r>
          </a:p>
          <a:p>
            <a:pPr>
              <a:spcAft>
                <a:spcPts val="500"/>
              </a:spcAft>
              <a:defRPr sz="1200" b="0">
                <a:solidFill>
                  <a:srgbClr val="242E3C"/>
                </a:solidFill>
                <a:latin typeface="Consolas"/>
              </a:defRPr>
            </a:pPr>
            <a:r>
              <a:t>LL += dnorm(y(i), alpha(pop(i)), sigma, true);</a:t>
            </a:r>
          </a:p>
          <a:p>
            <a:pPr>
              <a:spcAft>
                <a:spcPts val="500"/>
              </a:spcAft>
              <a:defRPr sz="1200" b="0">
                <a:solidFill>
                  <a:srgbClr val="242E3C"/>
                </a:solidFill>
                <a:latin typeface="Consolas"/>
              </a:defRPr>
            </a:pPr>
            <a:r>
              <a:t>ADREPORT(effe2);</a:t>
            </a:r>
          </a:p>
          <a:p>
            <a:pPr>
              <a:spcAft>
                <a:spcPts val="500"/>
              </a:spcAft>
              <a:defRPr sz="1200" b="0">
                <a:solidFill>
                  <a:srgbClr val="242E3C"/>
                </a:solidFill>
                <a:latin typeface="Consolas"/>
              </a:defRPr>
            </a:pPr>
            <a:r>
              <a:t>ADREPORT(effe4);</a:t>
            </a:r>
          </a:p>
          <a:p>
            <a:pPr>
              <a:spcAft>
                <a:spcPts val="500"/>
              </a:spcAft>
              <a:defRPr sz="1200" b="0">
                <a:solidFill>
                  <a:srgbClr val="242E3C"/>
                </a:solidFill>
                <a:latin typeface="Consolas"/>
              </a:defRPr>
            </a:pPr>
            <a:r>
              <a:t>ADREPORT(effe5);</a:t>
            </a:r>
          </a:p>
          <a:p>
            <a:pPr>
              <a:spcAft>
                <a:spcPts val="500"/>
              </a:spcAft>
              <a:defRPr sz="1200" b="0">
                <a:solidFill>
                  <a:srgbClr val="242E3C"/>
                </a:solidFill>
                <a:latin typeface="Consolas"/>
              </a:defRPr>
            </a:pPr>
            <a:r>
              <a:t>ADREPORT(test1);</a:t>
            </a:r>
          </a:p>
          <a:p>
            <a:pPr>
              <a:spcAft>
                <a:spcPts val="500"/>
              </a:spcAft>
              <a:defRPr sz="1200" b="0">
                <a:solidFill>
                  <a:srgbClr val="242E3C"/>
                </a:solidFill>
                <a:latin typeface="Consolas"/>
              </a:defRPr>
            </a:pPr>
            <a:r>
              <a:t>return -LL; //Return negative of total log likelihood</a:t>
            </a:r>
          </a:p>
          <a:p>
            <a:pPr>
              <a:spcAft>
                <a:spcPts val="500"/>
              </a:spcAft>
              <a:defRPr sz="1200" b="0">
                <a:solidFill>
                  <a:srgbClr val="242E3C"/>
                </a:solidFill>
                <a:latin typeface="Consolas"/>
              </a:defRPr>
            </a:pPr>
            <a:r>
              <a:t>out72.7 &lt;- MakeADFun(data = tmbData, parameters = params,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7.2.7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固定効果：集団別平均</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変量効果：集団平均の階層化｜まず統計モデルを読む</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モデル導入 7.3</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モデルの構造（記号は説明のために整理）</a:t>
            </a:r>
          </a:p>
        </p:txBody>
      </p:sp>
      <p:sp>
        <p:nvSpPr>
          <p:cNvPr id="6" name="Rounded Rectangle 5"/>
          <p:cNvSpPr/>
          <p:nvPr/>
        </p:nvSpPr>
        <p:spPr>
          <a:xfrm>
            <a:off x="493776" y="1371600"/>
            <a:ext cx="11082528" cy="1060704"/>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2200" b="1">
                <a:solidFill>
                  <a:srgbClr val="192B45"/>
                </a:solidFill>
                <a:latin typeface="Yu Gothic"/>
              </a:defRPr>
            </a:pPr>
            <a:r>
              <a:t>yᵢ ~ Normal(pop.mean[popᵢ], σ²)</a:t>
            </a:r>
          </a:p>
          <a:p>
            <a:pPr>
              <a:spcAft>
                <a:spcPts val="500"/>
              </a:spcAft>
              <a:defRPr sz="2200" b="1">
                <a:solidFill>
                  <a:srgbClr val="192B45"/>
                </a:solidFill>
                <a:latin typeface="Yu Gothic"/>
              </a:defRPr>
            </a:pPr>
            <a:r>
              <a:t>pop.mean[j] ~ Normal(μ, σ_pop²)</a:t>
            </a:r>
          </a:p>
        </p:txBody>
      </p:sp>
      <p:sp>
        <p:nvSpPr>
          <p:cNvPr id="7" name="TextBox 6"/>
          <p:cNvSpPr txBox="1"/>
          <p:nvPr/>
        </p:nvSpPr>
        <p:spPr>
          <a:xfrm>
            <a:off x="512064" y="2578608"/>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観測データとパラメータ</a:t>
            </a:r>
          </a:p>
        </p:txBody>
      </p:sp>
      <p:sp>
        <p:nvSpPr>
          <p:cNvPr id="8" name="TextBox 7"/>
          <p:cNvSpPr txBox="1"/>
          <p:nvPr/>
        </p:nvSpPr>
        <p:spPr>
          <a:xfrm>
            <a:off x="502920" y="2999232"/>
            <a:ext cx="10972800" cy="1005840"/>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10集団×12個体。集団平均に共通分布を仮定し部分プーリングする。</a:t>
            </a:r>
          </a:p>
        </p:txBody>
      </p:sp>
      <p:sp>
        <p:nvSpPr>
          <p:cNvPr id="9" name="TextBox 8"/>
          <p:cNvSpPr txBox="1"/>
          <p:nvPr/>
        </p:nvSpPr>
        <p:spPr>
          <a:xfrm>
            <a:off x="512064" y="414223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このモデルで注目すること</a:t>
            </a:r>
          </a:p>
        </p:txBody>
      </p:sp>
      <p:sp>
        <p:nvSpPr>
          <p:cNvPr id="10" name="TextBox 9"/>
          <p:cNvSpPr txBox="1"/>
          <p:nvPr/>
        </p:nvSpPr>
        <p:spPr>
          <a:xfrm>
            <a:off x="502920" y="4590288"/>
            <a:ext cx="10972800" cy="1033271"/>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固定効果との違いは pop.mean の上位分布。</a:t>
            </a:r>
          </a:p>
          <a:p>
            <a:pPr>
              <a:spcAft>
                <a:spcPts val="500"/>
              </a:spcAft>
              <a:defRPr sz="1800" b="0">
                <a:solidFill>
                  <a:srgbClr val="242E3C"/>
                </a:solidFill>
                <a:latin typeface="Yu Gothic"/>
              </a:defRPr>
            </a:pPr>
            <a:r>
              <a:t>同じ統計モデルを異なる5種類の実装方法で表現する。</a:t>
            </a:r>
          </a:p>
        </p:txBody>
      </p:sp>
      <p:sp>
        <p:nvSpPr>
          <p:cNvPr id="11" name="TextBox 10"/>
          <p:cNvSpPr txBox="1"/>
          <p:nvPr/>
        </p:nvSpPr>
        <p:spPr>
          <a:xfrm>
            <a:off x="502920" y="5989320"/>
            <a:ext cx="10972800" cy="274320"/>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※数式表現はコード理解用の整理であり、原著の本文翻訳ではありません。</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7.3.3  JAGS｜コードの読み方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pop.mean[i] ~ dnorm(pop.grand.mean, pop.tau) # Random effects !</a:t>
            </a:r>
          </a:p>
          <a:p>
            <a:pPr>
              <a:spcAft>
                <a:spcPts val="500"/>
              </a:spcAft>
              <a:defRPr sz="1200" b="0">
                <a:solidFill>
                  <a:srgbClr val="242E3C"/>
                </a:solidFill>
                <a:latin typeface="Consolas"/>
              </a:defRPr>
            </a:pPr>
            <a:r>
              <a:t>effe[i] &lt;- pop.mean[i] - pop.grand.mean # Ranef as in lme4</a:t>
            </a:r>
          </a:p>
          <a:p>
            <a:pPr>
              <a:spcAft>
                <a:spcPts val="500"/>
              </a:spcAft>
              <a:defRPr sz="1200" b="0">
                <a:solidFill>
                  <a:srgbClr val="242E3C"/>
                </a:solidFill>
                <a:latin typeface="Consolas"/>
              </a:defRPr>
            </a:pPr>
            <a:r>
              <a:t>pop.grand.mean ~ dnorm(0, 0.0001) # Hyperprior for grand mean svl</a:t>
            </a:r>
          </a:p>
          <a:p>
            <a:pPr>
              <a:spcAft>
                <a:spcPts val="500"/>
              </a:spcAft>
              <a:defRPr sz="1200" b="0">
                <a:solidFill>
                  <a:srgbClr val="242E3C"/>
                </a:solidFill>
                <a:latin typeface="Consolas"/>
              </a:defRPr>
            </a:pPr>
            <a:r>
              <a:t>pop.sd ~ dt(0, 0.01, 1)T(0,) # Hyperprior for sd of population effects</a:t>
            </a:r>
          </a:p>
          <a:p>
            <a:pPr>
              <a:spcAft>
                <a:spcPts val="500"/>
              </a:spcAft>
              <a:defRPr sz="1200" b="0">
                <a:solidFill>
                  <a:srgbClr val="242E3C"/>
                </a:solidFill>
                <a:latin typeface="Consolas"/>
              </a:defRPr>
            </a:pPr>
            <a:r>
              <a:t>pop.tau &lt;- pow(pop.sd, -2)</a:t>
            </a:r>
          </a:p>
          <a:p>
            <a:pPr>
              <a:spcAft>
                <a:spcPts val="500"/>
              </a:spcAft>
              <a:defRPr sz="1200" b="0">
                <a:solidFill>
                  <a:srgbClr val="242E3C"/>
                </a:solidFill>
                <a:latin typeface="Consolas"/>
              </a:defRPr>
            </a:pPr>
            <a:r>
              <a:t>y[i] ~ dnorm(mu[i], residual.tau)</a:t>
            </a:r>
          </a:p>
          <a:p>
            <a:pPr>
              <a:spcAft>
                <a:spcPts val="500"/>
              </a:spcAft>
              <a:defRPr sz="1200" b="0">
                <a:solidFill>
                  <a:srgbClr val="242E3C"/>
                </a:solidFill>
                <a:latin typeface="Consolas"/>
              </a:defRPr>
            </a:pPr>
            <a:r>
              <a:t>mu[i] &lt;- pop.mean[pop[i]]</a:t>
            </a:r>
          </a:p>
          <a:p>
            <a:pPr>
              <a:spcAft>
                <a:spcPts val="500"/>
              </a:spcAft>
              <a:defRPr sz="1200" b="0">
                <a:solidFill>
                  <a:srgbClr val="242E3C"/>
                </a:solidFill>
                <a:latin typeface="Consolas"/>
              </a:defRPr>
            </a:pPr>
            <a:r>
              <a:t>pop.mean[i] ~ dnorm(0, 0.0001)</a:t>
            </a:r>
          </a:p>
          <a:p>
            <a:pPr>
              <a:spcAft>
                <a:spcPts val="500"/>
              </a:spcAft>
              <a:defRPr sz="1200" b="0">
                <a:solidFill>
                  <a:srgbClr val="242E3C"/>
                </a:solidFill>
                <a:latin typeface="Consolas"/>
              </a:defRPr>
            </a:pPr>
            <a:r>
              <a:t>residual.tau &lt;- pow(residual.sd, -2)</a:t>
            </a:r>
          </a:p>
          <a:p>
            <a:pPr>
              <a:spcAft>
                <a:spcPts val="500"/>
              </a:spcAft>
              <a:defRPr sz="1200" b="0">
                <a:solidFill>
                  <a:srgbClr val="242E3C"/>
                </a:solidFill>
                <a:latin typeface="Consolas"/>
              </a:defRPr>
            </a:pPr>
            <a:r>
              <a:t>y[i] ~ dnorm(mu[i], residual.tau)</a:t>
            </a:r>
          </a:p>
          <a:p>
            <a:pPr>
              <a:spcAft>
                <a:spcPts val="500"/>
              </a:spcAft>
              <a:defRPr sz="1200" b="0">
                <a:solidFill>
                  <a:srgbClr val="242E3C"/>
                </a:solidFill>
                <a:latin typeface="Consolas"/>
              </a:defRPr>
            </a:pPr>
            <a:r>
              <a:t>mu[i] &lt;- pop.mean[pop[i]]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確率モデル・事前分布</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モデル内の ~ は確率分布、&lt;- は決定的な計算。dnorm の第2引数は精度 tau = 1/σ²。</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n.iter, n.burnin, n.chains と事前分布の指定を実際のコードで確認。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7.3.3  JAGS｜推定手順を理解する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dataList</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BUGSモデル</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jags()</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traceplot/summary</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モデル内の ~ は確率分布、&lt;- は決定的な計算。dnorm の第2引数は精度 tau = 1/σ²。</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n.iter, n.burnin, n.chains と事前分布の指定を実際のコードで確認。</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7.3.4  NIMBLE｜コードの読み方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pop.mean[i] ~ dnorm(pop.grand.mean, sd = pop.sd)</a:t>
            </a:r>
          </a:p>
          <a:p>
            <a:pPr>
              <a:spcAft>
                <a:spcPts val="500"/>
              </a:spcAft>
              <a:defRPr sz="1200" b="0">
                <a:solidFill>
                  <a:srgbClr val="242E3C"/>
                </a:solidFill>
                <a:latin typeface="Consolas"/>
              </a:defRPr>
            </a:pPr>
            <a:r>
              <a:t>effe[i] &lt;- pop.mean[i] - pop.grand.mean</a:t>
            </a:r>
          </a:p>
          <a:p>
            <a:pPr>
              <a:spcAft>
                <a:spcPts val="500"/>
              </a:spcAft>
              <a:defRPr sz="1200" b="0">
                <a:solidFill>
                  <a:srgbClr val="242E3C"/>
                </a:solidFill>
                <a:latin typeface="Consolas"/>
              </a:defRPr>
            </a:pPr>
            <a:r>
              <a:t>pop.grand.mean ~ dnorm(0, sd = 1000) # Hyperprior for grand mean svl</a:t>
            </a:r>
          </a:p>
          <a:p>
            <a:pPr>
              <a:spcAft>
                <a:spcPts val="500"/>
              </a:spcAft>
              <a:defRPr sz="1200" b="0">
                <a:solidFill>
                  <a:srgbClr val="242E3C"/>
                </a:solidFill>
                <a:latin typeface="Consolas"/>
              </a:defRPr>
            </a:pPr>
            <a:r>
              <a:t>y[i] ~ dnorm(mu[i], sd = residual.sd)</a:t>
            </a:r>
          </a:p>
          <a:p>
            <a:pPr>
              <a:spcAft>
                <a:spcPts val="500"/>
              </a:spcAft>
              <a:defRPr sz="1200" b="0">
                <a:solidFill>
                  <a:srgbClr val="242E3C"/>
                </a:solidFill>
                <a:latin typeface="Consolas"/>
              </a:defRPr>
            </a:pPr>
            <a:r>
              <a:t>mu[i] &lt;- pop.mean[pop[i]]</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nimbleCode による階層モデル</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モデルの確率的な構造はJAGSと類似。dnorm では sd= と tau= の記述の違いを読む。</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constants・inits・monitors をどこに渡すかに注目。</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7.3.4  NIMBLE｜推定手順を理解する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nimbleCode()</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nimbleMCMC()</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coda::traceplot()</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モデルの確率的な構造はJAGSと類似。dnorm では sd= と tau= の記述の違いを読む。</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constants・inits・monitors をどこに渡すかに注目。</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7.3.5  Stan｜コードの読み方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parameters { // Define parameters</a:t>
            </a:r>
          </a:p>
          <a:p>
            <a:pPr>
              <a:spcAft>
                <a:spcPts val="500"/>
              </a:spcAft>
              <a:defRPr sz="1200" b="0">
                <a:solidFill>
                  <a:srgbClr val="242E3C"/>
                </a:solidFill>
                <a:latin typeface="Consolas"/>
              </a:defRPr>
            </a:pPr>
            <a:r>
              <a:t>model {</a:t>
            </a:r>
          </a:p>
          <a:p>
            <a:pPr>
              <a:spcAft>
                <a:spcPts val="500"/>
              </a:spcAft>
              <a:defRPr sz="1200" b="0">
                <a:solidFill>
                  <a:srgbClr val="242E3C"/>
                </a:solidFill>
                <a:latin typeface="Consolas"/>
              </a:defRPr>
            </a:pPr>
            <a:r>
              <a:t>pop_grand_mean ~ normal(0, 100);</a:t>
            </a:r>
          </a:p>
          <a:p>
            <a:pPr>
              <a:spcAft>
                <a:spcPts val="500"/>
              </a:spcAft>
              <a:defRPr sz="1200" b="0">
                <a:solidFill>
                  <a:srgbClr val="242E3C"/>
                </a:solidFill>
                <a:latin typeface="Consolas"/>
              </a:defRPr>
            </a:pPr>
            <a:r>
              <a:t>pop_sd ~ cauchy(0, 10);</a:t>
            </a:r>
          </a:p>
          <a:p>
            <a:pPr>
              <a:spcAft>
                <a:spcPts val="500"/>
              </a:spcAft>
              <a:defRPr sz="1200" b="0">
                <a:solidFill>
                  <a:srgbClr val="242E3C"/>
                </a:solidFill>
                <a:latin typeface="Consolas"/>
              </a:defRPr>
            </a:pPr>
            <a:r>
              <a:t>residual_sd ~ cauchy(0, 10);</a:t>
            </a:r>
          </a:p>
          <a:p>
            <a:pPr>
              <a:spcAft>
                <a:spcPts val="500"/>
              </a:spcAft>
              <a:defRPr sz="1200" b="0">
                <a:solidFill>
                  <a:srgbClr val="242E3C"/>
                </a:solidFill>
                <a:latin typeface="Consolas"/>
              </a:defRPr>
            </a:pPr>
            <a:r>
              <a:t>pop_mean[i] ~ normal(pop_grand_mean, pop_sd);</a:t>
            </a:r>
          </a:p>
          <a:p>
            <a:pPr>
              <a:spcAft>
                <a:spcPts val="500"/>
              </a:spcAft>
              <a:defRPr sz="1200" b="0">
                <a:solidFill>
                  <a:srgbClr val="242E3C"/>
                </a:solidFill>
                <a:latin typeface="Consolas"/>
              </a:defRPr>
            </a:pPr>
            <a:r>
              <a:t>mu[i] = pop_mean[pop[i]];</a:t>
            </a:r>
          </a:p>
          <a:p>
            <a:pPr>
              <a:spcAft>
                <a:spcPts val="500"/>
              </a:spcAft>
              <a:defRPr sz="1200" b="0">
                <a:solidFill>
                  <a:srgbClr val="242E3C"/>
                </a:solidFill>
                <a:latin typeface="Consolas"/>
              </a:defRPr>
            </a:pPr>
            <a:r>
              <a:t>y[i] ~ normal(mu[i], residual_sd);</a:t>
            </a:r>
          </a:p>
          <a:p>
            <a:pPr>
              <a:spcAft>
                <a:spcPts val="500"/>
              </a:spcAft>
              <a:defRPr sz="1200" b="0">
                <a:solidFill>
                  <a:srgbClr val="242E3C"/>
                </a:solidFill>
                <a:latin typeface="Consolas"/>
              </a:defRPr>
            </a:pPr>
            <a:r>
              <a:t>generated quantities {</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ブロックと連続パラメータ</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 は観測値、parameters は未知量、model は事前分布・尤度。generated quantities は事後の派生量。</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離散潜在変数は直接サンプリングできず、必要に応じて周辺化する。</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7.3.5  Stan｜推定手順を理解する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data</a:t>
            </a:r>
          </a:p>
        </p:txBody>
      </p:sp>
      <p:sp>
        <p:nvSpPr>
          <p:cNvPr id="7" name="Rounded Rectangle 6"/>
          <p:cNvSpPr/>
          <p:nvPr/>
        </p:nvSpPr>
        <p:spPr>
          <a:xfrm>
            <a:off x="2798064"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parameters</a:t>
            </a:r>
          </a:p>
        </p:txBody>
      </p:sp>
      <p:sp>
        <p:nvSpPr>
          <p:cNvPr id="8" name="Rounded Rectangle 7"/>
          <p:cNvSpPr/>
          <p:nvPr/>
        </p:nvSpPr>
        <p:spPr>
          <a:xfrm>
            <a:off x="5065776"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model</a:t>
            </a:r>
          </a:p>
        </p:txBody>
      </p:sp>
      <p:sp>
        <p:nvSpPr>
          <p:cNvPr id="9" name="Rounded Rectangle 8"/>
          <p:cNvSpPr/>
          <p:nvPr/>
        </p:nvSpPr>
        <p:spPr>
          <a:xfrm>
            <a:off x="7333488"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stan()</a:t>
            </a:r>
          </a:p>
        </p:txBody>
      </p:sp>
      <p:sp>
        <p:nvSpPr>
          <p:cNvPr id="10" name="Rounded Rectangle 9"/>
          <p:cNvSpPr/>
          <p:nvPr/>
        </p:nvSpPr>
        <p:spPr>
          <a:xfrm>
            <a:off x="9601200" y="1517904"/>
            <a:ext cx="2066544"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summary</a:t>
            </a:r>
          </a:p>
        </p:txBody>
      </p:sp>
      <p:sp>
        <p:nvSpPr>
          <p:cNvPr id="11" name="TextBox 10"/>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2" name="TextBox 11"/>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 は観測値、parameters は未知量、model は事前分布・尤度。generated quantities は事後の派生量。</a:t>
            </a:r>
          </a:p>
        </p:txBody>
      </p:sp>
      <p:sp>
        <p:nvSpPr>
          <p:cNvPr id="13" name="TextBox 12"/>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4" name="TextBox 13"/>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離散潜在変数は直接サンプリングできず、必要に応じて周辺化する。</a:t>
            </a:r>
          </a:p>
        </p:txBody>
      </p:sp>
      <p:sp>
        <p:nvSpPr>
          <p:cNvPr id="15" name="TextBox 14"/>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7.3.6  自作尤度（optim）｜コードの読み方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NLL &lt;- function(pars) {</a:t>
            </a:r>
          </a:p>
          <a:p>
            <a:pPr>
              <a:spcAft>
                <a:spcPts val="500"/>
              </a:spcAft>
              <a:defRPr sz="1200" b="0">
                <a:solidFill>
                  <a:srgbClr val="242E3C"/>
                </a:solidFill>
                <a:latin typeface="Consolas"/>
              </a:defRPr>
            </a:pPr>
            <a:r>
              <a:t>sigma &lt;- exp(pars[3])</a:t>
            </a:r>
          </a:p>
          <a:p>
            <a:pPr>
              <a:spcAft>
                <a:spcPts val="500"/>
              </a:spcAft>
              <a:defRPr sz="1200" b="0">
                <a:solidFill>
                  <a:srgbClr val="242E3C"/>
                </a:solidFill>
                <a:latin typeface="Consolas"/>
              </a:defRPr>
            </a:pPr>
            <a:r>
              <a:t>LL &lt;- 0</a:t>
            </a:r>
          </a:p>
          <a:p>
            <a:pPr>
              <a:spcAft>
                <a:spcPts val="500"/>
              </a:spcAft>
              <a:defRPr sz="1200" b="0">
                <a:solidFill>
                  <a:srgbClr val="242E3C"/>
                </a:solidFill>
                <a:latin typeface="Consolas"/>
              </a:defRPr>
            </a:pPr>
            <a:r>
              <a:t>L &lt;- integrate(function(r){</a:t>
            </a:r>
          </a:p>
          <a:p>
            <a:pPr>
              <a:spcAft>
                <a:spcPts val="500"/>
              </a:spcAft>
              <a:defRPr sz="1200" b="0">
                <a:solidFill>
                  <a:srgbClr val="242E3C"/>
                </a:solidFill>
                <a:latin typeface="Consolas"/>
              </a:defRPr>
            </a:pPr>
            <a:r>
              <a:t>tot = tot * dnorm(ysub[j], pop.grand.mean + r, sigma)</a:t>
            </a:r>
          </a:p>
          <a:p>
            <a:pPr>
              <a:spcAft>
                <a:spcPts val="500"/>
              </a:spcAft>
              <a:defRPr sz="1200" b="0">
                <a:solidFill>
                  <a:srgbClr val="242E3C"/>
                </a:solidFill>
                <a:latin typeface="Consolas"/>
              </a:defRPr>
            </a:pPr>
            <a:r>
              <a:t>tot &lt;- tot * dnorm(r, 0, pop.sd)</a:t>
            </a:r>
          </a:p>
          <a:p>
            <a:pPr>
              <a:spcAft>
                <a:spcPts val="500"/>
              </a:spcAft>
              <a:defRPr sz="1200" b="0">
                <a:solidFill>
                  <a:srgbClr val="242E3C"/>
                </a:solidFill>
                <a:latin typeface="Consolas"/>
              </a:defRPr>
            </a:pPr>
            <a:r>
              <a:t>LL &lt;- LL + log(L)</a:t>
            </a:r>
          </a:p>
          <a:p>
            <a:pPr>
              <a:spcAft>
                <a:spcPts val="500"/>
              </a:spcAft>
              <a:defRPr sz="1200" b="0">
                <a:solidFill>
                  <a:srgbClr val="242E3C"/>
                </a:solidFill>
                <a:latin typeface="Consolas"/>
              </a:defRPr>
            </a:pPr>
            <a:r>
              <a:t>return(-LL)</a:t>
            </a:r>
          </a:p>
          <a:p>
            <a:pPr>
              <a:spcAft>
                <a:spcPts val="500"/>
              </a:spcAft>
              <a:defRPr sz="1200" b="0">
                <a:solidFill>
                  <a:srgbClr val="242E3C"/>
                </a:solidFill>
                <a:latin typeface="Consolas"/>
              </a:defRPr>
            </a:pPr>
            <a:r>
              <a:t>out73.6 &lt;- optim(inits, NLL, hessian = TRUE, method = 'BFGS')</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負の対数尤度を自分で作る</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尤度の対数を合計し符号を反転する。optim() はこの負の対数尤度を最小化する。</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標準偏差の正値制約を exp(log_sigma) で実装する例を確認。</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7.3.6  自作尤度（optim）｜推定手順を理解する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NLL &lt;- function(...)</a:t>
            </a:r>
          </a:p>
        </p:txBody>
      </p:sp>
      <p:sp>
        <p:nvSpPr>
          <p:cNvPr id="7" name="Rounded Rectangle 6"/>
          <p:cNvSpPr/>
          <p:nvPr/>
        </p:nvSpPr>
        <p:spPr>
          <a:xfrm>
            <a:off x="3474720"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8" name="Rounded Rectangle 7"/>
          <p:cNvSpPr/>
          <p:nvPr/>
        </p:nvSpPr>
        <p:spPr>
          <a:xfrm>
            <a:off x="6419088" y="1517904"/>
            <a:ext cx="274320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推定係数</a:t>
            </a:r>
          </a:p>
        </p:txBody>
      </p:sp>
      <p:sp>
        <p:nvSpPr>
          <p:cNvPr id="9" name="TextBox 8"/>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0" name="TextBox 9"/>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尤度の対数を合計し符号を反転する。optim() はこの負の対数尤度を最小化する。</a:t>
            </a:r>
          </a:p>
        </p:txBody>
      </p:sp>
      <p:sp>
        <p:nvSpPr>
          <p:cNvPr id="11" name="TextBox 10"/>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2" name="TextBox 11"/>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標準偏差の正値制約を exp(log_sigma) で実装する例を確認。</a:t>
            </a:r>
          </a:p>
        </p:txBody>
      </p:sp>
      <p:sp>
        <p:nvSpPr>
          <p:cNvPr id="13" name="TextBox 12"/>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7.3.7  TMB｜コードの読み方</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02920" y="960120"/>
            <a:ext cx="6656832"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原著コード抜粋</a:t>
            </a:r>
          </a:p>
        </p:txBody>
      </p:sp>
      <p:sp>
        <p:nvSpPr>
          <p:cNvPr id="6" name="TextBox 5"/>
          <p:cNvSpPr txBox="1"/>
          <p:nvPr/>
        </p:nvSpPr>
        <p:spPr>
          <a:xfrm>
            <a:off x="7315200" y="960120"/>
            <a:ext cx="429768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どこに注目するか</a:t>
            </a:r>
          </a:p>
        </p:txBody>
      </p:sp>
      <p:sp>
        <p:nvSpPr>
          <p:cNvPr id="7" name="Rounded Rectangle 6"/>
          <p:cNvSpPr/>
          <p:nvPr/>
        </p:nvSpPr>
        <p:spPr>
          <a:xfrm>
            <a:off x="484632" y="1399032"/>
            <a:ext cx="6629400" cy="443484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lIns="146304" tIns="64008" rIns="146304" bIns="18288" rtlCol="0" anchor="ctr"/>
          <a:lstStyle/>
          <a:p>
            <a:pPr algn="ctr">
              <a:spcAft>
                <a:spcPts val="500"/>
              </a:spcAft>
              <a:defRPr sz="1200" b="0">
                <a:solidFill>
                  <a:srgbClr val="242E3C"/>
                </a:solidFill>
                <a:latin typeface="Consolas"/>
              </a:defRPr>
            </a:pPr>
            <a:r>
              <a:t>DATA_VECTOR(y); //response</a:t>
            </a:r>
          </a:p>
          <a:p>
            <a:pPr>
              <a:spcAft>
                <a:spcPts val="500"/>
              </a:spcAft>
              <a:defRPr sz="1200" b="0">
                <a:solidFill>
                  <a:srgbClr val="242E3C"/>
                </a:solidFill>
                <a:latin typeface="Consolas"/>
              </a:defRPr>
            </a:pPr>
            <a:r>
              <a:t>DATA_IVECTOR(pop); //Population index: note IVECTOR, not VECTOR</a:t>
            </a:r>
          </a:p>
          <a:p>
            <a:pPr>
              <a:spcAft>
                <a:spcPts val="500"/>
              </a:spcAft>
              <a:defRPr sz="1200" b="0">
                <a:solidFill>
                  <a:srgbClr val="242E3C"/>
                </a:solidFill>
                <a:latin typeface="Consolas"/>
              </a:defRPr>
            </a:pPr>
            <a:r>
              <a:t>DATA_INTEGER(n); //Number of obs</a:t>
            </a:r>
          </a:p>
          <a:p>
            <a:pPr>
              <a:spcAft>
                <a:spcPts val="500"/>
              </a:spcAft>
              <a:defRPr sz="1200" b="0">
                <a:solidFill>
                  <a:srgbClr val="242E3C"/>
                </a:solidFill>
                <a:latin typeface="Consolas"/>
              </a:defRPr>
            </a:pPr>
            <a:r>
              <a:t>PARAMETER(pop_grand_mean);</a:t>
            </a:r>
          </a:p>
          <a:p>
            <a:pPr>
              <a:spcAft>
                <a:spcPts val="500"/>
              </a:spcAft>
              <a:defRPr sz="1200" b="0">
                <a:solidFill>
                  <a:srgbClr val="242E3C"/>
                </a:solidFill>
                <a:latin typeface="Consolas"/>
              </a:defRPr>
            </a:pPr>
            <a:r>
              <a:t>PARAMETER(log_pop_sd)</a:t>
            </a:r>
          </a:p>
          <a:p>
            <a:pPr>
              <a:spcAft>
                <a:spcPts val="500"/>
              </a:spcAft>
              <a:defRPr sz="1200" b="0">
                <a:solidFill>
                  <a:srgbClr val="242E3C"/>
                </a:solidFill>
                <a:latin typeface="Consolas"/>
              </a:defRPr>
            </a:pPr>
            <a:r>
              <a:t>PARAMETER(log_residual_sd);</a:t>
            </a:r>
          </a:p>
          <a:p>
            <a:pPr>
              <a:spcAft>
                <a:spcPts val="500"/>
              </a:spcAft>
              <a:defRPr sz="1200" b="0">
                <a:solidFill>
                  <a:srgbClr val="242E3C"/>
                </a:solidFill>
                <a:latin typeface="Consolas"/>
              </a:defRPr>
            </a:pPr>
            <a:r>
              <a:t>LL += dnorm(pop_mean(i), pop_grand_mean, pop_sd, true);</a:t>
            </a:r>
          </a:p>
          <a:p>
            <a:pPr>
              <a:spcAft>
                <a:spcPts val="500"/>
              </a:spcAft>
              <a:defRPr sz="1200" b="0">
                <a:solidFill>
                  <a:srgbClr val="242E3C"/>
                </a:solidFill>
                <a:latin typeface="Consolas"/>
              </a:defRPr>
            </a:pPr>
            <a:r>
              <a:t>LL += dnorm(y(i), pop_mean(pop(i)), residual_sd, true);</a:t>
            </a:r>
          </a:p>
          <a:p>
            <a:pPr>
              <a:spcAft>
                <a:spcPts val="500"/>
              </a:spcAft>
              <a:defRPr sz="1200" b="0">
                <a:solidFill>
                  <a:srgbClr val="242E3C"/>
                </a:solidFill>
                <a:latin typeface="Consolas"/>
              </a:defRPr>
            </a:pPr>
            <a:r>
              <a:t>ADREPORT(effe);</a:t>
            </a:r>
          </a:p>
          <a:p>
            <a:pPr>
              <a:spcAft>
                <a:spcPts val="500"/>
              </a:spcAft>
              <a:defRPr sz="1200" b="0">
                <a:solidFill>
                  <a:srgbClr val="242E3C"/>
                </a:solidFill>
                <a:latin typeface="Consolas"/>
              </a:defRPr>
            </a:pPr>
            <a:r>
              <a:t>out73.7 &lt;- MakeADFun(data = tmbData,</a:t>
            </a:r>
          </a:p>
          <a:p>
            <a:pPr>
              <a:spcAft>
                <a:spcPts val="500"/>
              </a:spcAft>
              <a:defRPr sz="1200" b="0">
                <a:solidFill>
                  <a:srgbClr val="242E3C"/>
                </a:solidFill>
                <a:latin typeface="Consolas"/>
              </a:defRPr>
            </a:pPr>
            <a:r>
              <a:t>parameters = params, random = "pop_mean",</a:t>
            </a:r>
          </a:p>
        </p:txBody>
      </p:sp>
      <p:sp>
        <p:nvSpPr>
          <p:cNvPr id="8" name="TextBox 7"/>
          <p:cNvSpPr txBox="1"/>
          <p:nvPr/>
        </p:nvSpPr>
        <p:spPr>
          <a:xfrm>
            <a:off x="7315200" y="1408176"/>
            <a:ext cx="4251960" cy="457200"/>
          </a:xfrm>
          <a:prstGeom prst="rect">
            <a:avLst/>
          </a:prstGeom>
          <a:noFill/>
        </p:spPr>
        <p:txBody>
          <a:bodyPr wrap="square" lIns="82296" tIns="64008" rIns="82296" bIns="18288">
            <a:spAutoFit/>
          </a:bodyPr>
          <a:lstStyle/>
          <a:p>
            <a:pPr>
              <a:spcAft>
                <a:spcPts val="500"/>
              </a:spcAft>
              <a:defRPr sz="1800" b="1">
                <a:solidFill>
                  <a:srgbClr val="1D5D8C"/>
                </a:solidFill>
                <a:latin typeface="Yu Gothic"/>
              </a:defRPr>
            </a:pPr>
            <a:r>
              <a:t>C++の目的関数と自動微分</a:t>
            </a:r>
          </a:p>
        </p:txBody>
      </p:sp>
      <p:sp>
        <p:nvSpPr>
          <p:cNvPr id="9" name="TextBox 8"/>
          <p:cNvSpPr txBox="1"/>
          <p:nvPr/>
        </p:nvSpPr>
        <p:spPr>
          <a:xfrm>
            <a:off x="7315200" y="1947672"/>
            <a:ext cx="4206240" cy="141732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DATA_* で観測値、PARAMETER* で未知量を宣言。対数尤度を足して最後に -LL を返す。</a:t>
            </a:r>
          </a:p>
        </p:txBody>
      </p:sp>
      <p:sp>
        <p:nvSpPr>
          <p:cNvPr id="10" name="TextBox 9"/>
          <p:cNvSpPr txBox="1"/>
          <p:nvPr/>
        </p:nvSpPr>
        <p:spPr>
          <a:xfrm>
            <a:off x="7315200" y="3584448"/>
            <a:ext cx="4206240" cy="1965960"/>
          </a:xfrm>
          <a:prstGeom prst="rect">
            <a:avLst/>
          </a:prstGeom>
          <a:noFill/>
        </p:spPr>
        <p:txBody>
          <a:bodyPr wrap="square" lIns="82296" tIns="64008" rIns="82296" bIns="18288">
            <a:spAutoFit/>
          </a:bodyPr>
          <a:lstStyle/>
          <a:p>
            <a:pPr>
              <a:spcAft>
                <a:spcPts val="500"/>
              </a:spcAft>
              <a:defRPr sz="1600" b="0">
                <a:solidFill>
                  <a:srgbClr val="242E3C"/>
                </a:solidFill>
                <a:latin typeface="Yu Gothic"/>
              </a:defRPr>
            </a:pPr>
            <a:r>
              <a:t>C++の添字は0開始。random 指定時はランダム効果をラプラス近似で積分。</a:t>
            </a:r>
          </a:p>
        </p:txBody>
      </p:sp>
      <p:sp>
        <p:nvSpPr>
          <p:cNvPr id="11" name="TextBox 10"/>
          <p:cNvSpPr txBox="1"/>
          <p:nvPr/>
        </p:nvSpPr>
        <p:spPr>
          <a:xfrm>
            <a:off x="539496" y="5971032"/>
            <a:ext cx="11064240" cy="347472"/>
          </a:xfrm>
          <a:prstGeom prst="rect">
            <a:avLst/>
          </a:prstGeom>
          <a:noFill/>
        </p:spPr>
        <p:txBody>
          <a:bodyPr wrap="square" lIns="82296" tIns="64008" rIns="82296" bIns="18288">
            <a:spAutoFit/>
          </a:bodyPr>
          <a:lstStyle/>
          <a:p>
            <a:pPr>
              <a:spcAft>
                <a:spcPts val="500"/>
              </a:spcAft>
              <a:defRPr sz="1100" b="0">
                <a:solidFill>
                  <a:srgbClr val="667482"/>
                </a:solidFill>
                <a:latin typeface="Yu Gothic"/>
              </a:defRPr>
            </a:pPr>
            <a:r>
              <a:t>抜粋したコードの変数名・関数名は原著のまま。モデル全文は添付の原著Rファイルを参照。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19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37160"/>
            <a:ext cx="11338560" cy="548640"/>
          </a:xfrm>
          <a:prstGeom prst="rect">
            <a:avLst/>
          </a:prstGeom>
          <a:noFill/>
        </p:spPr>
        <p:txBody>
          <a:bodyPr wrap="square" lIns="82296" tIns="64008" rIns="82296" bIns="18288">
            <a:spAutoFit/>
          </a:bodyPr>
          <a:lstStyle/>
          <a:p>
            <a:pPr>
              <a:spcAft>
                <a:spcPts val="500"/>
              </a:spcAft>
              <a:defRPr sz="2400" b="1">
                <a:solidFill>
                  <a:srgbClr val="FFFFFF"/>
                </a:solidFill>
                <a:latin typeface="Yu Gothic"/>
              </a:defRPr>
            </a:pPr>
            <a:r>
              <a:t>7.3.7  TMB｜推定手順を理解する</a:t>
            </a:r>
          </a:p>
        </p:txBody>
      </p:sp>
      <p:sp>
        <p:nvSpPr>
          <p:cNvPr id="4" name="TextBox 3"/>
          <p:cNvSpPr txBox="1"/>
          <p:nvPr/>
        </p:nvSpPr>
        <p:spPr>
          <a:xfrm>
            <a:off x="438912" y="6528816"/>
            <a:ext cx="10972800" cy="201168"/>
          </a:xfrm>
          <a:prstGeom prst="rect">
            <a:avLst/>
          </a:prstGeom>
          <a:noFill/>
        </p:spPr>
        <p:txBody>
          <a:bodyPr wrap="square" lIns="82296" tIns="64008" rIns="82296" bIns="18288">
            <a:spAutoFit/>
          </a:bodyPr>
          <a:lstStyle/>
          <a:p>
            <a:pPr>
              <a:spcAft>
                <a:spcPts val="500"/>
              </a:spcAft>
              <a:defRPr sz="900" b="0">
                <a:solidFill>
                  <a:srgbClr val="667482"/>
                </a:solidFill>
                <a:latin typeface="Yu Gothic"/>
              </a:defRPr>
            </a:pPr>
            <a:r>
              <a:t>ASME Chapter 7  |  原著Rコードに基づく学習資料  |  変量効果：集団平均の階層化</a:t>
            </a:r>
          </a:p>
        </p:txBody>
      </p:sp>
      <p:sp>
        <p:nvSpPr>
          <p:cNvPr id="5" name="TextBox 4"/>
          <p:cNvSpPr txBox="1"/>
          <p:nvPr/>
        </p:nvSpPr>
        <p:spPr>
          <a:xfrm>
            <a:off x="512064" y="9601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コードの実行・推定フロー</a:t>
            </a:r>
          </a:p>
        </p:txBody>
      </p:sp>
      <p:sp>
        <p:nvSpPr>
          <p:cNvPr id="6" name="Rounded Rectangle 5"/>
          <p:cNvSpPr/>
          <p:nvPr/>
        </p:nvSpPr>
        <p:spPr>
          <a:xfrm>
            <a:off x="530352"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a:t>
            </a:r>
          </a:p>
        </p:txBody>
      </p:sp>
      <p:sp>
        <p:nvSpPr>
          <p:cNvPr id="7" name="Rounded Rectangle 6"/>
          <p:cNvSpPr/>
          <p:nvPr/>
        </p:nvSpPr>
        <p:spPr>
          <a:xfrm>
            <a:off x="3337560"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compile()/dyn.load()</a:t>
            </a:r>
          </a:p>
        </p:txBody>
      </p:sp>
      <p:sp>
        <p:nvSpPr>
          <p:cNvPr id="8" name="Rounded Rectangle 7"/>
          <p:cNvSpPr/>
          <p:nvPr/>
        </p:nvSpPr>
        <p:spPr>
          <a:xfrm>
            <a:off x="6144768"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MakeADFun()</a:t>
            </a:r>
          </a:p>
        </p:txBody>
      </p:sp>
      <p:sp>
        <p:nvSpPr>
          <p:cNvPr id="9" name="Rounded Rectangle 8"/>
          <p:cNvSpPr/>
          <p:nvPr/>
        </p:nvSpPr>
        <p:spPr>
          <a:xfrm>
            <a:off x="8951976" y="1517904"/>
            <a:ext cx="2606040" cy="886968"/>
          </a:xfrm>
          <a:prstGeom prst="roundRect">
            <a:avLst/>
          </a:prstGeom>
          <a:solidFill>
            <a:srgbClr val="EEF6F9"/>
          </a:solidFill>
          <a:ln>
            <a:noFill/>
          </a:ln>
        </p:spPr>
        <p:style>
          <a:lnRef idx="1">
            <a:schemeClr val="accent1"/>
          </a:lnRef>
          <a:fillRef idx="3">
            <a:schemeClr val="accent1"/>
          </a:fillRef>
          <a:effectRef idx="2">
            <a:schemeClr val="accent1"/>
          </a:effectRef>
          <a:fontRef idx="minor">
            <a:schemeClr val="lt1"/>
          </a:fontRef>
        </p:style>
        <p:txBody>
          <a:bodyPr wrap="square" lIns="82296" tIns="64008" rIns="82296" bIns="18288" rtlCol="0" anchor="ctr"/>
          <a:lstStyle/>
          <a:p>
            <a:pPr algn="ctr">
              <a:spcAft>
                <a:spcPts val="500"/>
              </a:spcAft>
              <a:defRPr sz="1600" b="1">
                <a:solidFill>
                  <a:srgbClr val="192B45"/>
                </a:solidFill>
                <a:latin typeface="Yu Gothic"/>
              </a:defRPr>
            </a:pPr>
            <a:r>
              <a:t>optim()</a:t>
            </a:r>
          </a:p>
        </p:txBody>
      </p:sp>
      <p:sp>
        <p:nvSpPr>
          <p:cNvPr id="10" name="TextBox 9"/>
          <p:cNvSpPr txBox="1"/>
          <p:nvPr/>
        </p:nvSpPr>
        <p:spPr>
          <a:xfrm>
            <a:off x="512064" y="2788920"/>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モデルとコードの接続</a:t>
            </a:r>
          </a:p>
        </p:txBody>
      </p:sp>
      <p:sp>
        <p:nvSpPr>
          <p:cNvPr id="11" name="TextBox 10"/>
          <p:cNvSpPr txBox="1"/>
          <p:nvPr/>
        </p:nvSpPr>
        <p:spPr>
          <a:xfrm>
            <a:off x="521207" y="3246120"/>
            <a:ext cx="11018520" cy="877824"/>
          </a:xfrm>
          <a:prstGeom prst="rect">
            <a:avLst/>
          </a:prstGeom>
          <a:noFill/>
        </p:spPr>
        <p:txBody>
          <a:bodyPr wrap="square" lIns="82296" tIns="64008" rIns="82296" bIns="18288">
            <a:spAutoFit/>
          </a:bodyPr>
          <a:lstStyle/>
          <a:p>
            <a:pPr>
              <a:spcAft>
                <a:spcPts val="500"/>
              </a:spcAft>
              <a:defRPr sz="1700" b="0">
                <a:solidFill>
                  <a:srgbClr val="242E3C"/>
                </a:solidFill>
                <a:latin typeface="Yu Gothic"/>
              </a:defRPr>
            </a:pPr>
            <a:r>
              <a:t>DATA_* で観測値、PARAMETER* で未知量を宣言。対数尤度を足して最後に -LL を返す。</a:t>
            </a:r>
          </a:p>
        </p:txBody>
      </p:sp>
      <p:sp>
        <p:nvSpPr>
          <p:cNvPr id="12" name="TextBox 11"/>
          <p:cNvSpPr txBox="1"/>
          <p:nvPr/>
        </p:nvSpPr>
        <p:spPr>
          <a:xfrm>
            <a:off x="512064" y="4325112"/>
            <a:ext cx="5394960" cy="347472"/>
          </a:xfrm>
          <a:prstGeom prst="rect">
            <a:avLst/>
          </a:prstGeom>
          <a:noFill/>
        </p:spPr>
        <p:txBody>
          <a:bodyPr wrap="square" lIns="82296" tIns="64008" rIns="82296" bIns="18288">
            <a:spAutoFit/>
          </a:bodyPr>
          <a:lstStyle/>
          <a:p>
            <a:pPr>
              <a:spcAft>
                <a:spcPts val="500"/>
              </a:spcAft>
              <a:defRPr sz="1400" b="1">
                <a:solidFill>
                  <a:srgbClr val="1D5D8C"/>
                </a:solidFill>
                <a:latin typeface="Yu Gothic"/>
              </a:defRPr>
            </a:pPr>
            <a:r>
              <a:t>確認すべき点・読み違えやすい点</a:t>
            </a:r>
          </a:p>
        </p:txBody>
      </p:sp>
      <p:sp>
        <p:nvSpPr>
          <p:cNvPr id="13" name="TextBox 12"/>
          <p:cNvSpPr txBox="1"/>
          <p:nvPr/>
        </p:nvSpPr>
        <p:spPr>
          <a:xfrm>
            <a:off x="521207" y="4754880"/>
            <a:ext cx="11027664" cy="1124712"/>
          </a:xfrm>
          <a:prstGeom prst="rect">
            <a:avLst/>
          </a:prstGeom>
          <a:noFill/>
        </p:spPr>
        <p:txBody>
          <a:bodyPr wrap="square" lIns="82296" tIns="64008" rIns="82296" bIns="18288">
            <a:spAutoFit/>
          </a:bodyPr>
          <a:lstStyle/>
          <a:p>
            <a:pPr>
              <a:spcAft>
                <a:spcPts val="500"/>
              </a:spcAft>
              <a:defRPr sz="1800" b="0">
                <a:solidFill>
                  <a:srgbClr val="242E3C"/>
                </a:solidFill>
                <a:latin typeface="Yu Gothic"/>
              </a:defRPr>
            </a:pPr>
            <a:r>
              <a:t>C++の添字は0開始。random 指定時はランダム効果をラプラス近似で積分。</a:t>
            </a:r>
          </a:p>
        </p:txBody>
      </p:sp>
      <p:sp>
        <p:nvSpPr>
          <p:cNvPr id="14" name="TextBox 13"/>
          <p:cNvSpPr txBox="1"/>
          <p:nvPr/>
        </p:nvSpPr>
        <p:spPr>
          <a:xfrm>
            <a:off x="521207" y="6108192"/>
            <a:ext cx="10881360" cy="228600"/>
          </a:xfrm>
          <a:prstGeom prst="rect">
            <a:avLst/>
          </a:prstGeom>
          <a:noFill/>
        </p:spPr>
        <p:txBody>
          <a:bodyPr wrap="square" lIns="82296" tIns="64008" rIns="82296" bIns="18288">
            <a:spAutoFit/>
          </a:bodyPr>
          <a:lstStyle/>
          <a:p>
            <a:pPr>
              <a:spcAft>
                <a:spcPts val="500"/>
              </a:spcAft>
              <a:defRPr sz="1000" b="0">
                <a:solidFill>
                  <a:srgbClr val="667482"/>
                </a:solidFill>
                <a:latin typeface="Yu Gothic"/>
              </a:defRPr>
            </a:pPr>
            <a:r>
              <a:t>確認：出力の収束・妥当性は実際のR実行後に判断する（本資料で推定値は創作しない）。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2670</Words>
  <Application>Microsoft Office PowerPoint</Application>
  <PresentationFormat>ワイド画面</PresentationFormat>
  <Paragraphs>336</Paragraphs>
  <Slides>28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28</vt:i4>
      </vt:variant>
    </vt:vector>
  </HeadingPairs>
  <TitlesOfParts>
    <vt:vector size="34"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2026-10-21T01:50:48Z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2026-10-21T01:48:47Z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d1511b41-1e77-44cf-a586-b934d0e9ced4</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