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2"/>
    <p:sldId id="267" r:id="rId3"/>
    <p:sldId id="256" r:id="rId4"/>
    <p:sldId id="257" r:id="rId5"/>
    <p:sldId id="258" r:id="rId6"/>
    <p:sldId id="259" r:id="rId7"/>
    <p:sldId id="260" r:id="rId8"/>
    <p:sldId id="261" r:id="rId9"/>
    <p:sldId id="262" r:id="rId10"/>
    <p:sldId id="263" r:id="rId11"/>
    <p:sldId id="264" r:id="rId12"/>
    <p:sldId id="265" r:id="rId13"/>
    <p:sldId id="297" r:id="rId14"/>
    <p:sldId id="298" r:id="rId15"/>
    <p:sldId id="299" r:id="rId16"/>
    <p:sldId id="300" r:id="rId17"/>
    <p:sldId id="301" r:id="rId18"/>
    <p:sldId id="302" r:id="rId19"/>
    <p:sldId id="303" r:id="rId20"/>
    <p:sldId id="304" r:id="rId21"/>
    <p:sldId id="305" r:id="rId22"/>
    <p:sldId id="306" r:id="rId23"/>
    <p:sldId id="307" r:id="rId24"/>
    <p:sldId id="308" r:id="rId25"/>
    <p:sldId id="309"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38C609-DA9E-49D6-BB0E-AE79469A8BF1}" v="2" dt="2026-10-23T01:55:01.4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大下　誠二" userId="e5774685-19fa-48b9-bec1-68eebf9ac578" providerId="ADAL" clId="{CDBA04F6-D5A6-4F8F-A920-1860374E7F12}"/>
    <pc:docChg chg="mod addSld modSld sldOrd modMainMaster">
      <pc:chgData name="大下　誠二" userId="e5774685-19fa-48b9-bec1-68eebf9ac578" providerId="ADAL" clId="{CDBA04F6-D5A6-4F8F-A920-1860374E7F12}" dt="2026-10-23T01:55:01.448" v="8"/>
      <pc:docMkLst>
        <pc:docMk/>
      </pc:docMkLst>
      <pc:sldChg chg="ord">
        <pc:chgData name="大下　誠二" userId="e5774685-19fa-48b9-bec1-68eebf9ac578" providerId="ADAL" clId="{CDBA04F6-D5A6-4F8F-A920-1860374E7F12}" dt="2026-10-23T01:53:27.396" v="4"/>
        <pc:sldMkLst>
          <pc:docMk/>
          <pc:sldMk cId="0" sldId="256"/>
        </pc:sldMkLst>
      </pc:sldChg>
      <pc:sldChg chg="modSp add mod">
        <pc:chgData name="大下　誠二" userId="e5774685-19fa-48b9-bec1-68eebf9ac578" providerId="ADAL" clId="{CDBA04F6-D5A6-4F8F-A920-1860374E7F12}" dt="2026-10-23T01:53:33.182" v="6" actId="20577"/>
        <pc:sldMkLst>
          <pc:docMk/>
          <pc:sldMk cId="1006064969" sldId="266"/>
        </pc:sldMkLst>
        <pc:spChg chg="mod">
          <ac:chgData name="大下　誠二" userId="e5774685-19fa-48b9-bec1-68eebf9ac578" providerId="ADAL" clId="{CDBA04F6-D5A6-4F8F-A920-1860374E7F12}" dt="2026-10-23T01:53:33.182" v="6" actId="20577"/>
          <ac:spMkLst>
            <pc:docMk/>
            <pc:sldMk cId="1006064969" sldId="266"/>
            <ac:spMk id="3" creationId="{0EC5D841-2E60-B1EB-3102-76804FA3912E}"/>
          </ac:spMkLst>
        </pc:spChg>
      </pc:sldChg>
      <pc:sldChg chg="addSp add mod">
        <pc:chgData name="大下　誠二" userId="e5774685-19fa-48b9-bec1-68eebf9ac578" providerId="ADAL" clId="{CDBA04F6-D5A6-4F8F-A920-1860374E7F12}" dt="2026-10-23T01:53:46.834" v="7" actId="22"/>
        <pc:sldMkLst>
          <pc:docMk/>
          <pc:sldMk cId="2683881835" sldId="267"/>
        </pc:sldMkLst>
        <pc:picChg chg="add">
          <ac:chgData name="大下　誠二" userId="e5774685-19fa-48b9-bec1-68eebf9ac578" providerId="ADAL" clId="{CDBA04F6-D5A6-4F8F-A920-1860374E7F12}" dt="2026-10-23T01:53:46.834" v="7" actId="22"/>
          <ac:picMkLst>
            <pc:docMk/>
            <pc:sldMk cId="2683881835" sldId="267"/>
            <ac:picMk id="5" creationId="{53E4FAAD-B281-1C2B-5A64-97519F4C6D14}"/>
          </ac:picMkLst>
        </pc:picChg>
      </pc:sldChg>
      <pc:sldChg chg="add">
        <pc:chgData name="大下　誠二" userId="e5774685-19fa-48b9-bec1-68eebf9ac578" providerId="ADAL" clId="{CDBA04F6-D5A6-4F8F-A920-1860374E7F12}" dt="2026-10-23T01:55:01.448" v="8"/>
        <pc:sldMkLst>
          <pc:docMk/>
          <pc:sldMk cId="0" sldId="297"/>
        </pc:sldMkLst>
      </pc:sldChg>
      <pc:sldChg chg="add">
        <pc:chgData name="大下　誠二" userId="e5774685-19fa-48b9-bec1-68eebf9ac578" providerId="ADAL" clId="{CDBA04F6-D5A6-4F8F-A920-1860374E7F12}" dt="2026-10-23T01:55:01.448" v="8"/>
        <pc:sldMkLst>
          <pc:docMk/>
          <pc:sldMk cId="0" sldId="298"/>
        </pc:sldMkLst>
      </pc:sldChg>
      <pc:sldChg chg="add">
        <pc:chgData name="大下　誠二" userId="e5774685-19fa-48b9-bec1-68eebf9ac578" providerId="ADAL" clId="{CDBA04F6-D5A6-4F8F-A920-1860374E7F12}" dt="2026-10-23T01:55:01.448" v="8"/>
        <pc:sldMkLst>
          <pc:docMk/>
          <pc:sldMk cId="0" sldId="299"/>
        </pc:sldMkLst>
      </pc:sldChg>
      <pc:sldChg chg="add">
        <pc:chgData name="大下　誠二" userId="e5774685-19fa-48b9-bec1-68eebf9ac578" providerId="ADAL" clId="{CDBA04F6-D5A6-4F8F-A920-1860374E7F12}" dt="2026-10-23T01:55:01.448" v="8"/>
        <pc:sldMkLst>
          <pc:docMk/>
          <pc:sldMk cId="0" sldId="300"/>
        </pc:sldMkLst>
      </pc:sldChg>
      <pc:sldChg chg="add">
        <pc:chgData name="大下　誠二" userId="e5774685-19fa-48b9-bec1-68eebf9ac578" providerId="ADAL" clId="{CDBA04F6-D5A6-4F8F-A920-1860374E7F12}" dt="2026-10-23T01:55:01.448" v="8"/>
        <pc:sldMkLst>
          <pc:docMk/>
          <pc:sldMk cId="0" sldId="301"/>
        </pc:sldMkLst>
      </pc:sldChg>
      <pc:sldChg chg="add">
        <pc:chgData name="大下　誠二" userId="e5774685-19fa-48b9-bec1-68eebf9ac578" providerId="ADAL" clId="{CDBA04F6-D5A6-4F8F-A920-1860374E7F12}" dt="2026-10-23T01:55:01.448" v="8"/>
        <pc:sldMkLst>
          <pc:docMk/>
          <pc:sldMk cId="0" sldId="302"/>
        </pc:sldMkLst>
      </pc:sldChg>
      <pc:sldChg chg="add">
        <pc:chgData name="大下　誠二" userId="e5774685-19fa-48b9-bec1-68eebf9ac578" providerId="ADAL" clId="{CDBA04F6-D5A6-4F8F-A920-1860374E7F12}" dt="2026-10-23T01:55:01.448" v="8"/>
        <pc:sldMkLst>
          <pc:docMk/>
          <pc:sldMk cId="0" sldId="303"/>
        </pc:sldMkLst>
      </pc:sldChg>
      <pc:sldChg chg="add">
        <pc:chgData name="大下　誠二" userId="e5774685-19fa-48b9-bec1-68eebf9ac578" providerId="ADAL" clId="{CDBA04F6-D5A6-4F8F-A920-1860374E7F12}" dt="2026-10-23T01:55:01.448" v="8"/>
        <pc:sldMkLst>
          <pc:docMk/>
          <pc:sldMk cId="0" sldId="304"/>
        </pc:sldMkLst>
      </pc:sldChg>
      <pc:sldChg chg="add">
        <pc:chgData name="大下　誠二" userId="e5774685-19fa-48b9-bec1-68eebf9ac578" providerId="ADAL" clId="{CDBA04F6-D5A6-4F8F-A920-1860374E7F12}" dt="2026-10-23T01:55:01.448" v="8"/>
        <pc:sldMkLst>
          <pc:docMk/>
          <pc:sldMk cId="0" sldId="305"/>
        </pc:sldMkLst>
      </pc:sldChg>
      <pc:sldChg chg="add">
        <pc:chgData name="大下　誠二" userId="e5774685-19fa-48b9-bec1-68eebf9ac578" providerId="ADAL" clId="{CDBA04F6-D5A6-4F8F-A920-1860374E7F12}" dt="2026-10-23T01:55:01.448" v="8"/>
        <pc:sldMkLst>
          <pc:docMk/>
          <pc:sldMk cId="0" sldId="306"/>
        </pc:sldMkLst>
      </pc:sldChg>
      <pc:sldChg chg="add">
        <pc:chgData name="大下　誠二" userId="e5774685-19fa-48b9-bec1-68eebf9ac578" providerId="ADAL" clId="{CDBA04F6-D5A6-4F8F-A920-1860374E7F12}" dt="2026-10-23T01:55:01.448" v="8"/>
        <pc:sldMkLst>
          <pc:docMk/>
          <pc:sldMk cId="0" sldId="307"/>
        </pc:sldMkLst>
      </pc:sldChg>
      <pc:sldChg chg="add">
        <pc:chgData name="大下　誠二" userId="e5774685-19fa-48b9-bec1-68eebf9ac578" providerId="ADAL" clId="{CDBA04F6-D5A6-4F8F-A920-1860374E7F12}" dt="2026-10-23T01:55:01.448" v="8"/>
        <pc:sldMkLst>
          <pc:docMk/>
          <pc:sldMk cId="0" sldId="308"/>
        </pc:sldMkLst>
      </pc:sldChg>
      <pc:sldChg chg="add">
        <pc:chgData name="大下　誠二" userId="e5774685-19fa-48b9-bec1-68eebf9ac578" providerId="ADAL" clId="{CDBA04F6-D5A6-4F8F-A920-1860374E7F12}" dt="2026-10-23T01:55:01.448" v="8"/>
        <pc:sldMkLst>
          <pc:docMk/>
          <pc:sldMk cId="0" sldId="309"/>
        </pc:sldMkLst>
      </pc:sldChg>
      <pc:sldMasterChg chg="addSp mod">
        <pc:chgData name="大下　誠二" userId="e5774685-19fa-48b9-bec1-68eebf9ac578" providerId="ADAL" clId="{CDBA04F6-D5A6-4F8F-A920-1860374E7F12}" dt="2026-10-23T01:53:24.139" v="1" actId="33475"/>
        <pc:sldMasterMkLst>
          <pc:docMk/>
          <pc:sldMasterMk cId="2209977519" sldId="2147483648"/>
        </pc:sldMasterMkLst>
        <pc:spChg chg="add">
          <ac:chgData name="大下　誠二" userId="e5774685-19fa-48b9-bec1-68eebf9ac578" providerId="ADAL" clId="{CDBA04F6-D5A6-4F8F-A920-1860374E7F12}" dt="2026-10-23T01:53:24.139" v="1" actId="33475"/>
          <ac:spMkLst>
            <pc:docMk/>
            <pc:sldMasterMk cId="2209977519" sldId="2147483648"/>
            <ac:spMk id="8" creationId="{E3F6D18F-146B-2159-DE5E-CFBDBFAD39B4}"/>
          </ac:spMkLst>
        </pc:sp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テキスト ボックス 7">
            <a:extLst>
              <a:ext uri="{FF2B5EF4-FFF2-40B4-BE49-F238E27FC236}">
                <a16:creationId xmlns:a16="http://schemas.microsoft.com/office/drawing/2014/main" id="{E3F6D18F-146B-2159-DE5E-CFBDBFAD39B4}"/>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17</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53E4FAAD-B281-1C2B-5A64-97519F4C6D14}"/>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17.1  Introduction｜はじめに</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二項GLMMは、二項分布で表した成功回数に、集団間の切片や傾きのランダム変動を加えるモデルである。第14章のポアソンGLMMと基本構造は同じだが、応答分布とリンク関数が異なる。</a:t>
            </a:r>
          </a:p>
          <a:p>
            <a:pPr>
              <a:lnSpc>
                <a:spcPct val="117000"/>
              </a:lnSpc>
              <a:spcAft>
                <a:spcPts val="1300"/>
              </a:spcAft>
              <a:defRPr sz="1500">
                <a:solidFill>
                  <a:srgbClr val="252E38"/>
                </a:solidFill>
                <a:latin typeface="Yu Gothic"/>
              </a:defRPr>
            </a:pPr>
            <a:r>
              <a:t>• 例はズアカモズの繁殖成功率であり、16個体群について10年間の調査を想定する。繁殖期の降水量が多いほど成功率が低下するという関係が個体群ごとに異なる。</a:t>
            </a:r>
          </a:p>
          <a:p>
            <a:pPr>
              <a:lnSpc>
                <a:spcPct val="117000"/>
              </a:lnSpc>
              <a:spcAft>
                <a:spcPts val="1300"/>
              </a:spcAft>
              <a:defRPr sz="1500">
                <a:solidFill>
                  <a:srgbClr val="252E38"/>
                </a:solidFill>
                <a:latin typeface="Yu Gothic"/>
              </a:defRPr>
            </a:pPr>
            <a:r>
              <a:t>• Cᵢ ～ Binomial(Nᵢ, pᵢ)、logit(pᵢ)=αⱼ₍ᵢ₎+βⱼ₍ᵢ₎xᵢ とし、αⱼ ～ Normal(μₐ,σₐ²)、βⱼ ～ Normal(μᵦ,σᵦ²) を仮定する。切片と傾きの間の相関は設けない。</a:t>
            </a:r>
          </a:p>
          <a:p>
            <a:pPr>
              <a:lnSpc>
                <a:spcPct val="117000"/>
              </a:lnSpc>
              <a:spcAft>
                <a:spcPts val="1300"/>
              </a:spcAft>
              <a:defRPr sz="1500">
                <a:solidFill>
                  <a:srgbClr val="252E38"/>
                </a:solidFill>
                <a:latin typeface="Yu Gothic"/>
              </a:defRPr>
            </a:pPr>
            <a:r>
              <a:t>• モデルの成功確率pは観測ごとに異なるが、各個体群の係数α・βは互いに無関係な任意定数ではなく、共通の正規分布から生じると仮定される。この追加の分布仮定が第16章の二項GLMと本章のGLMMを区別する。</a:t>
            </a:r>
          </a:p>
          <a:p>
            <a:pPr>
              <a:lnSpc>
                <a:spcPct val="117000"/>
              </a:lnSpc>
              <a:spcAft>
                <a:spcPts val="1300"/>
              </a:spcAft>
              <a:defRPr sz="1500">
                <a:solidFill>
                  <a:srgbClr val="252E38"/>
                </a:solidFill>
                <a:latin typeface="Yu Gothic"/>
              </a:defRPr>
            </a:pPr>
            <a:r>
              <a:t>• 二項応答は成功数Cだけでは定義できず、調査した試行数Nも必要である。降水量の回帰係数は成功率そのものの差ではなく、成功の対数オッズに対する効果である。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01 / 10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17.2  Data generation｜データ生成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16個体群×10年間の160観測を用意する。春季降水量の指数は−1～1の一様分布から生成し、0を中心とするため切片は平均的降水量での成功確率に対応する。</a:t>
            </a:r>
          </a:p>
          <a:p>
            <a:pPr>
              <a:lnSpc>
                <a:spcPct val="117000"/>
              </a:lnSpc>
              <a:spcAft>
                <a:spcPts val="1300"/>
              </a:spcAft>
              <a:defRPr sz="1500">
                <a:solidFill>
                  <a:srgbClr val="252E38"/>
                </a:solidFill>
                <a:latin typeface="Yu Gothic"/>
              </a:defRPr>
            </a:pPr>
            <a:r>
              <a:t>• 各観測に含まれる巣の試行数Nᵢは20～50から生成し、個体群切片と傾きはそれぞれ正規分布から抽出する。母数の真値は μₐ=0、μᵦ=−2、σₐ=1、σᵦ=1 とする。</a:t>
            </a:r>
          </a:p>
          <a:p>
            <a:pPr>
              <a:lnSpc>
                <a:spcPct val="117000"/>
              </a:lnSpc>
              <a:spcAft>
                <a:spcPts val="1300"/>
              </a:spcAft>
              <a:defRPr sz="1500">
                <a:solidFill>
                  <a:srgbClr val="252E38"/>
                </a:solidFill>
                <a:latin typeface="Yu Gothic"/>
              </a:defRPr>
            </a:pPr>
            <a:r>
              <a:t>• 線形予測子を逆ロジット変換して期待成功率を算出し、その確率とNᵢを使って二項乱数を生成する。原著の図17.2と17.3の違いは、期待値に二項標本変動が加わる点にある。</a:t>
            </a:r>
          </a:p>
          <a:p>
            <a:pPr>
              <a:lnSpc>
                <a:spcPct val="117000"/>
              </a:lnSpc>
              <a:spcAft>
                <a:spcPts val="1300"/>
              </a:spcAft>
              <a:defRPr sz="1500">
                <a:solidFill>
                  <a:srgbClr val="252E38"/>
                </a:solidFill>
                <a:latin typeface="Yu Gothic"/>
              </a:defRPr>
            </a:pPr>
            <a:r>
              <a:t>• 原著の図17.2は二項乱数を加える前の期待繁殖成功率を示し、図17.3は実際の成功数を試行数で割った実現値を示す。両者を比較することで、個体群差に加え、同じ期待値でも標本誤差が生じることが分かる。</a:t>
            </a:r>
          </a:p>
          <a:p>
            <a:pPr>
              <a:lnSpc>
                <a:spcPct val="117000"/>
              </a:lnSpc>
              <a:spcAft>
                <a:spcPts val="1300"/>
              </a:spcAft>
              <a:defRPr sz="1500">
                <a:solidFill>
                  <a:srgbClr val="252E38"/>
                </a:solidFill>
                <a:latin typeface="Yu Gothic"/>
              </a:defRPr>
            </a:pPr>
            <a:r>
              <a:t>• 各個体群の関係は負の傾きになることが多いが、傾きの大きさは個体群によって異なる。中心化された降水量指数0での切片はlogit尺度の値であり、確率に戻すには逆ロジット変換が必要である。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02 /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1800" b="1">
                <a:solidFill>
                  <a:srgbClr val="1C2B3E"/>
                </a:solidFill>
                <a:latin typeface="Yu Gothic"/>
              </a:defRPr>
            </a:pPr>
            <a:r>
              <a:t>17.3  Likelihood analysis with canned functions in R｜Rの既成関数による尤度解析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glmmTMBで成功数Cᵢと失敗数Nᵢ−Cᵢを二項応答に指定する。ランダム切片とランダム傾きに相関を設定しないため、式のランダム効果部分には「||」を用いる。</a:t>
            </a:r>
          </a:p>
          <a:p>
            <a:pPr>
              <a:lnSpc>
                <a:spcPct val="117000"/>
              </a:lnSpc>
              <a:spcAft>
                <a:spcPts val="1300"/>
              </a:spcAft>
              <a:defRPr sz="1500">
                <a:solidFill>
                  <a:srgbClr val="252E38"/>
                </a:solidFill>
                <a:latin typeface="Yu Gothic"/>
              </a:defRPr>
            </a:pPr>
            <a:r>
              <a:t>• 推定された固定効果は切片−0.2354、降水量係数−2.3535であり、集団間標準偏差は切片0.9044、傾き1.2107であった。降水量の負の効果は明瞭である。</a:t>
            </a:r>
          </a:p>
          <a:p>
            <a:pPr>
              <a:lnSpc>
                <a:spcPct val="117000"/>
              </a:lnSpc>
              <a:spcAft>
                <a:spcPts val="1300"/>
              </a:spcAft>
              <a:defRPr sz="1500">
                <a:solidFill>
                  <a:srgbClr val="252E38"/>
                </a:solidFill>
                <a:latin typeface="Yu Gothic"/>
              </a:defRPr>
            </a:pPr>
            <a:r>
              <a:t>• 集団ごとのランダム効果のヒストグラムとDHARMaによる量子化残差で適合を調べる。個体群数が16と少ないため、ランダム効果の正規性の検証力には限界がある。</a:t>
            </a:r>
          </a:p>
          <a:p>
            <a:pPr>
              <a:lnSpc>
                <a:spcPct val="117000"/>
              </a:lnSpc>
              <a:spcAft>
                <a:spcPts val="1300"/>
              </a:spcAft>
              <a:defRPr sz="1500">
                <a:solidFill>
                  <a:srgbClr val="252E38"/>
                </a:solidFill>
                <a:latin typeface="Yu Gothic"/>
              </a:defRPr>
            </a:pPr>
            <a:r>
              <a:t>• 原著の出力では、切片の集団間分散は0.818、降水量傾きの集団間分散は1.466である。固定効果の推定標準誤差は切片0.2293、降水量0.3137で、負の降水量効果はz=−7.503として評価されている。</a:t>
            </a:r>
          </a:p>
          <a:p>
            <a:pPr>
              <a:lnSpc>
                <a:spcPct val="117000"/>
              </a:lnSpc>
              <a:spcAft>
                <a:spcPts val="1300"/>
              </a:spcAft>
              <a:defRPr sz="1500">
                <a:solidFill>
                  <a:srgbClr val="252E38"/>
                </a:solidFill>
                <a:latin typeface="Yu Gothic"/>
              </a:defRPr>
            </a:pPr>
            <a:r>
              <a:t>• 原著はランダム効果の分布をヒストグラムで調べる一方、DHARMaの模擬残差も使用する。残差診断は最適化が収束したこととは異なり、二項データの特徴をモデルが再現するかを問う。</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03 / 10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17.4  Bayesian analysis with JAGS｜JAGSによるベイズ解析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JAGSでは各個体群の切片と傾きを共通正規分布から生成する階層的記述を行い、成功数に二項尤度とロジットリンクを割り当てる。第14章のモデルから変更する主要部分は観測モデルである。</a:t>
            </a:r>
          </a:p>
          <a:p>
            <a:pPr>
              <a:lnSpc>
                <a:spcPct val="117000"/>
              </a:lnSpc>
              <a:spcAft>
                <a:spcPts val="1300"/>
              </a:spcAft>
              <a:defRPr sz="1500">
                <a:solidFill>
                  <a:srgbClr val="252E38"/>
                </a:solidFill>
                <a:latin typeface="Yu Gothic"/>
              </a:defRPr>
            </a:pPr>
            <a:r>
              <a:t>• 事後予測複製データC.newを生成してDHARMaの適合度判定に用いる。原著では6検定のうち3つが有意となったが、データ生成モデルと解析モデルは一致しており、ここでは偽警報と解釈する。</a:t>
            </a:r>
          </a:p>
          <a:p>
            <a:pPr>
              <a:lnSpc>
                <a:spcPct val="117000"/>
              </a:lnSpc>
              <a:spcAft>
                <a:spcPts val="1300"/>
              </a:spcAft>
              <a:defRPr sz="1500">
                <a:solidFill>
                  <a:srgbClr val="252E38"/>
                </a:solidFill>
                <a:latin typeface="Yu Gothic"/>
              </a:defRPr>
            </a:pPr>
            <a:r>
              <a:t>• 事後平均は μₐ=−0.236、μᵦ=−2.357、σₐ=1.017、σᵦ=1.353である。尤度法と比較すると平均パラメータは近く、分散パラメータにはより大きな違いが残る。</a:t>
            </a:r>
          </a:p>
          <a:p>
            <a:pPr>
              <a:lnSpc>
                <a:spcPct val="117000"/>
              </a:lnSpc>
              <a:spcAft>
                <a:spcPts val="1300"/>
              </a:spcAft>
              <a:defRPr sz="1500">
                <a:solidFill>
                  <a:srgbClr val="252E38"/>
                </a:solidFill>
                <a:latin typeface="Yu Gothic"/>
              </a:defRPr>
            </a:pPr>
            <a:r>
              <a:t>• JAGSのモデルでは平均母数μと標準偏差σに事前分布を設定し、各個体群のα・βを階層内で推定する。新しい観測データを事後分布から再生成する手続きは、ベイズ推定値の検査ではなく、観測分布の適合度を確認する目的をもつ。</a:t>
            </a:r>
          </a:p>
          <a:p>
            <a:pPr>
              <a:lnSpc>
                <a:spcPct val="117000"/>
              </a:lnSpc>
              <a:spcAft>
                <a:spcPts val="1300"/>
              </a:spcAft>
              <a:defRPr sz="1500">
                <a:solidFill>
                  <a:srgbClr val="252E38"/>
                </a:solidFill>
                <a:latin typeface="Yu Gothic"/>
              </a:defRPr>
            </a:pPr>
            <a:r>
              <a:t>• 原著の95%信用区間は、μₐが−0.740～0.285、μᵦが−3.067～−1.667である。μₐの区間は0を含み、μᵦの区間は含まない。なお6検定中3つの有意結果は、既知の正しい生成モデルで得られており、診断結果を機械的に扱わない例となってい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04 / 10</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17.5  Bayesian analysis with NIMBLE｜NIMBLEによるベイズ解析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NIMBLEによって同じ二項GLMMを推定できる。原著ではNIMBLEの詳細なモデルコードを本文に再掲せず、書籍の補助ウェブサイトを参照する構成になっている。</a:t>
            </a:r>
          </a:p>
          <a:p>
            <a:pPr>
              <a:lnSpc>
                <a:spcPct val="117000"/>
              </a:lnSpc>
              <a:spcAft>
                <a:spcPts val="1300"/>
              </a:spcAft>
              <a:defRPr sz="1500">
                <a:solidFill>
                  <a:srgbClr val="252E38"/>
                </a:solidFill>
                <a:latin typeface="Yu Gothic"/>
              </a:defRPr>
            </a:pPr>
            <a:r>
              <a:t>• 個体群固有の切片・傾きとそれらの正規分布の母数を同時に扱う点は、JAGSおよびStanの階層モデルと共通している。</a:t>
            </a:r>
          </a:p>
          <a:p>
            <a:pPr>
              <a:lnSpc>
                <a:spcPct val="117000"/>
              </a:lnSpc>
              <a:spcAft>
                <a:spcPts val="1300"/>
              </a:spcAft>
              <a:defRPr sz="1500">
                <a:solidFill>
                  <a:srgbClr val="252E38"/>
                </a:solidFill>
                <a:latin typeface="Yu Gothic"/>
              </a:defRPr>
            </a:pPr>
            <a:r>
              <a:t>• 推定値の総合比較は17.9節で行われ、平均母数についてはほぼ同じ結論が得られる。</a:t>
            </a:r>
          </a:p>
          <a:p>
            <a:pPr>
              <a:lnSpc>
                <a:spcPct val="117000"/>
              </a:lnSpc>
              <a:spcAft>
                <a:spcPts val="1300"/>
              </a:spcAft>
              <a:defRPr sz="1500">
                <a:solidFill>
                  <a:srgbClr val="252E38"/>
                </a:solidFill>
                <a:latin typeface="Yu Gothic"/>
              </a:defRPr>
            </a:pPr>
            <a:r>
              <a:t>• この節は、本文中に独立した長いコードや独自の数値表を掲載する節ではない。具体的な推定値は17.9の全エンジン比較に集約されるため、ここではNIMBLEのモデル上の役割と参照先を明確にする。</a:t>
            </a:r>
          </a:p>
          <a:p>
            <a:pPr>
              <a:lnSpc>
                <a:spcPct val="117000"/>
              </a:lnSpc>
              <a:spcAft>
                <a:spcPts val="1300"/>
              </a:spcAft>
              <a:defRPr sz="1500">
                <a:solidFill>
                  <a:srgbClr val="252E38"/>
                </a:solidFill>
                <a:latin typeface="Yu Gothic"/>
              </a:defRPr>
            </a:pPr>
            <a:r>
              <a:t>• 原著の比較表でNIMBLE推定はμₐ=−0.236、μᵦ=−2.364、σₐ=1.016、σᵦ=1.351で、JAGSの事後平均と非常に近い。</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05 / 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17.6  Bayesian analysis with Stan｜Stanによるベイズ解析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Stanでも第14章のポアソンGLMMを二項応答に変更して推定する。個体群の正規ランダム切片・傾きの分布構造はそのまま保ち、観測部分をbinomialに切り替える。</a:t>
            </a:r>
          </a:p>
          <a:p>
            <a:pPr>
              <a:lnSpc>
                <a:spcPct val="117000"/>
              </a:lnSpc>
              <a:spcAft>
                <a:spcPts val="1300"/>
              </a:spcAft>
              <a:defRPr sz="1500">
                <a:solidFill>
                  <a:srgbClr val="252E38"/>
                </a:solidFill>
                <a:latin typeface="Yu Gothic"/>
              </a:defRPr>
            </a:pPr>
            <a:r>
              <a:t>• 線形予測子αⱼ+βⱼxᵢをinv_logitで成功確率に変換し、Cᵢ ～ Binomial(Nᵢ,pᵢ)とする。事前分布は平均母数に正規分布、標準偏差に正のCauchy分布を用いる。</a:t>
            </a:r>
          </a:p>
          <a:p>
            <a:pPr>
              <a:lnSpc>
                <a:spcPct val="117000"/>
              </a:lnSpc>
              <a:spcAft>
                <a:spcPts val="1300"/>
              </a:spcAft>
              <a:defRPr sz="1500">
                <a:solidFill>
                  <a:srgbClr val="252E38"/>
                </a:solidFill>
                <a:latin typeface="Yu Gothic"/>
              </a:defRPr>
            </a:pPr>
            <a:r>
              <a:t>• 複数チェーンの収束を確認し、推定値を他の方法と比較する。最終的には同じ確率モデルを異なる推定エンジンで扱っている。</a:t>
            </a:r>
          </a:p>
          <a:p>
            <a:pPr>
              <a:lnSpc>
                <a:spcPct val="117000"/>
              </a:lnSpc>
              <a:spcAft>
                <a:spcPts val="1300"/>
              </a:spcAft>
              <a:defRPr sz="1500">
                <a:solidFill>
                  <a:srgbClr val="252E38"/>
                </a:solidFill>
                <a:latin typeface="Yu Gothic"/>
              </a:defRPr>
            </a:pPr>
            <a:r>
              <a:t>• Stanは離散的な観測数を二項分布で記述する一方、個体群の切片と傾きは連続パラメータとして明示する。母平均への正規事前分布と標準偏差への半Cauchy型事前分布は、モデルの階層部分に対応する。</a:t>
            </a:r>
          </a:p>
          <a:p>
            <a:pPr>
              <a:lnSpc>
                <a:spcPct val="117000"/>
              </a:lnSpc>
              <a:spcAft>
                <a:spcPts val="1300"/>
              </a:spcAft>
              <a:defRPr sz="1500">
                <a:solidFill>
                  <a:srgbClr val="252E38"/>
                </a:solidFill>
                <a:latin typeface="Yu Gothic"/>
              </a:defRPr>
            </a:pPr>
            <a:r>
              <a:t>• 原著は4チェーン、各2000反復（うち1000ウォームアップ）で計算する設定を示す。比較対象は単なる降水量回帰の傾きだけでなく、個体群間の切片・傾きのばらつきである。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06 /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17.7  Do-it-yourself maximum likelihood estimates｜自作の最尤推定</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混合モデルの尤度では、個体群固有の切片αⱼと傾きβⱼを積分して消去する必要がある。両者を独立な正規分布としたので、各個体群の尤度は二重積分となる。</a:t>
            </a:r>
          </a:p>
          <a:p>
            <a:pPr>
              <a:lnSpc>
                <a:spcPct val="117000"/>
              </a:lnSpc>
              <a:spcAft>
                <a:spcPts val="1300"/>
              </a:spcAft>
              <a:defRPr sz="1500">
                <a:solidFill>
                  <a:srgbClr val="252E38"/>
                </a:solidFill>
                <a:latin typeface="Yu Gothic"/>
              </a:defRPr>
            </a:pPr>
            <a:r>
              <a:t>• 個体群ごとに二項確率質量関数の積をとり、ランダム切片・傾きの正規密度を掛けたものを積分する。全16個体群の対数周辺尤度を加算し、その負値を最小化する。</a:t>
            </a:r>
          </a:p>
          <a:p>
            <a:pPr>
              <a:lnSpc>
                <a:spcPct val="117000"/>
              </a:lnSpc>
              <a:spcAft>
                <a:spcPts val="1300"/>
              </a:spcAft>
              <a:defRPr sz="1500">
                <a:solidFill>
                  <a:srgbClr val="252E38"/>
                </a:solidFill>
                <a:latin typeface="Yu Gothic"/>
              </a:defRPr>
            </a:pPr>
            <a:r>
              <a:t>• 自作最尤法の推定は μₐ=−0.2337、μᵦ=−2.3538。標準偏差は対数尺度で最適化して正の値に戻す。原著では混合モデルで積分計算が必要になる点を強調する。</a:t>
            </a:r>
          </a:p>
          <a:p>
            <a:pPr>
              <a:lnSpc>
                <a:spcPct val="117000"/>
              </a:lnSpc>
              <a:spcAft>
                <a:spcPts val="1300"/>
              </a:spcAft>
              <a:defRPr sz="1500">
                <a:solidFill>
                  <a:srgbClr val="252E38"/>
                </a:solidFill>
                <a:latin typeface="Yu Gothic"/>
              </a:defRPr>
            </a:pPr>
            <a:r>
              <a:t>• 個体群jの周辺尤度は、観測二項確率を個体群内で掛け合わせたものに、αⱼとβⱼの正規密度を掛け、両係数について二重積分することで得られる。全個体群の対数周辺尤度を加えるのが最尤推定の原理である。</a:t>
            </a:r>
          </a:p>
          <a:p>
            <a:pPr>
              <a:lnSpc>
                <a:spcPct val="117000"/>
              </a:lnSpc>
              <a:spcAft>
                <a:spcPts val="1300"/>
              </a:spcAft>
              <a:defRPr sz="1500">
                <a:solidFill>
                  <a:srgbClr val="252E38"/>
                </a:solidFill>
                <a:latin typeface="Yu Gothic"/>
              </a:defRPr>
            </a:pPr>
            <a:r>
              <a:t>• 原著では数値積分のために積分範囲を−10～10に設定し、正の標準偏差を確保するため対数標準偏差を最適化する。推定値の95%信頼区間としてμₐは−0.6837～0.2163、μᵦは−2.9720～−1.7357が示される。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07 / 10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17.8  Likelihood analysis with TMB｜TMBによる尤度解析</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TMBも集団ごとの切片と傾きをランダム効果として定義し、同じ二項尤度を計算する。原著では第14章のTMBモデルから分布・リンク関数だけを置き換える。</a:t>
            </a:r>
          </a:p>
          <a:p>
            <a:pPr>
              <a:lnSpc>
                <a:spcPct val="117000"/>
              </a:lnSpc>
              <a:spcAft>
                <a:spcPts val="1300"/>
              </a:spcAft>
              <a:defRPr sz="1500">
                <a:solidFill>
                  <a:srgbClr val="252E38"/>
                </a:solidFill>
                <a:latin typeface="Yu Gothic"/>
              </a:defRPr>
            </a:pPr>
            <a:r>
              <a:t>• C++の添字は0始まりなので、R側の個体群番号を1減らして入力する。ランダム効果を指定するとTMBが積分の近似計算を担当する。</a:t>
            </a:r>
          </a:p>
          <a:p>
            <a:pPr>
              <a:lnSpc>
                <a:spcPct val="117000"/>
              </a:lnSpc>
              <a:spcAft>
                <a:spcPts val="1300"/>
              </a:spcAft>
              <a:defRPr sz="1500">
                <a:solidFill>
                  <a:srgbClr val="252E38"/>
                </a:solidFill>
                <a:latin typeface="Yu Gothic"/>
              </a:defRPr>
            </a:pPr>
            <a:r>
              <a:t>• 原著の比較ではTMBとglmmTMBの解はほぼ一致し、手計算に近い尤度定義を保ちながら効率良く推定できることが示される。</a:t>
            </a:r>
          </a:p>
          <a:p>
            <a:pPr>
              <a:lnSpc>
                <a:spcPct val="117000"/>
              </a:lnSpc>
              <a:spcAft>
                <a:spcPts val="1300"/>
              </a:spcAft>
              <a:defRPr sz="1500">
                <a:solidFill>
                  <a:srgbClr val="252E38"/>
                </a:solidFill>
                <a:latin typeface="Yu Gothic"/>
              </a:defRPr>
            </a:pPr>
            <a:r>
              <a:t>• TMBの対数尤度は、観測の二項分布とランダム係数の正規分布の対数密度を加算して構成する。C++のコード中では、成功確率を線形予測子の逆ロジット変換から得る。</a:t>
            </a:r>
          </a:p>
          <a:p>
            <a:pPr>
              <a:lnSpc>
                <a:spcPct val="117000"/>
              </a:lnSpc>
              <a:spcAft>
                <a:spcPts val="1300"/>
              </a:spcAft>
              <a:defRPr sz="1500">
                <a:solidFill>
                  <a:srgbClr val="252E38"/>
                </a:solidFill>
                <a:latin typeface="Yu Gothic"/>
              </a:defRPr>
            </a:pPr>
            <a:r>
              <a:t>• αとβをランダムとしてTMBに宣言することにより、これらを消去した周辺尤度を用いて母平均と分散パラメータを求められる。数値積分を手作業でプログラムするDIY法との重要な相違点である。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08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17.9  Comparison of the parameter estimates｜パラメータ推定値の比較</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原著の表ではμₐの推定値は各法で約−0.235、μᵦは約−2.35であり、データに同じ尤度を当てはめた場合の平均母数はほとんど一致する。</a:t>
            </a:r>
          </a:p>
          <a:p>
            <a:pPr>
              <a:lnSpc>
                <a:spcPct val="117000"/>
              </a:lnSpc>
              <a:spcAft>
                <a:spcPts val="1300"/>
              </a:spcAft>
              <a:defRPr sz="1500">
                <a:solidFill>
                  <a:srgbClr val="252E38"/>
                </a:solidFill>
                <a:latin typeface="Yu Gothic"/>
              </a:defRPr>
            </a:pPr>
            <a:r>
              <a:t>• 一方、σₐは尤度法で約0.904、ベイズ法で約1.02、σᵦは尤度法で約1.21、ベイズ法で約1.35となる。これは個体群数が少ない状況で、弱情報事前分布にも若干の影響が残ることと整合的である。</a:t>
            </a:r>
          </a:p>
          <a:p>
            <a:pPr>
              <a:lnSpc>
                <a:spcPct val="117000"/>
              </a:lnSpc>
              <a:spcAft>
                <a:spcPts val="1300"/>
              </a:spcAft>
              <a:defRPr sz="1500">
                <a:solidFill>
                  <a:srgbClr val="252E38"/>
                </a:solidFill>
                <a:latin typeface="Yu Gothic"/>
              </a:defRPr>
            </a:pPr>
            <a:r>
              <a:t>• 真値は μₐ=0、μᵦ=−2、σₐ=σᵦ=1だが、単一データセットの推定値が真値と完全に一致する必要はない。</a:t>
            </a:r>
          </a:p>
          <a:p>
            <a:pPr>
              <a:lnSpc>
                <a:spcPct val="117000"/>
              </a:lnSpc>
              <a:spcAft>
                <a:spcPts val="1300"/>
              </a:spcAft>
              <a:defRPr sz="1500">
                <a:solidFill>
                  <a:srgbClr val="252E38"/>
                </a:solidFill>
                <a:latin typeface="Yu Gothic"/>
              </a:defRPr>
            </a:pPr>
            <a:r>
              <a:t>• 原著17.9の比較値は、μₐの真値0に対し推定値がほぼ−0.235、μᵦの真値−2に対し約−2.35である。正しいモデルを用いても有限標本では真値と差が生じることを前提に読む。</a:t>
            </a:r>
          </a:p>
          <a:p>
            <a:pPr>
              <a:lnSpc>
                <a:spcPct val="117000"/>
              </a:lnSpc>
              <a:spcAft>
                <a:spcPts val="1300"/>
              </a:spcAft>
              <a:defRPr sz="1500">
                <a:solidFill>
                  <a:srgbClr val="252E38"/>
                </a:solidFill>
                <a:latin typeface="Yu Gothic"/>
              </a:defRPr>
            </a:pPr>
            <a:r>
              <a:t>• 散布度母数の差は、JAGSやStanなどの事後平均とglmmTMB・TMBなどの最尤推定との間に現れる。原著はこの差を個体群数16という小規模標本および事前分布の寄与と関連付けて説明する。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09 / 10</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11018520" cy="411480"/>
          </a:xfrm>
          <a:prstGeom prst="rect">
            <a:avLst/>
          </a:prstGeom>
          <a:noFill/>
        </p:spPr>
        <p:txBody>
          <a:bodyPr wrap="square">
            <a:spAutoFit/>
          </a:bodyPr>
          <a:lstStyle/>
          <a:p>
            <a:pPr>
              <a:defRPr sz="2200" b="1">
                <a:solidFill>
                  <a:srgbClr val="1C2B3E"/>
                </a:solidFill>
                <a:latin typeface="Yu Gothic"/>
              </a:defRPr>
            </a:pPr>
            <a:r>
              <a:t>17.10  Summary｜まとめ</a:t>
            </a:r>
          </a:p>
        </p:txBody>
      </p:sp>
      <p:sp>
        <p:nvSpPr>
          <p:cNvPr id="3" name="Rectangle 2"/>
          <p:cNvSpPr/>
          <p:nvPr/>
        </p:nvSpPr>
        <p:spPr>
          <a:xfrm>
            <a:off x="566928" y="822960"/>
            <a:ext cx="10972800" cy="16459"/>
          </a:xfrm>
          <a:prstGeom prst="rect">
            <a:avLst/>
          </a:prstGeom>
          <a:solidFill>
            <a:srgbClr val="3859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21792" y="1014984"/>
            <a:ext cx="10927080" cy="5468112"/>
          </a:xfrm>
          <a:prstGeom prst="rect">
            <a:avLst/>
          </a:prstGeom>
          <a:noFill/>
        </p:spPr>
        <p:txBody>
          <a:bodyPr wrap="square" lIns="76200" tIns="50800" rIns="38100" bIns="12700" anchor="t">
            <a:spAutoFit/>
          </a:bodyPr>
          <a:lstStyle/>
          <a:p>
            <a:pPr>
              <a:lnSpc>
                <a:spcPct val="117000"/>
              </a:lnSpc>
              <a:spcAft>
                <a:spcPts val="1300"/>
              </a:spcAft>
              <a:defRPr sz="1500">
                <a:solidFill>
                  <a:srgbClr val="252E38"/>
                </a:solidFill>
                <a:latin typeface="Yu Gothic"/>
              </a:defRPr>
            </a:pPr>
            <a:r>
              <a:t>• 二項GLMMは二項GLM（ロジスティック回帰）の線形予測子に、正規分布に従うランダム効果を組み込んだモデルである。</a:t>
            </a:r>
          </a:p>
          <a:p>
            <a:pPr>
              <a:lnSpc>
                <a:spcPct val="117000"/>
              </a:lnSpc>
              <a:spcAft>
                <a:spcPts val="1300"/>
              </a:spcAft>
              <a:defRPr sz="1500">
                <a:solidFill>
                  <a:srgbClr val="252E38"/>
                </a:solidFill>
                <a:latin typeface="Yu Gothic"/>
              </a:defRPr>
            </a:pPr>
            <a:r>
              <a:t>• 正規混合モデルやポアソンGLMMと比較すると、応答分布・リンク関数・二項試行数の指定が異なるだけで、階層モデルの考え方は共通する。</a:t>
            </a:r>
          </a:p>
          <a:p>
            <a:pPr>
              <a:lnSpc>
                <a:spcPct val="117000"/>
              </a:lnSpc>
              <a:spcAft>
                <a:spcPts val="1300"/>
              </a:spcAft>
              <a:defRPr sz="1500">
                <a:solidFill>
                  <a:srgbClr val="252E38"/>
                </a:solidFill>
                <a:latin typeface="Yu Gothic"/>
              </a:defRPr>
            </a:pPr>
            <a:r>
              <a:t>• JAGSやNIMBLEなどで階層モデルとして明示すると、モデルの生成過程を理解しやすい。最尤法とベイズ法の比較は、同じモデルについて異なる推定アプローチを理解する助けになる。</a:t>
            </a:r>
          </a:p>
          <a:p>
            <a:pPr>
              <a:lnSpc>
                <a:spcPct val="117000"/>
              </a:lnSpc>
              <a:spcAft>
                <a:spcPts val="1300"/>
              </a:spcAft>
              <a:defRPr sz="1500">
                <a:solidFill>
                  <a:srgbClr val="252E38"/>
                </a:solidFill>
                <a:latin typeface="Yu Gothic"/>
              </a:defRPr>
            </a:pPr>
            <a:r>
              <a:t>• 本章の推定対象は4つの母パラメータ、すなわち平均切片、平均傾き、切片の集団間SD、傾きの集団間SDである。これらを理解すれば、第10章の正規混合モデルおよび第14章のポアソンGLMMとの構造的な共通性が明瞭になる。</a:t>
            </a:r>
          </a:p>
          <a:p>
            <a:pPr>
              <a:lnSpc>
                <a:spcPct val="117000"/>
              </a:lnSpc>
              <a:spcAft>
                <a:spcPts val="1300"/>
              </a:spcAft>
              <a:defRPr sz="1500">
                <a:solidFill>
                  <a:srgbClr val="252E38"/>
                </a:solidFill>
                <a:latin typeface="Yu Gothic"/>
              </a:defRPr>
            </a:pPr>
            <a:r>
              <a:t>• 本章の結論は「ベイズ法だけが混合モデルを扱える」ということではない。多様な推定エンジンが同じ統計モデルを解けることと、推定・診断の双方で生成過程を理解することが重要である。</a:t>
            </a:r>
          </a:p>
        </p:txBody>
      </p:sp>
      <p:sp>
        <p:nvSpPr>
          <p:cNvPr id="5" name="TextBox 4"/>
          <p:cNvSpPr txBox="1"/>
          <p:nvPr/>
        </p:nvSpPr>
        <p:spPr>
          <a:xfrm>
            <a:off x="621792" y="6547104"/>
            <a:ext cx="10881360" cy="182880"/>
          </a:xfrm>
          <a:prstGeom prst="rect">
            <a:avLst/>
          </a:prstGeom>
          <a:noFill/>
        </p:spPr>
        <p:txBody>
          <a:bodyPr wrap="none">
            <a:spAutoFit/>
          </a:bodyPr>
          <a:lstStyle/>
          <a:p>
            <a:pPr>
              <a:defRPr sz="900">
                <a:solidFill>
                  <a:srgbClr val="828B93"/>
                </a:solidFill>
                <a:latin typeface="Arial"/>
              </a:defRPr>
            </a:pPr>
            <a:r>
              <a:t>Applied Statistical Modelling for Ecologists  |  Chapter 17  |  10 / 10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二項一般化線形混合モデル</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章のモデルとRコードの対応</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logit(pᵢ)=αpop[i]+βpop[i]×precipᵢ；Cᵢ~Binomial(Nᵢ,pᵢ)</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原著Rコードの節構成を保持して解説する。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計算値は掲載せず、使用関数・確率モデル・推定の仕組みを確認する。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 NIMBLE / Stan / 自作尤度 / TMBの実装差に注目する。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未実行・推定値未検証   |   説明文はコード解読に基づく補足</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17.2  データ生成</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Data generation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set.seed(17)</a:t>
            </a:r>
          </a:p>
          <a:p>
            <a:pPr>
              <a:spcAft>
                <a:spcPts val="400"/>
              </a:spcAft>
              <a:defRPr sz="1130" b="0">
                <a:solidFill>
                  <a:srgbClr val="132843"/>
                </a:solidFill>
                <a:latin typeface="Consolas"/>
              </a:defRPr>
            </a:pPr>
            <a:r>
              <a:t>xyplot(exp.p ~ precip | pop, ylab = "Expected woodchat shrike breeding success ",</a:t>
            </a:r>
          </a:p>
          <a:p>
            <a:pPr>
              <a:spcAft>
                <a:spcPts val="400"/>
              </a:spcAft>
              <a:defRPr sz="1130" b="0">
                <a:solidFill>
                  <a:srgbClr val="132843"/>
                </a:solidFill>
                <a:latin typeface="Consolas"/>
              </a:defRPr>
            </a:pPr>
            <a:r>
              <a:t>xyplot(C/N ~ precip | pop, ylab = "Realized woodchat shrike breeding success ",</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固定した乱数シードと真値から、線形予測子→期待値→観測値を作る。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モデル行列と係数の次元・順番を確認する。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生成時の真値 truth を後段の推定と比較する。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17.2   |   未実行・推定値未検証   |   説明文はコード解読に基づく補足</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17.3  既存R関数</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canned functions in R</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out17.3 &lt;- glmmTMB(cbind(C, N-C) ~ precip + (precip || pop), data = gtmb.data, family = binomial)</a:t>
            </a:r>
          </a:p>
          <a:p>
            <a:pPr>
              <a:spcAft>
                <a:spcPts val="400"/>
              </a:spcAft>
              <a:defRPr sz="1130" b="0">
                <a:solidFill>
                  <a:srgbClr val="132843"/>
                </a:solidFill>
                <a:latin typeface="Consolas"/>
              </a:defRPr>
            </a:pPr>
            <a:r>
              <a:t>summary(out17.3) # Inspect results</a:t>
            </a:r>
          </a:p>
          <a:p>
            <a:pPr>
              <a:spcAft>
                <a:spcPts val="400"/>
              </a:spcAft>
              <a:defRPr sz="1130" b="0">
                <a:solidFill>
                  <a:srgbClr val="132843"/>
                </a:solidFill>
                <a:latin typeface="Consolas"/>
              </a:defRPr>
            </a:pPr>
            <a:r>
              <a:t>simOut &lt;- simulateResiduals(out17.3, n = 1000, plot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glm/glmmTMB/unmarked 等の既存関数で基準となる推定を実施する。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family・link・説明変数の指定がモデルの仮定を決める。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summary、VarCorr、DHARMa等で推定・診断を確認。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17.3   |   未実行・推定値未検証   |   説明文はコード解読に基づく補足</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17.4  JAGS</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alpha[i] ~ dnorm(mu.alpha, tau.alpha) # Intercepts</a:t>
            </a:r>
          </a:p>
          <a:p>
            <a:pPr>
              <a:spcAft>
                <a:spcPts val="400"/>
              </a:spcAft>
              <a:defRPr sz="1130" b="0">
                <a:solidFill>
                  <a:srgbClr val="132843"/>
                </a:solidFill>
                <a:latin typeface="Consolas"/>
              </a:defRPr>
            </a:pPr>
            <a:r>
              <a:t>beta[i] ~ dnorm(mu.beta, tau.beta) # Slopes</a:t>
            </a:r>
          </a:p>
          <a:p>
            <a:pPr>
              <a:spcAft>
                <a:spcPts val="400"/>
              </a:spcAft>
              <a:defRPr sz="1130" b="0">
                <a:solidFill>
                  <a:srgbClr val="132843"/>
                </a:solidFill>
                <a:latin typeface="Consolas"/>
              </a:defRPr>
            </a:pPr>
            <a:r>
              <a:t>mu.alpha ~ dnorm(0, 0.0001) # Hyperparameter for random intercepts</a:t>
            </a:r>
          </a:p>
          <a:p>
            <a:pPr>
              <a:spcAft>
                <a:spcPts val="400"/>
              </a:spcAft>
              <a:defRPr sz="1130" b="0">
                <a:solidFill>
                  <a:srgbClr val="132843"/>
                </a:solidFill>
                <a:latin typeface="Consolas"/>
              </a:defRPr>
            </a:pPr>
            <a:r>
              <a:t>mu.beta ~ dnorm(0, 0.0001) # Hyperparameter for random slopes</a:t>
            </a:r>
          </a:p>
          <a:p>
            <a:pPr>
              <a:spcAft>
                <a:spcPts val="400"/>
              </a:spcAft>
              <a:defRPr sz="1130" b="0">
                <a:solidFill>
                  <a:srgbClr val="132843"/>
                </a:solidFill>
                <a:latin typeface="Consolas"/>
              </a:defRPr>
            </a:pPr>
            <a:r>
              <a:t>C[i] ~ dbin(p[i], N[i])</a:t>
            </a:r>
          </a:p>
          <a:p>
            <a:pPr>
              <a:spcAft>
                <a:spcPts val="400"/>
              </a:spcAft>
              <a:defRPr sz="1130" b="0">
                <a:solidFill>
                  <a:srgbClr val="132843"/>
                </a:solidFill>
                <a:latin typeface="Consolas"/>
              </a:defRPr>
            </a:pPr>
            <a:r>
              <a:t>logit(p[i]) &lt;- alpha[pop[i]] + beta[pop[i]]* precip[i]</a:t>
            </a:r>
          </a:p>
          <a:p>
            <a:pPr>
              <a:spcAft>
                <a:spcPts val="400"/>
              </a:spcAft>
              <a:defRPr sz="1130" b="0">
                <a:solidFill>
                  <a:srgbClr val="132843"/>
                </a:solidFill>
                <a:latin typeface="Consolas"/>
              </a:defRPr>
            </a:pPr>
            <a:r>
              <a:t>C.new[i] ~ dbin(p[i], N[i])</a:t>
            </a:r>
          </a:p>
          <a:p>
            <a:pPr>
              <a:spcAft>
                <a:spcPts val="400"/>
              </a:spcAft>
              <a:defRPr sz="1130" b="0">
                <a:solidFill>
                  <a:srgbClr val="132843"/>
                </a:solidFill>
                <a:latin typeface="Consolas"/>
              </a:defRPr>
            </a:pPr>
            <a:r>
              <a:t>params &lt;- c("mu.alpha", "mu.beta", "sigma.alpha", "sigma.beta",</a:t>
            </a:r>
          </a:p>
          <a:p>
            <a:pPr>
              <a:spcAft>
                <a:spcPts val="400"/>
              </a:spcAft>
              <a:defRPr sz="1130" b="0">
                <a:solidFill>
                  <a:srgbClr val="132843"/>
                </a:solidFill>
                <a:latin typeface="Consolas"/>
              </a:defRPr>
            </a:pPr>
            <a:r>
              <a:t>"alpha", "beta", "C.new")</a:t>
            </a:r>
          </a:p>
          <a:p>
            <a:pPr>
              <a:spcAft>
                <a:spcPts val="400"/>
              </a:spcAft>
              <a:defRPr sz="1130" b="0">
                <a:solidFill>
                  <a:srgbClr val="132843"/>
                </a:solidFill>
                <a:latin typeface="Consolas"/>
              </a:defRPr>
            </a:pPr>
            <a:r>
              <a:t>na &lt;- 1000 ; ni &lt;- 12000 ; nb &lt;- 2000 ; nc &lt;- 4 ; nt &lt;- 10</a:t>
            </a:r>
          </a:p>
          <a:p>
            <a:pPr>
              <a:spcAft>
                <a:spcPts val="400"/>
              </a:spcAft>
              <a:defRPr sz="1130" b="0">
                <a:solidFill>
                  <a:srgbClr val="132843"/>
                </a:solidFill>
                <a:latin typeface="Consolas"/>
              </a:defRPr>
            </a:pPr>
            <a:r>
              <a:t>out17.4 &lt;- jags(dataList, inits, params, "model17.4.txt", n.iter = ni, n.burnin = nb,</a:t>
            </a:r>
          </a:p>
          <a:p>
            <a:pPr>
              <a:spcAft>
                <a:spcPts val="400"/>
              </a:spcAft>
              <a:defRPr sz="1130" b="0">
                <a:solidFill>
                  <a:srgbClr val="132843"/>
                </a:solidFill>
                <a:latin typeface="Consolas"/>
              </a:defRPr>
            </a:pPr>
            <a:r>
              <a:t>C.new &lt;- out17.4$sims.list$C.new</a:t>
            </a:r>
          </a:p>
          <a:p>
            <a:pPr>
              <a:spcAft>
                <a:spcPts val="400"/>
              </a:spcAft>
              <a:defRPr sz="1130" b="0">
                <a:solidFill>
                  <a:srgbClr val="132843"/>
                </a:solidFill>
                <a:latin typeface="Consolas"/>
              </a:defRPr>
            </a:pPr>
            <a:r>
              <a:t>sim &lt;- createDHARMa(simulatedResponse = t(C.new), observedResponse = C,</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事前分布→潜在変数・線形予測子→観測尤度の順にモデルを記述。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JAGSの dnorm(平均, 精度) の精度 τ は 1/σ²。dbin は確率を先、試行数を後に置く。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 で複数チェーンを走らせ、traceplot と事後分布を確認。</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17.4   |   未実行・推定値未検証   |   説明文はコード解読に基づく補足</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17.4  JAGS：実装を読む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JAGS｜構文・推定の流れ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alpha[i] ~ dnorm(mu.alpha, tau.alpha) # Intercepts</a:t>
            </a:r>
          </a:p>
          <a:p>
            <a:pPr>
              <a:spcAft>
                <a:spcPts val="400"/>
              </a:spcAft>
              <a:defRPr sz="1130" b="0">
                <a:solidFill>
                  <a:srgbClr val="132843"/>
                </a:solidFill>
                <a:latin typeface="Consolas"/>
              </a:defRPr>
            </a:pPr>
            <a:r>
              <a:t>beta[i] ~ dnorm(mu.beta, tau.beta) # Slopes</a:t>
            </a:r>
          </a:p>
          <a:p>
            <a:pPr>
              <a:spcAft>
                <a:spcPts val="400"/>
              </a:spcAft>
              <a:defRPr sz="1130" b="0">
                <a:solidFill>
                  <a:srgbClr val="132843"/>
                </a:solidFill>
                <a:latin typeface="Consolas"/>
              </a:defRPr>
            </a:pPr>
            <a:r>
              <a:t>mu.alpha ~ dnorm(0, 0.0001) # Hyperparameter for random intercepts</a:t>
            </a:r>
          </a:p>
          <a:p>
            <a:pPr>
              <a:spcAft>
                <a:spcPts val="400"/>
              </a:spcAft>
              <a:defRPr sz="1130" b="0">
                <a:solidFill>
                  <a:srgbClr val="132843"/>
                </a:solidFill>
                <a:latin typeface="Consolas"/>
              </a:defRPr>
            </a:pPr>
            <a:r>
              <a:t>mu.beta ~ dnorm(0, 0.0001) # Hyperparameter for random slopes</a:t>
            </a:r>
          </a:p>
          <a:p>
            <a:pPr>
              <a:spcAft>
                <a:spcPts val="400"/>
              </a:spcAft>
              <a:defRPr sz="1130" b="0">
                <a:solidFill>
                  <a:srgbClr val="132843"/>
                </a:solidFill>
                <a:latin typeface="Consolas"/>
              </a:defRPr>
            </a:pPr>
            <a:r>
              <a:t>C[i] ~ dbin(p[i], N[i])</a:t>
            </a:r>
          </a:p>
          <a:p>
            <a:pPr>
              <a:spcAft>
                <a:spcPts val="400"/>
              </a:spcAft>
              <a:defRPr sz="1130" b="0">
                <a:solidFill>
                  <a:srgbClr val="132843"/>
                </a:solidFill>
                <a:latin typeface="Consolas"/>
              </a:defRPr>
            </a:pPr>
            <a:r>
              <a:t>logit(p[i]) &lt;- alpha[pop[i]] + beta[pop[i]]* precip[i]</a:t>
            </a:r>
          </a:p>
          <a:p>
            <a:pPr>
              <a:spcAft>
                <a:spcPts val="400"/>
              </a:spcAft>
              <a:defRPr sz="1130" b="0">
                <a:solidFill>
                  <a:srgbClr val="132843"/>
                </a:solidFill>
                <a:latin typeface="Consolas"/>
              </a:defRPr>
            </a:pPr>
            <a:r>
              <a:t>C.new[i] ~ dbin(p[i], N[i])</a:t>
            </a:r>
          </a:p>
          <a:p>
            <a:pPr>
              <a:spcAft>
                <a:spcPts val="400"/>
              </a:spcAft>
              <a:defRPr sz="1130" b="0">
                <a:solidFill>
                  <a:srgbClr val="132843"/>
                </a:solidFill>
                <a:latin typeface="Consolas"/>
              </a:defRPr>
            </a:pPr>
            <a:r>
              <a:t>params &lt;- c("mu.alpha", "mu.beta", "sigma.alpha", "sigma.beta",</a:t>
            </a:r>
          </a:p>
          <a:p>
            <a:pPr>
              <a:spcAft>
                <a:spcPts val="400"/>
              </a:spcAft>
              <a:defRPr sz="1130" b="0">
                <a:solidFill>
                  <a:srgbClr val="132843"/>
                </a:solidFill>
                <a:latin typeface="Consolas"/>
              </a:defRPr>
            </a:pPr>
            <a:r>
              <a:t>"alpha", "beta", "C.new")</a:t>
            </a:r>
          </a:p>
          <a:p>
            <a:pPr>
              <a:spcAft>
                <a:spcPts val="400"/>
              </a:spcAft>
              <a:defRPr sz="1130" b="0">
                <a:solidFill>
                  <a:srgbClr val="132843"/>
                </a:solidFill>
                <a:latin typeface="Consolas"/>
              </a:defRPr>
            </a:pPr>
            <a:r>
              <a:t>na &lt;- 1000 ; ni &lt;- 12000 ; nb &lt;- 2000 ; nc &lt;- 4 ; nt &lt;- 10</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観測分布（~）が尤度、事前分布がパラメータ分布を与える。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ループの添字が個体・サイト・年のどれに対応するかを追う。</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MCMCの初期値・burn-in・thin・chainsを読んで有効標本と混同しない。</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17.4   |   未実行・推定値未検証   |   説明文はコード解読に基づく補足</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17.5  NIMBLE</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model17.5 &lt;- nimbleCode( {</a:t>
            </a:r>
          </a:p>
          <a:p>
            <a:pPr>
              <a:spcAft>
                <a:spcPts val="400"/>
              </a:spcAft>
              <a:defRPr sz="1130" b="0">
                <a:solidFill>
                  <a:srgbClr val="132843"/>
                </a:solidFill>
                <a:latin typeface="Consolas"/>
              </a:defRPr>
            </a:pPr>
            <a:r>
              <a:t>alpha[i] ~ dnorm(mu.alpha, sd = sigma.alpha)   # Intercepts</a:t>
            </a:r>
          </a:p>
          <a:p>
            <a:pPr>
              <a:spcAft>
                <a:spcPts val="400"/>
              </a:spcAft>
              <a:defRPr sz="1130" b="0">
                <a:solidFill>
                  <a:srgbClr val="132843"/>
                </a:solidFill>
                <a:latin typeface="Consolas"/>
              </a:defRPr>
            </a:pPr>
            <a:r>
              <a:t>beta[i] ~ dnorm(mu.beta, sd = sigma.beta)      # Slopes</a:t>
            </a:r>
          </a:p>
          <a:p>
            <a:pPr>
              <a:spcAft>
                <a:spcPts val="400"/>
              </a:spcAft>
              <a:defRPr sz="1130" b="0">
                <a:solidFill>
                  <a:srgbClr val="132843"/>
                </a:solidFill>
                <a:latin typeface="Consolas"/>
              </a:defRPr>
            </a:pPr>
            <a:r>
              <a:t>mu.alpha ~ dnorm(0, sd = 1000) # Hyperparam. for random intercepts</a:t>
            </a:r>
          </a:p>
          <a:p>
            <a:pPr>
              <a:spcAft>
                <a:spcPts val="400"/>
              </a:spcAft>
              <a:defRPr sz="1130" b="0">
                <a:solidFill>
                  <a:srgbClr val="132843"/>
                </a:solidFill>
                <a:latin typeface="Consolas"/>
              </a:defRPr>
            </a:pPr>
            <a:r>
              <a:t>sigma.alpha ~ T(dt(0, 0.1, 1), 0, 100)</a:t>
            </a:r>
          </a:p>
          <a:p>
            <a:pPr>
              <a:spcAft>
                <a:spcPts val="400"/>
              </a:spcAft>
              <a:defRPr sz="1130" b="0">
                <a:solidFill>
                  <a:srgbClr val="132843"/>
                </a:solidFill>
                <a:latin typeface="Consolas"/>
              </a:defRPr>
            </a:pPr>
            <a:r>
              <a:t>mu.beta ~ dnorm(0, sd = 1000)     # Hyperparameter for random slopes</a:t>
            </a:r>
          </a:p>
          <a:p>
            <a:pPr>
              <a:spcAft>
                <a:spcPts val="400"/>
              </a:spcAft>
              <a:defRPr sz="1130" b="0">
                <a:solidFill>
                  <a:srgbClr val="132843"/>
                </a:solidFill>
                <a:latin typeface="Consolas"/>
              </a:defRPr>
            </a:pPr>
            <a:r>
              <a:t>sigma.beta ~ T(dt(0, 0.1, 1), 0, 100)</a:t>
            </a:r>
          </a:p>
          <a:p>
            <a:pPr>
              <a:spcAft>
                <a:spcPts val="400"/>
              </a:spcAft>
              <a:defRPr sz="1130" b="0">
                <a:solidFill>
                  <a:srgbClr val="132843"/>
                </a:solidFill>
                <a:latin typeface="Consolas"/>
              </a:defRPr>
            </a:pPr>
            <a:r>
              <a:t>C[i] ~ dbin(p[i], N[i])</a:t>
            </a:r>
          </a:p>
          <a:p>
            <a:pPr>
              <a:spcAft>
                <a:spcPts val="400"/>
              </a:spcAft>
              <a:defRPr sz="1130" b="0">
                <a:solidFill>
                  <a:srgbClr val="132843"/>
                </a:solidFill>
                <a:latin typeface="Consolas"/>
              </a:defRPr>
            </a:pPr>
            <a:r>
              <a:t>sigma.alpha = rlnorm(1), sigma.beta = rlnorm(1))</a:t>
            </a:r>
          </a:p>
          <a:p>
            <a:pPr>
              <a:spcAft>
                <a:spcPts val="400"/>
              </a:spcAft>
              <a:defRPr sz="1130" b="0">
                <a:solidFill>
                  <a:srgbClr val="132843"/>
                </a:solidFill>
                <a:latin typeface="Consolas"/>
              </a:defRPr>
            </a:pPr>
            <a:r>
              <a:t>params &lt;- c("mu.alpha", "mu.beta", "sigma.alpha", "sigma.beta",</a:t>
            </a:r>
          </a:p>
          <a:p>
            <a:pPr>
              <a:spcAft>
                <a:spcPts val="400"/>
              </a:spcAft>
              <a:defRPr sz="1130" b="0">
                <a:solidFill>
                  <a:srgbClr val="132843"/>
                </a:solidFill>
                <a:latin typeface="Consolas"/>
              </a:defRPr>
            </a:pPr>
            <a:r>
              <a:t>nimbleMCMC(code = model17.5,</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nimbleCode() の確率文がモデルを定義し、nimbleMCMC() がサンプリングを担当。</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dnorm(...,sd=σ) として標準偏差を明示できる。JAGSの精度表現との違いに注意。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 inits / monitors / nburnin / niter / thin / nchains を対応させる。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17.5   |   未実行・推定値未検証   |   説明文はコード解読に基づく補足</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17.5  NIMBLE：実装を読む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NIMBLE｜構文・推定の流れ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model17.5 &lt;- nimbleCode( {</a:t>
            </a:r>
          </a:p>
          <a:p>
            <a:pPr>
              <a:spcAft>
                <a:spcPts val="400"/>
              </a:spcAft>
              <a:defRPr sz="1130" b="0">
                <a:solidFill>
                  <a:srgbClr val="132843"/>
                </a:solidFill>
                <a:latin typeface="Consolas"/>
              </a:defRPr>
            </a:pPr>
            <a:r>
              <a:t>alpha[i] ~ dnorm(mu.alpha, sd = sigma.alpha)   # Intercepts</a:t>
            </a:r>
          </a:p>
          <a:p>
            <a:pPr>
              <a:spcAft>
                <a:spcPts val="400"/>
              </a:spcAft>
              <a:defRPr sz="1130" b="0">
                <a:solidFill>
                  <a:srgbClr val="132843"/>
                </a:solidFill>
                <a:latin typeface="Consolas"/>
              </a:defRPr>
            </a:pPr>
            <a:r>
              <a:t>beta[i] ~ dnorm(mu.beta, sd = sigma.beta)      # Slopes</a:t>
            </a:r>
          </a:p>
          <a:p>
            <a:pPr>
              <a:spcAft>
                <a:spcPts val="400"/>
              </a:spcAft>
              <a:defRPr sz="1130" b="0">
                <a:solidFill>
                  <a:srgbClr val="132843"/>
                </a:solidFill>
                <a:latin typeface="Consolas"/>
              </a:defRPr>
            </a:pPr>
            <a:r>
              <a:t>mu.alpha ~ dnorm(0, sd = 1000) # Hyperparam. for random intercepts</a:t>
            </a:r>
          </a:p>
          <a:p>
            <a:pPr>
              <a:spcAft>
                <a:spcPts val="400"/>
              </a:spcAft>
              <a:defRPr sz="1130" b="0">
                <a:solidFill>
                  <a:srgbClr val="132843"/>
                </a:solidFill>
                <a:latin typeface="Consolas"/>
              </a:defRPr>
            </a:pPr>
            <a:r>
              <a:t>sigma.alpha ~ T(dt(0, 0.1, 1), 0, 100)</a:t>
            </a:r>
          </a:p>
          <a:p>
            <a:pPr>
              <a:spcAft>
                <a:spcPts val="400"/>
              </a:spcAft>
              <a:defRPr sz="1130" b="0">
                <a:solidFill>
                  <a:srgbClr val="132843"/>
                </a:solidFill>
                <a:latin typeface="Consolas"/>
              </a:defRPr>
            </a:pPr>
            <a:r>
              <a:t>mu.beta ~ dnorm(0, sd = 1000)     # Hyperparameter for random slopes</a:t>
            </a:r>
          </a:p>
          <a:p>
            <a:pPr>
              <a:spcAft>
                <a:spcPts val="400"/>
              </a:spcAft>
              <a:defRPr sz="1130" b="0">
                <a:solidFill>
                  <a:srgbClr val="132843"/>
                </a:solidFill>
                <a:latin typeface="Consolas"/>
              </a:defRPr>
            </a:pPr>
            <a:r>
              <a:t>sigma.beta ~ T(dt(0, 0.1, 1), 0, 100)</a:t>
            </a:r>
          </a:p>
          <a:p>
            <a:pPr>
              <a:spcAft>
                <a:spcPts val="400"/>
              </a:spcAft>
              <a:defRPr sz="1130" b="0">
                <a:solidFill>
                  <a:srgbClr val="132843"/>
                </a:solidFill>
                <a:latin typeface="Consolas"/>
              </a:defRPr>
            </a:pPr>
            <a:r>
              <a:t>C[i] ~ dbin(p[i], N[i])</a:t>
            </a:r>
          </a:p>
          <a:p>
            <a:pPr>
              <a:spcAft>
                <a:spcPts val="400"/>
              </a:spcAft>
              <a:defRPr sz="1130" b="0">
                <a:solidFill>
                  <a:srgbClr val="132843"/>
                </a:solidFill>
                <a:latin typeface="Consolas"/>
              </a:defRPr>
            </a:pPr>
            <a:r>
              <a:t>sigma.alpha = rlnorm(1), sigma.beta = rlnorm(1))</a:t>
            </a:r>
          </a:p>
          <a:p>
            <a:pPr>
              <a:spcAft>
                <a:spcPts val="400"/>
              </a:spcAft>
              <a:defRPr sz="1130" b="0">
                <a:solidFill>
                  <a:srgbClr val="132843"/>
                </a:solidFill>
                <a:latin typeface="Consolas"/>
              </a:defRPr>
            </a:pPr>
            <a:r>
              <a:t>params &lt;- c("mu.alpha", "mu.beta", "sigma.alpha", "sigma.beta",</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モデル宣言とサンプラー実行の2段階を区別する。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constants はモデルの既知量。monitors は保存対象。</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JAGSとの差は構文だけでなく、分散パラメータと打切り指定にもある。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17.5   |   未実行・推定値未検証   |   説明文はコード解読に基づく補足</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17.6  Stan</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mu_alpha ~ normal(0, 100);</a:t>
            </a:r>
          </a:p>
          <a:p>
            <a:pPr>
              <a:spcAft>
                <a:spcPts val="400"/>
              </a:spcAft>
              <a:defRPr sz="1130" b="0">
                <a:solidFill>
                  <a:srgbClr val="132843"/>
                </a:solidFill>
                <a:latin typeface="Consolas"/>
              </a:defRPr>
            </a:pPr>
            <a:r>
              <a:t>mu_beta ~ normal(0, 100);</a:t>
            </a:r>
          </a:p>
          <a:p>
            <a:pPr>
              <a:spcAft>
                <a:spcPts val="400"/>
              </a:spcAft>
              <a:defRPr sz="1130" b="0">
                <a:solidFill>
                  <a:srgbClr val="132843"/>
                </a:solidFill>
                <a:latin typeface="Consolas"/>
              </a:defRPr>
            </a:pPr>
            <a:r>
              <a:t>alpha[i] ~ normal(mu_alpha, sigma_alpha);</a:t>
            </a:r>
          </a:p>
          <a:p>
            <a:pPr>
              <a:spcAft>
                <a:spcPts val="400"/>
              </a:spcAft>
              <a:defRPr sz="1130" b="0">
                <a:solidFill>
                  <a:srgbClr val="132843"/>
                </a:solidFill>
                <a:latin typeface="Consolas"/>
              </a:defRPr>
            </a:pPr>
            <a:r>
              <a:t>beta[i] ~ normal(mu_beta, sigma_beta);</a:t>
            </a:r>
          </a:p>
          <a:p>
            <a:pPr>
              <a:spcAft>
                <a:spcPts val="400"/>
              </a:spcAft>
              <a:defRPr sz="1130" b="0">
                <a:solidFill>
                  <a:srgbClr val="132843"/>
                </a:solidFill>
                <a:latin typeface="Consolas"/>
              </a:defRPr>
            </a:pPr>
            <a:r>
              <a:t>p[i] = inv_logit(alpha[pop[i]] + beta[pop[i]] * precip[i]);</a:t>
            </a:r>
          </a:p>
          <a:p>
            <a:pPr>
              <a:spcAft>
                <a:spcPts val="400"/>
              </a:spcAft>
              <a:defRPr sz="1130" b="0">
                <a:solidFill>
                  <a:srgbClr val="132843"/>
                </a:solidFill>
                <a:latin typeface="Consolas"/>
              </a:defRPr>
            </a:pPr>
            <a:r>
              <a:t>C[i] ~ binomial(N[i], p[i]);</a:t>
            </a:r>
          </a:p>
          <a:p>
            <a:pPr>
              <a:spcAft>
                <a:spcPts val="400"/>
              </a:spcAft>
              <a:defRPr sz="1130" b="0">
                <a:solidFill>
                  <a:srgbClr val="132843"/>
                </a:solidFill>
                <a:latin typeface="Consolas"/>
              </a:defRPr>
            </a:pPr>
            <a:r>
              <a:t>out17.6 &lt;- stan(file = "model17_6.stan", data = dataList, pars = params,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data に観測値、parameters に未知数、model に事前分布と観測尤度を記述。</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連続パラメータをHMC/NUTSで推定。潜在離散状態は必要に応じ周辺化する。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generated quantities は推定後の派生量・予測標本を生成する。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17.6   |   未実行・推定値未検証   |   説明文はコード解読に基づく補足</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17.6  Stan：実装を読む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Bayesian analysis with Stan｜構文・推定の流れ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data{</a:t>
            </a:r>
          </a:p>
          <a:p>
            <a:pPr>
              <a:spcAft>
                <a:spcPts val="400"/>
              </a:spcAft>
              <a:defRPr sz="1130" b="0">
                <a:solidFill>
                  <a:srgbClr val="132843"/>
                </a:solidFill>
                <a:latin typeface="Consolas"/>
              </a:defRPr>
            </a:pPr>
            <a:r>
              <a:t>parameters{</a:t>
            </a:r>
          </a:p>
          <a:p>
            <a:pPr>
              <a:spcAft>
                <a:spcPts val="400"/>
              </a:spcAft>
              <a:defRPr sz="1130" b="0">
                <a:solidFill>
                  <a:srgbClr val="132843"/>
                </a:solidFill>
                <a:latin typeface="Consolas"/>
              </a:defRPr>
            </a:pPr>
            <a:r>
              <a:t>mu_alpha ~ normal(0, 100);</a:t>
            </a:r>
          </a:p>
          <a:p>
            <a:pPr>
              <a:spcAft>
                <a:spcPts val="400"/>
              </a:spcAft>
              <a:defRPr sz="1130" b="0">
                <a:solidFill>
                  <a:srgbClr val="132843"/>
                </a:solidFill>
                <a:latin typeface="Consolas"/>
              </a:defRPr>
            </a:pPr>
            <a:r>
              <a:t>mu_beta ~ normal(0, 100);</a:t>
            </a:r>
          </a:p>
          <a:p>
            <a:pPr>
              <a:spcAft>
                <a:spcPts val="400"/>
              </a:spcAft>
              <a:defRPr sz="1130" b="0">
                <a:solidFill>
                  <a:srgbClr val="132843"/>
                </a:solidFill>
                <a:latin typeface="Consolas"/>
              </a:defRPr>
            </a:pPr>
            <a:r>
              <a:t>alpha[i] ~ normal(mu_alpha, sigma_alpha);</a:t>
            </a:r>
          </a:p>
          <a:p>
            <a:pPr>
              <a:spcAft>
                <a:spcPts val="400"/>
              </a:spcAft>
              <a:defRPr sz="1130" b="0">
                <a:solidFill>
                  <a:srgbClr val="132843"/>
                </a:solidFill>
                <a:latin typeface="Consolas"/>
              </a:defRPr>
            </a:pPr>
            <a:r>
              <a:t>beta[i] ~ normal(mu_beta, sigma_beta);</a:t>
            </a:r>
          </a:p>
          <a:p>
            <a:pPr>
              <a:spcAft>
                <a:spcPts val="400"/>
              </a:spcAft>
              <a:defRPr sz="1130" b="0">
                <a:solidFill>
                  <a:srgbClr val="132843"/>
                </a:solidFill>
                <a:latin typeface="Consolas"/>
              </a:defRPr>
            </a:pPr>
            <a:r>
              <a:t>p[i] = inv_logit(alpha[pop[i]] + beta[pop[i]] * precip[i]);</a:t>
            </a:r>
          </a:p>
          <a:p>
            <a:pPr>
              <a:spcAft>
                <a:spcPts val="400"/>
              </a:spcAft>
              <a:defRPr sz="1130" b="0">
                <a:solidFill>
                  <a:srgbClr val="132843"/>
                </a:solidFill>
                <a:latin typeface="Consolas"/>
              </a:defRPr>
            </a:pPr>
            <a:r>
              <a:t>C[i] ~ binomial(N[i], p[i]);</a:t>
            </a:r>
          </a:p>
          <a:p>
            <a:pPr>
              <a:spcAft>
                <a:spcPts val="400"/>
              </a:spcAft>
              <a:defRPr sz="1130" b="0">
                <a:solidFill>
                  <a:srgbClr val="132843"/>
                </a:solidFill>
                <a:latin typeface="Consolas"/>
              </a:defRPr>
            </a:pPr>
            <a:r>
              <a:t>out17.6 &lt;- stan(file = "model17_6.stan", data = dataList, pars = params,</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ブロック間のデータ依存を data → parameters → model として読む。</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密度関数の引数順序（特にbinomial）は他エンジンと異なる。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離散潜在状態を周辺化した場合、生成量から事後状態を復元できる。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17.6   |   未実行・推定値未検証   |   説明文はコード解読に基づく補足</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17.7  自作最尤</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prod(dbinom(C_j, N_j, p)) * dnorm(alpha_j, mu.alpha, sig.alpha) *</a:t>
            </a:r>
          </a:p>
          <a:p>
            <a:pPr>
              <a:spcAft>
                <a:spcPts val="400"/>
              </a:spcAft>
              <a:defRPr sz="1130" b="0">
                <a:solidFill>
                  <a:srgbClr val="132843"/>
                </a:solidFill>
                <a:latin typeface="Consolas"/>
              </a:defRPr>
            </a:pPr>
            <a:r>
              <a:t>integral2(fun = f, xmin = -10, xmax = 10, ymin = -10, ymax = 10,</a:t>
            </a:r>
          </a:p>
          <a:p>
            <a:pPr>
              <a:spcAft>
                <a:spcPts val="400"/>
              </a:spcAft>
              <a:defRPr sz="1130" b="0">
                <a:solidFill>
                  <a:srgbClr val="132843"/>
                </a:solidFill>
                <a:latin typeface="Consolas"/>
              </a:defRPr>
            </a:pPr>
            <a:r>
              <a:t>}, error = function(e) return(Inf))</a:t>
            </a:r>
          </a:p>
          <a:p>
            <a:pPr>
              <a:spcAft>
                <a:spcPts val="400"/>
              </a:spcAft>
              <a:defRPr sz="1130" b="0">
                <a:solidFill>
                  <a:srgbClr val="132843"/>
                </a:solidFill>
                <a:latin typeface="Consolas"/>
              </a:defRPr>
            </a:pPr>
            <a:r>
              <a:t>NLL &lt;- function(pars, data) {</a:t>
            </a:r>
          </a:p>
          <a:p>
            <a:pPr>
              <a:spcAft>
                <a:spcPts val="400"/>
              </a:spcAft>
              <a:defRPr sz="1130" b="0">
                <a:solidFill>
                  <a:srgbClr val="132843"/>
                </a:solidFill>
                <a:latin typeface="Consolas"/>
              </a:defRPr>
            </a:pPr>
            <a:r>
              <a:t>nll &lt;- nll - log(lik)</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out17.7 &lt;- optim(inits, NLL, data = dataList, hessian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尤度に対し log を取って総和し、負号を付けて最小化する。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optim() は目的関数を最小化。確率の積は数値的に小さくなるため log=TRUE 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GLMMでは群別のランダム効果を積分で除去して周辺尤度を作る。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正規ランダム切片・傾きの分布を尤度に含める。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17.7   |   未実行・推定値未検証   |   説明文はコード解読に基づく補足</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17.7  自作最尤：実装を読む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Do-it-yourself MLEs｜構文・推定の流れ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prod(dbinom(C_j, N_j, p)) * dnorm(alpha_j, mu.alpha, sig.alpha) *</a:t>
            </a:r>
          </a:p>
          <a:p>
            <a:pPr>
              <a:spcAft>
                <a:spcPts val="400"/>
              </a:spcAft>
              <a:defRPr sz="1130" b="0">
                <a:solidFill>
                  <a:srgbClr val="132843"/>
                </a:solidFill>
                <a:latin typeface="Consolas"/>
              </a:defRPr>
            </a:pPr>
            <a:r>
              <a:t>integral2(fun = f, xmin = -10, xmax = 10, ymin = -10, ymax = 10,</a:t>
            </a:r>
          </a:p>
          <a:p>
            <a:pPr>
              <a:spcAft>
                <a:spcPts val="400"/>
              </a:spcAft>
              <a:defRPr sz="1130" b="0">
                <a:solidFill>
                  <a:srgbClr val="132843"/>
                </a:solidFill>
                <a:latin typeface="Consolas"/>
              </a:defRPr>
            </a:pPr>
            <a:r>
              <a:t>}, error = function(e) return(Inf))</a:t>
            </a:r>
          </a:p>
          <a:p>
            <a:pPr>
              <a:spcAft>
                <a:spcPts val="400"/>
              </a:spcAft>
              <a:defRPr sz="1130" b="0">
                <a:solidFill>
                  <a:srgbClr val="132843"/>
                </a:solidFill>
                <a:latin typeface="Consolas"/>
              </a:defRPr>
            </a:pPr>
            <a:r>
              <a:t>NLL &lt;- function(pars, data) {</a:t>
            </a:r>
          </a:p>
          <a:p>
            <a:pPr>
              <a:spcAft>
                <a:spcPts val="400"/>
              </a:spcAft>
              <a:defRPr sz="1130" b="0">
                <a:solidFill>
                  <a:srgbClr val="132843"/>
                </a:solidFill>
                <a:latin typeface="Consolas"/>
              </a:defRPr>
            </a:pPr>
            <a:r>
              <a:t>nll &lt;- nll - log(lik)</a:t>
            </a:r>
          </a:p>
          <a:p>
            <a:pPr>
              <a:spcAft>
                <a:spcPts val="400"/>
              </a:spcAft>
              <a:defRPr sz="1130" b="0">
                <a:solidFill>
                  <a:srgbClr val="132843"/>
                </a:solidFill>
                <a:latin typeface="Consolas"/>
              </a:defRPr>
            </a:pPr>
            <a:r>
              <a:t>return(nll)</a:t>
            </a:r>
          </a:p>
          <a:p>
            <a:pPr>
              <a:spcAft>
                <a:spcPts val="400"/>
              </a:spcAft>
              <a:defRPr sz="1130" b="0">
                <a:solidFill>
                  <a:srgbClr val="132843"/>
                </a:solidFill>
                <a:latin typeface="Consolas"/>
              </a:defRPr>
            </a:pPr>
            <a:r>
              <a:t>out17.7 &lt;- optim(inits, NLL, data = dataList, hessian = TRUE,</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密度の積がゼロにアンダーフローしないか確認する。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パラメータを log σ で最適化した後は exp で尺度を戻す。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ヘッセ行列と標準誤差は、評価点・変換尺度を確認する。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17.7   |   未実行・推定値未検証   |   説明文はコード解読に基づく補足</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17.8  TMB</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DATA_VECTOR(C);</a:t>
            </a:r>
          </a:p>
          <a:p>
            <a:pPr>
              <a:spcAft>
                <a:spcPts val="400"/>
              </a:spcAft>
              <a:defRPr sz="1130" b="0">
                <a:solidFill>
                  <a:srgbClr val="132843"/>
                </a:solidFill>
                <a:latin typeface="Consolas"/>
              </a:defRPr>
            </a:pPr>
            <a:r>
              <a:t>DATA_VECTOR(N);</a:t>
            </a:r>
          </a:p>
          <a:p>
            <a:pPr>
              <a:spcAft>
                <a:spcPts val="400"/>
              </a:spcAft>
              <a:defRPr sz="1130" b="0">
                <a:solidFill>
                  <a:srgbClr val="132843"/>
                </a:solidFill>
                <a:latin typeface="Consolas"/>
              </a:defRPr>
            </a:pPr>
            <a:r>
              <a:t>DATA_IVECTOR(pop);</a:t>
            </a:r>
          </a:p>
          <a:p>
            <a:pPr>
              <a:spcAft>
                <a:spcPts val="400"/>
              </a:spcAft>
              <a:defRPr sz="1130" b="0">
                <a:solidFill>
                  <a:srgbClr val="132843"/>
                </a:solidFill>
                <a:latin typeface="Consolas"/>
              </a:defRPr>
            </a:pPr>
            <a:r>
              <a:t>DATA_VECTOR(precip);</a:t>
            </a:r>
          </a:p>
          <a:p>
            <a:pPr>
              <a:spcAft>
                <a:spcPts val="400"/>
              </a:spcAft>
              <a:defRPr sz="1130" b="0">
                <a:solidFill>
                  <a:srgbClr val="132843"/>
                </a:solidFill>
                <a:latin typeface="Consolas"/>
              </a:defRPr>
            </a:pPr>
            <a:r>
              <a:t>DATA_INTEGER(nPops);</a:t>
            </a:r>
          </a:p>
          <a:p>
            <a:pPr>
              <a:spcAft>
                <a:spcPts val="400"/>
              </a:spcAft>
              <a:defRPr sz="1130" b="0">
                <a:solidFill>
                  <a:srgbClr val="132843"/>
                </a:solidFill>
                <a:latin typeface="Consolas"/>
              </a:defRPr>
            </a:pPr>
            <a:r>
              <a:t>DATA_INTEGER(n);</a:t>
            </a:r>
          </a:p>
          <a:p>
            <a:pPr>
              <a:spcAft>
                <a:spcPts val="400"/>
              </a:spcAft>
              <a:defRPr sz="1130" b="0">
                <a:solidFill>
                  <a:srgbClr val="132843"/>
                </a:solidFill>
                <a:latin typeface="Consolas"/>
              </a:defRPr>
            </a:pPr>
            <a:r>
              <a:t>PARAMETER(mu_alpha);</a:t>
            </a:r>
          </a:p>
          <a:p>
            <a:pPr>
              <a:spcAft>
                <a:spcPts val="400"/>
              </a:spcAft>
              <a:defRPr sz="1130" b="0">
                <a:solidFill>
                  <a:srgbClr val="132843"/>
                </a:solidFill>
                <a:latin typeface="Consolas"/>
              </a:defRPr>
            </a:pPr>
            <a:r>
              <a:t>PARAMETER(mu_beta);</a:t>
            </a:r>
          </a:p>
          <a:p>
            <a:pPr>
              <a:spcAft>
                <a:spcPts val="400"/>
              </a:spcAft>
              <a:defRPr sz="1130" b="0">
                <a:solidFill>
                  <a:srgbClr val="132843"/>
                </a:solidFill>
                <a:latin typeface="Consolas"/>
              </a:defRPr>
            </a:pPr>
            <a:r>
              <a:t>PARAMETER(log_sigma_alpha);</a:t>
            </a:r>
          </a:p>
          <a:p>
            <a:pPr>
              <a:spcAft>
                <a:spcPts val="400"/>
              </a:spcAft>
              <a:defRPr sz="1130" b="0">
                <a:solidFill>
                  <a:srgbClr val="132843"/>
                </a:solidFill>
                <a:latin typeface="Consolas"/>
              </a:defRPr>
            </a:pPr>
            <a:r>
              <a:t>PARAMETER(log_sigma_beta);</a:t>
            </a:r>
          </a:p>
          <a:p>
            <a:pPr>
              <a:spcAft>
                <a:spcPts val="400"/>
              </a:spcAft>
              <a:defRPr sz="1130" b="0">
                <a:solidFill>
                  <a:srgbClr val="132843"/>
                </a:solidFill>
                <a:latin typeface="Consolas"/>
              </a:defRPr>
            </a:pPr>
            <a:r>
              <a:t>PARAMETER_VECTOR(alpha);</a:t>
            </a:r>
          </a:p>
          <a:p>
            <a:pPr>
              <a:spcAft>
                <a:spcPts val="400"/>
              </a:spcAft>
              <a:defRPr sz="1130" b="0">
                <a:solidFill>
                  <a:srgbClr val="132843"/>
                </a:solidFill>
                <a:latin typeface="Consolas"/>
              </a:defRPr>
            </a:pPr>
            <a:r>
              <a:t>PARAMETER_VECTOR(beta);</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C++でデータ・パラメータと負の対数尤度を記述し、Rからコンパイルする。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MakeADFun() は目的関数 fn と自動微分の勾配 gr を作る。</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random= 指定でランダム効果をラプラス近似により周辺化する。ADREPORT は派生量の不確実性評価用。</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正規ランダム切片・傾きの分布を尤度に含める。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17.8   |   未実行・推定値未検証   |   説明文はコード解読に基づく補足</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37160"/>
          </a:xfrm>
          <a:prstGeom prst="rect">
            <a:avLst/>
          </a:prstGeom>
          <a:solidFill>
            <a:srgbClr val="0075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246888"/>
            <a:ext cx="11201400" cy="475488"/>
          </a:xfrm>
          <a:prstGeom prst="rect">
            <a:avLst/>
          </a:prstGeom>
          <a:noFill/>
        </p:spPr>
        <p:txBody>
          <a:bodyPr wrap="square" lIns="54864" tIns="54864" rIns="54864" bIns="0">
            <a:spAutoFit/>
          </a:bodyPr>
          <a:lstStyle/>
          <a:p>
            <a:pPr>
              <a:spcAft>
                <a:spcPts val="400"/>
              </a:spcAft>
              <a:defRPr sz="2400" b="1">
                <a:solidFill>
                  <a:srgbClr val="132843"/>
                </a:solidFill>
                <a:latin typeface="Yu Gothic"/>
              </a:defRPr>
            </a:pPr>
            <a:r>
              <a:t>17  17.8  TMB：実装を読む</a:t>
            </a:r>
          </a:p>
        </p:txBody>
      </p:sp>
      <p:sp>
        <p:nvSpPr>
          <p:cNvPr id="4" name="TextBox 3"/>
          <p:cNvSpPr txBox="1"/>
          <p:nvPr/>
        </p:nvSpPr>
        <p:spPr>
          <a:xfrm>
            <a:off x="512064" y="786384"/>
            <a:ext cx="10972800" cy="365760"/>
          </a:xfrm>
          <a:prstGeom prst="rect">
            <a:avLst/>
          </a:prstGeom>
          <a:noFill/>
        </p:spPr>
        <p:txBody>
          <a:bodyPr wrap="square" lIns="54864" tIns="54864" rIns="54864" bIns="0">
            <a:spAutoFit/>
          </a:bodyPr>
          <a:lstStyle/>
          <a:p>
            <a:pPr>
              <a:spcAft>
                <a:spcPts val="400"/>
              </a:spcAft>
              <a:defRPr sz="1400" b="0">
                <a:solidFill>
                  <a:srgbClr val="4F5E6C"/>
                </a:solidFill>
                <a:latin typeface="Yu Gothic"/>
              </a:defRPr>
            </a:pPr>
            <a:r>
              <a:t>Likelihood analysis with TMB｜構文・推定の流れ</a:t>
            </a:r>
          </a:p>
        </p:txBody>
      </p:sp>
      <p:sp>
        <p:nvSpPr>
          <p:cNvPr id="5" name="Rectangle 4"/>
          <p:cNvSpPr/>
          <p:nvPr/>
        </p:nvSpPr>
        <p:spPr>
          <a:xfrm>
            <a:off x="502920" y="1271016"/>
            <a:ext cx="5650992" cy="4517136"/>
          </a:xfrm>
          <a:prstGeom prst="rect">
            <a:avLst/>
          </a:prstGeom>
          <a:solidFill>
            <a:srgbClr val="EF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6309360" y="1271016"/>
            <a:ext cx="5376672" cy="4517136"/>
          </a:xfrm>
          <a:prstGeom prst="rect">
            <a:avLst/>
          </a:prstGeom>
          <a:solidFill>
            <a:srgbClr val="F5F8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99032"/>
            <a:ext cx="530352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主要コード（原文からの抜粋）</a:t>
            </a:r>
          </a:p>
        </p:txBody>
      </p:sp>
      <p:sp>
        <p:nvSpPr>
          <p:cNvPr id="8" name="TextBox 7"/>
          <p:cNvSpPr txBox="1"/>
          <p:nvPr/>
        </p:nvSpPr>
        <p:spPr>
          <a:xfrm>
            <a:off x="685800" y="1883664"/>
            <a:ext cx="5303520" cy="3749039"/>
          </a:xfrm>
          <a:prstGeom prst="rect">
            <a:avLst/>
          </a:prstGeom>
          <a:noFill/>
        </p:spPr>
        <p:txBody>
          <a:bodyPr wrap="square" lIns="9144" tIns="9144" rIns="9144" bIns="0">
            <a:spAutoFit/>
          </a:bodyPr>
          <a:lstStyle/>
          <a:p>
            <a:pPr>
              <a:spcAft>
                <a:spcPts val="400"/>
              </a:spcAft>
              <a:defRPr sz="1130" b="0">
                <a:solidFill>
                  <a:srgbClr val="132843"/>
                </a:solidFill>
                <a:latin typeface="Consolas"/>
              </a:defRPr>
            </a:pPr>
            <a:r>
              <a:t>"#include &lt;TMB.hpp&gt;</a:t>
            </a:r>
          </a:p>
          <a:p>
            <a:pPr>
              <a:spcAft>
                <a:spcPts val="400"/>
              </a:spcAft>
              <a:defRPr sz="1130" b="0">
                <a:solidFill>
                  <a:srgbClr val="132843"/>
                </a:solidFill>
                <a:latin typeface="Consolas"/>
              </a:defRPr>
            </a:pPr>
            <a:r>
              <a:t>DATA_VECTOR(C);</a:t>
            </a:r>
          </a:p>
          <a:p>
            <a:pPr>
              <a:spcAft>
                <a:spcPts val="400"/>
              </a:spcAft>
              <a:defRPr sz="1130" b="0">
                <a:solidFill>
                  <a:srgbClr val="132843"/>
                </a:solidFill>
                <a:latin typeface="Consolas"/>
              </a:defRPr>
            </a:pPr>
            <a:r>
              <a:t>DATA_VECTOR(N);</a:t>
            </a:r>
          </a:p>
          <a:p>
            <a:pPr>
              <a:spcAft>
                <a:spcPts val="400"/>
              </a:spcAft>
              <a:defRPr sz="1130" b="0">
                <a:solidFill>
                  <a:srgbClr val="132843"/>
                </a:solidFill>
                <a:latin typeface="Consolas"/>
              </a:defRPr>
            </a:pPr>
            <a:r>
              <a:t>DATA_IVECTOR(pop);</a:t>
            </a:r>
          </a:p>
          <a:p>
            <a:pPr>
              <a:spcAft>
                <a:spcPts val="400"/>
              </a:spcAft>
              <a:defRPr sz="1130" b="0">
                <a:solidFill>
                  <a:srgbClr val="132843"/>
                </a:solidFill>
                <a:latin typeface="Consolas"/>
              </a:defRPr>
            </a:pPr>
            <a:r>
              <a:t>DATA_VECTOR(precip);</a:t>
            </a:r>
          </a:p>
          <a:p>
            <a:pPr>
              <a:spcAft>
                <a:spcPts val="400"/>
              </a:spcAft>
              <a:defRPr sz="1130" b="0">
                <a:solidFill>
                  <a:srgbClr val="132843"/>
                </a:solidFill>
                <a:latin typeface="Consolas"/>
              </a:defRPr>
            </a:pPr>
            <a:r>
              <a:t>DATA_INTEGER(nPops);</a:t>
            </a:r>
          </a:p>
          <a:p>
            <a:pPr>
              <a:spcAft>
                <a:spcPts val="400"/>
              </a:spcAft>
              <a:defRPr sz="1130" b="0">
                <a:solidFill>
                  <a:srgbClr val="132843"/>
                </a:solidFill>
                <a:latin typeface="Consolas"/>
              </a:defRPr>
            </a:pPr>
            <a:r>
              <a:t>DATA_INTEGER(n);</a:t>
            </a:r>
          </a:p>
          <a:p>
            <a:pPr>
              <a:spcAft>
                <a:spcPts val="400"/>
              </a:spcAft>
              <a:defRPr sz="1130" b="0">
                <a:solidFill>
                  <a:srgbClr val="132843"/>
                </a:solidFill>
                <a:latin typeface="Consolas"/>
              </a:defRPr>
            </a:pPr>
            <a:r>
              <a:t>PARAMETER(mu_alpha);</a:t>
            </a:r>
          </a:p>
          <a:p>
            <a:pPr>
              <a:spcAft>
                <a:spcPts val="400"/>
              </a:spcAft>
              <a:defRPr sz="1130" b="0">
                <a:solidFill>
                  <a:srgbClr val="132843"/>
                </a:solidFill>
                <a:latin typeface="Consolas"/>
              </a:defRPr>
            </a:pPr>
            <a:r>
              <a:t>PARAMETER(mu_beta);</a:t>
            </a:r>
          </a:p>
          <a:p>
            <a:pPr>
              <a:spcAft>
                <a:spcPts val="400"/>
              </a:spcAft>
              <a:defRPr sz="1130" b="0">
                <a:solidFill>
                  <a:srgbClr val="132843"/>
                </a:solidFill>
                <a:latin typeface="Consolas"/>
              </a:defRPr>
            </a:pPr>
            <a:r>
              <a:t>PARAMETER(log_sigma_alpha);</a:t>
            </a:r>
          </a:p>
        </p:txBody>
      </p:sp>
      <p:sp>
        <p:nvSpPr>
          <p:cNvPr id="9" name="TextBox 8"/>
          <p:cNvSpPr txBox="1"/>
          <p:nvPr/>
        </p:nvSpPr>
        <p:spPr>
          <a:xfrm>
            <a:off x="6492240" y="1399032"/>
            <a:ext cx="4937760" cy="365760"/>
          </a:xfrm>
          <a:prstGeom prst="rect">
            <a:avLst/>
          </a:prstGeom>
          <a:noFill/>
        </p:spPr>
        <p:txBody>
          <a:bodyPr wrap="square" lIns="54864" tIns="54864" rIns="54864" bIns="0">
            <a:spAutoFit/>
          </a:bodyPr>
          <a:lstStyle/>
          <a:p>
            <a:pPr>
              <a:spcAft>
                <a:spcPts val="400"/>
              </a:spcAft>
              <a:defRPr sz="1500" b="1">
                <a:solidFill>
                  <a:srgbClr val="007581"/>
                </a:solidFill>
                <a:latin typeface="Yu Gothic"/>
              </a:defRPr>
            </a:pPr>
            <a:r>
              <a:t>コードの意味・確認事項</a:t>
            </a:r>
          </a:p>
        </p:txBody>
      </p:sp>
      <p:sp>
        <p:nvSpPr>
          <p:cNvPr id="10" name="TextBox 9"/>
          <p:cNvSpPr txBox="1"/>
          <p:nvPr/>
        </p:nvSpPr>
        <p:spPr>
          <a:xfrm>
            <a:off x="6492240" y="1901952"/>
            <a:ext cx="4892040" cy="3630168"/>
          </a:xfrm>
          <a:prstGeom prst="rect">
            <a:avLst/>
          </a:prstGeom>
          <a:noFill/>
        </p:spPr>
        <p:txBody>
          <a:bodyPr wrap="square" lIns="54864" tIns="54864" rIns="54864" bIns="0">
            <a:spAutoFit/>
          </a:bodyPr>
          <a:lstStyle/>
          <a:p>
            <a:pPr>
              <a:spcAft>
                <a:spcPts val="400"/>
              </a:spcAft>
              <a:defRPr sz="1600" b="0">
                <a:solidFill>
                  <a:srgbClr val="132843"/>
                </a:solidFill>
                <a:latin typeface="Yu Gothic"/>
              </a:defRPr>
            </a:pPr>
            <a:r>
              <a:t>• C++添字は0始まり、Rは1始まり：pop/regionの値に注意。</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dpois/dbinom(...,true) は対数密度を返す。</a:t>
            </a:r>
          </a:p>
          <a:p>
            <a:pPr>
              <a:spcAft>
                <a:spcPts val="400"/>
              </a:spcAft>
              <a:defRPr sz="1600" b="0">
                <a:solidFill>
                  <a:srgbClr val="132843"/>
                </a:solidFill>
                <a:latin typeface="Yu Gothic"/>
              </a:defRPr>
            </a:pPr>
            <a:endParaRPr/>
          </a:p>
          <a:p>
            <a:pPr>
              <a:spcAft>
                <a:spcPts val="400"/>
              </a:spcAft>
              <a:defRPr sz="1600" b="0">
                <a:solidFill>
                  <a:srgbClr val="132843"/>
                </a:solidFill>
                <a:latin typeface="Yu Gothic"/>
              </a:defRPr>
            </a:pPr>
            <a:r>
              <a:t>• ADREPORTとREPORTは目的が異なる。MakeADFun後にoptim()で推定する。</a:t>
            </a:r>
          </a:p>
        </p:txBody>
      </p:sp>
      <p:sp>
        <p:nvSpPr>
          <p:cNvPr id="11" name="TextBox 10"/>
          <p:cNvSpPr txBox="1"/>
          <p:nvPr/>
        </p:nvSpPr>
        <p:spPr>
          <a:xfrm>
            <a:off x="594360" y="5971032"/>
            <a:ext cx="10972800" cy="530352"/>
          </a:xfrm>
          <a:prstGeom prst="rect">
            <a:avLst/>
          </a:prstGeom>
          <a:noFill/>
        </p:spPr>
        <p:txBody>
          <a:bodyPr wrap="square" lIns="54864" tIns="54864" rIns="54864" bIns="0">
            <a:spAutoFit/>
          </a:bodyPr>
          <a:lstStyle/>
          <a:p>
            <a:pPr>
              <a:spcAft>
                <a:spcPts val="400"/>
              </a:spcAft>
              <a:defRPr sz="1100" b="0">
                <a:solidFill>
                  <a:srgbClr val="4F5E6C"/>
                </a:solidFill>
                <a:latin typeface="Yu Gothic"/>
              </a:defRPr>
            </a:pPr>
            <a:r>
              <a:t>出典：ASM_Chapter_17.R / 17.8   |   未実行・推定値未検証   |   説明文はコード解読に基づく補足</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3284</Words>
  <Application>Microsoft Office PowerPoint</Application>
  <PresentationFormat>ワイド画面</PresentationFormat>
  <Paragraphs>312</Paragraphs>
  <Slides>25</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25</vt:i4>
      </vt:variant>
    </vt:vector>
  </HeadingPairs>
  <TitlesOfParts>
    <vt:vector size="30" baseType="lpstr">
      <vt:lpstr>BIZ UDゴシック</vt:lpstr>
      <vt:lpstr>Aptos</vt:lpstr>
      <vt:lpstr>Arial</vt:lpstr>
      <vt:lpstr>Calibri</vt:lpstr>
      <vt:lpstr>Office Theme</vt:lpstr>
      <vt:lpstr>Applied Statistical Modelling for Ecologists  ASME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大下　誠二</dc:creator>
  <cp:keywords/>
  <dc:description>generated using python-pptx</dc:description>
  <cp:lastModifiedBy>大下　誠二</cp:lastModifiedBy>
  <cp:revision>1</cp:revision>
  <dcterms:created xsi:type="dcterms:W3CDTF">2013-01-27T09:14:16Z</dcterms:created>
  <dcterms:modified xsi:type="dcterms:W3CDTF">2026-10-23T01:55:42Z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2026-10-23T01:53:24Z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34b4a5e2-d8a3-483d-b367-b01a6ba799cd</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Theme:8</vt:lpwstr>
  </property>
  <property fmtid="{D5CDD505-2E9C-101B-9397-08002B2CF9AE}" pid="11" name="ClassificationContentMarkingHeaderText">
    <vt:lpwstr>【機密性2情報】</vt:lpwstr>
  </property>
</Properties>
</file>