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a:latin typeface="BIZ UDゴシック" panose="020B0400000000000000" pitchFamily="49" charset="-128"/>
                <a:ea typeface="BIZ UDゴシック" panose="020B0400000000000000" pitchFamily="49" charset="-128"/>
              </a:rPr>
              <a:t>Chapter 10</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E07558-E5A8-B9BB-9D66-984FD964E757}"/>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2E8C2E4-DE65-0B9D-DECB-61F176ED6741}"/>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ABA24144-2823-5E42-685B-480636D6D87A}"/>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811440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420">
                <a:solidFill>
                  <a:srgbClr val="222A35"/>
                </a:solidFill>
                <a:latin typeface="Yu Gothic"/>
              </a:rPr>
              <a:t>• 混合モデルでは、すべての集団に共通する固定効果に加えて、共通の確率分布から生成されたと仮定するランダム効果を扱う。母集団への一般化、不確実性の適切な表現、集団間の情報共有、パラメータ間の相関の推定が、その主要な動機である。</a:t>
            </a:r>
          </a:p>
          <a:p>
            <a:pPr>
              <a:lnSpc>
                <a:spcPct val="118000"/>
              </a:lnSpc>
              <a:spcAft>
                <a:spcPts val="900"/>
              </a:spcAft>
            </a:pPr>
            <a:r>
              <a:rPr sz="1420">
                <a:solidFill>
                  <a:srgbClr val="222A35"/>
                </a:solidFill>
                <a:latin typeface="Yu Gothic"/>
              </a:rPr>
              <a:t>• 第9章のアスプクサリの体長と体重の回帰を拡張し、56集団それぞれに回帰直線がある状況を考える。モデルは①切片だけがランダム、②切片・傾きが独立にランダム、③切片・傾きが相関をもってランダム、の3段階で比較する。</a:t>
            </a:r>
          </a:p>
          <a:p>
            <a:pPr>
              <a:lnSpc>
                <a:spcPct val="118000"/>
              </a:lnSpc>
              <a:spcAft>
                <a:spcPts val="900"/>
              </a:spcAft>
            </a:pPr>
            <a:r>
              <a:rPr sz="1420">
                <a:solidFill>
                  <a:srgbClr val="222A35"/>
                </a:solidFill>
                <a:latin typeface="Yu Gothic"/>
              </a:rPr>
              <a:t>• 独立なランダム係数モデルは yᵢ = αⱼ₍ᵢ₎ + βⱼ₍ᵢ₎xᵢ + εᵢ、αⱼ ~ Normal(μα, σα²)、βⱼ ~ Normal(μβ, σβ²)、εᵢ ~ Normal(0, σ²) と書ける。推定するのは各集団の係数だけでなく、それらの分布を決める平均とばらつきである。</a:t>
            </a:r>
          </a:p>
          <a:p>
            <a:pPr>
              <a:lnSpc>
                <a:spcPct val="118000"/>
              </a:lnSpc>
              <a:spcAft>
                <a:spcPts val="900"/>
              </a:spcAft>
            </a:pPr>
            <a:r>
              <a:rPr sz="1420">
                <a:solidFill>
                  <a:srgbClr val="222A35"/>
                </a:solidFill>
                <a:latin typeface="Yu Gothic"/>
              </a:rPr>
              <a:t>• 原著は、ランダム効果を使うかどうかをデータだけから一意に決めるものではなく、推論したい対象と集団間変動に対する仮定に基づくモデル上の選択と位置付ける。水準数が少ないと分散成分の推定は不安定になりやすい。</a:t>
            </a:r>
          </a:p>
          <a:p>
            <a:pPr>
              <a:lnSpc>
                <a:spcPct val="118000"/>
              </a:lnSpc>
              <a:spcAft>
                <a:spcPts val="900"/>
              </a:spcAft>
            </a:pPr>
            <a:r>
              <a:rPr sz="1420">
                <a:solidFill>
                  <a:srgbClr val="222A35"/>
                </a:solidFill>
                <a:latin typeface="Yu Gothic"/>
              </a:rPr>
              <a:t>• 切片と傾きの双方を変動させるモデルでは、集団固有の係数自体より、その分布の平均・標準偏差を推定する点に混合モデルの特徴がある。分散構造を変更すると、同じ観測値でも残差や不確実性の配分が変化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01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56集団から各10個体、計560個体の体長・体重データを生成する。体長は45～70 cmから生成し、平均を引いて標準偏差で割った標準化変数 lengthN を用いる。これにより数値計算を安定させ、集団別切片の解釈も明確になる。</a:t>
            </a:r>
          </a:p>
          <a:p>
            <a:pPr>
              <a:lnSpc>
                <a:spcPct val="118000"/>
              </a:lnSpc>
              <a:spcAft>
                <a:spcPts val="1200"/>
              </a:spcAft>
            </a:pPr>
            <a:r>
              <a:rPr sz="1540">
                <a:solidFill>
                  <a:srgbClr val="222A35"/>
                </a:solidFill>
                <a:latin typeface="Yu Gothic"/>
              </a:rPr>
              <a:t>• 切片は平均260、標準偏差20の正規分布、傾きは平均60、標準偏差30の正規分布から独立に生成する。個体の残差標準偏差は30とし、集団ごとの切片・傾きから線形予測子を計算した後に正規誤差を加える。</a:t>
            </a:r>
          </a:p>
          <a:p>
            <a:pPr>
              <a:lnSpc>
                <a:spcPct val="118000"/>
              </a:lnSpc>
              <a:spcAft>
                <a:spcPts val="1200"/>
              </a:spcAft>
            </a:pPr>
            <a:r>
              <a:rPr sz="1540">
                <a:solidFill>
                  <a:srgbClr val="222A35"/>
                </a:solidFill>
                <a:latin typeface="Yu Gothic"/>
              </a:rPr>
              <a:t>• 図10.2の56枚の小図には、集団によって切片も傾きも異なる様子が現れる。ただし、観測値を眺めるだけでは固定効果モデルとランダム効果モデルを区別できない。どのパラメータをランダムとみなすかは、データの属性だけで決まるものではなくモデル化の仮定である。</a:t>
            </a:r>
          </a:p>
          <a:p>
            <a:pPr>
              <a:lnSpc>
                <a:spcPct val="118000"/>
              </a:lnSpc>
              <a:spcAft>
                <a:spcPts val="1200"/>
              </a:spcAft>
            </a:pPr>
            <a:r>
              <a:rPr sz="1540">
                <a:solidFill>
                  <a:srgbClr val="222A35"/>
                </a:solidFill>
                <a:latin typeface="Yu Gothic"/>
              </a:rPr>
              <a:t>• 係数を個体ごとに固定したのではなく、56組の切片・傾きをそれぞれ集団レベルで一度ずつ抽出し、同じ集団の10個体に共通して用いている。これが集団内の観測を独立な単純回帰と区別する重要な生成構造である。</a:t>
            </a:r>
          </a:p>
          <a:p>
            <a:pPr>
              <a:lnSpc>
                <a:spcPct val="118000"/>
              </a:lnSpc>
              <a:spcAft>
                <a:spcPts val="1200"/>
              </a:spcAft>
            </a:pPr>
            <a:r>
              <a:rPr sz="1540">
                <a:solidFill>
                  <a:srgbClr val="222A35"/>
                </a:solidFill>
                <a:latin typeface="Yu Gothic"/>
              </a:rPr>
              <a:t>• 図10.2に直線のばらつきが見えても、切片と傾きが「確率分布から抽出された」という前提までは図から判別できない。正規性・独立性などは、シミュレーションの段階であらかじめ与えた階層的仮定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02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10.3  Analysis under a random-intercepts model｜ランダム切片モデル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300">
                <a:solidFill>
                  <a:srgbClr val="222A35"/>
                </a:solidFill>
                <a:latin typeface="Yu Gothic"/>
              </a:rPr>
              <a:t>• 最初のモデルでは、集団間で切片 αⱼ のみが変動し、体長に対する傾き β は全集団で共通とする。平均構造は μᵢ = αⱼ₍ᵢ₎ + μβ xᵢ、集団切片の分布は αⱼ ~ Normal(μα, σα²) とする。</a:t>
            </a:r>
          </a:p>
          <a:p>
            <a:pPr>
              <a:lnSpc>
                <a:spcPct val="118000"/>
              </a:lnSpc>
              <a:spcAft>
                <a:spcPts val="900"/>
              </a:spcAft>
            </a:pPr>
            <a:r>
              <a:rPr sz="1300">
                <a:solidFill>
                  <a:srgbClr val="222A35"/>
                </a:solidFill>
                <a:latin typeface="Yu Gothic"/>
              </a:rPr>
              <a:t>• glmmTMBによる最尤推定では、全体切片265.12、傾き61.19、切片の集団間標準偏差18.98、個体残差標準偏差42.57と推定される。実際の生成値は残差標準偏差30であったため、残差が大きすぎることが重要である。</a:t>
            </a:r>
          </a:p>
          <a:p>
            <a:pPr>
              <a:lnSpc>
                <a:spcPct val="118000"/>
              </a:lnSpc>
              <a:spcAft>
                <a:spcPts val="900"/>
              </a:spcAft>
            </a:pPr>
            <a:r>
              <a:rPr sz="1300">
                <a:solidFill>
                  <a:srgbClr val="222A35"/>
                </a:solidFill>
                <a:latin typeface="Yu Gothic"/>
              </a:rPr>
              <a:t>• その理由は、真のデータには集団間の傾きの変動があるのに、ランダム切片モデルではこれを表現できないためである。説明されなかった傾きの差が残差へ吸収される。JAGSの推定値（265.07、61.20、19.22、42.73）もほぼ同じ結論を与える。</a:t>
            </a:r>
          </a:p>
          <a:p>
            <a:pPr>
              <a:lnSpc>
                <a:spcPct val="118000"/>
              </a:lnSpc>
              <a:spcAft>
                <a:spcPts val="900"/>
              </a:spcAft>
            </a:pPr>
            <a:r>
              <a:rPr sz="1300">
                <a:solidFill>
                  <a:srgbClr val="222A35"/>
                </a:solidFill>
                <a:latin typeface="Yu Gothic"/>
              </a:rPr>
              <a:t>• 混合モデルの尤度では、観測された個体の確率だけでなく、集団ごとのランダム効果の分布を取り込み、ランダム効果について積分した周辺尤度を最大化する。TMBはこの積分を自動的に近似する。適合度診断では、ランダム効果を固定した条件付きシミュレーションと、再生成する無条件シミュレーションを区別する。</a:t>
            </a:r>
          </a:p>
          <a:p>
            <a:pPr>
              <a:lnSpc>
                <a:spcPct val="118000"/>
              </a:lnSpc>
              <a:spcAft>
                <a:spcPts val="900"/>
              </a:spcAft>
            </a:pPr>
            <a:r>
              <a:rPr sz="1300">
                <a:solidFill>
                  <a:srgbClr val="222A35"/>
                </a:solidFill>
                <a:latin typeface="Yu Gothic"/>
              </a:rPr>
              <a:t>• 10.3.1では最尤法と制限付き最尤法（REML）の推定値を比較し、10.3.2ではJAGSを用いて集団固有の切片とその分布の母数を同時に推定する。10.3.3～10.3.6ではNIMBLE、Stan、数値積分によるDIY最尤法、TMBを順に試す。</a:t>
            </a:r>
          </a:p>
          <a:p>
            <a:pPr>
              <a:lnSpc>
                <a:spcPct val="118000"/>
              </a:lnSpc>
              <a:spcAft>
                <a:spcPts val="900"/>
              </a:spcAft>
            </a:pPr>
            <a:r>
              <a:rPr sz="1300">
                <a:solidFill>
                  <a:srgbClr val="222A35"/>
                </a:solidFill>
                <a:latin typeface="Yu Gothic"/>
              </a:rPr>
              <a:t>• 事後予測・シミュレーション残差には、推定済みのランダム効果を固定した条件付き生成と、ランダム効果自体を再抽出する無条件生成がある。前者は観測モデル、後者は集団間変動も含むモデル全体の適合を調べる。</a:t>
            </a:r>
          </a:p>
          <a:p>
            <a:pPr>
              <a:lnSpc>
                <a:spcPct val="118000"/>
              </a:lnSpc>
              <a:spcAft>
                <a:spcPts val="900"/>
              </a:spcAft>
            </a:pPr>
            <a:r>
              <a:rPr sz="1300">
                <a:solidFill>
                  <a:srgbClr val="222A35"/>
                </a:solidFill>
                <a:latin typeface="Yu Gothic"/>
              </a:rPr>
              <a:t>• 原著の比較表10.3.7では切片平均約265、傾き平均約61、切片SD約19、残差SD約43という解が手法をまたいで一致する。ただし「一致している」ことは、欠落したランダム傾き構造が正しいことを意味しない。</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03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10.4  Random-coefficients model without correlation｜相関なしランダム係数モデル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420">
                <a:solidFill>
                  <a:srgbClr val="222A35"/>
                </a:solidFill>
                <a:latin typeface="Yu Gothic"/>
              </a:rPr>
              <a:t>• 切片 αⱼ と傾き βⱼ の両方に集団間の確率的変動を認め、両者の相関は0と仮定する。モデルは μᵢ = αⱼ₍ᵢ₎ + βⱼ₍ᵢ₎xᵢであり、切片と傾きは別々の正規分布で表す。</a:t>
            </a:r>
          </a:p>
          <a:p>
            <a:pPr>
              <a:lnSpc>
                <a:spcPct val="118000"/>
              </a:lnSpc>
              <a:spcAft>
                <a:spcPts val="900"/>
              </a:spcAft>
            </a:pPr>
            <a:r>
              <a:rPr sz="1420">
                <a:solidFill>
                  <a:srgbClr val="222A35"/>
                </a:solidFill>
                <a:latin typeface="Yu Gothic"/>
              </a:rPr>
              <a:t>• glmmTMBでは（1 + lengthN || pop）が相関なしのランダム係数指定に対応する。最尤推定値は全体切片265.64、全体傾き62.87、切片の集団間SD18.35、傾きの集団間SD30.51、残差SD30.09である。残差は生成値30へ戻った。</a:t>
            </a:r>
          </a:p>
          <a:p>
            <a:pPr>
              <a:lnSpc>
                <a:spcPct val="118000"/>
              </a:lnSpc>
              <a:spcAft>
                <a:spcPts val="900"/>
              </a:spcAft>
            </a:pPr>
            <a:r>
              <a:rPr sz="1420">
                <a:solidFill>
                  <a:srgbClr val="222A35"/>
                </a:solidFill>
                <a:latin typeface="Yu Gothic"/>
              </a:rPr>
              <a:t>• JAGSでもそれぞれ265.60、62.88、18.69、31.25、30.18と近い。各推定エンジンの推定値が一致するだけでなく、データ生成に用いた分散構造を取り込むと、残差の過大評価が解消されることがこの節の主要な結果である。</a:t>
            </a:r>
          </a:p>
          <a:p>
            <a:pPr>
              <a:lnSpc>
                <a:spcPct val="118000"/>
              </a:lnSpc>
              <a:spcAft>
                <a:spcPts val="900"/>
              </a:spcAft>
            </a:pPr>
            <a:r>
              <a:rPr sz="1420">
                <a:solidFill>
                  <a:srgbClr val="222A35"/>
                </a:solidFill>
                <a:latin typeface="Yu Gothic"/>
              </a:rPr>
              <a:t>• DIY最尤法では切片と傾きの2変数を集団ごとに積分するため、数値積分の負担が大きくなる。一方、TMBでは両方をランダム効果として宣言し、積分の近似を利用する。</a:t>
            </a:r>
          </a:p>
          <a:p>
            <a:pPr>
              <a:lnSpc>
                <a:spcPct val="118000"/>
              </a:lnSpc>
              <a:spcAft>
                <a:spcPts val="900"/>
              </a:spcAft>
            </a:pPr>
            <a:r>
              <a:rPr sz="1420">
                <a:solidFill>
                  <a:srgbClr val="222A35"/>
                </a:solidFill>
                <a:latin typeface="Yu Gothic"/>
              </a:rPr>
              <a:t>• 10.4ではデータを生成したモデルと同じ構造へ戻る。集団別の切片と傾きを、それぞれ独立した正規分布に従わせ、5つの母数（平均切片・平均傾き・切片SD・傾きSD・残差SD）を推定する。</a:t>
            </a:r>
          </a:p>
          <a:p>
            <a:pPr>
              <a:lnSpc>
                <a:spcPct val="118000"/>
              </a:lnSpc>
              <a:spcAft>
                <a:spcPts val="900"/>
              </a:spcAft>
            </a:pPr>
            <a:r>
              <a:rPr sz="1420">
                <a:solidFill>
                  <a:srgbClr val="222A35"/>
                </a:solidFill>
                <a:latin typeface="Yu Gothic"/>
              </a:rPr>
              <a:t>• この変更によって、切片のみのモデルで約42.6に膨らんだ残差SDが約30.1に低下し、生成値30と一致する。集団ごとの反応の違いを残差へ押し込めず、ランダム傾きの分散として明示できたためである。</a:t>
            </a:r>
          </a:p>
          <a:p>
            <a:pPr>
              <a:lnSpc>
                <a:spcPct val="118000"/>
              </a:lnSpc>
              <a:spcAft>
                <a:spcPts val="900"/>
              </a:spcAft>
            </a:pPr>
            <a:r>
              <a:rPr sz="1420">
                <a:solidFill>
                  <a:srgbClr val="222A35"/>
                </a:solidFill>
                <a:latin typeface="Yu Gothic"/>
              </a:rPr>
              <a:t>• DIY最尤法では切片と傾きの二重積分が必要となり計算負担が増す。一方、TMBでは両者をランダム効果として宣言し積分近似を計算系に任せる。10.4.7の各エンジン比較では平均と分散の推定値がおおむね整合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10.5  Random-coefficients model with correlation｜相関ありランダム係数モデル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300">
                <a:solidFill>
                  <a:srgbClr val="222A35"/>
                </a:solidFill>
                <a:latin typeface="Yu Gothic"/>
              </a:rPr>
              <a:t>• 切片と傾きに関連がある場合、（αⱼ, βⱼ）を2変量正規分布 MVN(μ, Σ) から生成すると仮定する。Σの対角成分は切片・傾きの分散、非対角成分は共分散であり、回帰直線の形の集団間共変動を表す。</a:t>
            </a:r>
          </a:p>
          <a:p>
            <a:pPr>
              <a:lnSpc>
                <a:spcPct val="118000"/>
              </a:lnSpc>
              <a:spcAft>
                <a:spcPts val="900"/>
              </a:spcAft>
            </a:pPr>
            <a:r>
              <a:rPr sz="1300">
                <a:solidFill>
                  <a:srgbClr val="222A35"/>
                </a:solidFill>
                <a:latin typeface="Yu Gothic"/>
              </a:rPr>
              <a:t>• 新たなシミュレーションでは、切片平均260、傾き平均60、切片SD20、傾きSD30、共分散−50、残差SD30と設定する。集団間の切片と傾きの実現値は母分布からの有限標本なので、標本共分散は−91.92となり、設定値と必ずしも一致しない。</a:t>
            </a:r>
          </a:p>
          <a:p>
            <a:pPr>
              <a:lnSpc>
                <a:spcPct val="118000"/>
              </a:lnSpc>
              <a:spcAft>
                <a:spcPts val="900"/>
              </a:spcAft>
            </a:pPr>
            <a:r>
              <a:rPr sz="1300">
                <a:solidFill>
                  <a:srgbClr val="222A35"/>
                </a:solidFill>
                <a:latin typeface="Yu Gothic"/>
              </a:rPr>
              <a:t>• glmmTMBでは（lengthN | pop）と指定して相関を推定する。最尤推定は全体切片257.85、全体傾き66.18、集団間SD22.05・26.25、相関−0.16、残差SD30.01である。共分散の最尤推定値は約−94.04となる。</a:t>
            </a:r>
          </a:p>
          <a:p>
            <a:pPr>
              <a:lnSpc>
                <a:spcPct val="118000"/>
              </a:lnSpc>
              <a:spcAft>
                <a:spcPts val="900"/>
              </a:spcAft>
            </a:pPr>
            <a:r>
              <a:rPr sz="1300">
                <a:solidFill>
                  <a:srgbClr val="222A35"/>
                </a:solidFill>
                <a:latin typeface="Yu Gothic"/>
              </a:rPr>
              <a:t>• JAGSの共分散の事後平均は−93.78だが、95%信用区間は約−287.74～83.50と広く、0を含む。点推定が生成値−50と異なることだけで手法の偏りを判断できない。共分散の推定には大きな不確実性がある。</a:t>
            </a:r>
          </a:p>
          <a:p>
            <a:pPr>
              <a:lnSpc>
                <a:spcPct val="118000"/>
              </a:lnSpc>
              <a:spcAft>
                <a:spcPts val="900"/>
              </a:spcAft>
            </a:pPr>
            <a:r>
              <a:rPr sz="1300">
                <a:solidFill>
                  <a:srgbClr val="222A35"/>
                </a:solidFill>
                <a:latin typeface="Yu Gothic"/>
              </a:rPr>
              <a:t>• 共分散行列に対してJAGSではWishart分布、Stanでは逆Wishart分布を用いている。DIY法は2次元積分と正定値な共分散行列の制約が必要で、原著ではlog-Choleskyによるパラメータ化を採用する。</a:t>
            </a:r>
          </a:p>
          <a:p>
            <a:pPr>
              <a:lnSpc>
                <a:spcPct val="118000"/>
              </a:lnSpc>
              <a:spcAft>
                <a:spcPts val="900"/>
              </a:spcAft>
            </a:pPr>
            <a:r>
              <a:rPr sz="1300">
                <a:solidFill>
                  <a:srgbClr val="222A35"/>
                </a:solidFill>
                <a:latin typeface="Yu Gothic"/>
              </a:rPr>
              <a:t>• 10.5では（切片，傾き）の2変量正規分布を導入し、分散共分散行列Σの非対角要素から切片と傾きの共変動を記述する。これは、2組のランダム効果を独立とした10.4からの本質的な変更である。</a:t>
            </a:r>
          </a:p>
          <a:p>
            <a:pPr>
              <a:lnSpc>
                <a:spcPct val="118000"/>
              </a:lnSpc>
              <a:spcAft>
                <a:spcPts val="900"/>
              </a:spcAft>
            </a:pPr>
            <a:r>
              <a:rPr sz="1300">
                <a:solidFill>
                  <a:srgbClr val="222A35"/>
                </a:solidFill>
                <a:latin typeface="Yu Gothic"/>
              </a:rPr>
              <a:t>• glmmTMBの推定相関は約−0.16、共分散は約−94であり、入力値−50と異なる。しかし、生成された56集団の切片・傾きの実現共分散は約−92であるため、観測標本の変動を反映した結果として理解できる。</a:t>
            </a:r>
          </a:p>
          <a:p>
            <a:pPr>
              <a:lnSpc>
                <a:spcPct val="118000"/>
              </a:lnSpc>
              <a:spcAft>
                <a:spcPts val="900"/>
              </a:spcAft>
            </a:pPr>
            <a:r>
              <a:rPr sz="1300">
                <a:solidFill>
                  <a:srgbClr val="222A35"/>
                </a:solidFill>
                <a:latin typeface="Yu Gothic"/>
              </a:rPr>
              <a:t>• JAGSの共分散事後平均は約−94、95%信用区間は約−288～84と広く、符号まで確実とはいえない。原著はWishart系の事前分布、数値積分・Cholesky母数化の負担、TMBでのゼロ中心化を説明し、共分散推定の難しさ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05 / 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10.6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この章ではランダム切片、独立なランダム切片・傾き、相関をもつランダム切片・傾きという3種類の混合モデルを、一連のデータ生成と推定によって対比した。</a:t>
            </a:r>
          </a:p>
          <a:p>
            <a:pPr>
              <a:lnSpc>
                <a:spcPct val="118000"/>
              </a:lnSpc>
              <a:spcAft>
                <a:spcPts val="1200"/>
              </a:spcAft>
            </a:pPr>
            <a:r>
              <a:rPr sz="1540">
                <a:solidFill>
                  <a:srgbClr val="222A35"/>
                </a:solidFill>
                <a:latin typeface="Yu Gothic"/>
              </a:rPr>
              <a:t>• ランダム効果の分散構造が不適切な場合、説明されなかった変動が個体残差に現れる。したがって、固定効果の回帰係数だけでなく、ランダム効果と残差の標準偏差・共分散にも注目する必要がある。</a:t>
            </a:r>
          </a:p>
          <a:p>
            <a:pPr>
              <a:lnSpc>
                <a:spcPct val="118000"/>
              </a:lnSpc>
              <a:spcAft>
                <a:spcPts val="1200"/>
              </a:spcAft>
            </a:pPr>
            <a:r>
              <a:rPr sz="1540">
                <a:solidFill>
                  <a:srgbClr val="222A35"/>
                </a:solidFill>
                <a:latin typeface="Yu Gothic"/>
              </a:rPr>
              <a:t>• 原著ではglmmTMB、JAGS、NIMBLE、Stan、DIY最尤法、TMBを用いて概ね一致する推定結果を得るとともに、ランダム効果の積分と相関推定によって計算が難しくなることを示した。</a:t>
            </a:r>
          </a:p>
          <a:p>
            <a:pPr>
              <a:lnSpc>
                <a:spcPct val="118000"/>
              </a:lnSpc>
              <a:spcAft>
                <a:spcPts val="1200"/>
              </a:spcAft>
            </a:pPr>
            <a:r>
              <a:rPr sz="1540">
                <a:solidFill>
                  <a:srgbClr val="222A35"/>
                </a:solidFill>
                <a:latin typeface="Yu Gothic"/>
              </a:rPr>
              <a:t>• 3モデルの比較によって、固定効果が似た推定値を示しても、見落としたランダム変動が残差へ移ることが確認された。したがって平均関係と分散構造は切り離さずに考える必要がある。</a:t>
            </a:r>
          </a:p>
          <a:p>
            <a:pPr>
              <a:lnSpc>
                <a:spcPct val="118000"/>
              </a:lnSpc>
              <a:spcAft>
                <a:spcPts val="1200"/>
              </a:spcAft>
            </a:pPr>
            <a:r>
              <a:rPr sz="1540">
                <a:solidFill>
                  <a:srgbClr val="222A35"/>
                </a:solidFill>
                <a:latin typeface="Yu Gothic"/>
              </a:rPr>
              <a:t>• 混合モデルの実装に共通する要点は、観測値の分布、集団固有係数の分布、およびそれらを結ぶ回帰式を明示することである。推定ソフトウェアごとに積分・事前分布・最適化の扱いは異なるが、比較する確率モデルは共通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10  |  06 / 06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ランダム切片｜まず統計モデルを読む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モデル導入 10.3.2</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massᵢ ~ Normal(α[popᵢ]+μβ lengthNᵢ, σ²)</a:t>
            </a:r>
          </a:p>
          <a:p>
            <a:pPr>
              <a:spcAft>
                <a:spcPts val="500"/>
              </a:spcAft>
              <a:defRPr sz="2200" b="1">
                <a:solidFill>
                  <a:srgbClr val="192B45"/>
                </a:solidFill>
                <a:latin typeface="Yu Gothic"/>
              </a:defRPr>
            </a:pPr>
            <a:r>
              <a:t>α[j] ~ Normal(μα, σα²)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56集団×10個体。集団間で切片のみ変わり、傾きは共通。</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予測データ conditional / unconditional の違いも扱う。</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10.3.2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dnorm(mu.alpha, tau.alpha) # Random intercepts</a:t>
            </a:r>
          </a:p>
          <a:p>
            <a:pPr>
              <a:spcAft>
                <a:spcPts val="500"/>
              </a:spcAft>
              <a:defRPr sz="1200" b="0">
                <a:solidFill>
                  <a:srgbClr val="242E3C"/>
                </a:solidFill>
                <a:latin typeface="Consolas"/>
              </a:defRPr>
            </a:pPr>
            <a:r>
              <a:t>mu.alpha ~ dnorm(0, 0.000001) # Mean for random intercepts</a:t>
            </a:r>
          </a:p>
          <a:p>
            <a:pPr>
              <a:spcAft>
                <a:spcPts val="500"/>
              </a:spcAft>
              <a:defRPr sz="1200" b="0">
                <a:solidFill>
                  <a:srgbClr val="242E3C"/>
                </a:solidFill>
                <a:latin typeface="Consolas"/>
              </a:defRPr>
            </a:pPr>
            <a:r>
              <a:t>sigma.alpha ~ dt(0, 1, 0.0001)I(0,) # SD for random intercepts</a:t>
            </a:r>
          </a:p>
          <a:p>
            <a:pPr>
              <a:spcAft>
                <a:spcPts val="500"/>
              </a:spcAft>
              <a:defRPr sz="1200" b="0">
                <a:solidFill>
                  <a:srgbClr val="242E3C"/>
                </a:solidFill>
                <a:latin typeface="Consolas"/>
              </a:defRPr>
            </a:pPr>
            <a:r>
              <a:t>mu.beta ~ dnorm(0, 0.000001) # Common slope</a:t>
            </a:r>
          </a:p>
          <a:p>
            <a:pPr>
              <a:spcAft>
                <a:spcPts val="500"/>
              </a:spcAft>
              <a:defRPr sz="1200" b="0">
                <a:solidFill>
                  <a:srgbClr val="242E3C"/>
                </a:solidFill>
                <a:latin typeface="Consolas"/>
              </a:defRPr>
            </a:pPr>
            <a:r>
              <a:t>sigma.residual ~ dt(0, 1, 0.0001)I(0,) # Residual standard deviation</a:t>
            </a:r>
          </a:p>
          <a:p>
            <a:pPr>
              <a:spcAft>
                <a:spcPts val="500"/>
              </a:spcAft>
              <a:defRPr sz="1200" b="0">
                <a:solidFill>
                  <a:srgbClr val="242E3C"/>
                </a:solidFill>
                <a:latin typeface="Consolas"/>
              </a:defRPr>
            </a:pPr>
            <a:r>
              <a:t>mass[i] ~ dnorm(mu[i], tau.residual) # The observed random variables</a:t>
            </a:r>
          </a:p>
          <a:p>
            <a:pPr>
              <a:spcAft>
                <a:spcPts val="500"/>
              </a:spcAft>
              <a:defRPr sz="1200" b="0">
                <a:solidFill>
                  <a:srgbClr val="242E3C"/>
                </a:solidFill>
                <a:latin typeface="Consolas"/>
              </a:defRPr>
            </a:pPr>
            <a:r>
              <a:t>mu[i] &lt;- alpha[pop[i]] + mu.beta * lengthN[i] # Expectation</a:t>
            </a:r>
          </a:p>
          <a:p>
            <a:pPr>
              <a:spcAft>
                <a:spcPts val="500"/>
              </a:spcAft>
              <a:defRPr sz="1200" b="0">
                <a:solidFill>
                  <a:srgbClr val="242E3C"/>
                </a:solidFill>
                <a:latin typeface="Consolas"/>
              </a:defRPr>
            </a:pPr>
            <a:r>
              <a:t>alpha.new[i] ~ dnorm(mu.alpha, tau.alpha)</a:t>
            </a:r>
          </a:p>
          <a:p>
            <a:pPr>
              <a:spcAft>
                <a:spcPts val="500"/>
              </a:spcAft>
              <a:defRPr sz="1200" b="0">
                <a:solidFill>
                  <a:srgbClr val="242E3C"/>
                </a:solidFill>
                <a:latin typeface="Consolas"/>
              </a:defRPr>
            </a:pPr>
            <a:r>
              <a:t>mass.new.cond[i] ~ dnorm(mu[i], tau.residual) # Conditional</a:t>
            </a:r>
          </a:p>
          <a:p>
            <a:pPr>
              <a:spcAft>
                <a:spcPts val="500"/>
              </a:spcAft>
              <a:defRPr sz="1200" b="0">
                <a:solidFill>
                  <a:srgbClr val="242E3C"/>
                </a:solidFill>
                <a:latin typeface="Consolas"/>
              </a:defRPr>
            </a:pPr>
            <a:r>
              <a:t>mass.new.un[i] ~ dnorm(mu.new[i], tau.residual) # Unconditional</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10.3.2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10.3.3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dnorm(mu.alpha, tau.alpha)   # Random intercepts</a:t>
            </a:r>
          </a:p>
          <a:p>
            <a:pPr>
              <a:spcAft>
                <a:spcPts val="500"/>
              </a:spcAft>
              <a:defRPr sz="1200" b="0">
                <a:solidFill>
                  <a:srgbClr val="242E3C"/>
                </a:solidFill>
                <a:latin typeface="Consolas"/>
              </a:defRPr>
            </a:pPr>
            <a:r>
              <a:t>mu.alpha ~ dnorm(0, 0.000001)  # Mean for random intercepts</a:t>
            </a:r>
          </a:p>
          <a:p>
            <a:pPr>
              <a:spcAft>
                <a:spcPts val="500"/>
              </a:spcAft>
              <a:defRPr sz="1200" b="0">
                <a:solidFill>
                  <a:srgbClr val="242E3C"/>
                </a:solidFill>
                <a:latin typeface="Consolas"/>
              </a:defRPr>
            </a:pPr>
            <a:r>
              <a:t>mu.beta ~ dnorm(0, 0.000001)   # Common slope</a:t>
            </a:r>
          </a:p>
          <a:p>
            <a:pPr>
              <a:spcAft>
                <a:spcPts val="500"/>
              </a:spcAft>
              <a:defRPr sz="1200" b="0">
                <a:solidFill>
                  <a:srgbClr val="242E3C"/>
                </a:solidFill>
                <a:latin typeface="Consolas"/>
              </a:defRPr>
            </a:pPr>
            <a:r>
              <a:t>mass[i] ~ dnorm(mu[i], tau.residual) # The observed random variables</a:t>
            </a:r>
          </a:p>
          <a:p>
            <a:pPr>
              <a:spcAft>
                <a:spcPts val="500"/>
              </a:spcAft>
              <a:defRPr sz="1200" b="0">
                <a:solidFill>
                  <a:srgbClr val="242E3C"/>
                </a:solidFill>
                <a:latin typeface="Consolas"/>
              </a:defRPr>
            </a:pPr>
            <a:r>
              <a:t>mu[i] &lt;- alpha[pop[i]] + mu.beta * lengthN[i]  # Expectation</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10.3.3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10.3.4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mu_alpha ~ normal(0, 1000);</a:t>
            </a:r>
          </a:p>
          <a:p>
            <a:pPr>
              <a:spcAft>
                <a:spcPts val="500"/>
              </a:spcAft>
              <a:defRPr sz="1200" b="0">
                <a:solidFill>
                  <a:srgbClr val="242E3C"/>
                </a:solidFill>
                <a:latin typeface="Consolas"/>
              </a:defRPr>
            </a:pPr>
            <a:r>
              <a:t>mu_beta ~ normal(0, 1000);</a:t>
            </a:r>
          </a:p>
          <a:p>
            <a:pPr>
              <a:spcAft>
                <a:spcPts val="500"/>
              </a:spcAft>
              <a:defRPr sz="1200" b="0">
                <a:solidFill>
                  <a:srgbClr val="242E3C"/>
                </a:solidFill>
                <a:latin typeface="Consolas"/>
              </a:defRPr>
            </a:pPr>
            <a:r>
              <a:t>sigma_alpha ~ cauchy(0, 100);</a:t>
            </a:r>
          </a:p>
          <a:p>
            <a:pPr>
              <a:spcAft>
                <a:spcPts val="500"/>
              </a:spcAft>
              <a:defRPr sz="1200" b="0">
                <a:solidFill>
                  <a:srgbClr val="242E3C"/>
                </a:solidFill>
                <a:latin typeface="Consolas"/>
              </a:defRPr>
            </a:pPr>
            <a:r>
              <a:t>sigma_residual ~ cauchy(0, 100);</a:t>
            </a:r>
          </a:p>
          <a:p>
            <a:pPr>
              <a:spcAft>
                <a:spcPts val="500"/>
              </a:spcAft>
              <a:defRPr sz="1200" b="0">
                <a:solidFill>
                  <a:srgbClr val="242E3C"/>
                </a:solidFill>
                <a:latin typeface="Consolas"/>
              </a:defRPr>
            </a:pPr>
            <a:r>
              <a:t>alpha[i] ~ normal(mu_alpha, sigma_alpha);</a:t>
            </a:r>
          </a:p>
          <a:p>
            <a:pPr>
              <a:spcAft>
                <a:spcPts val="500"/>
              </a:spcAft>
              <a:defRPr sz="1200" b="0">
                <a:solidFill>
                  <a:srgbClr val="242E3C"/>
                </a:solidFill>
                <a:latin typeface="Consolas"/>
              </a:defRPr>
            </a:pPr>
            <a:r>
              <a:t>mu[i] = alpha[pop[i]] + mu_beta * lengthN[i];</a:t>
            </a:r>
          </a:p>
          <a:p>
            <a:pPr>
              <a:spcAft>
                <a:spcPts val="500"/>
              </a:spcAft>
              <a:defRPr sz="1200" b="0">
                <a:solidFill>
                  <a:srgbClr val="242E3C"/>
                </a:solidFill>
                <a:latin typeface="Consolas"/>
              </a:defRPr>
            </a:pPr>
            <a:r>
              <a:t>mass[i] ~ normal(mu[i], sigma_residual);</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10.3.4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10.3.5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mu &lt;- alpha.j + mu.beta * lengthN.j</a:t>
            </a:r>
          </a:p>
          <a:p>
            <a:pPr>
              <a:spcAft>
                <a:spcPts val="500"/>
              </a:spcAft>
              <a:defRPr sz="1200" b="0">
                <a:solidFill>
                  <a:srgbClr val="242E3C"/>
                </a:solidFill>
                <a:latin typeface="Consolas"/>
              </a:defRPr>
            </a:pPr>
            <a:r>
              <a:t>prod(dnorm(mass.j, mu, sigma.residual)) *</a:t>
            </a:r>
          </a:p>
          <a:p>
            <a:pPr>
              <a:spcAft>
                <a:spcPts val="500"/>
              </a:spcAft>
              <a:defRPr sz="1200" b="0">
                <a:solidFill>
                  <a:srgbClr val="242E3C"/>
                </a:solidFill>
                <a:latin typeface="Consolas"/>
              </a:defRPr>
            </a:pPr>
            <a:r>
              <a:t>dnorm(alpha.j, mu.alpha, sigma.alpha)</a:t>
            </a:r>
          </a:p>
          <a:p>
            <a:pPr>
              <a:spcAft>
                <a:spcPts val="500"/>
              </a:spcAft>
              <a:defRPr sz="1200" b="0">
                <a:solidFill>
                  <a:srgbClr val="242E3C"/>
                </a:solidFill>
                <a:latin typeface="Consolas"/>
              </a:defRPr>
            </a:pPr>
            <a:r>
              <a:t>out[i] &lt;- prod(dnorm(mass.j, mu, sigma.residual)) *</a:t>
            </a:r>
          </a:p>
          <a:p>
            <a:pPr>
              <a:spcAft>
                <a:spcPts val="500"/>
              </a:spcAft>
              <a:defRPr sz="1200" b="0">
                <a:solidFill>
                  <a:srgbClr val="242E3C"/>
                </a:solidFill>
                <a:latin typeface="Consolas"/>
              </a:defRPr>
            </a:pPr>
            <a:r>
              <a:t>dnorm(alpha.j[i], mu.alpha, sigma.alpha)</a:t>
            </a:r>
          </a:p>
          <a:p>
            <a:pPr>
              <a:spcAft>
                <a:spcPts val="500"/>
              </a:spcAft>
              <a:defRPr sz="1200" b="0">
                <a:solidFill>
                  <a:srgbClr val="242E3C"/>
                </a:solidFill>
                <a:latin typeface="Consolas"/>
              </a:defRPr>
            </a:pPr>
            <a:r>
              <a:t>integrate(f, lower = 100, upper = 400, mu.alpha = mu.alpha,</a:t>
            </a:r>
          </a:p>
          <a:p>
            <a:pPr>
              <a:spcAft>
                <a:spcPts val="500"/>
              </a:spcAft>
              <a:defRPr sz="1200" b="0">
                <a:solidFill>
                  <a:srgbClr val="242E3C"/>
                </a:solidFill>
                <a:latin typeface="Consolas"/>
              </a:defRPr>
            </a:pPr>
            <a:r>
              <a:t>NLL &lt;- function(pars, data){</a:t>
            </a:r>
          </a:p>
          <a:p>
            <a:pPr>
              <a:spcAft>
                <a:spcPts val="500"/>
              </a:spcAft>
              <a:defRPr sz="1200" b="0">
                <a:solidFill>
                  <a:srgbClr val="242E3C"/>
                </a:solidFill>
                <a:latin typeface="Consolas"/>
              </a:defRPr>
            </a:pPr>
            <a:r>
              <a:t>LL &lt;- 0 # initialize nll at 0</a:t>
            </a:r>
          </a:p>
          <a:p>
            <a:pPr>
              <a:spcAft>
                <a:spcPts val="500"/>
              </a:spcAft>
              <a:defRPr sz="1200" b="0">
                <a:solidFill>
                  <a:srgbClr val="242E3C"/>
                </a:solidFill>
                <a:latin typeface="Consolas"/>
              </a:defRPr>
            </a:pPr>
            <a:r>
              <a:t>LL &lt;- LL + log(L)</a:t>
            </a:r>
          </a:p>
          <a:p>
            <a:pPr>
              <a:spcAft>
                <a:spcPts val="500"/>
              </a:spcAft>
              <a:defRPr sz="1200" b="0">
                <a:solidFill>
                  <a:srgbClr val="242E3C"/>
                </a:solidFill>
                <a:latin typeface="Consolas"/>
              </a:defRPr>
            </a:pPr>
            <a:r>
              <a:t>return(-LL)</a:t>
            </a:r>
          </a:p>
          <a:p>
            <a:pPr>
              <a:spcAft>
                <a:spcPts val="500"/>
              </a:spcAft>
              <a:defRPr sz="1200" b="0">
                <a:solidFill>
                  <a:srgbClr val="242E3C"/>
                </a:solidFill>
                <a:latin typeface="Consolas"/>
              </a:defRPr>
            </a:pPr>
            <a:r>
              <a:t>out10.3.5 &lt;- optim(inits, NLL, hessian = TRUE, 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10.3.5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10.3.6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DATA_VECTOR(mass); //response</a:t>
            </a:r>
          </a:p>
          <a:p>
            <a:pPr>
              <a:spcAft>
                <a:spcPts val="500"/>
              </a:spcAft>
              <a:defRPr sz="1200" b="0">
                <a:solidFill>
                  <a:srgbClr val="242E3C"/>
                </a:solidFill>
                <a:latin typeface="Consolas"/>
              </a:defRPr>
            </a:pPr>
            <a:r>
              <a:t>DATA_IVECTOR(pop); //population index</a:t>
            </a:r>
          </a:p>
          <a:p>
            <a:pPr>
              <a:spcAft>
                <a:spcPts val="500"/>
              </a:spcAft>
              <a:defRPr sz="1200" b="0">
                <a:solidFill>
                  <a:srgbClr val="242E3C"/>
                </a:solidFill>
                <a:latin typeface="Consolas"/>
              </a:defRPr>
            </a:pPr>
            <a:r>
              <a:t>DATA_INTEGER(nPops); //Number of populations</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PARAMETER(mu_beta);</a:t>
            </a:r>
          </a:p>
          <a:p>
            <a:pPr>
              <a:spcAft>
                <a:spcPts val="500"/>
              </a:spcAft>
              <a:defRPr sz="1200" b="0">
                <a:solidFill>
                  <a:srgbClr val="242E3C"/>
                </a:solidFill>
                <a:latin typeface="Consolas"/>
              </a:defRPr>
            </a:pPr>
            <a:r>
              <a:t>PARAMETER(log_sigma_residual);</a:t>
            </a:r>
          </a:p>
          <a:p>
            <a:pPr>
              <a:spcAft>
                <a:spcPts val="500"/>
              </a:spcAft>
              <a:defRPr sz="1200" b="0">
                <a:solidFill>
                  <a:srgbClr val="242E3C"/>
                </a:solidFill>
                <a:latin typeface="Consolas"/>
              </a:defRPr>
            </a:pPr>
            <a:r>
              <a:t>PARAMETER_VECTOR(alpha);</a:t>
            </a:r>
          </a:p>
          <a:p>
            <a:pPr>
              <a:spcAft>
                <a:spcPts val="500"/>
              </a:spcAft>
              <a:defRPr sz="1200" b="0">
                <a:solidFill>
                  <a:srgbClr val="242E3C"/>
                </a:solidFill>
                <a:latin typeface="Consolas"/>
              </a:defRPr>
            </a:pPr>
            <a:r>
              <a:t>LL += dnorm(alpha(i), mu_alpha, sigma_alpha, true);</a:t>
            </a:r>
          </a:p>
          <a:p>
            <a:pPr>
              <a:spcAft>
                <a:spcPts val="500"/>
              </a:spcAft>
              <a:defRPr sz="1200" b="0">
                <a:solidFill>
                  <a:srgbClr val="242E3C"/>
                </a:solidFill>
                <a:latin typeface="Consolas"/>
              </a:defRPr>
            </a:pPr>
            <a:r>
              <a:t>LL += dnorm(mass(i), mu, sigma_residual, true);</a:t>
            </a:r>
          </a:p>
          <a:p>
            <a:pPr>
              <a:spcAft>
                <a:spcPts val="500"/>
              </a:spcAft>
              <a:defRPr sz="1200" b="0">
                <a:solidFill>
                  <a:srgbClr val="242E3C"/>
                </a:solidFill>
                <a:latin typeface="Consolas"/>
              </a:defRPr>
            </a:pPr>
            <a:r>
              <a:t>out10.3.6 &lt;- MakeADFun(data = tmbData, parameters = params,</a:t>
            </a:r>
          </a:p>
          <a:p>
            <a:pPr>
              <a:spcAft>
                <a:spcPts val="500"/>
              </a:spcAft>
              <a:defRPr sz="1200" b="0">
                <a:solidFill>
                  <a:srgbClr val="242E3C"/>
                </a:solidFill>
                <a:latin typeface="Consolas"/>
              </a:defRPr>
            </a:pPr>
            <a:r>
              <a:t>random = "alpha", #Identify which params(s) are random</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10.3.6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ランダム切片＋傾き（無相関）｜まず統計モデルを読む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モデル導入 10.4.2</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massᵢ ~ Normal(α[popᵢ]+β[popᵢ] lengthNᵢ, σ²)</a:t>
            </a:r>
          </a:p>
          <a:p>
            <a:pPr>
              <a:spcAft>
                <a:spcPts val="500"/>
              </a:spcAft>
              <a:defRPr sz="2200" b="1">
                <a:solidFill>
                  <a:srgbClr val="192B45"/>
                </a:solidFill>
                <a:latin typeface="Yu Gothic"/>
              </a:defRPr>
            </a:pPr>
            <a:r>
              <a:t>α[j] ~ Normal(μα,σα²), β[j] ~ Normal(μβ,σβ²)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集団ごとに切片と傾きが変わるが、両者の相関は置かない。</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glmmTMB の || に対応。</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10.4.2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dnorm(mu.alpha, tau.alpha) # Random intercepts</a:t>
            </a:r>
          </a:p>
          <a:p>
            <a:pPr>
              <a:spcAft>
                <a:spcPts val="500"/>
              </a:spcAft>
              <a:defRPr sz="1200" b="0">
                <a:solidFill>
                  <a:srgbClr val="242E3C"/>
                </a:solidFill>
                <a:latin typeface="Consolas"/>
              </a:defRPr>
            </a:pPr>
            <a:r>
              <a:t>beta[i] ~ dnorm(mu.beta, tau.beta) # Random slopes</a:t>
            </a:r>
          </a:p>
          <a:p>
            <a:pPr>
              <a:spcAft>
                <a:spcPts val="500"/>
              </a:spcAft>
              <a:defRPr sz="1200" b="0">
                <a:solidFill>
                  <a:srgbClr val="242E3C"/>
                </a:solidFill>
                <a:latin typeface="Consolas"/>
              </a:defRPr>
            </a:pPr>
            <a:r>
              <a:t>mu.alpha ~ dnorm(0, 0.000001) # Mean for random intercepts</a:t>
            </a:r>
          </a:p>
          <a:p>
            <a:pPr>
              <a:spcAft>
                <a:spcPts val="500"/>
              </a:spcAft>
              <a:defRPr sz="1200" b="0">
                <a:solidFill>
                  <a:srgbClr val="242E3C"/>
                </a:solidFill>
                <a:latin typeface="Consolas"/>
              </a:defRPr>
            </a:pPr>
            <a:r>
              <a:t>sigma.alpha ~ dt(0, 1, 0.0001)I(0,) # SD for random intercepts</a:t>
            </a:r>
          </a:p>
          <a:p>
            <a:pPr>
              <a:spcAft>
                <a:spcPts val="500"/>
              </a:spcAft>
              <a:defRPr sz="1200" b="0">
                <a:solidFill>
                  <a:srgbClr val="242E3C"/>
                </a:solidFill>
                <a:latin typeface="Consolas"/>
              </a:defRPr>
            </a:pPr>
            <a:r>
              <a:t>mu.beta ~ dnorm(0, 0.000001) # Mean for random slopes</a:t>
            </a:r>
          </a:p>
          <a:p>
            <a:pPr>
              <a:spcAft>
                <a:spcPts val="500"/>
              </a:spcAft>
              <a:defRPr sz="1200" b="0">
                <a:solidFill>
                  <a:srgbClr val="242E3C"/>
                </a:solidFill>
                <a:latin typeface="Consolas"/>
              </a:defRPr>
            </a:pPr>
            <a:r>
              <a:t>sigma.beta ~ dt(0, 1, 0.0001)I(0,) # SD for slopes</a:t>
            </a:r>
          </a:p>
          <a:p>
            <a:pPr>
              <a:spcAft>
                <a:spcPts val="500"/>
              </a:spcAft>
              <a:defRPr sz="1200" b="0">
                <a:solidFill>
                  <a:srgbClr val="242E3C"/>
                </a:solidFill>
                <a:latin typeface="Consolas"/>
              </a:defRPr>
            </a:pPr>
            <a:r>
              <a:t>sigma.residual ~ dt(0, 1, 0.0001)I(0,) # Residual standard deviation</a:t>
            </a:r>
          </a:p>
          <a:p>
            <a:pPr>
              <a:spcAft>
                <a:spcPts val="500"/>
              </a:spcAft>
              <a:defRPr sz="1200" b="0">
                <a:solidFill>
                  <a:srgbClr val="242E3C"/>
                </a:solidFill>
                <a:latin typeface="Consolas"/>
              </a:defRPr>
            </a:pPr>
            <a:r>
              <a:t>mass[i] ~ dnorm(mu[i], tau.residual)</a:t>
            </a:r>
          </a:p>
          <a:p>
            <a:pPr>
              <a:spcAft>
                <a:spcPts val="500"/>
              </a:spcAft>
              <a:defRPr sz="1200" b="0">
                <a:solidFill>
                  <a:srgbClr val="242E3C"/>
                </a:solidFill>
                <a:latin typeface="Consolas"/>
              </a:defRPr>
            </a:pPr>
            <a:r>
              <a:t>mu[i] &lt;- alpha[pop[i]] + beta[pop[i]] * lengthN[i]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10.4.2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10.4.3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dnorm(mu.alpha, tau.alpha)  # Random intercepts</a:t>
            </a:r>
          </a:p>
          <a:p>
            <a:pPr>
              <a:spcAft>
                <a:spcPts val="500"/>
              </a:spcAft>
              <a:defRPr sz="1200" b="0">
                <a:solidFill>
                  <a:srgbClr val="242E3C"/>
                </a:solidFill>
                <a:latin typeface="Consolas"/>
              </a:defRPr>
            </a:pPr>
            <a:r>
              <a:t>beta[i] ~ dnorm(mu.beta, tau.beta)     # Random slopes</a:t>
            </a:r>
          </a:p>
          <a:p>
            <a:pPr>
              <a:spcAft>
                <a:spcPts val="500"/>
              </a:spcAft>
              <a:defRPr sz="1200" b="0">
                <a:solidFill>
                  <a:srgbClr val="242E3C"/>
                </a:solidFill>
                <a:latin typeface="Consolas"/>
              </a:defRPr>
            </a:pPr>
            <a:r>
              <a:t>mu.alpha ~ dnorm(0, 0.000001)  # Mean for random intercepts</a:t>
            </a:r>
          </a:p>
          <a:p>
            <a:pPr>
              <a:spcAft>
                <a:spcPts val="500"/>
              </a:spcAft>
              <a:defRPr sz="1200" b="0">
                <a:solidFill>
                  <a:srgbClr val="242E3C"/>
                </a:solidFill>
                <a:latin typeface="Consolas"/>
              </a:defRPr>
            </a:pPr>
            <a:r>
              <a:t>mu.beta ~ dnorm(0, 0.000001)      # Mean for random slopes</a:t>
            </a:r>
          </a:p>
          <a:p>
            <a:pPr>
              <a:spcAft>
                <a:spcPts val="500"/>
              </a:spcAft>
              <a:defRPr sz="1200" b="0">
                <a:solidFill>
                  <a:srgbClr val="242E3C"/>
                </a:solidFill>
                <a:latin typeface="Consolas"/>
              </a:defRPr>
            </a:pPr>
            <a:r>
              <a:t>mass[i] ~ dnorm(mu[i], tau.residual)</a:t>
            </a:r>
          </a:p>
          <a:p>
            <a:pPr>
              <a:spcAft>
                <a:spcPts val="500"/>
              </a:spcAft>
              <a:defRPr sz="1200" b="0">
                <a:solidFill>
                  <a:srgbClr val="242E3C"/>
                </a:solidFill>
                <a:latin typeface="Consolas"/>
              </a:defRPr>
            </a:pPr>
            <a:r>
              <a:t>mu[i] &lt;- alpha[pop[i]] + beta[pop[i]] * lengthN[i]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10.4.3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10.4.4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mu_alpha ~ normal(0, 1000);</a:t>
            </a:r>
          </a:p>
          <a:p>
            <a:pPr>
              <a:spcAft>
                <a:spcPts val="500"/>
              </a:spcAft>
              <a:defRPr sz="1200" b="0">
                <a:solidFill>
                  <a:srgbClr val="242E3C"/>
                </a:solidFill>
                <a:latin typeface="Consolas"/>
              </a:defRPr>
            </a:pPr>
            <a:r>
              <a:t>mu_beta ~ normal(0, 1000);</a:t>
            </a:r>
          </a:p>
          <a:p>
            <a:pPr>
              <a:spcAft>
                <a:spcPts val="500"/>
              </a:spcAft>
              <a:defRPr sz="1200" b="0">
                <a:solidFill>
                  <a:srgbClr val="242E3C"/>
                </a:solidFill>
                <a:latin typeface="Consolas"/>
              </a:defRPr>
            </a:pPr>
            <a:r>
              <a:t>sigma_alpha ~ cauchy(0, 100);</a:t>
            </a:r>
          </a:p>
          <a:p>
            <a:pPr>
              <a:spcAft>
                <a:spcPts val="500"/>
              </a:spcAft>
              <a:defRPr sz="1200" b="0">
                <a:solidFill>
                  <a:srgbClr val="242E3C"/>
                </a:solidFill>
                <a:latin typeface="Consolas"/>
              </a:defRPr>
            </a:pPr>
            <a:r>
              <a:t>sigma_beta ~ cauchy(0, 100);</a:t>
            </a:r>
          </a:p>
          <a:p>
            <a:pPr>
              <a:spcAft>
                <a:spcPts val="500"/>
              </a:spcAft>
              <a:defRPr sz="1200" b="0">
                <a:solidFill>
                  <a:srgbClr val="242E3C"/>
                </a:solidFill>
                <a:latin typeface="Consolas"/>
              </a:defRPr>
            </a:pPr>
            <a:r>
              <a:t>alpha[i] ~ normal(mu_alpha, sigma_alpha);</a:t>
            </a:r>
          </a:p>
          <a:p>
            <a:pPr>
              <a:spcAft>
                <a:spcPts val="500"/>
              </a:spcAft>
              <a:defRPr sz="1200" b="0">
                <a:solidFill>
                  <a:srgbClr val="242E3C"/>
                </a:solidFill>
                <a:latin typeface="Consolas"/>
              </a:defRPr>
            </a:pPr>
            <a:r>
              <a:t>beta[i] ~ normal(mu_beta, sigma_beta);</a:t>
            </a:r>
          </a:p>
          <a:p>
            <a:pPr>
              <a:spcAft>
                <a:spcPts val="500"/>
              </a:spcAft>
              <a:defRPr sz="1200" b="0">
                <a:solidFill>
                  <a:srgbClr val="242E3C"/>
                </a:solidFill>
                <a:latin typeface="Consolas"/>
              </a:defRPr>
            </a:pPr>
            <a:r>
              <a:t>mu[i] = alpha[pop[i]] + beta[pop[i]] * lengthN[i];</a:t>
            </a:r>
          </a:p>
          <a:p>
            <a:pPr>
              <a:spcAft>
                <a:spcPts val="500"/>
              </a:spcAft>
              <a:defRPr sz="1200" b="0">
                <a:solidFill>
                  <a:srgbClr val="242E3C"/>
                </a:solidFill>
                <a:latin typeface="Consolas"/>
              </a:defRPr>
            </a:pPr>
            <a:r>
              <a:t>mass[i] ~ normal(mu[i], sigma_residual);</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10.4.4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10.4.5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mu &lt;- alpha.j + beta.j * lengthN.j</a:t>
            </a:r>
          </a:p>
          <a:p>
            <a:pPr>
              <a:spcAft>
                <a:spcPts val="500"/>
              </a:spcAft>
              <a:defRPr sz="1019" b="0">
                <a:solidFill>
                  <a:srgbClr val="242E3C"/>
                </a:solidFill>
                <a:latin typeface="Consolas"/>
              </a:defRPr>
            </a:pPr>
            <a:r>
              <a:t>dnorm(alpha.j, mu.alpha, sigma.alpha) *</a:t>
            </a:r>
          </a:p>
          <a:p>
            <a:pPr>
              <a:spcAft>
                <a:spcPts val="500"/>
              </a:spcAft>
              <a:defRPr sz="1019" b="0">
                <a:solidFill>
                  <a:srgbClr val="242E3C"/>
                </a:solidFill>
                <a:latin typeface="Consolas"/>
              </a:defRPr>
            </a:pPr>
            <a:r>
              <a:t>mu &lt;- Xmat %*% t(par.mat)</a:t>
            </a:r>
          </a:p>
          <a:p>
            <a:pPr>
              <a:spcAft>
                <a:spcPts val="500"/>
              </a:spcAft>
              <a:defRPr sz="1019" b="0">
                <a:solidFill>
                  <a:srgbClr val="242E3C"/>
                </a:solidFill>
                <a:latin typeface="Consolas"/>
              </a:defRPr>
            </a:pPr>
            <a:r>
              <a:t>L &lt;- apply(L, 2, prod)</a:t>
            </a:r>
          </a:p>
          <a:p>
            <a:pPr>
              <a:spcAft>
                <a:spcPts val="500"/>
              </a:spcAft>
              <a:defRPr sz="1019" b="0">
                <a:solidFill>
                  <a:srgbClr val="242E3C"/>
                </a:solidFill>
                <a:latin typeface="Consolas"/>
              </a:defRPr>
            </a:pPr>
            <a:r>
              <a:t>dnorm(beta.j, mu.beta, sigma.beta)</a:t>
            </a:r>
          </a:p>
          <a:p>
            <a:pPr>
              <a:spcAft>
                <a:spcPts val="500"/>
              </a:spcAft>
              <a:defRPr sz="1019" b="0">
                <a:solidFill>
                  <a:srgbClr val="242E3C"/>
                </a:solidFill>
                <a:latin typeface="Consolas"/>
              </a:defRPr>
            </a:pPr>
            <a:r>
              <a:t>}, error = function(e) return(Inf))</a:t>
            </a:r>
          </a:p>
          <a:p>
            <a:pPr>
              <a:spcAft>
                <a:spcPts val="500"/>
              </a:spcAft>
              <a:defRPr sz="1019" b="0">
                <a:solidFill>
                  <a:srgbClr val="242E3C"/>
                </a:solidFill>
                <a:latin typeface="Consolas"/>
              </a:defRPr>
            </a:pPr>
            <a:r>
              <a:t>L &lt;- g(mu.alpha, mu.beta, sigma.alpha, sigma.beta, sigma.residual,</a:t>
            </a:r>
          </a:p>
          <a:p>
            <a:pPr>
              <a:spcAft>
                <a:spcPts val="500"/>
              </a:spcAft>
              <a:defRPr sz="1019" b="0">
                <a:solidFill>
                  <a:srgbClr val="242E3C"/>
                </a:solidFill>
                <a:latin typeface="Consolas"/>
              </a:defRPr>
            </a:pPr>
            <a:r>
              <a:t>return(nll)</a:t>
            </a:r>
          </a:p>
          <a:p>
            <a:pPr>
              <a:spcAft>
                <a:spcPts val="500"/>
              </a:spcAft>
              <a:defRPr sz="1019" b="0">
                <a:solidFill>
                  <a:srgbClr val="242E3C"/>
                </a:solidFill>
                <a:latin typeface="Consolas"/>
              </a:defRPr>
            </a:pPr>
            <a:r>
              <a:t>nll &lt;- 0 # initialize nll at 0</a:t>
            </a:r>
          </a:p>
          <a:p>
            <a:pPr>
              <a:spcAft>
                <a:spcPts val="500"/>
              </a:spcAft>
              <a:defRPr sz="1019" b="0">
                <a:solidFill>
                  <a:srgbClr val="242E3C"/>
                </a:solidFill>
                <a:latin typeface="Consolas"/>
              </a:defRPr>
            </a:pPr>
            <a:r>
              <a:t>nll &lt;- nll - log(L)</a:t>
            </a:r>
          </a:p>
          <a:p>
            <a:pPr>
              <a:spcAft>
                <a:spcPts val="500"/>
              </a:spcAft>
              <a:defRPr sz="1019" b="0">
                <a:solidFill>
                  <a:srgbClr val="242E3C"/>
                </a:solidFill>
                <a:latin typeface="Consolas"/>
              </a:defRPr>
            </a:pPr>
            <a:r>
              <a:t>out10.4.5 &lt;- optim(inits, NLL, method = "BFGS", hessian = TRUE, 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10.4.5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10.4.6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DATA_VECTOR(mass); //response</a:t>
            </a:r>
          </a:p>
          <a:p>
            <a:pPr>
              <a:spcAft>
                <a:spcPts val="500"/>
              </a:spcAft>
              <a:defRPr sz="1200" b="0">
                <a:solidFill>
                  <a:srgbClr val="242E3C"/>
                </a:solidFill>
                <a:latin typeface="Consolas"/>
              </a:defRPr>
            </a:pPr>
            <a:r>
              <a:t>DATA_IVECTOR(pop); //population index</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PARAMETER(mu_alpha);</a:t>
            </a:r>
          </a:p>
          <a:p>
            <a:pPr>
              <a:spcAft>
                <a:spcPts val="500"/>
              </a:spcAft>
              <a:defRPr sz="1200" b="0">
                <a:solidFill>
                  <a:srgbClr val="242E3C"/>
                </a:solidFill>
                <a:latin typeface="Consolas"/>
              </a:defRPr>
            </a:pPr>
            <a:r>
              <a:t>PARAMETER(log_sigma_alpha);</a:t>
            </a:r>
          </a:p>
          <a:p>
            <a:pPr>
              <a:spcAft>
                <a:spcPts val="500"/>
              </a:spcAft>
              <a:defRPr sz="1200" b="0">
                <a:solidFill>
                  <a:srgbClr val="242E3C"/>
                </a:solidFill>
                <a:latin typeface="Consolas"/>
              </a:defRPr>
            </a:pPr>
            <a:r>
              <a:t>PARAMETER(log_sigma_residual);</a:t>
            </a:r>
          </a:p>
          <a:p>
            <a:pPr>
              <a:spcAft>
                <a:spcPts val="500"/>
              </a:spcAft>
              <a:defRPr sz="1200" b="0">
                <a:solidFill>
                  <a:srgbClr val="242E3C"/>
                </a:solidFill>
                <a:latin typeface="Consolas"/>
              </a:defRPr>
            </a:pPr>
            <a:r>
              <a:t>PARAMETER_VECTOR(beta);</a:t>
            </a:r>
          </a:p>
          <a:p>
            <a:pPr>
              <a:spcAft>
                <a:spcPts val="500"/>
              </a:spcAft>
              <a:defRPr sz="1200" b="0">
                <a:solidFill>
                  <a:srgbClr val="242E3C"/>
                </a:solidFill>
                <a:latin typeface="Consolas"/>
              </a:defRPr>
            </a:pPr>
            <a:r>
              <a:t>LL += dnorm(beta(i), mu_beta, sigma_beta, true);</a:t>
            </a:r>
          </a:p>
          <a:p>
            <a:pPr>
              <a:spcAft>
                <a:spcPts val="500"/>
              </a:spcAft>
              <a:defRPr sz="1200" b="0">
                <a:solidFill>
                  <a:srgbClr val="242E3C"/>
                </a:solidFill>
                <a:latin typeface="Consolas"/>
              </a:defRPr>
            </a:pPr>
            <a:r>
              <a:t>Type mu = alpha(pop(i)) + beta(pop(i)) * lengthN(i);</a:t>
            </a:r>
          </a:p>
          <a:p>
            <a:pPr>
              <a:spcAft>
                <a:spcPts val="500"/>
              </a:spcAft>
              <a:defRPr sz="1200" b="0">
                <a:solidFill>
                  <a:srgbClr val="242E3C"/>
                </a:solidFill>
                <a:latin typeface="Consolas"/>
              </a:defRPr>
            </a:pPr>
            <a:r>
              <a:t>return -LL; //Return negative log likelihood</a:t>
            </a:r>
          </a:p>
          <a:p>
            <a:pPr>
              <a:spcAft>
                <a:spcPts val="500"/>
              </a:spcAft>
              <a:defRPr sz="1200" b="0">
                <a:solidFill>
                  <a:srgbClr val="242E3C"/>
                </a:solidFill>
                <a:latin typeface="Consolas"/>
              </a:defRPr>
            </a:pPr>
            <a:r>
              <a:t>random = c("alpha", "beta"), #Identify which params(s) are random</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10.4.6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ランダム切片＋傾き（無相関）</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ランダム切片＋傾き（相関あり）｜まず統計モデルを読む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モデル導入 10.5.4</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massᵢ ~ Normal(α[popᵢ]+β[popᵢ] lengthNᵢ, σ²)</a:t>
            </a:r>
          </a:p>
          <a:p>
            <a:pPr>
              <a:spcAft>
                <a:spcPts val="500"/>
              </a:spcAft>
              <a:defRPr sz="2200" b="1">
                <a:solidFill>
                  <a:srgbClr val="192B45"/>
                </a:solidFill>
                <a:latin typeface="Yu Gothic"/>
              </a:defRPr>
            </a:pPr>
            <a:r>
              <a:t>(α[j],β[j]) は共分散をもつ二変量分布</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切片と傾きの間の相関（共分散）もモデル化する。</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多変量分布・相関パラメータ化を重点確認。</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10.5.4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mu.alpha ~ dnorm(0, 0.00001)</a:t>
            </a:r>
          </a:p>
          <a:p>
            <a:pPr>
              <a:spcAft>
                <a:spcPts val="500"/>
              </a:spcAft>
              <a:defRPr sz="1200" b="0">
                <a:solidFill>
                  <a:srgbClr val="242E3C"/>
                </a:solidFill>
                <a:latin typeface="Consolas"/>
              </a:defRPr>
            </a:pPr>
            <a:r>
              <a:t>mu.beta ~ dnorm(0,0.00001)</a:t>
            </a:r>
          </a:p>
          <a:p>
            <a:pPr>
              <a:spcAft>
                <a:spcPts val="500"/>
              </a:spcAft>
              <a:defRPr sz="1200" b="0">
                <a:solidFill>
                  <a:srgbClr val="242E3C"/>
                </a:solidFill>
                <a:latin typeface="Consolas"/>
              </a:defRPr>
            </a:pPr>
            <a:r>
              <a:t>sigma.residual ~ dt(0, 1, 0.0001)I(0, )</a:t>
            </a:r>
          </a:p>
          <a:p>
            <a:pPr>
              <a:spcAft>
                <a:spcPts val="500"/>
              </a:spcAft>
              <a:defRPr sz="1200" b="0">
                <a:solidFill>
                  <a:srgbClr val="242E3C"/>
                </a:solidFill>
                <a:latin typeface="Consolas"/>
              </a:defRPr>
            </a:pPr>
            <a:r>
              <a:t>mass[i] ~ dnorm(mu[i], tau.residual)</a:t>
            </a:r>
          </a:p>
          <a:p>
            <a:pPr>
              <a:spcAft>
                <a:spcPts val="500"/>
              </a:spcAft>
              <a:defRPr sz="1200" b="0">
                <a:solidFill>
                  <a:srgbClr val="242E3C"/>
                </a:solidFill>
                <a:latin typeface="Consolas"/>
              </a:defRPr>
            </a:pPr>
            <a:r>
              <a:t>mu[i] &lt;- alpha[pop[i]] + beta[pop[i]] * lengthN[i] # Expected value</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10.5.4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10.5.5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mu.alpha ~ dnorm(0, 0.00001)</a:t>
            </a:r>
          </a:p>
          <a:p>
            <a:pPr>
              <a:spcAft>
                <a:spcPts val="500"/>
              </a:spcAft>
              <a:defRPr sz="1200" b="0">
                <a:solidFill>
                  <a:srgbClr val="242E3C"/>
                </a:solidFill>
                <a:latin typeface="Consolas"/>
              </a:defRPr>
            </a:pPr>
            <a:r>
              <a:t>mu.beta ~ dnorm(0,0.00001)</a:t>
            </a:r>
          </a:p>
          <a:p>
            <a:pPr>
              <a:spcAft>
                <a:spcPts val="500"/>
              </a:spcAft>
              <a:defRPr sz="1200" b="0">
                <a:solidFill>
                  <a:srgbClr val="242E3C"/>
                </a:solidFill>
                <a:latin typeface="Consolas"/>
              </a:defRPr>
            </a:pPr>
            <a:r>
              <a:t>mass[i] ~ dnorm(mu[i], tau.residual)</a:t>
            </a:r>
          </a:p>
          <a:p>
            <a:pPr>
              <a:spcAft>
                <a:spcPts val="500"/>
              </a:spcAft>
              <a:defRPr sz="1200" b="0">
                <a:solidFill>
                  <a:srgbClr val="242E3C"/>
                </a:solidFill>
                <a:latin typeface="Consolas"/>
              </a:defRPr>
            </a:pPr>
            <a:r>
              <a:t>mu[i] &lt;- alpha[pop[i]] + beta[pop[i]] * lengthN[i] #Expected value</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10.5.5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10.5.6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cov_matrix[2] V; //Wishart scale matrix</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cov_matrix[2] Sigma;</a:t>
            </a:r>
          </a:p>
          <a:p>
            <a:pPr>
              <a:spcAft>
                <a:spcPts val="500"/>
              </a:spcAft>
              <a:defRPr sz="1200" b="0">
                <a:solidFill>
                  <a:srgbClr val="242E3C"/>
                </a:solidFill>
                <a:latin typeface="Consolas"/>
              </a:defRPr>
            </a:pPr>
            <a:r>
              <a:t>transformed parameters {</a:t>
            </a:r>
          </a:p>
          <a:p>
            <a:pPr>
              <a:spcAft>
                <a:spcPts val="500"/>
              </a:spcAft>
              <a:defRPr sz="1200" b="0">
                <a:solidFill>
                  <a:srgbClr val="242E3C"/>
                </a:solidFill>
                <a:latin typeface="Consolas"/>
              </a:defRPr>
            </a:pPr>
            <a:r>
              <a:t>mu_alpha ~ normal(0, 1000);</a:t>
            </a:r>
          </a:p>
          <a:p>
            <a:pPr>
              <a:spcAft>
                <a:spcPts val="500"/>
              </a:spcAft>
              <a:defRPr sz="1200" b="0">
                <a:solidFill>
                  <a:srgbClr val="242E3C"/>
                </a:solidFill>
                <a:latin typeface="Consolas"/>
              </a:defRPr>
            </a:pPr>
            <a:r>
              <a:t>mu_beta ~ normal(0, 1000);</a:t>
            </a:r>
          </a:p>
          <a:p>
            <a:pPr>
              <a:spcAft>
                <a:spcPts val="500"/>
              </a:spcAft>
              <a:defRPr sz="1200" b="0">
                <a:solidFill>
                  <a:srgbClr val="242E3C"/>
                </a:solidFill>
                <a:latin typeface="Consolas"/>
              </a:defRPr>
            </a:pPr>
            <a:r>
              <a:t>sigma_residual ~ cauchy(0, 100);</a:t>
            </a:r>
          </a:p>
          <a:p>
            <a:pPr>
              <a:spcAft>
                <a:spcPts val="500"/>
              </a:spcAft>
              <a:defRPr sz="1200" b="0">
                <a:solidFill>
                  <a:srgbClr val="242E3C"/>
                </a:solidFill>
                <a:latin typeface="Consolas"/>
              </a:defRPr>
            </a:pPr>
            <a:r>
              <a:t>B[i,1:2] ~ multi_normal(Mu, Sigma);</a:t>
            </a:r>
          </a:p>
          <a:p>
            <a:pPr>
              <a:spcAft>
                <a:spcPts val="500"/>
              </a:spcAft>
              <a:defRPr sz="1200" b="0">
                <a:solidFill>
                  <a:srgbClr val="242E3C"/>
                </a:solidFill>
                <a:latin typeface="Consolas"/>
              </a:defRPr>
            </a:pPr>
            <a:r>
              <a:t>mu[i] = alpha[pop[i]] + beta[pop[i]] * lengthN[i];</a:t>
            </a:r>
          </a:p>
          <a:p>
            <a:pPr>
              <a:spcAft>
                <a:spcPts val="500"/>
              </a:spcAft>
              <a:defRPr sz="1200" b="0">
                <a:solidFill>
                  <a:srgbClr val="242E3C"/>
                </a:solidFill>
                <a:latin typeface="Consolas"/>
              </a:defRPr>
            </a:pPr>
            <a:r>
              <a:t>mass[i] ~ normal(mu[i], sigma_residual);</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10.5.6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10.5.7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mu &lt;- alpha.j + beta.j * lengthN.j</a:t>
            </a:r>
          </a:p>
          <a:p>
            <a:pPr>
              <a:spcAft>
                <a:spcPts val="500"/>
              </a:spcAft>
              <a:defRPr sz="1200" b="0">
                <a:solidFill>
                  <a:srgbClr val="242E3C"/>
                </a:solidFill>
                <a:latin typeface="Consolas"/>
              </a:defRPr>
            </a:pPr>
            <a:r>
              <a:t>prod(dnorm(mass.j, mu, sigma.residual)) *</a:t>
            </a:r>
          </a:p>
          <a:p>
            <a:pPr>
              <a:spcAft>
                <a:spcPts val="500"/>
              </a:spcAft>
              <a:defRPr sz="1200" b="0">
                <a:solidFill>
                  <a:srgbClr val="242E3C"/>
                </a:solidFill>
                <a:latin typeface="Consolas"/>
              </a:defRPr>
            </a:pPr>
            <a:r>
              <a:t>L &lt;- dnorm(mass.j.mat, mu, sigma.residual)</a:t>
            </a:r>
          </a:p>
          <a:p>
            <a:pPr>
              <a:spcAft>
                <a:spcPts val="500"/>
              </a:spcAft>
              <a:defRPr sz="1200" b="0">
                <a:solidFill>
                  <a:srgbClr val="242E3C"/>
                </a:solidFill>
                <a:latin typeface="Consolas"/>
              </a:defRPr>
            </a:pPr>
            <a:r>
              <a:t>L &lt;- apply(L, 2, prod)</a:t>
            </a:r>
          </a:p>
          <a:p>
            <a:pPr>
              <a:spcAft>
                <a:spcPts val="500"/>
              </a:spcAft>
              <a:defRPr sz="1200" b="0">
                <a:solidFill>
                  <a:srgbClr val="242E3C"/>
                </a:solidFill>
                <a:latin typeface="Consolas"/>
              </a:defRPr>
            </a:pPr>
            <a:r>
              <a:t>L &lt;- L * dmvnorm(par.mat, Mu, Sigma)</a:t>
            </a:r>
          </a:p>
          <a:p>
            <a:pPr>
              <a:spcAft>
                <a:spcPts val="500"/>
              </a:spcAft>
              <a:defRPr sz="1200" b="0">
                <a:solidFill>
                  <a:srgbClr val="242E3C"/>
                </a:solidFill>
                <a:latin typeface="Consolas"/>
              </a:defRPr>
            </a:pPr>
            <a:r>
              <a:t>integral2(fun = f, xmin = 150, xmax = 400, ymin = 0, ymax = 150,</a:t>
            </a:r>
          </a:p>
          <a:p>
            <a:pPr>
              <a:spcAft>
                <a:spcPts val="500"/>
              </a:spcAft>
              <a:defRPr sz="1200" b="0">
                <a:solidFill>
                  <a:srgbClr val="242E3C"/>
                </a:solidFill>
                <a:latin typeface="Consolas"/>
              </a:defRPr>
            </a:pPr>
            <a:r>
              <a:t>NLL &lt;- function(pars, data){</a:t>
            </a:r>
          </a:p>
          <a:p>
            <a:pPr>
              <a:spcAft>
                <a:spcPts val="500"/>
              </a:spcAft>
              <a:defRPr sz="1200" b="0">
                <a:solidFill>
                  <a:srgbClr val="242E3C"/>
                </a:solidFill>
                <a:latin typeface="Consolas"/>
              </a:defRPr>
            </a:pPr>
            <a:r>
              <a:t>LL &lt;- 0 # initialize LL at 0</a:t>
            </a:r>
          </a:p>
          <a:p>
            <a:pPr>
              <a:spcAft>
                <a:spcPts val="500"/>
              </a:spcAft>
              <a:defRPr sz="1200" b="0">
                <a:solidFill>
                  <a:srgbClr val="242E3C"/>
                </a:solidFill>
                <a:latin typeface="Consolas"/>
              </a:defRPr>
            </a:pPr>
            <a:r>
              <a:t>L &lt;- g(Beta, Sigma, sigma.residual,</a:t>
            </a:r>
          </a:p>
          <a:p>
            <a:pPr>
              <a:spcAft>
                <a:spcPts val="500"/>
              </a:spcAft>
              <a:defRPr sz="1200" b="0">
                <a:solidFill>
                  <a:srgbClr val="242E3C"/>
                </a:solidFill>
                <a:latin typeface="Consolas"/>
              </a:defRPr>
            </a:pPr>
            <a:r>
              <a:t>return(-LL)</a:t>
            </a:r>
          </a:p>
          <a:p>
            <a:pPr>
              <a:spcAft>
                <a:spcPts val="500"/>
              </a:spcAft>
              <a:defRPr sz="1200" b="0">
                <a:solidFill>
                  <a:srgbClr val="242E3C"/>
                </a:solidFill>
                <a:latin typeface="Consolas"/>
              </a:defRPr>
            </a:pPr>
            <a:r>
              <a:t>out10.5.7 &lt;- optim(inits, NLL, hessian = TRUE, 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10.5.7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10.5.8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DATA_VECTOR(mass); //response</a:t>
            </a:r>
          </a:p>
          <a:p>
            <a:pPr>
              <a:spcAft>
                <a:spcPts val="500"/>
              </a:spcAft>
              <a:defRPr sz="1200" b="0">
                <a:solidFill>
                  <a:srgbClr val="242E3C"/>
                </a:solidFill>
                <a:latin typeface="Consolas"/>
              </a:defRPr>
            </a:pPr>
            <a:r>
              <a:t>DATA_IVECTOR(pop); //population index</a:t>
            </a:r>
          </a:p>
          <a:p>
            <a:pPr>
              <a:spcAft>
                <a:spcPts val="500"/>
              </a:spcAft>
              <a:defRPr sz="1200" b="0">
                <a:solidFill>
                  <a:srgbClr val="242E3C"/>
                </a:solidFill>
                <a:latin typeface="Consolas"/>
              </a:defRPr>
            </a:pPr>
            <a:r>
              <a:t>DATA_INTEGER(nPops); //Number of populations</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PARAMETER(mu_beta);</a:t>
            </a:r>
          </a:p>
          <a:p>
            <a:pPr>
              <a:spcAft>
                <a:spcPts val="500"/>
              </a:spcAft>
              <a:defRPr sz="1200" b="0">
                <a:solidFill>
                  <a:srgbClr val="242E3C"/>
                </a:solidFill>
                <a:latin typeface="Consolas"/>
              </a:defRPr>
            </a:pPr>
            <a:r>
              <a:t>PARAMETER(log_sigma_residual);</a:t>
            </a:r>
          </a:p>
          <a:p>
            <a:pPr>
              <a:spcAft>
                <a:spcPts val="500"/>
              </a:spcAft>
              <a:defRPr sz="1200" b="0">
                <a:solidFill>
                  <a:srgbClr val="242E3C"/>
                </a:solidFill>
                <a:latin typeface="Consolas"/>
              </a:defRPr>
            </a:pPr>
            <a:r>
              <a:t>PARAMETER_MATRIX(B); //Random effects matrix</a:t>
            </a:r>
          </a:p>
          <a:p>
            <a:pPr>
              <a:spcAft>
                <a:spcPts val="500"/>
              </a:spcAft>
              <a:defRPr sz="1200" b="0">
                <a:solidFill>
                  <a:srgbClr val="242E3C"/>
                </a:solidFill>
                <a:latin typeface="Consolas"/>
              </a:defRPr>
            </a:pPr>
            <a:r>
              <a:t>Type mu = alpha(pop(i)) + beta(pop(i)) * lengthN(i);</a:t>
            </a:r>
          </a:p>
          <a:p>
            <a:pPr>
              <a:spcAft>
                <a:spcPts val="500"/>
              </a:spcAft>
              <a:defRPr sz="1200" b="0">
                <a:solidFill>
                  <a:srgbClr val="242E3C"/>
                </a:solidFill>
                <a:latin typeface="Consolas"/>
              </a:defRPr>
            </a:pPr>
            <a:r>
              <a:t>ADREPORT(Sigma);</a:t>
            </a:r>
          </a:p>
          <a:p>
            <a:pPr>
              <a:spcAft>
                <a:spcPts val="500"/>
              </a:spcAft>
              <a:defRPr sz="1200" b="0">
                <a:solidFill>
                  <a:srgbClr val="242E3C"/>
                </a:solidFill>
                <a:latin typeface="Consolas"/>
              </a:defRPr>
            </a:pPr>
            <a:r>
              <a:t>out10.5.8 &lt;- MakeADFun(data = tmbData, parameters = params,</a:t>
            </a:r>
          </a:p>
          <a:p>
            <a:pPr>
              <a:spcAft>
                <a:spcPts val="500"/>
              </a:spcAft>
              <a:defRPr sz="1200" b="0">
                <a:solidFill>
                  <a:srgbClr val="242E3C"/>
                </a:solidFill>
                <a:latin typeface="Consolas"/>
              </a:defRPr>
            </a:pPr>
            <a:r>
              <a:t>random = "B", #Identify which params(s) are random</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10.5.8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10  |  原著Rコードに基づく学習資料  |  ランダム切片＋傾き（相関あり）</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4607</Words>
  <Application>Microsoft Office PowerPoint</Application>
  <PresentationFormat>ワイド画面</PresentationFormat>
  <Paragraphs>518</Paragraphs>
  <Slides>41</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41</vt:i4>
      </vt:variant>
    </vt:vector>
  </HeadingPairs>
  <TitlesOfParts>
    <vt:vector size="48" baseType="lpstr">
      <vt:lpstr>BIZ UDゴシック</vt:lpstr>
      <vt:lpstr>Yu Gothic</vt:lpstr>
      <vt:lpstr>Yu Gothic</vt:lpstr>
      <vt:lpstr>游ゴシック Light</vt:lpstr>
      <vt:lpstr>Aptos</vt:lpstr>
      <vt:lpstr>Arial</vt:lpstr>
      <vt:lpstr>Office テーマ</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大下　誠二</cp:lastModifiedBy>
  <cp:revision>1</cp:revision>
  <dcterms:created xsi:type="dcterms:W3CDTF">2026-10-06T23:13:34Z</dcterms:created>
  <dcterms:modified xsi:type="dcterms:W3CDTF">2026-10-21T02:32:46Z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