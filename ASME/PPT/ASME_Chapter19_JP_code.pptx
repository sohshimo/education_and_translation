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68" r:id="rId3"/>
    <p:sldId id="256" r:id="rId4"/>
    <p:sldId id="257" r:id="rId5"/>
    <p:sldId id="258" r:id="rId6"/>
    <p:sldId id="259" r:id="rId7"/>
    <p:sldId id="260" r:id="rId8"/>
    <p:sldId id="261" r:id="rId9"/>
    <p:sldId id="262" r:id="rId10"/>
    <p:sldId id="263" r:id="rId11"/>
    <p:sldId id="264" r:id="rId12"/>
    <p:sldId id="265" r:id="rId13"/>
    <p:sldId id="266"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93C3F2-CB80-4251-9BDC-CC30909BCC1E}" v="2" dt="2026-10-23T02:03:53.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undo custSel mod addSld modSld sldOrd modMainMaster">
      <pc:chgData name="大下　誠二" userId="e5774685-19fa-48b9-bec1-68eebf9ac578" providerId="ADAL" clId="{CDBA04F6-D5A6-4F8F-A920-1860374E7F12}" dt="2026-10-23T02:03:59.470" v="11" actId="20578"/>
      <pc:docMkLst>
        <pc:docMk/>
      </pc:docMkLst>
      <pc:sldChg chg="ord">
        <pc:chgData name="大下　誠二" userId="e5774685-19fa-48b9-bec1-68eebf9ac578" providerId="ADAL" clId="{CDBA04F6-D5A6-4F8F-A920-1860374E7F12}" dt="2026-10-23T02:02:37.730" v="2"/>
        <pc:sldMkLst>
          <pc:docMk/>
          <pc:sldMk cId="0" sldId="256"/>
        </pc:sldMkLst>
      </pc:sldChg>
      <pc:sldChg chg="modSp add mod">
        <pc:chgData name="大下　誠二" userId="e5774685-19fa-48b9-bec1-68eebf9ac578" providerId="ADAL" clId="{CDBA04F6-D5A6-4F8F-A920-1860374E7F12}" dt="2026-10-23T02:02:41.587" v="4" actId="20577"/>
        <pc:sldMkLst>
          <pc:docMk/>
          <pc:sldMk cId="1006064969" sldId="267"/>
        </pc:sldMkLst>
        <pc:spChg chg="mod">
          <ac:chgData name="大下　誠二" userId="e5774685-19fa-48b9-bec1-68eebf9ac578" providerId="ADAL" clId="{CDBA04F6-D5A6-4F8F-A920-1860374E7F12}" dt="2026-10-23T02:02:41.587" v="4" actId="20577"/>
          <ac:spMkLst>
            <pc:docMk/>
            <pc:sldMk cId="1006064969" sldId="267"/>
            <ac:spMk id="3" creationId="{0EC5D841-2E60-B1EB-3102-76804FA3912E}"/>
          </ac:spMkLst>
        </pc:spChg>
      </pc:sldChg>
      <pc:sldChg chg="addSp add mod">
        <pc:chgData name="大下　誠二" userId="e5774685-19fa-48b9-bec1-68eebf9ac578" providerId="ADAL" clId="{CDBA04F6-D5A6-4F8F-A920-1860374E7F12}" dt="2026-10-23T02:02:56.882" v="7" actId="22"/>
        <pc:sldMkLst>
          <pc:docMk/>
          <pc:sldMk cId="2683881835" sldId="268"/>
        </pc:sldMkLst>
        <pc:picChg chg="add">
          <ac:chgData name="大下　誠二" userId="e5774685-19fa-48b9-bec1-68eebf9ac578" providerId="ADAL" clId="{CDBA04F6-D5A6-4F8F-A920-1860374E7F12}" dt="2026-10-23T02:02:56.882" v="7" actId="22"/>
          <ac:picMkLst>
            <pc:docMk/>
            <pc:sldMk cId="2683881835" sldId="268"/>
            <ac:picMk id="5" creationId="{69C28998-D9EB-DE72-F486-884DF679C676}"/>
          </ac:picMkLst>
        </pc:picChg>
      </pc:sldChg>
      <pc:sldChg chg="add ord">
        <pc:chgData name="大下　誠二" userId="e5774685-19fa-48b9-bec1-68eebf9ac578" providerId="ADAL" clId="{CDBA04F6-D5A6-4F8F-A920-1860374E7F12}" dt="2026-10-23T02:03:59.470" v="11" actId="20578"/>
        <pc:sldMkLst>
          <pc:docMk/>
          <pc:sldMk cId="0" sldId="322"/>
        </pc:sldMkLst>
      </pc:sldChg>
      <pc:sldChg chg="add ord">
        <pc:chgData name="大下　誠二" userId="e5774685-19fa-48b9-bec1-68eebf9ac578" providerId="ADAL" clId="{CDBA04F6-D5A6-4F8F-A920-1860374E7F12}" dt="2026-10-23T02:03:59.470" v="11" actId="20578"/>
        <pc:sldMkLst>
          <pc:docMk/>
          <pc:sldMk cId="0" sldId="323"/>
        </pc:sldMkLst>
      </pc:sldChg>
      <pc:sldChg chg="add ord">
        <pc:chgData name="大下　誠二" userId="e5774685-19fa-48b9-bec1-68eebf9ac578" providerId="ADAL" clId="{CDBA04F6-D5A6-4F8F-A920-1860374E7F12}" dt="2026-10-23T02:03:59.470" v="11" actId="20578"/>
        <pc:sldMkLst>
          <pc:docMk/>
          <pc:sldMk cId="0" sldId="324"/>
        </pc:sldMkLst>
      </pc:sldChg>
      <pc:sldChg chg="add ord">
        <pc:chgData name="大下　誠二" userId="e5774685-19fa-48b9-bec1-68eebf9ac578" providerId="ADAL" clId="{CDBA04F6-D5A6-4F8F-A920-1860374E7F12}" dt="2026-10-23T02:03:59.470" v="11" actId="20578"/>
        <pc:sldMkLst>
          <pc:docMk/>
          <pc:sldMk cId="0" sldId="325"/>
        </pc:sldMkLst>
      </pc:sldChg>
      <pc:sldChg chg="add ord">
        <pc:chgData name="大下　誠二" userId="e5774685-19fa-48b9-bec1-68eebf9ac578" providerId="ADAL" clId="{CDBA04F6-D5A6-4F8F-A920-1860374E7F12}" dt="2026-10-23T02:03:59.470" v="11" actId="20578"/>
        <pc:sldMkLst>
          <pc:docMk/>
          <pc:sldMk cId="0" sldId="326"/>
        </pc:sldMkLst>
      </pc:sldChg>
      <pc:sldChg chg="add ord">
        <pc:chgData name="大下　誠二" userId="e5774685-19fa-48b9-bec1-68eebf9ac578" providerId="ADAL" clId="{CDBA04F6-D5A6-4F8F-A920-1860374E7F12}" dt="2026-10-23T02:03:59.470" v="11" actId="20578"/>
        <pc:sldMkLst>
          <pc:docMk/>
          <pc:sldMk cId="0" sldId="327"/>
        </pc:sldMkLst>
      </pc:sldChg>
      <pc:sldChg chg="add ord">
        <pc:chgData name="大下　誠二" userId="e5774685-19fa-48b9-bec1-68eebf9ac578" providerId="ADAL" clId="{CDBA04F6-D5A6-4F8F-A920-1860374E7F12}" dt="2026-10-23T02:03:59.470" v="11" actId="20578"/>
        <pc:sldMkLst>
          <pc:docMk/>
          <pc:sldMk cId="0" sldId="328"/>
        </pc:sldMkLst>
      </pc:sldChg>
      <pc:sldChg chg="add ord">
        <pc:chgData name="大下　誠二" userId="e5774685-19fa-48b9-bec1-68eebf9ac578" providerId="ADAL" clId="{CDBA04F6-D5A6-4F8F-A920-1860374E7F12}" dt="2026-10-23T02:03:59.470" v="11" actId="20578"/>
        <pc:sldMkLst>
          <pc:docMk/>
          <pc:sldMk cId="0" sldId="329"/>
        </pc:sldMkLst>
      </pc:sldChg>
      <pc:sldChg chg="add ord">
        <pc:chgData name="大下　誠二" userId="e5774685-19fa-48b9-bec1-68eebf9ac578" providerId="ADAL" clId="{CDBA04F6-D5A6-4F8F-A920-1860374E7F12}" dt="2026-10-23T02:03:59.470" v="11" actId="20578"/>
        <pc:sldMkLst>
          <pc:docMk/>
          <pc:sldMk cId="0" sldId="330"/>
        </pc:sldMkLst>
      </pc:sldChg>
      <pc:sldChg chg="add ord">
        <pc:chgData name="大下　誠二" userId="e5774685-19fa-48b9-bec1-68eebf9ac578" providerId="ADAL" clId="{CDBA04F6-D5A6-4F8F-A920-1860374E7F12}" dt="2026-10-23T02:03:59.470" v="11" actId="20578"/>
        <pc:sldMkLst>
          <pc:docMk/>
          <pc:sldMk cId="0" sldId="331"/>
        </pc:sldMkLst>
      </pc:sldChg>
      <pc:sldChg chg="add ord">
        <pc:chgData name="大下　誠二" userId="e5774685-19fa-48b9-bec1-68eebf9ac578" providerId="ADAL" clId="{CDBA04F6-D5A6-4F8F-A920-1860374E7F12}" dt="2026-10-23T02:03:59.470" v="11" actId="20578"/>
        <pc:sldMkLst>
          <pc:docMk/>
          <pc:sldMk cId="0" sldId="332"/>
        </pc:sldMkLst>
      </pc:sldChg>
      <pc:sldChg chg="add ord">
        <pc:chgData name="大下　誠二" userId="e5774685-19fa-48b9-bec1-68eebf9ac578" providerId="ADAL" clId="{CDBA04F6-D5A6-4F8F-A920-1860374E7F12}" dt="2026-10-23T02:03:59.470" v="11" actId="20578"/>
        <pc:sldMkLst>
          <pc:docMk/>
          <pc:sldMk cId="0" sldId="333"/>
        </pc:sldMkLst>
      </pc:sldChg>
      <pc:sldChg chg="add ord">
        <pc:chgData name="大下　誠二" userId="e5774685-19fa-48b9-bec1-68eebf9ac578" providerId="ADAL" clId="{CDBA04F6-D5A6-4F8F-A920-1860374E7F12}" dt="2026-10-23T02:03:59.470" v="11" actId="20578"/>
        <pc:sldMkLst>
          <pc:docMk/>
          <pc:sldMk cId="0" sldId="334"/>
        </pc:sldMkLst>
      </pc:sldChg>
      <pc:sldChg chg="add ord">
        <pc:chgData name="大下　誠二" userId="e5774685-19fa-48b9-bec1-68eebf9ac578" providerId="ADAL" clId="{CDBA04F6-D5A6-4F8F-A920-1860374E7F12}" dt="2026-10-23T02:03:59.470" v="11" actId="20578"/>
        <pc:sldMkLst>
          <pc:docMk/>
          <pc:sldMk cId="0" sldId="335"/>
        </pc:sldMkLst>
      </pc:sldChg>
      <pc:sldChg chg="add ord">
        <pc:chgData name="大下　誠二" userId="e5774685-19fa-48b9-bec1-68eebf9ac578" providerId="ADAL" clId="{CDBA04F6-D5A6-4F8F-A920-1860374E7F12}" dt="2026-10-23T02:03:59.470" v="11" actId="20578"/>
        <pc:sldMkLst>
          <pc:docMk/>
          <pc:sldMk cId="0" sldId="336"/>
        </pc:sldMkLst>
      </pc:sldChg>
      <pc:sldChg chg="add ord">
        <pc:chgData name="大下　誠二" userId="e5774685-19fa-48b9-bec1-68eebf9ac578" providerId="ADAL" clId="{CDBA04F6-D5A6-4F8F-A920-1860374E7F12}" dt="2026-10-23T02:03:59.470" v="11" actId="20578"/>
        <pc:sldMkLst>
          <pc:docMk/>
          <pc:sldMk cId="0" sldId="337"/>
        </pc:sldMkLst>
      </pc:sldChg>
      <pc:sldChg chg="add ord">
        <pc:chgData name="大下　誠二" userId="e5774685-19fa-48b9-bec1-68eebf9ac578" providerId="ADAL" clId="{CDBA04F6-D5A6-4F8F-A920-1860374E7F12}" dt="2026-10-23T02:03:59.470" v="11" actId="20578"/>
        <pc:sldMkLst>
          <pc:docMk/>
          <pc:sldMk cId="0" sldId="338"/>
        </pc:sldMkLst>
      </pc:sldChg>
      <pc:sldChg chg="add ord">
        <pc:chgData name="大下　誠二" userId="e5774685-19fa-48b9-bec1-68eebf9ac578" providerId="ADAL" clId="{CDBA04F6-D5A6-4F8F-A920-1860374E7F12}" dt="2026-10-23T02:03:59.470" v="11" actId="20578"/>
        <pc:sldMkLst>
          <pc:docMk/>
          <pc:sldMk cId="0" sldId="339"/>
        </pc:sldMkLst>
      </pc:sldChg>
      <pc:sldChg chg="add ord">
        <pc:chgData name="大下　誠二" userId="e5774685-19fa-48b9-bec1-68eebf9ac578" providerId="ADAL" clId="{CDBA04F6-D5A6-4F8F-A920-1860374E7F12}" dt="2026-10-23T02:03:59.470" v="11" actId="20578"/>
        <pc:sldMkLst>
          <pc:docMk/>
          <pc:sldMk cId="0" sldId="340"/>
        </pc:sldMkLst>
      </pc:sldChg>
      <pc:sldChg chg="add ord">
        <pc:chgData name="大下　誠二" userId="e5774685-19fa-48b9-bec1-68eebf9ac578" providerId="ADAL" clId="{CDBA04F6-D5A6-4F8F-A920-1860374E7F12}" dt="2026-10-23T02:03:59.470" v="11" actId="20578"/>
        <pc:sldMkLst>
          <pc:docMk/>
          <pc:sldMk cId="0" sldId="341"/>
        </pc:sldMkLst>
      </pc:sldChg>
      <pc:sldChg chg="add ord">
        <pc:chgData name="大下　誠二" userId="e5774685-19fa-48b9-bec1-68eebf9ac578" providerId="ADAL" clId="{CDBA04F6-D5A6-4F8F-A920-1860374E7F12}" dt="2026-10-23T02:03:59.470" v="11" actId="20578"/>
        <pc:sldMkLst>
          <pc:docMk/>
          <pc:sldMk cId="0" sldId="342"/>
        </pc:sldMkLst>
      </pc:sldChg>
      <pc:sldChg chg="add ord">
        <pc:chgData name="大下　誠二" userId="e5774685-19fa-48b9-bec1-68eebf9ac578" providerId="ADAL" clId="{CDBA04F6-D5A6-4F8F-A920-1860374E7F12}" dt="2026-10-23T02:03:59.470" v="11" actId="20578"/>
        <pc:sldMkLst>
          <pc:docMk/>
          <pc:sldMk cId="0" sldId="343"/>
        </pc:sldMkLst>
      </pc:sldChg>
      <pc:sldChg chg="add ord">
        <pc:chgData name="大下　誠二" userId="e5774685-19fa-48b9-bec1-68eebf9ac578" providerId="ADAL" clId="{CDBA04F6-D5A6-4F8F-A920-1860374E7F12}" dt="2026-10-23T02:03:59.470" v="11" actId="20578"/>
        <pc:sldMkLst>
          <pc:docMk/>
          <pc:sldMk cId="0" sldId="344"/>
        </pc:sldMkLst>
      </pc:sldChg>
      <pc:sldChg chg="add ord">
        <pc:chgData name="大下　誠二" userId="e5774685-19fa-48b9-bec1-68eebf9ac578" providerId="ADAL" clId="{CDBA04F6-D5A6-4F8F-A920-1860374E7F12}" dt="2026-10-23T02:03:59.470" v="11" actId="20578"/>
        <pc:sldMkLst>
          <pc:docMk/>
          <pc:sldMk cId="0" sldId="345"/>
        </pc:sldMkLst>
      </pc:sldChg>
      <pc:sldChg chg="add ord">
        <pc:chgData name="大下　誠二" userId="e5774685-19fa-48b9-bec1-68eebf9ac578" providerId="ADAL" clId="{CDBA04F6-D5A6-4F8F-A920-1860374E7F12}" dt="2026-10-23T02:03:59.470" v="11" actId="20578"/>
        <pc:sldMkLst>
          <pc:docMk/>
          <pc:sldMk cId="0" sldId="346"/>
        </pc:sldMkLst>
      </pc:sldChg>
      <pc:sldChg chg="add ord">
        <pc:chgData name="大下　誠二" userId="e5774685-19fa-48b9-bec1-68eebf9ac578" providerId="ADAL" clId="{CDBA04F6-D5A6-4F8F-A920-1860374E7F12}" dt="2026-10-23T02:03:59.470" v="11" actId="20578"/>
        <pc:sldMkLst>
          <pc:docMk/>
          <pc:sldMk cId="0" sldId="347"/>
        </pc:sldMkLst>
      </pc:sldChg>
      <pc:sldChg chg="add ord">
        <pc:chgData name="大下　誠二" userId="e5774685-19fa-48b9-bec1-68eebf9ac578" providerId="ADAL" clId="{CDBA04F6-D5A6-4F8F-A920-1860374E7F12}" dt="2026-10-23T02:03:59.470" v="11" actId="20578"/>
        <pc:sldMkLst>
          <pc:docMk/>
          <pc:sldMk cId="0" sldId="348"/>
        </pc:sldMkLst>
      </pc:sldChg>
      <pc:sldChg chg="add ord">
        <pc:chgData name="大下　誠二" userId="e5774685-19fa-48b9-bec1-68eebf9ac578" providerId="ADAL" clId="{CDBA04F6-D5A6-4F8F-A920-1860374E7F12}" dt="2026-10-23T02:03:59.470" v="11" actId="20578"/>
        <pc:sldMkLst>
          <pc:docMk/>
          <pc:sldMk cId="0" sldId="349"/>
        </pc:sldMkLst>
      </pc:sldChg>
      <pc:sldChg chg="add ord">
        <pc:chgData name="大下　誠二" userId="e5774685-19fa-48b9-bec1-68eebf9ac578" providerId="ADAL" clId="{CDBA04F6-D5A6-4F8F-A920-1860374E7F12}" dt="2026-10-23T02:03:59.470" v="11" actId="20578"/>
        <pc:sldMkLst>
          <pc:docMk/>
          <pc:sldMk cId="0" sldId="350"/>
        </pc:sldMkLst>
      </pc:sldChg>
      <pc:sldMasterChg chg="addSp mod">
        <pc:chgData name="大下　誠二" userId="e5774685-19fa-48b9-bec1-68eebf9ac578" providerId="ADAL" clId="{CDBA04F6-D5A6-4F8F-A920-1860374E7F12}" dt="2026-10-23T02:02:44.708" v="5" actId="33475"/>
        <pc:sldMasterMkLst>
          <pc:docMk/>
          <pc:sldMasterMk cId="2209977519" sldId="2147483648"/>
        </pc:sldMasterMkLst>
        <pc:spChg chg="add">
          <ac:chgData name="大下　誠二" userId="e5774685-19fa-48b9-bec1-68eebf9ac578" providerId="ADAL" clId="{CDBA04F6-D5A6-4F8F-A920-1860374E7F12}" dt="2026-10-23T02:02:44.708" v="5" actId="33475"/>
          <ac:spMkLst>
            <pc:docMk/>
            <pc:sldMasterMk cId="2209977519" sldId="2147483648"/>
            <ac:spMk id="8" creationId="{51645AAE-FA55-6B09-9F8A-1BC64D82B691}"/>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51645AAE-FA55-6B09-9F8A-1BC64D82B691}"/>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19</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69C28998-D9EB-DE72-F486-884DF679C676}"/>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19.1  Introduction｜はじめに</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通常の存在／不在データには、実際には生息していても観測できなかった「偽の不在」が含まれる。観測確率pが1未満なのに無視すると、分布面積の過小評価、環境効果の弱化、検出しやすさと分布の混同が起こり得る。</a:t>
            </a:r>
          </a:p>
          <a:p>
            <a:pPr>
              <a:lnSpc>
                <a:spcPct val="117000"/>
              </a:lnSpc>
              <a:spcAft>
                <a:spcPts val="1300"/>
              </a:spcAft>
              <a:defRPr sz="1500">
                <a:solidFill>
                  <a:srgbClr val="252E38"/>
                </a:solidFill>
                <a:latin typeface="Yu Gothic"/>
              </a:defRPr>
            </a:pPr>
            <a:r>
              <a:t>• 占有モデルは真の生息状態zᵢ ～ Bernoulli(ψᵢ)と、各訪問での観測yᵢₜ ～ Bernoulli(zᵢpᵢₜ)を区別する。ψは生息確率、pは生息している条件下での検出確率である。</a:t>
            </a:r>
          </a:p>
          <a:p>
            <a:pPr>
              <a:lnSpc>
                <a:spcPct val="117000"/>
              </a:lnSpc>
              <a:spcAft>
                <a:spcPts val="1300"/>
              </a:spcAft>
              <a:defRPr sz="1500">
                <a:solidFill>
                  <a:srgbClr val="252E38"/>
                </a:solidFill>
                <a:latin typeface="Yu Gothic"/>
              </a:defRPr>
            </a:pPr>
            <a:r>
              <a:t>• 湿度が高い場所を好む植物でも植生が繁茂して見つけにくい場合がある。繰り返し訪問の検出履歴を利用することで生息と検出を分離する。短期間の閉鎖性などの仮定が必要である。</a:t>
            </a:r>
          </a:p>
          <a:p>
            <a:pPr>
              <a:lnSpc>
                <a:spcPct val="117000"/>
              </a:lnSpc>
              <a:spcAft>
                <a:spcPts val="1300"/>
              </a:spcAft>
              <a:defRPr sz="1500">
                <a:solidFill>
                  <a:srgbClr val="252E38"/>
                </a:solidFill>
                <a:latin typeface="Yu Gothic"/>
              </a:defRPr>
            </a:pPr>
            <a:r>
              <a:t>• 占有モデルの中心は、調査地点が実際に占有されているかという生態学的状態と、占有地点で調査者が発見するかという観測過程を分けることである。単一回訪問の「未検出」は必ずしも真の不在を意味しない。</a:t>
            </a:r>
          </a:p>
          <a:p>
            <a:pPr>
              <a:lnSpc>
                <a:spcPct val="117000"/>
              </a:lnSpc>
              <a:spcAft>
                <a:spcPts val="1300"/>
              </a:spcAft>
              <a:defRPr sz="1500">
                <a:solidFill>
                  <a:srgbClr val="252E38"/>
                </a:solidFill>
                <a:latin typeface="Yu Gothic"/>
              </a:defRPr>
            </a:pPr>
            <a:r>
              <a:t>• 反復訪問で状態が変わらない閉鎖性と偽陽性がないという仮定の下で、検出履歴010などから生息確率ψと検出確率pの双方を識別する。通常のSDMが推定しがちなψ×pと、目的とするψは異なる。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19  |  01 / 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19.2  Data generation｜データ生成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ジュラ地方の石灰質草地150地点でゲンチアナ類を各3回調査する設定である。湿度指数は−1～1で、生息確率のlogitは0+2×湿度、検出確率のlogitは0−3×湿度とする。</a:t>
            </a:r>
          </a:p>
          <a:p>
            <a:pPr>
              <a:lnSpc>
                <a:spcPct val="117000"/>
              </a:lnSpc>
              <a:spcAft>
                <a:spcPts val="1300"/>
              </a:spcAft>
              <a:defRPr sz="1500">
                <a:solidFill>
                  <a:srgbClr val="252E38"/>
                </a:solidFill>
                <a:latin typeface="Yu Gothic"/>
              </a:defRPr>
            </a:pPr>
            <a:r>
              <a:t>• 生成した潜在生息状態では77地点が占有されているが、3回の観測で少なくとも1回見つかったのは39地点だった。湿地ほど生息しやすい一方で検出しにくい設定が、観測上の混同を生む。</a:t>
            </a:r>
          </a:p>
          <a:p>
            <a:pPr>
              <a:lnSpc>
                <a:spcPct val="117000"/>
              </a:lnSpc>
              <a:spcAft>
                <a:spcPts val="1300"/>
              </a:spcAft>
              <a:defRPr sz="1500">
                <a:solidFill>
                  <a:srgbClr val="252E38"/>
                </a:solidFill>
                <a:latin typeface="Yu Gothic"/>
              </a:defRPr>
            </a:pPr>
            <a:r>
              <a:t>• 検出を無視して「一度でも見つかったか」を二項回帰すると、湿度に対する本当の正の関係が隠され、図19.3では弱い負の関係として見える。</a:t>
            </a:r>
          </a:p>
          <a:p>
            <a:pPr>
              <a:lnSpc>
                <a:spcPct val="117000"/>
              </a:lnSpc>
              <a:spcAft>
                <a:spcPts val="1300"/>
              </a:spcAft>
              <a:defRPr sz="1500">
                <a:solidFill>
                  <a:srgbClr val="252E38"/>
                </a:solidFill>
                <a:latin typeface="Yu Gothic"/>
              </a:defRPr>
            </a:pPr>
            <a:r>
              <a:t>• 原著では150地点の湿度指数を−1～1で生成し、真の占有状態はベルヌーイ乱数から作る。占有の湿度係数を+2、検出の湿度係数を−3として、同じ環境変数が二つの過程に逆の影響をもつ状況を設計する。</a:t>
            </a:r>
          </a:p>
          <a:p>
            <a:pPr>
              <a:lnSpc>
                <a:spcPct val="117000"/>
              </a:lnSpc>
              <a:spcAft>
                <a:spcPts val="1300"/>
              </a:spcAft>
              <a:defRPr sz="1500">
                <a:solidFill>
                  <a:srgbClr val="252E38"/>
                </a:solidFill>
                <a:latin typeface="Yu Gothic"/>
              </a:defRPr>
            </a:pPr>
            <a:r>
              <a:t>• 図19.2の左では湿度と生息確率が正に関係し、右では湿度と検出確率が負に関係する。図19.3の未補正ロジスティック回帰では正の生息選好が消え、観測過程を無視した解釈の危険性を示す。</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19  |  02 / 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19.3  Likelihood analysis with unmarked｜unmarkedによる尤度解析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Rのunmarkedでは、地点×反復訪問の検出履歴行列と地点共変量を用意し、occuで生息過程と検出過程を別々に回帰する。式の第1部は検出、第2部は生息の共変量に対応する。</a:t>
            </a:r>
          </a:p>
          <a:p>
            <a:pPr>
              <a:lnSpc>
                <a:spcPct val="117000"/>
              </a:lnSpc>
              <a:spcAft>
                <a:spcPts val="1300"/>
              </a:spcAft>
              <a:defRPr sz="1500">
                <a:solidFill>
                  <a:srgbClr val="252E38"/>
                </a:solidFill>
                <a:latin typeface="Yu Gothic"/>
              </a:defRPr>
            </a:pPr>
            <a:r>
              <a:t>• 原著の推定では、生息の湿度係数は1.489（SE 0.757）、検出の湿度係数は−3.548（SE 0.541）となった。検出を補正することで、湿潤地を好むという真の傾向が復元される。</a:t>
            </a:r>
          </a:p>
          <a:p>
            <a:pPr>
              <a:lnSpc>
                <a:spcPct val="117000"/>
              </a:lnSpc>
              <a:spcAft>
                <a:spcPts val="1300"/>
              </a:spcAft>
              <a:defRPr sz="1500">
                <a:solidFill>
                  <a:srgbClr val="252E38"/>
                </a:solidFill>
                <a:latin typeface="Yu Gothic"/>
              </a:defRPr>
            </a:pPr>
            <a:r>
              <a:t>• 検出確率だけでなく、未検出地点の潜在的な生息確率も条件付きで推定できる。単純な観測地点数と推定占有地点数を混同しないことが重要である。</a:t>
            </a:r>
          </a:p>
          <a:p>
            <a:pPr>
              <a:lnSpc>
                <a:spcPct val="117000"/>
              </a:lnSpc>
              <a:spcAft>
                <a:spcPts val="1300"/>
              </a:spcAft>
              <a:defRPr sz="1500">
                <a:solidFill>
                  <a:srgbClr val="252E38"/>
                </a:solidFill>
                <a:latin typeface="Yu Gothic"/>
              </a:defRPr>
            </a:pPr>
            <a:r>
              <a:t>• unmarkedの推定結果は占有の切片−0.226、湿度係数1.489、検出の切片0.175、湿度係数−3.548である。実現データが真の生成母数と完全一致しなくても、両過程の符号が適切に復元されている。</a:t>
            </a:r>
          </a:p>
          <a:p>
            <a:pPr>
              <a:lnSpc>
                <a:spcPct val="117000"/>
              </a:lnSpc>
              <a:spcAft>
                <a:spcPts val="1300"/>
              </a:spcAft>
              <a:defRPr sz="1500">
                <a:solidFill>
                  <a:srgbClr val="252E38"/>
                </a:solidFill>
                <a:latin typeface="Yu Gothic"/>
              </a:defRPr>
            </a:pPr>
            <a:r>
              <a:t>• 原著の150地点のうち少なくとも一回検出された地点は39であるが、生成時の真の占有地点は77。単に検出地点の割合を計算した値と、検出確率を補正した推定占有率を分けて考える。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19  |  03 /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19.4  Bayesian analysis with JAGS｜JAGSによるベイズ解析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JAGSは生息状態zᵢを未観測のベルヌーイ変数として明示する。zᵢと訪問ごとの検出yᵢₜを別々にモデル化し、各過程の確率ψᵢとpᵢₜに湿度の効果を導入する。</a:t>
            </a:r>
          </a:p>
          <a:p>
            <a:pPr>
              <a:lnSpc>
                <a:spcPct val="117000"/>
              </a:lnSpc>
              <a:spcAft>
                <a:spcPts val="1300"/>
              </a:spcAft>
              <a:defRPr sz="1500">
                <a:solidFill>
                  <a:srgbClr val="252E38"/>
                </a:solidFill>
                <a:latin typeface="Yu Gothic"/>
              </a:defRPr>
            </a:pPr>
            <a:r>
              <a:t>• 観測履歴に少なくとも1つ検出があればzᵢ=1が確定し、全訪問で未検出の場合はzᵢが0にも1にもなり得る。事後分布はこの潜在状態の不確実性を表す。</a:t>
            </a:r>
          </a:p>
          <a:p>
            <a:pPr>
              <a:lnSpc>
                <a:spcPct val="117000"/>
              </a:lnSpc>
              <a:spcAft>
                <a:spcPts val="1300"/>
              </a:spcAft>
              <a:defRPr sz="1500">
                <a:solidFill>
                  <a:srgbClr val="252E38"/>
                </a:solidFill>
                <a:latin typeface="Yu Gothic"/>
              </a:defRPr>
            </a:pPr>
            <a:r>
              <a:t>• MCMCによって係数と潜在生息数を同時推定し、従来の直接的なロジスティック回帰が見落とす観測過程を取り込む。</a:t>
            </a:r>
          </a:p>
          <a:p>
            <a:pPr>
              <a:lnSpc>
                <a:spcPct val="117000"/>
              </a:lnSpc>
              <a:spcAft>
                <a:spcPts val="1300"/>
              </a:spcAft>
              <a:defRPr sz="1500">
                <a:solidFill>
                  <a:srgbClr val="252E38"/>
                </a:solidFill>
                <a:latin typeface="Yu Gothic"/>
              </a:defRPr>
            </a:pPr>
            <a:r>
              <a:t>• 各地点の潜在変数zᵢを用い、状態モデルzᵢ～Bernoulli(ψᵢ)と観測モデルyᵢₜ～Bernoulli(zᵢpᵢₜ)を記述する。観測は地点×訪問の二次元配列であり、JAGSでは訪問を入れ子にしたモデルを用いる。</a:t>
            </a:r>
          </a:p>
          <a:p>
            <a:pPr>
              <a:lnSpc>
                <a:spcPct val="117000"/>
              </a:lnSpc>
              <a:spcAft>
                <a:spcPts val="1300"/>
              </a:spcAft>
              <a:defRPr sz="1500">
                <a:solidFill>
                  <a:srgbClr val="252E38"/>
                </a:solidFill>
                <a:latin typeface="Yu Gothic"/>
              </a:defRPr>
            </a:pPr>
            <a:r>
              <a:t>• 未検出地点に対しては、事後分布がzᵢ=0とzᵢ=1の両方を許す。これにより全地点の占有数も事後分布として得られ、欠測状態の推定不確実性を表現できる。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19  |  04 /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19.5  Bayesian analysis with NIMBLE｜NIMBLEによるベイズ解析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原著ではNIMBLEによる同じ占有モデルの推定方法を示すが、詳細コードは書籍ウェブサイトに置かれている。</a:t>
            </a:r>
          </a:p>
          <a:p>
            <a:pPr>
              <a:lnSpc>
                <a:spcPct val="117000"/>
              </a:lnSpc>
              <a:spcAft>
                <a:spcPts val="1300"/>
              </a:spcAft>
              <a:defRPr sz="1500">
                <a:solidFill>
                  <a:srgbClr val="252E38"/>
                </a:solidFill>
                <a:latin typeface="Yu Gothic"/>
              </a:defRPr>
            </a:pPr>
            <a:r>
              <a:t>• 生息状態と観測過程という二段階の確率構造はJAGSと共通する。地点固有の真の生息状態を潜在変数として持つことが、このモデルの特徴である。</a:t>
            </a:r>
          </a:p>
          <a:p>
            <a:pPr>
              <a:lnSpc>
                <a:spcPct val="117000"/>
              </a:lnSpc>
              <a:spcAft>
                <a:spcPts val="1300"/>
              </a:spcAft>
              <a:defRPr sz="1500">
                <a:solidFill>
                  <a:srgbClr val="252E38"/>
                </a:solidFill>
                <a:latin typeface="Yu Gothic"/>
              </a:defRPr>
            </a:pPr>
            <a:r>
              <a:t>• 他エンジンと結果を比較する際は、生息確率の係数と検出確率の係数の対応を確認する。</a:t>
            </a:r>
          </a:p>
          <a:p>
            <a:pPr>
              <a:lnSpc>
                <a:spcPct val="117000"/>
              </a:lnSpc>
              <a:spcAft>
                <a:spcPts val="1300"/>
              </a:spcAft>
              <a:defRPr sz="1500">
                <a:solidFill>
                  <a:srgbClr val="252E38"/>
                </a:solidFill>
                <a:latin typeface="Yu Gothic"/>
              </a:defRPr>
            </a:pPr>
            <a:r>
              <a:t>• 本節は原著ではモデルコードを付属ウェブサイトに委ねており、本文内に推定法の新たな定式化や独立した結果表は示されていない。</a:t>
            </a:r>
          </a:p>
          <a:p>
            <a:pPr>
              <a:lnSpc>
                <a:spcPct val="117000"/>
              </a:lnSpc>
              <a:spcAft>
                <a:spcPts val="1300"/>
              </a:spcAft>
              <a:defRPr sz="1500">
                <a:solidFill>
                  <a:srgbClr val="252E38"/>
                </a:solidFill>
                <a:latin typeface="Yu Gothic"/>
              </a:defRPr>
            </a:pPr>
            <a:r>
              <a:t>• 同じ観測履歴と二段階モデルについてNIMBLEを利用できることが本節の要点である。詳細なコードを再現する代わりに、各推定エンジン間の比較は19.10に委ねる。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19  |  05 /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19.6  Bayesian analysis with Stan｜Stanによるベイズ解析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Stanでは離散潜在変数zᵢをパラメータとして直接サンプリングできない。そのため、各地点の生息状態を足し合わせて消去した周辺尤度を用いる。</a:t>
            </a:r>
          </a:p>
          <a:p>
            <a:pPr>
              <a:lnSpc>
                <a:spcPct val="117000"/>
              </a:lnSpc>
              <a:spcAft>
                <a:spcPts val="1300"/>
              </a:spcAft>
              <a:defRPr sz="1500">
                <a:solidFill>
                  <a:srgbClr val="252E38"/>
                </a:solidFill>
                <a:latin typeface="Yu Gothic"/>
              </a:defRPr>
            </a:pPr>
            <a:r>
              <a:t>• 一度以上検出した地点では生息状態は確定するが、すべて非検出の地点については「非生息」と「生息だが全回未検出」の二つの可能性の確率を合算する。</a:t>
            </a:r>
          </a:p>
          <a:p>
            <a:pPr>
              <a:lnSpc>
                <a:spcPct val="117000"/>
              </a:lnSpc>
              <a:spcAft>
                <a:spcPts val="1300"/>
              </a:spcAft>
              <a:defRPr sz="1500">
                <a:solidFill>
                  <a:srgbClr val="252E38"/>
                </a:solidFill>
                <a:latin typeface="Yu Gothic"/>
              </a:defRPr>
            </a:pPr>
            <a:r>
              <a:t>• 統合された尤度は、離散潜在状態を明示的に書くJAGSと同じ観測データ分布を表す。実装方法は異なっても推定対象は同じである。</a:t>
            </a:r>
          </a:p>
          <a:p>
            <a:pPr>
              <a:lnSpc>
                <a:spcPct val="117000"/>
              </a:lnSpc>
              <a:spcAft>
                <a:spcPts val="1300"/>
              </a:spcAft>
              <a:defRPr sz="1500">
                <a:solidFill>
                  <a:srgbClr val="252E38"/>
                </a:solidFill>
                <a:latin typeface="Yu Gothic"/>
              </a:defRPr>
            </a:pPr>
            <a:r>
              <a:t>• Stanは離散パラメータの直接サンプリングをしないため、未知状態zᵢについて和を取り、周辺尤度を書いて推定する。検出ありの地点と全訪問未検出の地点とで尤度の寄与が異なる。</a:t>
            </a:r>
          </a:p>
          <a:p>
            <a:pPr>
              <a:lnSpc>
                <a:spcPct val="117000"/>
              </a:lnSpc>
              <a:spcAft>
                <a:spcPts val="1300"/>
              </a:spcAft>
              <a:defRPr sz="1500">
                <a:solidFill>
                  <a:srgbClr val="252E38"/>
                </a:solidFill>
                <a:latin typeface="Yu Gothic"/>
              </a:defRPr>
            </a:pPr>
            <a:r>
              <a:t>• 特に一度も検出されない地点の確率には、非占有の確率(1−ψᵢ)と、占有されているが全訪問で見逃す確率ψᵢ∏ₜ(1−pᵢₜ)の両方が含まれる。これを落とすと占有と検出を分けることができない。</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19  |  06 / 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19.7  Bayesian analysis with ubms｜ubmsによるベイズ解析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ubmsはStanを内部に用いる専用のベイズモデル推定パッケージであり、unmarkedに似た使い方で占有モデルを解析できる。</a:t>
            </a:r>
          </a:p>
          <a:p>
            <a:pPr>
              <a:lnSpc>
                <a:spcPct val="117000"/>
              </a:lnSpc>
              <a:spcAft>
                <a:spcPts val="1300"/>
              </a:spcAft>
              <a:defRPr sz="1500">
                <a:solidFill>
                  <a:srgbClr val="252E38"/>
                </a:solidFill>
                <a:latin typeface="Yu Gothic"/>
              </a:defRPr>
            </a:pPr>
            <a:r>
              <a:t>• 生息と検出に対する説明変数を分けて指定できるため、階層モデルの構造を保ちながら専用関数の操作性を利用できる。</a:t>
            </a:r>
          </a:p>
          <a:p>
            <a:pPr>
              <a:lnSpc>
                <a:spcPct val="117000"/>
              </a:lnSpc>
              <a:spcAft>
                <a:spcPts val="1300"/>
              </a:spcAft>
              <a:defRPr sz="1500">
                <a:solidFill>
                  <a:srgbClr val="252E38"/>
                </a:solidFill>
                <a:latin typeface="Yu Gothic"/>
              </a:defRPr>
            </a:pPr>
            <a:r>
              <a:t>• 原著ではunmarkedとubmsの両方を示し、尤度法とベイズ法を比較するための選択肢を増やしている。</a:t>
            </a:r>
          </a:p>
          <a:p>
            <a:pPr>
              <a:lnSpc>
                <a:spcPct val="117000"/>
              </a:lnSpc>
              <a:spcAft>
                <a:spcPts val="1300"/>
              </a:spcAft>
              <a:defRPr sz="1500">
                <a:solidFill>
                  <a:srgbClr val="252E38"/>
                </a:solidFill>
                <a:latin typeface="Yu Gothic"/>
              </a:defRPr>
            </a:pPr>
            <a:r>
              <a:t>• ubmsはunmarkedに近い式指定とStanによるベイズ推定を結ぶ専用のインターフェースである。観測過程と状態過程に異なる説明変数を与えられる。</a:t>
            </a:r>
          </a:p>
          <a:p>
            <a:pPr>
              <a:lnSpc>
                <a:spcPct val="117000"/>
              </a:lnSpc>
              <a:spcAft>
                <a:spcPts val="1300"/>
              </a:spcAft>
              <a:defRPr sz="1500">
                <a:solidFill>
                  <a:srgbClr val="252E38"/>
                </a:solidFill>
                <a:latin typeface="Yu Gothic"/>
              </a:defRPr>
            </a:pPr>
            <a:r>
              <a:t>• 原著の目的は一つのパッケージだけを推奨することではなく、同一の占有モデルを複数の推定法で表現し、得られる推定値を比較することである。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19  |  07 /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19.8  Do-it-yourself maximum likelihood estimates｜自作の最尤推定</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未観測の生息状態zᵢを取り除いた各地点の周辺尤度を構築する。検出履歴に1があれば占有されていることが確定し、全て0なら非占有または全回見逃しの確率の和になる。</a:t>
            </a:r>
          </a:p>
          <a:p>
            <a:pPr>
              <a:lnSpc>
                <a:spcPct val="117000"/>
              </a:lnSpc>
              <a:spcAft>
                <a:spcPts val="1300"/>
              </a:spcAft>
              <a:defRPr sz="1500">
                <a:solidFill>
                  <a:srgbClr val="252E38"/>
                </a:solidFill>
                <a:latin typeface="Yu Gothic"/>
              </a:defRPr>
            </a:pPr>
            <a:r>
              <a:t>• 各地点の尤度を掛け合わせ、対数をとって負号を付けた目的関数を最小化する。これは階層的な生成モデルを、観測データだけの尤度として書き直したものである。</a:t>
            </a:r>
          </a:p>
          <a:p>
            <a:pPr>
              <a:lnSpc>
                <a:spcPct val="117000"/>
              </a:lnSpc>
              <a:spcAft>
                <a:spcPts val="1300"/>
              </a:spcAft>
              <a:defRPr sz="1500">
                <a:solidFill>
                  <a:srgbClr val="252E38"/>
                </a:solidFill>
                <a:latin typeface="Yu Gothic"/>
              </a:defRPr>
            </a:pPr>
            <a:r>
              <a:t>• コードの詳細は別資料とし、本スライドでは「生息状態を積分・総和で取り除いて推定する」という統計的な構造を理解する。</a:t>
            </a:r>
          </a:p>
          <a:p>
            <a:pPr>
              <a:lnSpc>
                <a:spcPct val="117000"/>
              </a:lnSpc>
              <a:spcAft>
                <a:spcPts val="1300"/>
              </a:spcAft>
              <a:defRPr sz="1500">
                <a:solidFill>
                  <a:srgbClr val="252E38"/>
                </a:solidFill>
                <a:latin typeface="Yu Gothic"/>
              </a:defRPr>
            </a:pPr>
            <a:r>
              <a:t>• 観測尤度では、いずれかの訪問で検出された地点についてψᵢ∏ₜpᵢₜ^{yᵢₜ}(1−pᵢₜ)^{1−yᵢₜ}を用いる。一度も検出されなかった地点は(1−ψᵢ)+ψᵢ∏ₜ(1−pᵢₜ)となる。</a:t>
            </a:r>
          </a:p>
          <a:p>
            <a:pPr>
              <a:lnSpc>
                <a:spcPct val="117000"/>
              </a:lnSpc>
              <a:spcAft>
                <a:spcPts val="1300"/>
              </a:spcAft>
              <a:defRPr sz="1500">
                <a:solidFill>
                  <a:srgbClr val="252E38"/>
                </a:solidFill>
                <a:latin typeface="Yu Gothic"/>
              </a:defRPr>
            </a:pPr>
            <a:r>
              <a:t>• この二つの場合分けを使えば、潜在状態zᵢを陽に推定しなくても、全地点の観測履歴の周辺尤度を計算できる。観測だけから状態の存在確率を推定する仕組みが明確になる。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19  |  08 /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19.9  Likelihood analysis with TMB｜TMBによる尤度解析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TMBでも、占有状態が離散的であることを考慮して各地点の観測尤度を実装する。通常の正規ランダム効果とは異なるため、離散状態の確率を適切に合計する必要がある。</a:t>
            </a:r>
          </a:p>
          <a:p>
            <a:pPr>
              <a:lnSpc>
                <a:spcPct val="117000"/>
              </a:lnSpc>
              <a:spcAft>
                <a:spcPts val="1300"/>
              </a:spcAft>
              <a:defRPr sz="1500">
                <a:solidFill>
                  <a:srgbClr val="252E38"/>
                </a:solidFill>
                <a:latin typeface="Yu Gothic"/>
              </a:defRPr>
            </a:pPr>
            <a:r>
              <a:t>• 生息確率と検出確率に別々のロジット線形予測子を設定し、実際の検出履歴が生じる確率から尤度を得る。</a:t>
            </a:r>
          </a:p>
          <a:p>
            <a:pPr>
              <a:lnSpc>
                <a:spcPct val="117000"/>
              </a:lnSpc>
              <a:spcAft>
                <a:spcPts val="1300"/>
              </a:spcAft>
              <a:defRPr sz="1500">
                <a:solidFill>
                  <a:srgbClr val="252E38"/>
                </a:solidFill>
                <a:latin typeface="Yu Gothic"/>
              </a:defRPr>
            </a:pPr>
            <a:r>
              <a:t>• 最尤法・ベイズ法を通じ、モデルの本質は同じ二つの確率過程にある。</a:t>
            </a:r>
          </a:p>
          <a:p>
            <a:pPr>
              <a:lnSpc>
                <a:spcPct val="117000"/>
              </a:lnSpc>
              <a:spcAft>
                <a:spcPts val="1300"/>
              </a:spcAft>
              <a:defRPr sz="1500">
                <a:solidFill>
                  <a:srgbClr val="252E38"/>
                </a:solidFill>
                <a:latin typeface="Yu Gothic"/>
              </a:defRPr>
            </a:pPr>
            <a:r>
              <a:t>• TMBはRで与えられたデータとC++内の確率モデルから負の対数尤度を作り、最尤推定を行う。ベルヌーイ型の占有潜在状態は、正規混合モデルの連続ランダム効果とは異なるため、適切な周辺化が必要である。</a:t>
            </a:r>
          </a:p>
          <a:p>
            <a:pPr>
              <a:lnSpc>
                <a:spcPct val="117000"/>
              </a:lnSpc>
              <a:spcAft>
                <a:spcPts val="1300"/>
              </a:spcAft>
              <a:defRPr sz="1500">
                <a:solidFill>
                  <a:srgbClr val="252E38"/>
                </a:solidFill>
                <a:latin typeface="Yu Gothic"/>
              </a:defRPr>
            </a:pPr>
            <a:r>
              <a:t>• 本節とStanおよびDIY最尤法が共有する中核は、未観測状態を観測確率から周辺化する点である。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19  |  09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19.10  Comparison of the parameter estimates｜推定結果の比較</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unmarked、JAGS、NIMBLE、Stan、ubms、自作尤度、TMBの各方法による推定を原著で比較する。モデルが同じなら、実装間の一致は確認作業として意味がある。</a:t>
            </a:r>
          </a:p>
          <a:p>
            <a:pPr>
              <a:lnSpc>
                <a:spcPct val="117000"/>
              </a:lnSpc>
              <a:spcAft>
                <a:spcPts val="1300"/>
              </a:spcAft>
              <a:defRPr sz="1500">
                <a:solidFill>
                  <a:srgbClr val="252E38"/>
                </a:solidFill>
                <a:latin typeface="Yu Gothic"/>
              </a:defRPr>
            </a:pPr>
            <a:r>
              <a:t>• 特に注目するのは、生息確率と検出確率への湿度効果が逆符号である点である。生息過程に正の湿度効果、観測過程に負の湿度効果が現れる。</a:t>
            </a:r>
          </a:p>
          <a:p>
            <a:pPr>
              <a:lnSpc>
                <a:spcPct val="117000"/>
              </a:lnSpc>
              <a:spcAft>
                <a:spcPts val="1300"/>
              </a:spcAft>
              <a:defRPr sz="1500">
                <a:solidFill>
                  <a:srgbClr val="252E38"/>
                </a:solidFill>
                <a:latin typeface="Yu Gothic"/>
              </a:defRPr>
            </a:pPr>
            <a:r>
              <a:t>• 完全に観測された占有地点数と、見逃し補正後の推定値とは異なる。これこそ検出過程を明示する理由である。</a:t>
            </a:r>
          </a:p>
          <a:p>
            <a:pPr>
              <a:lnSpc>
                <a:spcPct val="117000"/>
              </a:lnSpc>
              <a:spcAft>
                <a:spcPts val="1300"/>
              </a:spcAft>
              <a:defRPr sz="1500">
                <a:solidFill>
                  <a:srgbClr val="252E38"/>
                </a:solidFill>
                <a:latin typeface="Yu Gothic"/>
              </a:defRPr>
            </a:pPr>
            <a:r>
              <a:t>• 比較するのは占有過程のα・βと検出過程のα・βであり、名称が同じ「湿度係数」でも生息と検出では意味と符号が異なる。</a:t>
            </a:r>
          </a:p>
          <a:p>
            <a:pPr>
              <a:lnSpc>
                <a:spcPct val="117000"/>
              </a:lnSpc>
              <a:spcAft>
                <a:spcPts val="1300"/>
              </a:spcAft>
              <a:defRPr sz="1500">
                <a:solidFill>
                  <a:srgbClr val="252E38"/>
                </a:solidFill>
                <a:latin typeface="Yu Gothic"/>
              </a:defRPr>
            </a:pPr>
            <a:r>
              <a:t>• 真の生息率に関する科学的問いに答えるため、実際の検出率が低い地点ほど未検出と非占有の区別が重要になる。複数エンジンでの一致は、観測確率の定式化を検証する助けとなる。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19  |  10 / 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19.11  Summary and outlook｜まとめと展望</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占有モデルは、真の生息状態の生物過程と、見逃しを含む観測過程を明示的に区別する階層モデルである。</a:t>
            </a:r>
          </a:p>
          <a:p>
            <a:pPr>
              <a:lnSpc>
                <a:spcPct val="117000"/>
              </a:lnSpc>
              <a:spcAft>
                <a:spcPts val="1300"/>
              </a:spcAft>
              <a:defRPr sz="1500">
                <a:solidFill>
                  <a:srgbClr val="252E38"/>
                </a:solidFill>
                <a:latin typeface="Yu Gothic"/>
              </a:defRPr>
            </a:pPr>
            <a:r>
              <a:t>• 繰り返し調査により検出履歴を得ると、占有確率ψと検出確率pの両方を推定できる。従来の存在／不在回帰では両者が混同される。</a:t>
            </a:r>
          </a:p>
          <a:p>
            <a:pPr>
              <a:lnSpc>
                <a:spcPct val="117000"/>
              </a:lnSpc>
              <a:spcAft>
                <a:spcPts val="1300"/>
              </a:spcAft>
              <a:defRPr sz="1500">
                <a:solidFill>
                  <a:srgbClr val="252E38"/>
                </a:solidFill>
                <a:latin typeface="Yu Gothic"/>
              </a:defRPr>
            </a:pPr>
            <a:r>
              <a:t>• 本章は二値の潜在状態を扱ったが、同様の考え方は個体数を潜在変数とするN-mixtureモデルなどにもつながる。</a:t>
            </a:r>
          </a:p>
          <a:p>
            <a:pPr>
              <a:lnSpc>
                <a:spcPct val="117000"/>
              </a:lnSpc>
              <a:spcAft>
                <a:spcPts val="1300"/>
              </a:spcAft>
              <a:defRPr sz="1500">
                <a:solidFill>
                  <a:srgbClr val="252E38"/>
                </a:solidFill>
                <a:latin typeface="Yu Gothic"/>
              </a:defRPr>
            </a:pPr>
            <a:r>
              <a:t>• 反復調査から得る検出履歴は単一の存在／不在標識より多くの情報を含む。種の発見しやすさが環境と関係する場合には、検出確率を無視した回帰の結果は環境選好を誤って示しかねない。</a:t>
            </a:r>
          </a:p>
          <a:p>
            <a:pPr>
              <a:lnSpc>
                <a:spcPct val="117000"/>
              </a:lnSpc>
              <a:spcAft>
                <a:spcPts val="1300"/>
              </a:spcAft>
              <a:defRPr sz="1500">
                <a:solidFill>
                  <a:srgbClr val="252E38"/>
                </a:solidFill>
                <a:latin typeface="Yu Gothic"/>
              </a:defRPr>
            </a:pPr>
            <a:r>
              <a:t>• 本章は潜在状態をベルヌーイで表す占有モデルを説明した。原著は関連モデルとして、潜在的な個体数をポアソン分布で表すN-mixtureモデルを補助章19Bで扱う。</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19  |  11 / 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占有モデル</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章のモデルとRコードの対応</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zᵢ~Bernoulli(ψᵢ)；yᵢₜ~Bernoulli(zᵢpᵢₜ)</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原著Rコードの節構成を保持して解説する。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計算値は掲載せず、使用関数・確率モデル・推定の仕組みを確認する。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 NIMBLE / Stan / 自作尤度 / TMBの実装差に注目する。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未実行・推定値未検証   |   説明文はコード解読に基づく補足</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19.2  データ生成</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Data generation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set.seed(19)</a:t>
            </a:r>
          </a:p>
          <a:p>
            <a:pPr>
              <a:spcAft>
                <a:spcPts val="400"/>
              </a:spcAft>
              <a:defRPr sz="1130" b="0">
                <a:solidFill>
                  <a:srgbClr val="132843"/>
                </a:solidFill>
                <a:latin typeface="Consolas"/>
              </a:defRPr>
            </a:pPr>
            <a:r>
              <a:t>plot(humidity, occ.prob, ylim = c(0,1), xlab = "Humidity index", ylab = "Occupancy probability",</a:t>
            </a:r>
          </a:p>
          <a:p>
            <a:pPr>
              <a:spcAft>
                <a:spcPts val="400"/>
              </a:spcAft>
              <a:defRPr sz="1130" b="0">
                <a:solidFill>
                  <a:srgbClr val="132843"/>
                </a:solidFill>
                <a:latin typeface="Consolas"/>
              </a:defRPr>
            </a:pPr>
            <a:r>
              <a:t>(true_Nz &lt;- sum(z)) # Number of occupied sites among the visited sites</a:t>
            </a:r>
          </a:p>
          <a:p>
            <a:pPr>
              <a:spcAft>
                <a:spcPts val="400"/>
              </a:spcAft>
              <a:defRPr sz="1130" b="0">
                <a:solidFill>
                  <a:srgbClr val="132843"/>
                </a:solidFill>
                <a:latin typeface="Consolas"/>
              </a:defRPr>
            </a:pPr>
            <a:r>
              <a:t>plot(humidity, p, ylim = c(0,1), xlab = "Humidity index", ylab = "Detection probability",</a:t>
            </a:r>
          </a:p>
          <a:p>
            <a:pPr>
              <a:spcAft>
                <a:spcPts val="400"/>
              </a:spcAft>
              <a:defRPr sz="1130" b="0">
                <a:solidFill>
                  <a:srgbClr val="132843"/>
                </a:solidFill>
                <a:latin typeface="Consolas"/>
              </a:defRPr>
            </a:pPr>
            <a:r>
              <a:t>(obs_Nz &lt;- sum(apply(y, 1, sum) &gt; 0)) # 39</a:t>
            </a:r>
          </a:p>
          <a:p>
            <a:pPr>
              <a:spcAft>
                <a:spcPts val="400"/>
              </a:spcAft>
              <a:defRPr sz="1130" b="0">
                <a:solidFill>
                  <a:srgbClr val="132843"/>
                </a:solidFill>
                <a:latin typeface="Consolas"/>
              </a:defRPr>
            </a:pPr>
            <a:r>
              <a:t>naive.analysis &lt;- glm(obsZ ~ humidity, family = binomial)</a:t>
            </a:r>
          </a:p>
          <a:p>
            <a:pPr>
              <a:spcAft>
                <a:spcPts val="400"/>
              </a:spcAft>
              <a:defRPr sz="1130" b="0">
                <a:solidFill>
                  <a:srgbClr val="132843"/>
                </a:solidFill>
                <a:latin typeface="Consolas"/>
              </a:defRPr>
            </a:pPr>
            <a:r>
              <a:t>lpred.naive &lt;- predict(naive.analysis, type = 'link', se = TRUE)</a:t>
            </a:r>
          </a:p>
          <a:p>
            <a:pPr>
              <a:spcAft>
                <a:spcPts val="400"/>
              </a:spcAft>
              <a:defRPr sz="1130" b="0">
                <a:solidFill>
                  <a:srgbClr val="132843"/>
                </a:solidFill>
                <a:latin typeface="Consolas"/>
              </a:defRPr>
            </a:pPr>
            <a:r>
              <a:t>plot(humidity, pred.naive, ylim = c(0, 0.6), xlab = "Humidity index",</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固定した乱数シードと真値から、線形予測子→期待値→観測値を作る。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モデル行列と係数の次元・順番を確認する。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生成時の真値 truth を後段の推定と比較する。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19.2   |   未実行・推定値未検証   |   説明文はコード解読に基づく補足</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19.3  既存R関数</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canned functions in the R package unmarked</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summary( umf &lt;- unmarkedFrameOccu(y = y, siteCovs = data.frame(humidity = humidity)) )</a:t>
            </a:r>
          </a:p>
          <a:p>
            <a:pPr>
              <a:spcAft>
                <a:spcPts val="400"/>
              </a:spcAft>
              <a:defRPr sz="1130" b="0">
                <a:solidFill>
                  <a:srgbClr val="132843"/>
                </a:solidFill>
                <a:latin typeface="Consolas"/>
              </a:defRPr>
            </a:pPr>
            <a:r>
              <a:t>summary(out19.3 &lt;- occu(~humidity ~humidity, data = umf))</a:t>
            </a:r>
          </a:p>
          <a:p>
            <a:pPr>
              <a:spcAft>
                <a:spcPts val="400"/>
              </a:spcAft>
              <a:defRPr sz="1130" b="0">
                <a:solidFill>
                  <a:srgbClr val="132843"/>
                </a:solidFill>
                <a:latin typeface="Consolas"/>
              </a:defRPr>
            </a:pPr>
            <a:r>
              <a:t>state.pred &lt;- predict(out19.3, type = 'state')</a:t>
            </a:r>
          </a:p>
          <a:p>
            <a:pPr>
              <a:spcAft>
                <a:spcPts val="400"/>
              </a:spcAft>
              <a:defRPr sz="1130" b="0">
                <a:solidFill>
                  <a:srgbClr val="132843"/>
                </a:solidFill>
                <a:latin typeface="Consolas"/>
              </a:defRPr>
            </a:pPr>
            <a:r>
              <a:t>det.pred &lt;- predict(out19.3, type = 'det')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glm/glmmTMB/unmarked 等の既存関数で基準となる推定を実施する。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family・link・説明変数の指定がモデルの仮定を決める。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summary、VarCorr、DHARMa等で推定・診断を確認。</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19.3   |   未実行・推定値未検証   |   説明文はコード解読に基づく補足</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19.4  JAGS</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alpha.occ &lt;- logit(occ.int)</a:t>
            </a:r>
          </a:p>
          <a:p>
            <a:pPr>
              <a:spcAft>
                <a:spcPts val="400"/>
              </a:spcAft>
              <a:defRPr sz="1130" b="0">
                <a:solidFill>
                  <a:srgbClr val="132843"/>
                </a:solidFill>
                <a:latin typeface="Consolas"/>
              </a:defRPr>
            </a:pPr>
            <a:r>
              <a:t>beta.occ ~ dnorm(0, 0.0001)</a:t>
            </a:r>
          </a:p>
          <a:p>
            <a:pPr>
              <a:spcAft>
                <a:spcPts val="400"/>
              </a:spcAft>
              <a:defRPr sz="1130" b="0">
                <a:solidFill>
                  <a:srgbClr val="132843"/>
                </a:solidFill>
                <a:latin typeface="Consolas"/>
              </a:defRPr>
            </a:pPr>
            <a:r>
              <a:t>alpha.p &lt;- logit(p.int)</a:t>
            </a:r>
          </a:p>
          <a:p>
            <a:pPr>
              <a:spcAft>
                <a:spcPts val="400"/>
              </a:spcAft>
              <a:defRPr sz="1130" b="0">
                <a:solidFill>
                  <a:srgbClr val="132843"/>
                </a:solidFill>
                <a:latin typeface="Consolas"/>
              </a:defRPr>
            </a:pPr>
            <a:r>
              <a:t>beta.p ~ dnorm(0, 0.0001)</a:t>
            </a:r>
          </a:p>
          <a:p>
            <a:pPr>
              <a:spcAft>
                <a:spcPts val="400"/>
              </a:spcAft>
              <a:defRPr sz="1130" b="0">
                <a:solidFill>
                  <a:srgbClr val="132843"/>
                </a:solidFill>
                <a:latin typeface="Consolas"/>
              </a:defRPr>
            </a:pPr>
            <a:r>
              <a:t>z[i] ~ dbern(psi[i]) # True occupancy z at site i</a:t>
            </a:r>
          </a:p>
          <a:p>
            <a:pPr>
              <a:spcAft>
                <a:spcPts val="400"/>
              </a:spcAft>
              <a:defRPr sz="1130" b="0">
                <a:solidFill>
                  <a:srgbClr val="132843"/>
                </a:solidFill>
                <a:latin typeface="Consolas"/>
              </a:defRPr>
            </a:pPr>
            <a:r>
              <a:t>logit(psi[i]) &lt;- alpha.occ + beta.occ * humidity[i]</a:t>
            </a:r>
          </a:p>
          <a:p>
            <a:pPr>
              <a:spcAft>
                <a:spcPts val="400"/>
              </a:spcAft>
              <a:defRPr sz="1130" b="0">
                <a:solidFill>
                  <a:srgbClr val="132843"/>
                </a:solidFill>
                <a:latin typeface="Consolas"/>
              </a:defRPr>
            </a:pPr>
            <a:r>
              <a:t>y[i,t] ~ dbern(eff.p[i,t]) # Detection-nondetection at i and t</a:t>
            </a:r>
          </a:p>
          <a:p>
            <a:pPr>
              <a:spcAft>
                <a:spcPts val="400"/>
              </a:spcAft>
              <a:defRPr sz="1130" b="0">
                <a:solidFill>
                  <a:srgbClr val="132843"/>
                </a:solidFill>
                <a:latin typeface="Consolas"/>
              </a:defRPr>
            </a:pPr>
            <a:r>
              <a:t>logit(p[i,t]) &lt;- alpha.p + beta.p * humidity[i]</a:t>
            </a:r>
          </a:p>
          <a:p>
            <a:pPr>
              <a:spcAft>
                <a:spcPts val="400"/>
              </a:spcAft>
              <a:defRPr sz="1130" b="0">
                <a:solidFill>
                  <a:srgbClr val="132843"/>
                </a:solidFill>
                <a:latin typeface="Consolas"/>
              </a:defRPr>
            </a:pPr>
            <a:r>
              <a:t>occ.fs &lt;- sum(z[])</a:t>
            </a:r>
          </a:p>
          <a:p>
            <a:pPr>
              <a:spcAft>
                <a:spcPts val="400"/>
              </a:spcAft>
              <a:defRPr sz="1130" b="0">
                <a:solidFill>
                  <a:srgbClr val="132843"/>
                </a:solidFill>
                <a:latin typeface="Consolas"/>
              </a:defRPr>
            </a:pPr>
            <a:r>
              <a:t>params &lt;- c("alpha.occ","beta.occ", "alpha.p", "beta.p", "occ.fs", "occ.int", "p.int")</a:t>
            </a:r>
          </a:p>
          <a:p>
            <a:pPr>
              <a:spcAft>
                <a:spcPts val="400"/>
              </a:spcAft>
              <a:defRPr sz="1130" b="0">
                <a:solidFill>
                  <a:srgbClr val="132843"/>
                </a:solidFill>
                <a:latin typeface="Consolas"/>
              </a:defRPr>
            </a:pPr>
            <a:r>
              <a:t>na &lt;- 5000 ; ni &lt;- 50000 ; nb &lt;- 10000 ; nc &lt;- 4 ; nt &lt;- 10</a:t>
            </a:r>
          </a:p>
          <a:p>
            <a:pPr>
              <a:spcAft>
                <a:spcPts val="400"/>
              </a:spcAft>
              <a:defRPr sz="1130" b="0">
                <a:solidFill>
                  <a:srgbClr val="132843"/>
                </a:solidFill>
                <a:latin typeface="Consolas"/>
              </a:defRPr>
            </a:pPr>
            <a:r>
              <a:t>out19.4 &lt;- jags(dataList, inits, params, "model19.4.txt", n.iter = ni, n.burnin = nb,</a:t>
            </a:r>
          </a:p>
          <a:p>
            <a:pPr>
              <a:spcAft>
                <a:spcPts val="400"/>
              </a:spcAft>
              <a:defRPr sz="1130" b="0">
                <a:solidFill>
                  <a:srgbClr val="132843"/>
                </a:solidFill>
                <a:latin typeface="Consolas"/>
              </a:defRPr>
            </a:pPr>
            <a:r>
              <a:t>jags_Nz &lt;- round(out19.4$mean$occ.fs,2)</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事前分布→潜在変数・線形予測子→観測尤度の順にモデルを記述。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JAGSの dnorm(平均, 精度) の精度 τ は 1/σ²。dbin は確率を先、試行数を後に置く。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で複数チェーンを走らせ、traceplot と事後分布を確認。</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19.4   |   未実行・推定値未検証   |   説明文はコード解読に基づく補足</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19.4  JAGS：実装を読む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alpha.occ &lt;- logit(occ.int)</a:t>
            </a:r>
          </a:p>
          <a:p>
            <a:pPr>
              <a:spcAft>
                <a:spcPts val="400"/>
              </a:spcAft>
              <a:defRPr sz="1130" b="0">
                <a:solidFill>
                  <a:srgbClr val="132843"/>
                </a:solidFill>
                <a:latin typeface="Consolas"/>
              </a:defRPr>
            </a:pPr>
            <a:r>
              <a:t>beta.occ ~ dnorm(0, 0.0001)</a:t>
            </a:r>
          </a:p>
          <a:p>
            <a:pPr>
              <a:spcAft>
                <a:spcPts val="400"/>
              </a:spcAft>
              <a:defRPr sz="1130" b="0">
                <a:solidFill>
                  <a:srgbClr val="132843"/>
                </a:solidFill>
                <a:latin typeface="Consolas"/>
              </a:defRPr>
            </a:pPr>
            <a:r>
              <a:t>alpha.p &lt;- logit(p.int)</a:t>
            </a:r>
          </a:p>
          <a:p>
            <a:pPr>
              <a:spcAft>
                <a:spcPts val="400"/>
              </a:spcAft>
              <a:defRPr sz="1130" b="0">
                <a:solidFill>
                  <a:srgbClr val="132843"/>
                </a:solidFill>
                <a:latin typeface="Consolas"/>
              </a:defRPr>
            </a:pPr>
            <a:r>
              <a:t>beta.p ~ dnorm(0, 0.0001)</a:t>
            </a:r>
          </a:p>
          <a:p>
            <a:pPr>
              <a:spcAft>
                <a:spcPts val="400"/>
              </a:spcAft>
              <a:defRPr sz="1130" b="0">
                <a:solidFill>
                  <a:srgbClr val="132843"/>
                </a:solidFill>
                <a:latin typeface="Consolas"/>
              </a:defRPr>
            </a:pPr>
            <a:r>
              <a:t>z[i] ~ dbern(psi[i]) # True occupancy z at site i</a:t>
            </a:r>
          </a:p>
          <a:p>
            <a:pPr>
              <a:spcAft>
                <a:spcPts val="400"/>
              </a:spcAft>
              <a:defRPr sz="1130" b="0">
                <a:solidFill>
                  <a:srgbClr val="132843"/>
                </a:solidFill>
                <a:latin typeface="Consolas"/>
              </a:defRPr>
            </a:pPr>
            <a:r>
              <a:t>logit(psi[i]) &lt;- alpha.occ + beta.occ * humidity[i]</a:t>
            </a:r>
          </a:p>
          <a:p>
            <a:pPr>
              <a:spcAft>
                <a:spcPts val="400"/>
              </a:spcAft>
              <a:defRPr sz="1130" b="0">
                <a:solidFill>
                  <a:srgbClr val="132843"/>
                </a:solidFill>
                <a:latin typeface="Consolas"/>
              </a:defRPr>
            </a:pPr>
            <a:r>
              <a:t>y[i,t] ~ dbern(eff.p[i,t]) # Detection-nondetection at i and t</a:t>
            </a:r>
          </a:p>
          <a:p>
            <a:pPr>
              <a:spcAft>
                <a:spcPts val="400"/>
              </a:spcAft>
              <a:defRPr sz="1130" b="0">
                <a:solidFill>
                  <a:srgbClr val="132843"/>
                </a:solidFill>
                <a:latin typeface="Consolas"/>
              </a:defRPr>
            </a:pPr>
            <a:r>
              <a:t>logit(p[i,t]) &lt;- alpha.p + beta.p * humidity[i]</a:t>
            </a:r>
          </a:p>
          <a:p>
            <a:pPr>
              <a:spcAft>
                <a:spcPts val="400"/>
              </a:spcAft>
              <a:defRPr sz="1130" b="0">
                <a:solidFill>
                  <a:srgbClr val="132843"/>
                </a:solidFill>
                <a:latin typeface="Consolas"/>
              </a:defRPr>
            </a:pPr>
            <a:r>
              <a:t>occ.fs &lt;- sum(z[])</a:t>
            </a:r>
          </a:p>
          <a:p>
            <a:pPr>
              <a:spcAft>
                <a:spcPts val="400"/>
              </a:spcAft>
              <a:defRPr sz="1130" b="0">
                <a:solidFill>
                  <a:srgbClr val="132843"/>
                </a:solidFill>
                <a:latin typeface="Consolas"/>
              </a:defRPr>
            </a:pPr>
            <a:r>
              <a:t>params &lt;- c("alpha.occ","beta.occ", "alpha.p", "beta.p", "occ.fs", "occ.int", "p.int")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観測分布（~）が尤度、事前分布がパラメータ分布を与える。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ループの添字が個体・サイト・年のどれに対応するかを追う。</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MCMCの初期値・burn-in・thin・chainsを読んで有効標本と混同しない。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19.4   |   未実行・推定値未検証   |   説明文はコード解読に基づく補足</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19.5  NIMBLE</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model19.5 &lt;- nimbleCode( {</a:t>
            </a:r>
          </a:p>
          <a:p>
            <a:pPr>
              <a:spcAft>
                <a:spcPts val="400"/>
              </a:spcAft>
              <a:defRPr sz="1130" b="0">
                <a:solidFill>
                  <a:srgbClr val="132843"/>
                </a:solidFill>
                <a:latin typeface="Consolas"/>
              </a:defRPr>
            </a:pPr>
            <a:r>
              <a:t>beta.occ ~ dnorm(0, sd = 100)</a:t>
            </a:r>
          </a:p>
          <a:p>
            <a:pPr>
              <a:spcAft>
                <a:spcPts val="400"/>
              </a:spcAft>
              <a:defRPr sz="1130" b="0">
                <a:solidFill>
                  <a:srgbClr val="132843"/>
                </a:solidFill>
                <a:latin typeface="Consolas"/>
              </a:defRPr>
            </a:pPr>
            <a:r>
              <a:t>beta.p ~ dnorm(0, , sd = 100)</a:t>
            </a:r>
          </a:p>
          <a:p>
            <a:pPr>
              <a:spcAft>
                <a:spcPts val="400"/>
              </a:spcAft>
              <a:defRPr sz="1130" b="0">
                <a:solidFill>
                  <a:srgbClr val="132843"/>
                </a:solidFill>
                <a:latin typeface="Consolas"/>
              </a:defRPr>
            </a:pPr>
            <a:r>
              <a:t>params &lt;- c("alpha.occ","beta.occ", "alpha.p", "beta.p", "occ.fs", "occ.int", "p.int")</a:t>
            </a:r>
          </a:p>
          <a:p>
            <a:pPr>
              <a:spcAft>
                <a:spcPts val="400"/>
              </a:spcAft>
              <a:defRPr sz="1130" b="0">
                <a:solidFill>
                  <a:srgbClr val="132843"/>
                </a:solidFill>
                <a:latin typeface="Consolas"/>
              </a:defRPr>
            </a:pPr>
            <a:r>
              <a:t>nimbleMCMC(code = model19.5,</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nimbleCode() の確率文がモデルを定義し、nimbleMCMC() がサンプリングを担当。</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dnorm(...,sd=σ) として標準偏差を明示できる。JAGSの精度表現との違いに注意。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 inits / monitors / nburnin / niter / thin / nchains を対応させる。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19.5   |   未実行・推定値未検証   |   説明文はコード解読に基づく補足</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19.5  NIMBLE：実装を読む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model19.5 &lt;- nimbleCode( {</a:t>
            </a:r>
          </a:p>
          <a:p>
            <a:pPr>
              <a:spcAft>
                <a:spcPts val="400"/>
              </a:spcAft>
              <a:defRPr sz="1130" b="0">
                <a:solidFill>
                  <a:srgbClr val="132843"/>
                </a:solidFill>
                <a:latin typeface="Consolas"/>
              </a:defRPr>
            </a:pPr>
            <a:r>
              <a:t>beta.occ ~ dnorm(0, sd = 100)</a:t>
            </a:r>
          </a:p>
          <a:p>
            <a:pPr>
              <a:spcAft>
                <a:spcPts val="400"/>
              </a:spcAft>
              <a:defRPr sz="1130" b="0">
                <a:solidFill>
                  <a:srgbClr val="132843"/>
                </a:solidFill>
                <a:latin typeface="Consolas"/>
              </a:defRPr>
            </a:pPr>
            <a:r>
              <a:t>beta.p ~ dnorm(0, , sd = 100)</a:t>
            </a:r>
          </a:p>
          <a:p>
            <a:pPr>
              <a:spcAft>
                <a:spcPts val="400"/>
              </a:spcAft>
              <a:defRPr sz="1130" b="0">
                <a:solidFill>
                  <a:srgbClr val="132843"/>
                </a:solidFill>
                <a:latin typeface="Consolas"/>
              </a:defRPr>
            </a:pPr>
            <a:r>
              <a:t>params &lt;- c("alpha.occ","beta.occ", "alpha.p", "beta.p", "occ.fs", "occ.int", "p.int")</a:t>
            </a:r>
          </a:p>
          <a:p>
            <a:pPr>
              <a:spcAft>
                <a:spcPts val="400"/>
              </a:spcAft>
              <a:defRPr sz="1130" b="0">
                <a:solidFill>
                  <a:srgbClr val="132843"/>
                </a:solidFill>
                <a:latin typeface="Consolas"/>
              </a:defRPr>
            </a:pPr>
            <a:r>
              <a:t>nimbleMCMC(code = model19.5,</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モデル宣言とサンプラー実行の2段階を区別する。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はモデルの既知量。monitors は保存対象。</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JAGSとの差は構文だけでなく、分散パラメータと打切り指定にもある。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19.5   |   未実行・推定値未検証   |   説明文はコード解読に基づく補足</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19.6  Stan</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transformed parameters{</a:t>
            </a:r>
          </a:p>
          <a:p>
            <a:pPr>
              <a:spcAft>
                <a:spcPts val="400"/>
              </a:spcAft>
              <a:defRPr sz="1130" b="0">
                <a:solidFill>
                  <a:srgbClr val="132843"/>
                </a:solidFill>
                <a:latin typeface="Consolas"/>
              </a:defRPr>
            </a:pPr>
            <a:r>
              <a:t>psi[i] = inv_logit(alpha_occ + beta_occ * humidity[i]);</a:t>
            </a:r>
          </a:p>
          <a:p>
            <a:pPr>
              <a:spcAft>
                <a:spcPts val="400"/>
              </a:spcAft>
              <a:defRPr sz="1130" b="0">
                <a:solidFill>
                  <a:srgbClr val="132843"/>
                </a:solidFill>
                <a:latin typeface="Consolas"/>
              </a:defRPr>
            </a:pPr>
            <a:r>
              <a:t>p[i] = inv_logit(alpha_p + beta_p * humidity[i]);</a:t>
            </a:r>
          </a:p>
          <a:p>
            <a:pPr>
              <a:spcAft>
                <a:spcPts val="400"/>
              </a:spcAft>
              <a:defRPr sz="1130" b="0">
                <a:solidFill>
                  <a:srgbClr val="132843"/>
                </a:solidFill>
                <a:latin typeface="Consolas"/>
              </a:defRPr>
            </a:pPr>
            <a:r>
              <a:t>beta_occ ~ normal(0, 100);</a:t>
            </a:r>
          </a:p>
          <a:p>
            <a:pPr>
              <a:spcAft>
                <a:spcPts val="400"/>
              </a:spcAft>
              <a:defRPr sz="1130" b="0">
                <a:solidFill>
                  <a:srgbClr val="132843"/>
                </a:solidFill>
                <a:latin typeface="Consolas"/>
              </a:defRPr>
            </a:pPr>
            <a:r>
              <a:t>beta_p ~ normal(0, 100);</a:t>
            </a:r>
          </a:p>
          <a:p>
            <a:pPr>
              <a:spcAft>
                <a:spcPts val="400"/>
              </a:spcAft>
              <a:defRPr sz="1130" b="0">
                <a:solidFill>
                  <a:srgbClr val="132843"/>
                </a:solidFill>
                <a:latin typeface="Consolas"/>
              </a:defRPr>
            </a:pPr>
            <a:r>
              <a:t>target += log(lik[i]); //Add to total likelihood</a:t>
            </a:r>
          </a:p>
          <a:p>
            <a:pPr>
              <a:spcAft>
                <a:spcPts val="400"/>
              </a:spcAft>
              <a:defRPr sz="1130" b="0">
                <a:solidFill>
                  <a:srgbClr val="132843"/>
                </a:solidFill>
                <a:latin typeface="Consolas"/>
              </a:defRPr>
            </a:pPr>
            <a:r>
              <a:t>generated quantities{</a:t>
            </a:r>
          </a:p>
          <a:p>
            <a:pPr>
              <a:spcAft>
                <a:spcPts val="400"/>
              </a:spcAft>
              <a:defRPr sz="1130" b="0">
                <a:solidFill>
                  <a:srgbClr val="132843"/>
                </a:solidFill>
                <a:latin typeface="Consolas"/>
              </a:defRPr>
            </a:pPr>
            <a:r>
              <a:t>out19.6 &lt;- stan(file = "model19_6.stan", data = dataList, pars = params,</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data に観測値、parameters に未知数、model に事前分布と観測尤度を記述。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連続パラメータをHMC/NUTSで推定。潜在離散状態は必要に応じ周辺化する。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generated quantities は推定後の派生量・予測標本を生成する。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潜在占有状態 z は Stan で直接サンプリングせず、周辺化した尤度を使う。</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19.6   |   未実行・推定値未検証   |   説明文はコード解読に基づく補足</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19.6  Stan：実装を読む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transformed parameters{</a:t>
            </a:r>
          </a:p>
          <a:p>
            <a:pPr>
              <a:spcAft>
                <a:spcPts val="400"/>
              </a:spcAft>
              <a:defRPr sz="1130" b="0">
                <a:solidFill>
                  <a:srgbClr val="132843"/>
                </a:solidFill>
                <a:latin typeface="Consolas"/>
              </a:defRPr>
            </a:pPr>
            <a:r>
              <a:t>psi[i] = inv_logit(alpha_occ + beta_occ * humidity[i]);</a:t>
            </a:r>
          </a:p>
          <a:p>
            <a:pPr>
              <a:spcAft>
                <a:spcPts val="400"/>
              </a:spcAft>
              <a:defRPr sz="1130" b="0">
                <a:solidFill>
                  <a:srgbClr val="132843"/>
                </a:solidFill>
                <a:latin typeface="Consolas"/>
              </a:defRPr>
            </a:pPr>
            <a:r>
              <a:t>p[i] = inv_logit(alpha_p + beta_p * humidity[i]);</a:t>
            </a:r>
          </a:p>
          <a:p>
            <a:pPr>
              <a:spcAft>
                <a:spcPts val="400"/>
              </a:spcAft>
              <a:defRPr sz="1130" b="0">
                <a:solidFill>
                  <a:srgbClr val="132843"/>
                </a:solidFill>
                <a:latin typeface="Consolas"/>
              </a:defRPr>
            </a:pPr>
            <a:r>
              <a:t>beta_occ ~ normal(0, 100);</a:t>
            </a:r>
          </a:p>
          <a:p>
            <a:pPr>
              <a:spcAft>
                <a:spcPts val="400"/>
              </a:spcAft>
              <a:defRPr sz="1130" b="0">
                <a:solidFill>
                  <a:srgbClr val="132843"/>
                </a:solidFill>
                <a:latin typeface="Consolas"/>
              </a:defRPr>
            </a:pPr>
            <a:r>
              <a:t>beta_p ~ normal(0, 100);</a:t>
            </a:r>
          </a:p>
          <a:p>
            <a:pPr>
              <a:spcAft>
                <a:spcPts val="400"/>
              </a:spcAft>
              <a:defRPr sz="1130" b="0">
                <a:solidFill>
                  <a:srgbClr val="132843"/>
                </a:solidFill>
                <a:latin typeface="Consolas"/>
              </a:defRPr>
            </a:pPr>
            <a:r>
              <a:t>target += log(lik[i]); //Add to total likelihood</a:t>
            </a:r>
          </a:p>
          <a:p>
            <a:pPr>
              <a:spcAft>
                <a:spcPts val="400"/>
              </a:spcAft>
              <a:defRPr sz="1130" b="0">
                <a:solidFill>
                  <a:srgbClr val="132843"/>
                </a:solidFill>
                <a:latin typeface="Consolas"/>
              </a:defRPr>
            </a:pPr>
            <a:r>
              <a:t>generated quantities{</a:t>
            </a:r>
          </a:p>
          <a:p>
            <a:pPr>
              <a:spcAft>
                <a:spcPts val="400"/>
              </a:spcAft>
              <a:defRPr sz="1130" b="0">
                <a:solidFill>
                  <a:srgbClr val="132843"/>
                </a:solidFill>
                <a:latin typeface="Consolas"/>
              </a:defRPr>
            </a:pPr>
            <a:r>
              <a:t>out19.6 &lt;- stan(file = "model19_6.stan", data = dataList, pars = params,</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ブロック間のデータ依存を data → parameters → model として読む。</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密度関数の引数順序（特にbinomial）は他エンジンと異なる。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離散潜在状態を周辺化した場合、生成量から事後状態を復元できる。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19.6   |   未実行・推定値未検証   |   説明文はコード解読に基づく補足</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19.8  自作最尤</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MLEs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NLL &lt;- function(param, data) {</a:t>
            </a:r>
          </a:p>
          <a:p>
            <a:pPr>
              <a:spcAft>
                <a:spcPts val="400"/>
              </a:spcAft>
              <a:defRPr sz="1130" b="0">
                <a:solidFill>
                  <a:srgbClr val="132843"/>
                </a:solidFill>
                <a:latin typeface="Consolas"/>
              </a:defRPr>
            </a:pPr>
            <a:r>
              <a:t>L[i] &lt;- psi[i] * dbinom(data$nd[i], data$nVisits, p[i]) +</a:t>
            </a:r>
          </a:p>
          <a:p>
            <a:pPr>
              <a:spcAft>
                <a:spcPts val="400"/>
              </a:spcAft>
              <a:defRPr sz="1130" b="0">
                <a:solidFill>
                  <a:srgbClr val="132843"/>
                </a:solidFill>
                <a:latin typeface="Consolas"/>
              </a:defRPr>
            </a:pPr>
            <a:r>
              <a:t>LL &lt;- log(L) # Log-likelihood contr. for each observation</a:t>
            </a:r>
          </a:p>
          <a:p>
            <a:pPr>
              <a:spcAft>
                <a:spcPts val="400"/>
              </a:spcAft>
              <a:defRPr sz="1130" b="0">
                <a:solidFill>
                  <a:srgbClr val="132843"/>
                </a:solidFill>
                <a:latin typeface="Consolas"/>
              </a:defRPr>
            </a:pPr>
            <a:r>
              <a:t>NLL &lt;- -sum(LL) # NLL for all observations</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out19.8 &lt;- optim(inits, NLL, data = dataList, hessian = TRUE, method = "BFGS")</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尤度に対し log を取って総和し、負号を付けて最小化する。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optim() は目的関数を最小化。確率の積は数値的に小さくなるため log=TRUE 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GLMMでは群別のランダム効果を積分で除去して周辺尤度を作る。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19.8   |   未実行・推定値未検証   |   説明文はコード解読に基づく補足</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19.8  自作最尤：実装を読む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MLEs｜構文・推定の流れ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NLL &lt;- function(param, data) {</a:t>
            </a:r>
          </a:p>
          <a:p>
            <a:pPr>
              <a:spcAft>
                <a:spcPts val="400"/>
              </a:spcAft>
              <a:defRPr sz="1130" b="0">
                <a:solidFill>
                  <a:srgbClr val="132843"/>
                </a:solidFill>
                <a:latin typeface="Consolas"/>
              </a:defRPr>
            </a:pPr>
            <a:r>
              <a:t>L[i] &lt;- psi[i] * dbinom(data$nd[i], data$nVisits, p[i]) +</a:t>
            </a:r>
          </a:p>
          <a:p>
            <a:pPr>
              <a:spcAft>
                <a:spcPts val="400"/>
              </a:spcAft>
              <a:defRPr sz="1130" b="0">
                <a:solidFill>
                  <a:srgbClr val="132843"/>
                </a:solidFill>
                <a:latin typeface="Consolas"/>
              </a:defRPr>
            </a:pPr>
            <a:r>
              <a:t>LL &lt;- log(L) # Log-likelihood contr. for each observation</a:t>
            </a:r>
          </a:p>
          <a:p>
            <a:pPr>
              <a:spcAft>
                <a:spcPts val="400"/>
              </a:spcAft>
              <a:defRPr sz="1130" b="0">
                <a:solidFill>
                  <a:srgbClr val="132843"/>
                </a:solidFill>
                <a:latin typeface="Consolas"/>
              </a:defRPr>
            </a:pPr>
            <a:r>
              <a:t>NLL &lt;- -sum(LL) # NLL for all observations</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out19.8 &lt;- optim(inits, NLL, data = dataList, hessian = TRUE, method = "BFGS")</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密度の積がゼロにアンダーフローしないか確認する。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パラメータを log σ で最適化した後は exp で尺度を戻す。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ヘッセ行列と標準誤差は、評価点・変換尺度を確認する。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19.8   |   未実行・推定値未検証   |   説明文はコード解読に基づく補足</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19.9  TMB</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DATA_VECTOR(nd);</a:t>
            </a:r>
          </a:p>
          <a:p>
            <a:pPr>
              <a:spcAft>
                <a:spcPts val="400"/>
              </a:spcAft>
              <a:defRPr sz="1130" b="0">
                <a:solidFill>
                  <a:srgbClr val="132843"/>
                </a:solidFill>
                <a:latin typeface="Consolas"/>
              </a:defRPr>
            </a:pPr>
            <a:r>
              <a:t>DATA_VECTOR(no_detect);</a:t>
            </a:r>
          </a:p>
          <a:p>
            <a:pPr>
              <a:spcAft>
                <a:spcPts val="400"/>
              </a:spcAft>
              <a:defRPr sz="1130" b="0">
                <a:solidFill>
                  <a:srgbClr val="132843"/>
                </a:solidFill>
                <a:latin typeface="Consolas"/>
              </a:defRPr>
            </a:pPr>
            <a:r>
              <a:t>DATA_VECTOR(humidity);</a:t>
            </a:r>
          </a:p>
          <a:p>
            <a:pPr>
              <a:spcAft>
                <a:spcPts val="400"/>
              </a:spcAft>
              <a:defRPr sz="1130" b="0">
                <a:solidFill>
                  <a:srgbClr val="132843"/>
                </a:solidFill>
                <a:latin typeface="Consolas"/>
              </a:defRPr>
            </a:pPr>
            <a:r>
              <a:t>DATA_INTEGER(nSites);</a:t>
            </a:r>
          </a:p>
          <a:p>
            <a:pPr>
              <a:spcAft>
                <a:spcPts val="400"/>
              </a:spcAft>
              <a:defRPr sz="1130" b="0">
                <a:solidFill>
                  <a:srgbClr val="132843"/>
                </a:solidFill>
                <a:latin typeface="Consolas"/>
              </a:defRPr>
            </a:pPr>
            <a:r>
              <a:t>DATA_INTEGER(nVisits);</a:t>
            </a:r>
          </a:p>
          <a:p>
            <a:pPr>
              <a:spcAft>
                <a:spcPts val="400"/>
              </a:spcAft>
              <a:defRPr sz="1130" b="0">
                <a:solidFill>
                  <a:srgbClr val="132843"/>
                </a:solidFill>
                <a:latin typeface="Consolas"/>
              </a:defRPr>
            </a:pPr>
            <a:r>
              <a:t>PARAMETER(alpha_occ);</a:t>
            </a:r>
          </a:p>
          <a:p>
            <a:pPr>
              <a:spcAft>
                <a:spcPts val="400"/>
              </a:spcAft>
              <a:defRPr sz="1130" b="0">
                <a:solidFill>
                  <a:srgbClr val="132843"/>
                </a:solidFill>
                <a:latin typeface="Consolas"/>
              </a:defRPr>
            </a:pPr>
            <a:r>
              <a:t>PARAMETER(beta_occ);</a:t>
            </a:r>
          </a:p>
          <a:p>
            <a:pPr>
              <a:spcAft>
                <a:spcPts val="400"/>
              </a:spcAft>
              <a:defRPr sz="1130" b="0">
                <a:solidFill>
                  <a:srgbClr val="132843"/>
                </a:solidFill>
                <a:latin typeface="Consolas"/>
              </a:defRPr>
            </a:pPr>
            <a:r>
              <a:t>PARAMETER(alpha_p);</a:t>
            </a:r>
          </a:p>
          <a:p>
            <a:pPr>
              <a:spcAft>
                <a:spcPts val="400"/>
              </a:spcAft>
              <a:defRPr sz="1130" b="0">
                <a:solidFill>
                  <a:srgbClr val="132843"/>
                </a:solidFill>
                <a:latin typeface="Consolas"/>
              </a:defRPr>
            </a:pPr>
            <a:r>
              <a:t>PARAMETER(beta_p);</a:t>
            </a:r>
          </a:p>
          <a:p>
            <a:pPr>
              <a:spcAft>
                <a:spcPts val="400"/>
              </a:spcAft>
              <a:defRPr sz="1130" b="0">
                <a:solidFill>
                  <a:srgbClr val="132843"/>
                </a:solidFill>
                <a:latin typeface="Consolas"/>
              </a:defRPr>
            </a:pPr>
            <a:r>
              <a:t>L(i) = dbinom(nd(i), Type(nVisits), p(i), false) * psi(i) +</a:t>
            </a:r>
          </a:p>
          <a:p>
            <a:pPr>
              <a:spcAft>
                <a:spcPts val="400"/>
              </a:spcAft>
              <a:defRPr sz="1130" b="0">
                <a:solidFill>
                  <a:srgbClr val="132843"/>
                </a:solidFill>
                <a:latin typeface="Consolas"/>
              </a:defRPr>
            </a:pPr>
            <a:r>
              <a:t>compile("model19_9.cpp")</a:t>
            </a:r>
          </a:p>
          <a:p>
            <a:pPr>
              <a:spcAft>
                <a:spcPts val="400"/>
              </a:spcAft>
              <a:defRPr sz="1130" b="0">
                <a:solidFill>
                  <a:srgbClr val="132843"/>
                </a:solidFill>
                <a:latin typeface="Consolas"/>
              </a:defRPr>
            </a:pPr>
            <a:r>
              <a:t>out19.9 &lt;- MakeADFun(data = dataList, parameters = params,</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C++でデータ・パラメータと負の対数尤度を記述し、Rからコンパイルする。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MakeADFun() は目的関数 fn と自動微分の勾配 gr 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random= 指定でランダム効果をラプラス近似により周辺化する。ADREPORT は派生量の不確実性評価用。</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19.9   |   未実行・推定値未検証   |   説明文はコード解読に基づく補足</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  19.9  TMB：実装を読む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DATA_VECTOR(nd);</a:t>
            </a:r>
          </a:p>
          <a:p>
            <a:pPr>
              <a:spcAft>
                <a:spcPts val="400"/>
              </a:spcAft>
              <a:defRPr sz="1130" b="0">
                <a:solidFill>
                  <a:srgbClr val="132843"/>
                </a:solidFill>
                <a:latin typeface="Consolas"/>
              </a:defRPr>
            </a:pPr>
            <a:r>
              <a:t>DATA_VECTOR(no_detect);</a:t>
            </a:r>
          </a:p>
          <a:p>
            <a:pPr>
              <a:spcAft>
                <a:spcPts val="400"/>
              </a:spcAft>
              <a:defRPr sz="1130" b="0">
                <a:solidFill>
                  <a:srgbClr val="132843"/>
                </a:solidFill>
                <a:latin typeface="Consolas"/>
              </a:defRPr>
            </a:pPr>
            <a:r>
              <a:t>DATA_VECTOR(humidity);</a:t>
            </a:r>
          </a:p>
          <a:p>
            <a:pPr>
              <a:spcAft>
                <a:spcPts val="400"/>
              </a:spcAft>
              <a:defRPr sz="1130" b="0">
                <a:solidFill>
                  <a:srgbClr val="132843"/>
                </a:solidFill>
                <a:latin typeface="Consolas"/>
              </a:defRPr>
            </a:pPr>
            <a:r>
              <a:t>DATA_INTEGER(nSites);</a:t>
            </a:r>
          </a:p>
          <a:p>
            <a:pPr>
              <a:spcAft>
                <a:spcPts val="400"/>
              </a:spcAft>
              <a:defRPr sz="1130" b="0">
                <a:solidFill>
                  <a:srgbClr val="132843"/>
                </a:solidFill>
                <a:latin typeface="Consolas"/>
              </a:defRPr>
            </a:pPr>
            <a:r>
              <a:t>DATA_INTEGER(nVisits);</a:t>
            </a:r>
          </a:p>
          <a:p>
            <a:pPr>
              <a:spcAft>
                <a:spcPts val="400"/>
              </a:spcAft>
              <a:defRPr sz="1130" b="0">
                <a:solidFill>
                  <a:srgbClr val="132843"/>
                </a:solidFill>
                <a:latin typeface="Consolas"/>
              </a:defRPr>
            </a:pPr>
            <a:r>
              <a:t>PARAMETER(alpha_occ);</a:t>
            </a:r>
          </a:p>
          <a:p>
            <a:pPr>
              <a:spcAft>
                <a:spcPts val="400"/>
              </a:spcAft>
              <a:defRPr sz="1130" b="0">
                <a:solidFill>
                  <a:srgbClr val="132843"/>
                </a:solidFill>
                <a:latin typeface="Consolas"/>
              </a:defRPr>
            </a:pPr>
            <a:r>
              <a:t>PARAMETER(beta_occ);</a:t>
            </a:r>
          </a:p>
          <a:p>
            <a:pPr>
              <a:spcAft>
                <a:spcPts val="400"/>
              </a:spcAft>
              <a:defRPr sz="1130" b="0">
                <a:solidFill>
                  <a:srgbClr val="132843"/>
                </a:solidFill>
                <a:latin typeface="Consolas"/>
              </a:defRPr>
            </a:pPr>
            <a:r>
              <a:t>PARAMETER(alpha_p);</a:t>
            </a:r>
          </a:p>
          <a:p>
            <a:pPr>
              <a:spcAft>
                <a:spcPts val="400"/>
              </a:spcAft>
              <a:defRPr sz="1130" b="0">
                <a:solidFill>
                  <a:srgbClr val="132843"/>
                </a:solidFill>
                <a:latin typeface="Consolas"/>
              </a:defRPr>
            </a:pPr>
            <a:r>
              <a:t>PARAMETER(beta_p);</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C++添字は0始まり、Rは1始まり：pop/regionの値に注意。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dpois/dbinom(...,true) は対数密度を返す。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ADREPORTとREPORTは目的が異なる。MakeADFun後にoptim()で推定する。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出典：ASM_Chapter_19.R / 19.9   |   未実行・推定値未検証   |   説明文はコード解読に基づく補足</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二項N-mixtureモデル</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章のモデルとRコードの対応</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Nᵢ~Poisson(λᵢ)；Cᵢₜ~Binomial(Nᵢ,pᵢₜ)</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原著Rコードの節構成を保持して解説する。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計算値は掲載せず、使用関数・確率モデル・推定の仕組みを確認する。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 NIMBLE / Stan / 自作尤度 / TMBの実装差に注目する。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未実行・推定値未検証   |   説明文はコード解読に基づく補足</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19B.2  データ生成</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Data generation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set.seed(191)</a:t>
            </a:r>
          </a:p>
          <a:p>
            <a:pPr>
              <a:spcAft>
                <a:spcPts val="400"/>
              </a:spcAft>
              <a:defRPr sz="1130" b="0">
                <a:solidFill>
                  <a:srgbClr val="132843"/>
                </a:solidFill>
                <a:latin typeface="Consolas"/>
              </a:defRPr>
            </a:pPr>
            <a:r>
              <a:t>plot(r1, col = mapPalette1(100), axes = FALSE, box = FALSE,</a:t>
            </a:r>
          </a:p>
          <a:p>
            <a:pPr>
              <a:spcAft>
                <a:spcPts val="400"/>
              </a:spcAft>
              <a:defRPr sz="1130" b="0">
                <a:solidFill>
                  <a:srgbClr val="132843"/>
                </a:solidFill>
                <a:latin typeface="Consolas"/>
              </a:defRPr>
            </a:pPr>
            <a:r>
              <a:t>sum(N &gt; 0) / nSites   # Empirical occupancy probability</a:t>
            </a:r>
          </a:p>
          <a:p>
            <a:pPr>
              <a:spcAft>
                <a:spcPts val="400"/>
              </a:spcAft>
              <a:defRPr sz="1130" b="0">
                <a:solidFill>
                  <a:srgbClr val="132843"/>
                </a:solidFill>
                <a:latin typeface="Consolas"/>
              </a:defRPr>
            </a:pPr>
            <a:r>
              <a:t>plot(mhbElev, N, main = "Bullfinch abundance", pch = 16, cex = 2,</a:t>
            </a:r>
          </a:p>
          <a:p>
            <a:pPr>
              <a:spcAft>
                <a:spcPts val="400"/>
              </a:spcAft>
              <a:defRPr sz="1130" b="0">
                <a:solidFill>
                  <a:srgbClr val="132843"/>
                </a:solidFill>
                <a:latin typeface="Consolas"/>
              </a:defRPr>
            </a:pPr>
            <a:r>
              <a:t>plot(mhbElev, p, xlab = "Elevation (m)",</a:t>
            </a:r>
          </a:p>
          <a:p>
            <a:pPr>
              <a:spcAft>
                <a:spcPts val="400"/>
              </a:spcAft>
              <a:defRPr sz="1130" b="0">
                <a:solidFill>
                  <a:srgbClr val="132843"/>
                </a:solidFill>
                <a:latin typeface="Consolas"/>
              </a:defRPr>
            </a:pPr>
            <a:r>
              <a:t>matplot(mhbElev, C, ylim = c(0, 15), xlab = "Elevation (m)", las = 1,</a:t>
            </a:r>
          </a:p>
          <a:p>
            <a:pPr>
              <a:spcAft>
                <a:spcPts val="400"/>
              </a:spcAft>
              <a:defRPr sz="1130" b="0">
                <a:solidFill>
                  <a:srgbClr val="132843"/>
                </a:solidFill>
                <a:latin typeface="Consolas"/>
              </a:defRPr>
            </a:pPr>
            <a:r>
              <a:t>sum(apply(C, 1, sum) &gt; 0) # Apparent distribution (prop. occupied sites)</a:t>
            </a:r>
          </a:p>
          <a:p>
            <a:pPr>
              <a:spcAft>
                <a:spcPts val="400"/>
              </a:spcAft>
              <a:defRPr sz="1130" b="0">
                <a:solidFill>
                  <a:srgbClr val="132843"/>
                </a:solidFill>
                <a:latin typeface="Consolas"/>
              </a:defRPr>
            </a:pPr>
            <a:r>
              <a:t>sum(N &gt; 0)                # True occupancy</a:t>
            </a:r>
          </a:p>
          <a:p>
            <a:pPr>
              <a:spcAft>
                <a:spcPts val="400"/>
              </a:spcAft>
              <a:defRPr sz="1130" b="0">
                <a:solidFill>
                  <a:srgbClr val="132843"/>
                </a:solidFill>
                <a:latin typeface="Consolas"/>
              </a:defRPr>
            </a:pPr>
            <a:r>
              <a:t>( Ntot_true &lt;- sum(lambdaCH) )</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固定した乱数シードと真値から、線形予測子→期待値→観測値を作る。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モデル行列と係数の次元・順番を確認する。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生成時の真値 truth を後段の推定と比較する。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19B.2   |   未実行・推定値未検証   |   説明文はコード解読に基づく補足</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19B.3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A detection-naive analysis of the maximum count per site</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fm &lt;- glm(maxC ~ mhbElevScaled + I(mhbElevScaled^2), family = poisson)</a:t>
            </a:r>
          </a:p>
          <a:p>
            <a:pPr>
              <a:spcAft>
                <a:spcPts val="400"/>
              </a:spcAft>
              <a:defRPr sz="1130" b="0">
                <a:solidFill>
                  <a:srgbClr val="132843"/>
                </a:solidFill>
                <a:latin typeface="Consolas"/>
              </a:defRPr>
            </a:pPr>
            <a:r>
              <a:t>lpred &lt;- predict(fm, type = 'link', se = TRUE,</a:t>
            </a:r>
          </a:p>
          <a:p>
            <a:pPr>
              <a:spcAft>
                <a:spcPts val="400"/>
              </a:spcAft>
              <a:defRPr sz="1130" b="0">
                <a:solidFill>
                  <a:srgbClr val="132843"/>
                </a:solidFill>
                <a:latin typeface="Consolas"/>
              </a:defRPr>
            </a:pPr>
            <a:r>
              <a:t>sum(maxC)  # Detection-naïve estimate of total N in 267 sample quadrats</a:t>
            </a:r>
          </a:p>
          <a:p>
            <a:pPr>
              <a:spcAft>
                <a:spcPts val="400"/>
              </a:spcAft>
              <a:defRPr sz="1130" b="0">
                <a:solidFill>
                  <a:srgbClr val="132843"/>
                </a:solidFill>
                <a:latin typeface="Consolas"/>
              </a:defRPr>
            </a:pPr>
            <a:r>
              <a:t>sum(N)     # True total N in 267 sample quadrats</a:t>
            </a:r>
          </a:p>
          <a:p>
            <a:pPr>
              <a:spcAft>
                <a:spcPts val="400"/>
              </a:spcAft>
              <a:defRPr sz="1130" b="0">
                <a:solidFill>
                  <a:srgbClr val="132843"/>
                </a:solidFill>
                <a:latin typeface="Consolas"/>
              </a:defRPr>
            </a:pPr>
            <a:r>
              <a:t>plot(1000*pred.elev, pred, type = 'l', col = rgb(0,0,1, 0.4), lwd = 3,</a:t>
            </a:r>
          </a:p>
          <a:p>
            <a:pPr>
              <a:spcAft>
                <a:spcPts val="400"/>
              </a:spcAft>
              <a:defRPr sz="1130" b="0">
                <a:solidFill>
                  <a:srgbClr val="132843"/>
                </a:solidFill>
                <a:latin typeface="Consolas"/>
              </a:defRPr>
            </a:pPr>
            <a:r>
              <a:t>pred.lam_obs &lt;- predict(fm, type = "response",</a:t>
            </a:r>
          </a:p>
          <a:p>
            <a:pPr>
              <a:spcAft>
                <a:spcPts val="400"/>
              </a:spcAft>
              <a:defRPr sz="1130" b="0">
                <a:solidFill>
                  <a:srgbClr val="132843"/>
                </a:solidFill>
                <a:latin typeface="Consolas"/>
              </a:defRPr>
            </a:pPr>
            <a:r>
              <a:t>plot(r1, col = mapPalette1(100), axes = FALSE, box = FALSE,</a:t>
            </a:r>
          </a:p>
          <a:p>
            <a:pPr>
              <a:spcAft>
                <a:spcPts val="400"/>
              </a:spcAft>
              <a:defRPr sz="1130" b="0">
                <a:solidFill>
                  <a:srgbClr val="132843"/>
                </a:solidFill>
                <a:latin typeface="Consolas"/>
              </a:defRPr>
            </a:pPr>
            <a:r>
              <a:t>( SwissTotalMaxC &lt;- sum(pred.lam_obs) )</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19B.3   |   未実行・推定値未検証   |   説明文はコード解読に基づく補足</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19B.4.1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Fitting the model to the simulated bullfinch data set</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plot(k, aic, type='l', ylab="AIC", xlab="Value of K", xlim=c(9, 200), frame = FALSE, ylim = c(1785, 1800))</a:t>
            </a:r>
          </a:p>
          <a:p>
            <a:pPr>
              <a:spcAft>
                <a:spcPts val="400"/>
              </a:spcAft>
              <a:defRPr sz="1130" b="0">
                <a:solidFill>
                  <a:srgbClr val="132843"/>
                </a:solidFill>
                <a:latin typeface="Consolas"/>
              </a:defRPr>
            </a:pPr>
            <a:r>
              <a:t>plot(k, loglik, type='l', ylab="log-likelihood", xlab="Value of K",</a:t>
            </a:r>
          </a:p>
          <a:p>
            <a:pPr>
              <a:spcAft>
                <a:spcPts val="400"/>
              </a:spcAft>
              <a:defRPr sz="1130" b="0">
                <a:solidFill>
                  <a:srgbClr val="132843"/>
                </a:solidFill>
                <a:latin typeface="Consolas"/>
              </a:defRPr>
            </a:pPr>
            <a:r>
              <a:t>state.pred &lt;- predict(out19B.4, type = 'state')</a:t>
            </a:r>
          </a:p>
          <a:p>
            <a:pPr>
              <a:spcAft>
                <a:spcPts val="400"/>
              </a:spcAft>
              <a:defRPr sz="1130" b="0">
                <a:solidFill>
                  <a:srgbClr val="132843"/>
                </a:solidFill>
                <a:latin typeface="Consolas"/>
              </a:defRPr>
            </a:pPr>
            <a:r>
              <a:t>det.pred &lt;- predict(out19B.4, type = 'det')</a:t>
            </a:r>
          </a:p>
          <a:p>
            <a:pPr>
              <a:spcAft>
                <a:spcPts val="400"/>
              </a:spcAft>
              <a:defRPr sz="1130" b="0">
                <a:solidFill>
                  <a:srgbClr val="132843"/>
                </a:solidFill>
                <a:latin typeface="Consolas"/>
              </a:defRPr>
            </a:pPr>
            <a:r>
              <a:t>true_Ntotal &lt;- sum(N)</a:t>
            </a:r>
          </a:p>
          <a:p>
            <a:pPr>
              <a:spcAft>
                <a:spcPts val="400"/>
              </a:spcAft>
              <a:defRPr sz="1130" b="0">
                <a:solidFill>
                  <a:srgbClr val="132843"/>
                </a:solidFill>
                <a:latin typeface="Consolas"/>
              </a:defRPr>
            </a:pPr>
            <a:r>
              <a:t>naive_Ntotal &lt;- sum(apply(C, 1, max))</a:t>
            </a:r>
          </a:p>
          <a:p>
            <a:pPr>
              <a:spcAft>
                <a:spcPts val="400"/>
              </a:spcAft>
              <a:defRPr sz="1130" b="0">
                <a:solidFill>
                  <a:srgbClr val="132843"/>
                </a:solidFill>
                <a:latin typeface="Consolas"/>
              </a:defRPr>
            </a:pPr>
            <a:r>
              <a:t>unm_Ntotal &lt;- sum(bup(ranef(out19B.4)))</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19B.4.1   |   未実行・推定値未検証   |   説明文はコード解読に基づく補足</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19B.4.2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Spatial prediction of expected abundance</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pred.lam &lt;- predict(out19B.4, type = "state",</a:t>
            </a:r>
          </a:p>
          <a:p>
            <a:pPr>
              <a:spcAft>
                <a:spcPts val="400"/>
              </a:spcAft>
              <a:defRPr sz="1130" b="0">
                <a:solidFill>
                  <a:srgbClr val="132843"/>
                </a:solidFill>
                <a:latin typeface="Consolas"/>
              </a:defRPr>
            </a:pPr>
            <a:r>
              <a:t>plot(r1, col = mapPalette1(100), axes = FALSE, box = FALSE,</a:t>
            </a:r>
          </a:p>
          <a:p>
            <a:pPr>
              <a:spcAft>
                <a:spcPts val="400"/>
              </a:spcAft>
              <a:defRPr sz="1130" b="0">
                <a:solidFill>
                  <a:srgbClr val="132843"/>
                </a:solidFill>
                <a:latin typeface="Consolas"/>
              </a:defRPr>
            </a:pPr>
            <a:r>
              <a:t>plot(r2, col = mapPalette1(100), axes = FALSE, box = FALSE,</a:t>
            </a:r>
          </a:p>
          <a:p>
            <a:pPr>
              <a:spcAft>
                <a:spcPts val="400"/>
              </a:spcAft>
              <a:defRPr sz="1130" b="0">
                <a:solidFill>
                  <a:srgbClr val="132843"/>
                </a:solidFill>
                <a:latin typeface="Consolas"/>
              </a:defRPr>
            </a:pPr>
            <a:r>
              <a:t>plot(r3, col = mapPalette1(100), axes = FALSE, box = FALSE,</a:t>
            </a:r>
          </a:p>
          <a:p>
            <a:pPr>
              <a:spcAft>
                <a:spcPts val="400"/>
              </a:spcAft>
              <a:defRPr sz="1130" b="0">
                <a:solidFill>
                  <a:srgbClr val="132843"/>
                </a:solidFill>
                <a:latin typeface="Consolas"/>
              </a:defRPr>
            </a:pPr>
            <a:r>
              <a:t>plot(r4, col = mapPalette1(100), axes = FALSE, box = FALSE,</a:t>
            </a:r>
          </a:p>
          <a:p>
            <a:pPr>
              <a:spcAft>
                <a:spcPts val="400"/>
              </a:spcAft>
              <a:defRPr sz="1130" b="0">
                <a:solidFill>
                  <a:srgbClr val="132843"/>
                </a:solidFill>
                <a:latin typeface="Consolas"/>
              </a:defRPr>
            </a:pPr>
            <a:r>
              <a:t>( SwissTotalN &lt;- sum(pred.lam[,1]) )</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19B.4.2   |   未実行・推定値未検証   |   説明文はコード解読に基づく補足</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19B.4.3  解析・検証</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Computing SEs for a derived quantity using the detal method</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plot(boot_beta, asp = 1, xlab = 'beta1', ylab = 'beta2', frame = FALSE,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コードの入力・変換・適合度統計・予測の順序をたどる。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観測データと複製データの区別に注意する。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実行値ではなくコード上の算出手順を説明する。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19B.4.3   |   未実行・推定値未検証   |   説明文はコード解読に基づく補足</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19B.5  JAGS</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beta1.lam ~ dnorm(0, 0.001)</a:t>
            </a:r>
          </a:p>
          <a:p>
            <a:pPr>
              <a:spcAft>
                <a:spcPts val="400"/>
              </a:spcAft>
              <a:defRPr sz="1130" b="0">
                <a:solidFill>
                  <a:srgbClr val="132843"/>
                </a:solidFill>
                <a:latin typeface="Consolas"/>
              </a:defRPr>
            </a:pPr>
            <a:r>
              <a:t>beta2.lam ~ dnorm(0, 0.001)</a:t>
            </a:r>
          </a:p>
          <a:p>
            <a:pPr>
              <a:spcAft>
                <a:spcPts val="400"/>
              </a:spcAft>
              <a:defRPr sz="1130" b="0">
                <a:solidFill>
                  <a:srgbClr val="132843"/>
                </a:solidFill>
                <a:latin typeface="Consolas"/>
              </a:defRPr>
            </a:pPr>
            <a:r>
              <a:t>alpha.p &lt;- logit(mean.p)</a:t>
            </a:r>
          </a:p>
          <a:p>
            <a:pPr>
              <a:spcAft>
                <a:spcPts val="400"/>
              </a:spcAft>
              <a:defRPr sz="1130" b="0">
                <a:solidFill>
                  <a:srgbClr val="132843"/>
                </a:solidFill>
                <a:latin typeface="Consolas"/>
              </a:defRPr>
            </a:pPr>
            <a:r>
              <a:t>beta.p ~ dnorm(0, 0.001)</a:t>
            </a:r>
          </a:p>
          <a:p>
            <a:pPr>
              <a:spcAft>
                <a:spcPts val="400"/>
              </a:spcAft>
              <a:defRPr sz="1130" b="0">
                <a:solidFill>
                  <a:srgbClr val="132843"/>
                </a:solidFill>
                <a:latin typeface="Consolas"/>
              </a:defRPr>
            </a:pPr>
            <a:r>
              <a:t>N[i] ~ dpois(lambda[i])</a:t>
            </a:r>
          </a:p>
          <a:p>
            <a:pPr>
              <a:spcAft>
                <a:spcPts val="400"/>
              </a:spcAft>
              <a:defRPr sz="1130" b="0">
                <a:solidFill>
                  <a:srgbClr val="132843"/>
                </a:solidFill>
                <a:latin typeface="Consolas"/>
              </a:defRPr>
            </a:pPr>
            <a:r>
              <a:t>C[i,t] ~ dbin(p[i,t], N[i])</a:t>
            </a:r>
          </a:p>
          <a:p>
            <a:pPr>
              <a:spcAft>
                <a:spcPts val="400"/>
              </a:spcAft>
              <a:defRPr sz="1130" b="0">
                <a:solidFill>
                  <a:srgbClr val="132843"/>
                </a:solidFill>
                <a:latin typeface="Consolas"/>
              </a:defRPr>
            </a:pPr>
            <a:r>
              <a:t>logit(p[i,t]) &lt;- alpha.p + beta.p * elev[i]</a:t>
            </a:r>
          </a:p>
          <a:p>
            <a:pPr>
              <a:spcAft>
                <a:spcPts val="400"/>
              </a:spcAft>
              <a:defRPr sz="1130" b="0">
                <a:solidFill>
                  <a:srgbClr val="132843"/>
                </a:solidFill>
                <a:latin typeface="Consolas"/>
              </a:defRPr>
            </a:pPr>
            <a:r>
              <a:t>C.new[i,t] ~ dbin(p[i,t], N[i])</a:t>
            </a:r>
          </a:p>
          <a:p>
            <a:pPr>
              <a:spcAft>
                <a:spcPts val="400"/>
              </a:spcAft>
              <a:defRPr sz="1130" b="0">
                <a:solidFill>
                  <a:srgbClr val="132843"/>
                </a:solidFill>
                <a:latin typeface="Consolas"/>
              </a:defRPr>
            </a:pPr>
            <a:r>
              <a:t>E.new[i,t] &lt;- pow((C.new[i,t] - eval[i,t]),2) / (eval[i,t] + 0.01)</a:t>
            </a:r>
          </a:p>
          <a:p>
            <a:pPr>
              <a:spcAft>
                <a:spcPts val="400"/>
              </a:spcAft>
              <a:defRPr sz="1130" b="0">
                <a:solidFill>
                  <a:srgbClr val="132843"/>
                </a:solidFill>
                <a:latin typeface="Consolas"/>
              </a:defRPr>
            </a:pPr>
            <a:r>
              <a:t>fit.new &lt;- sum(E.new[,])</a:t>
            </a:r>
          </a:p>
          <a:p>
            <a:pPr>
              <a:spcAft>
                <a:spcPts val="400"/>
              </a:spcAft>
              <a:defRPr sz="1130" b="0">
                <a:solidFill>
                  <a:srgbClr val="132843"/>
                </a:solidFill>
                <a:latin typeface="Consolas"/>
              </a:defRPr>
            </a:pPr>
            <a:r>
              <a:t>params &lt;- c("alpha.lam", "beta1.lam", "beta2.lam", "alpha.p", "beta.p",</a:t>
            </a:r>
          </a:p>
          <a:p>
            <a:pPr>
              <a:spcAft>
                <a:spcPts val="400"/>
              </a:spcAft>
              <a:defRPr sz="1130" b="0">
                <a:solidFill>
                  <a:srgbClr val="132843"/>
                </a:solidFill>
                <a:latin typeface="Consolas"/>
              </a:defRPr>
            </a:pPr>
            <a:r>
              <a:t>"mean.lam", "mean.p", "totalN", "fit", "fit.new", "opt.elev", "N")</a:t>
            </a:r>
          </a:p>
          <a:p>
            <a:pPr>
              <a:spcAft>
                <a:spcPts val="400"/>
              </a:spcAft>
              <a:defRPr sz="1130" b="0">
                <a:solidFill>
                  <a:srgbClr val="132843"/>
                </a:solidFill>
                <a:latin typeface="Consolas"/>
              </a:defRPr>
            </a:pPr>
            <a:r>
              <a:t>na &lt;- 10000;  ni &lt;- 150000;  nb &lt;- 50000; nc &lt;- 4; nt &lt;- 100</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事前分布→潜在変数・線形予測子→観測尤度の順にモデルを記述。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JAGSの dnorm(平均, 精度) の精度 τ は 1/σ²。dbin は確率を先、試行数を後に置く。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で複数チェーンを走らせ、traceplot と事後分布を確認。</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19B.5   |   未実行・推定値未検証   |   説明文はコード解読に基づく補足</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19B.5  JAGS：実装を読む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beta1.lam ~ dnorm(0, 0.001)</a:t>
            </a:r>
          </a:p>
          <a:p>
            <a:pPr>
              <a:spcAft>
                <a:spcPts val="400"/>
              </a:spcAft>
              <a:defRPr sz="1130" b="0">
                <a:solidFill>
                  <a:srgbClr val="132843"/>
                </a:solidFill>
                <a:latin typeface="Consolas"/>
              </a:defRPr>
            </a:pPr>
            <a:r>
              <a:t>beta2.lam ~ dnorm(0, 0.001)</a:t>
            </a:r>
          </a:p>
          <a:p>
            <a:pPr>
              <a:spcAft>
                <a:spcPts val="400"/>
              </a:spcAft>
              <a:defRPr sz="1130" b="0">
                <a:solidFill>
                  <a:srgbClr val="132843"/>
                </a:solidFill>
                <a:latin typeface="Consolas"/>
              </a:defRPr>
            </a:pPr>
            <a:r>
              <a:t>alpha.p &lt;- logit(mean.p)</a:t>
            </a:r>
          </a:p>
          <a:p>
            <a:pPr>
              <a:spcAft>
                <a:spcPts val="400"/>
              </a:spcAft>
              <a:defRPr sz="1130" b="0">
                <a:solidFill>
                  <a:srgbClr val="132843"/>
                </a:solidFill>
                <a:latin typeface="Consolas"/>
              </a:defRPr>
            </a:pPr>
            <a:r>
              <a:t>beta.p ~ dnorm(0, 0.001)</a:t>
            </a:r>
          </a:p>
          <a:p>
            <a:pPr>
              <a:spcAft>
                <a:spcPts val="400"/>
              </a:spcAft>
              <a:defRPr sz="1130" b="0">
                <a:solidFill>
                  <a:srgbClr val="132843"/>
                </a:solidFill>
                <a:latin typeface="Consolas"/>
              </a:defRPr>
            </a:pPr>
            <a:r>
              <a:t>N[i] ~ dpois(lambda[i])</a:t>
            </a:r>
          </a:p>
          <a:p>
            <a:pPr>
              <a:spcAft>
                <a:spcPts val="400"/>
              </a:spcAft>
              <a:defRPr sz="1130" b="0">
                <a:solidFill>
                  <a:srgbClr val="132843"/>
                </a:solidFill>
                <a:latin typeface="Consolas"/>
              </a:defRPr>
            </a:pPr>
            <a:r>
              <a:t>C[i,t] ~ dbin(p[i,t], N[i])</a:t>
            </a:r>
          </a:p>
          <a:p>
            <a:pPr>
              <a:spcAft>
                <a:spcPts val="400"/>
              </a:spcAft>
              <a:defRPr sz="1130" b="0">
                <a:solidFill>
                  <a:srgbClr val="132843"/>
                </a:solidFill>
                <a:latin typeface="Consolas"/>
              </a:defRPr>
            </a:pPr>
            <a:r>
              <a:t>logit(p[i,t]) &lt;- alpha.p + beta.p * elev[i]</a:t>
            </a:r>
          </a:p>
          <a:p>
            <a:pPr>
              <a:spcAft>
                <a:spcPts val="400"/>
              </a:spcAft>
              <a:defRPr sz="1130" b="0">
                <a:solidFill>
                  <a:srgbClr val="132843"/>
                </a:solidFill>
                <a:latin typeface="Consolas"/>
              </a:defRPr>
            </a:pPr>
            <a:r>
              <a:t>C.new[i,t] ~ dbin(p[i,t], N[i])</a:t>
            </a:r>
          </a:p>
          <a:p>
            <a:pPr>
              <a:spcAft>
                <a:spcPts val="400"/>
              </a:spcAft>
              <a:defRPr sz="1130" b="0">
                <a:solidFill>
                  <a:srgbClr val="132843"/>
                </a:solidFill>
                <a:latin typeface="Consolas"/>
              </a:defRPr>
            </a:pPr>
            <a:r>
              <a:t>E.new[i,t] &lt;- pow((C.new[i,t] - eval[i,t]),2) / (eval[i,t] + 0.01)</a:t>
            </a:r>
          </a:p>
          <a:p>
            <a:pPr>
              <a:spcAft>
                <a:spcPts val="400"/>
              </a:spcAft>
              <a:defRPr sz="1130" b="0">
                <a:solidFill>
                  <a:srgbClr val="132843"/>
                </a:solidFill>
                <a:latin typeface="Consolas"/>
              </a:defRPr>
            </a:pPr>
            <a:r>
              <a:t>fit.new &lt;- sum(E.new[,])</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観測分布（~）が尤度、事前分布がパラメータ分布を与える。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ループの添字が個体・サイト・年のどれに対応するかを追う。</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MCMCの初期値・burn-in・thin・chainsを読んで有効標本と混同しない。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19B.5   |   未実行・推定値未検証   |   説明文はコード解読に基づく補足</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19B.6  NIMBLE</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model19B.6 &lt;- nimbleCode( {</a:t>
            </a:r>
          </a:p>
          <a:p>
            <a:pPr>
              <a:spcAft>
                <a:spcPts val="400"/>
              </a:spcAft>
              <a:defRPr sz="1130" b="0">
                <a:solidFill>
                  <a:srgbClr val="132843"/>
                </a:solidFill>
                <a:latin typeface="Consolas"/>
              </a:defRPr>
            </a:pPr>
            <a:r>
              <a:t>beta1.lam ~ dnorm(0, 0.001)</a:t>
            </a:r>
          </a:p>
          <a:p>
            <a:pPr>
              <a:spcAft>
                <a:spcPts val="400"/>
              </a:spcAft>
              <a:defRPr sz="1130" b="0">
                <a:solidFill>
                  <a:srgbClr val="132843"/>
                </a:solidFill>
                <a:latin typeface="Consolas"/>
              </a:defRPr>
            </a:pPr>
            <a:r>
              <a:t>beta2.lam ~ dnorm(0, 0.001)</a:t>
            </a:r>
          </a:p>
          <a:p>
            <a:pPr>
              <a:spcAft>
                <a:spcPts val="400"/>
              </a:spcAft>
              <a:defRPr sz="1130" b="0">
                <a:solidFill>
                  <a:srgbClr val="132843"/>
                </a:solidFill>
                <a:latin typeface="Consolas"/>
              </a:defRPr>
            </a:pPr>
            <a:r>
              <a:t>beta.p ~ dnorm(0, 0.001)</a:t>
            </a:r>
          </a:p>
          <a:p>
            <a:pPr>
              <a:spcAft>
                <a:spcPts val="400"/>
              </a:spcAft>
              <a:defRPr sz="1130" b="0">
                <a:solidFill>
                  <a:srgbClr val="132843"/>
                </a:solidFill>
                <a:latin typeface="Consolas"/>
              </a:defRPr>
            </a:pPr>
            <a:r>
              <a:t>N[i] ~ dpois(lambda[i])</a:t>
            </a:r>
          </a:p>
          <a:p>
            <a:pPr>
              <a:spcAft>
                <a:spcPts val="400"/>
              </a:spcAft>
              <a:defRPr sz="1130" b="0">
                <a:solidFill>
                  <a:srgbClr val="132843"/>
                </a:solidFill>
                <a:latin typeface="Consolas"/>
              </a:defRPr>
            </a:pPr>
            <a:r>
              <a:t>C[i,t] ~ dbin(p[i,t], N[i])</a:t>
            </a:r>
          </a:p>
          <a:p>
            <a:pPr>
              <a:spcAft>
                <a:spcPts val="400"/>
              </a:spcAft>
              <a:defRPr sz="1130" b="0">
                <a:solidFill>
                  <a:srgbClr val="132843"/>
                </a:solidFill>
                <a:latin typeface="Consolas"/>
              </a:defRPr>
            </a:pPr>
            <a:r>
              <a:t>params &lt;- c("alpha.lam", "beta1.lam", "beta2.lam", "alpha.p", "beta.p", "mean.lam", "mean.p", "totalN", "opt.elev", "N")</a:t>
            </a:r>
          </a:p>
          <a:p>
            <a:pPr>
              <a:spcAft>
                <a:spcPts val="400"/>
              </a:spcAft>
              <a:defRPr sz="1130" b="0">
                <a:solidFill>
                  <a:srgbClr val="132843"/>
                </a:solidFill>
                <a:latin typeface="Consolas"/>
              </a:defRPr>
            </a:pPr>
            <a:r>
              <a:t>params &lt;- c("alpha.lam", "beta1.lam", "beta2.lam", "alpha.p", "beta.p", "mean.lam", "mean.p", "totalN", "opt.elev")</a:t>
            </a:r>
          </a:p>
          <a:p>
            <a:pPr>
              <a:spcAft>
                <a:spcPts val="400"/>
              </a:spcAft>
              <a:defRPr sz="1130" b="0">
                <a:solidFill>
                  <a:srgbClr val="132843"/>
                </a:solidFill>
                <a:latin typeface="Consolas"/>
              </a:defRPr>
            </a:pPr>
            <a:r>
              <a:t>nimbleMCMC(code = model19B.6,</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nimbleCode() の確率文がモデルを定義し、nimbleMCMC() がサンプリングを担当。</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dnorm(...,sd=σ) として標準偏差を明示できる。JAGSの精度表現との違いに注意。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 inits / monitors / nburnin / niter / thin / nchains を対応させる。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19B.6   |   未実行・推定値未検証   |   説明文はコード解読に基づく補足</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19B.6  NIMBLE：実装を読む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model19B.6 &lt;- nimbleCode( {</a:t>
            </a:r>
          </a:p>
          <a:p>
            <a:pPr>
              <a:spcAft>
                <a:spcPts val="400"/>
              </a:spcAft>
              <a:defRPr sz="1130" b="0">
                <a:solidFill>
                  <a:srgbClr val="132843"/>
                </a:solidFill>
                <a:latin typeface="Consolas"/>
              </a:defRPr>
            </a:pPr>
            <a:r>
              <a:t>beta1.lam ~ dnorm(0, 0.001)</a:t>
            </a:r>
          </a:p>
          <a:p>
            <a:pPr>
              <a:spcAft>
                <a:spcPts val="400"/>
              </a:spcAft>
              <a:defRPr sz="1130" b="0">
                <a:solidFill>
                  <a:srgbClr val="132843"/>
                </a:solidFill>
                <a:latin typeface="Consolas"/>
              </a:defRPr>
            </a:pPr>
            <a:r>
              <a:t>beta2.lam ~ dnorm(0, 0.001)</a:t>
            </a:r>
          </a:p>
          <a:p>
            <a:pPr>
              <a:spcAft>
                <a:spcPts val="400"/>
              </a:spcAft>
              <a:defRPr sz="1130" b="0">
                <a:solidFill>
                  <a:srgbClr val="132843"/>
                </a:solidFill>
                <a:latin typeface="Consolas"/>
              </a:defRPr>
            </a:pPr>
            <a:r>
              <a:t>beta.p ~ dnorm(0, 0.001)</a:t>
            </a:r>
          </a:p>
          <a:p>
            <a:pPr>
              <a:spcAft>
                <a:spcPts val="400"/>
              </a:spcAft>
              <a:defRPr sz="1130" b="0">
                <a:solidFill>
                  <a:srgbClr val="132843"/>
                </a:solidFill>
                <a:latin typeface="Consolas"/>
              </a:defRPr>
            </a:pPr>
            <a:r>
              <a:t>N[i] ~ dpois(lambda[i])</a:t>
            </a:r>
          </a:p>
          <a:p>
            <a:pPr>
              <a:spcAft>
                <a:spcPts val="400"/>
              </a:spcAft>
              <a:defRPr sz="1130" b="0">
                <a:solidFill>
                  <a:srgbClr val="132843"/>
                </a:solidFill>
                <a:latin typeface="Consolas"/>
              </a:defRPr>
            </a:pPr>
            <a:r>
              <a:t>C[i,t] ~ dbin(p[i,t], N[i])</a:t>
            </a:r>
          </a:p>
          <a:p>
            <a:pPr>
              <a:spcAft>
                <a:spcPts val="400"/>
              </a:spcAft>
              <a:defRPr sz="1130" b="0">
                <a:solidFill>
                  <a:srgbClr val="132843"/>
                </a:solidFill>
                <a:latin typeface="Consolas"/>
              </a:defRPr>
            </a:pPr>
            <a:r>
              <a:t>params &lt;- c("alpha.lam", "beta1.lam", "beta2.lam", "alpha.p", "beta.p", "mean.lam", "mean.p", "totalN", "opt.elev", "N")</a:t>
            </a:r>
          </a:p>
          <a:p>
            <a:pPr>
              <a:spcAft>
                <a:spcPts val="400"/>
              </a:spcAft>
              <a:defRPr sz="1130" b="0">
                <a:solidFill>
                  <a:srgbClr val="132843"/>
                </a:solidFill>
                <a:latin typeface="Consolas"/>
              </a:defRPr>
            </a:pPr>
            <a:r>
              <a:t>params &lt;- c("alpha.lam", "beta1.lam", "beta2.lam", "alpha.p", "beta.p", "mean.lam", "mean.p", "totalN", "opt.elev")</a:t>
            </a:r>
          </a:p>
          <a:p>
            <a:pPr>
              <a:spcAft>
                <a:spcPts val="400"/>
              </a:spcAft>
              <a:defRPr sz="1130" b="0">
                <a:solidFill>
                  <a:srgbClr val="132843"/>
                </a:solidFill>
                <a:latin typeface="Consolas"/>
              </a:defRPr>
            </a:pPr>
            <a:r>
              <a:t>nimbleMCMC(code = model19B.6,</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モデル宣言とサンプラー実行の2段階を区別する。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はモデルの既知量。monitors は保存対象。</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JAGSとの差は構文だけでなく、分散パラメータと打切り指定にもある。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19B.6   |   未実行・推定値未検証   |   説明文はコード解読に基づく補足</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19B.7  Stan</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transformed parameters{</a:t>
            </a:r>
          </a:p>
          <a:p>
            <a:pPr>
              <a:spcAft>
                <a:spcPts val="400"/>
              </a:spcAft>
              <a:defRPr sz="1130" b="0">
                <a:solidFill>
                  <a:srgbClr val="132843"/>
                </a:solidFill>
                <a:latin typeface="Consolas"/>
              </a:defRPr>
            </a:pPr>
            <a:r>
              <a:t>alpha_lam ~ normal(0, 2);</a:t>
            </a:r>
          </a:p>
          <a:p>
            <a:pPr>
              <a:spcAft>
                <a:spcPts val="400"/>
              </a:spcAft>
              <a:defRPr sz="1130" b="0">
                <a:solidFill>
                  <a:srgbClr val="132843"/>
                </a:solidFill>
                <a:latin typeface="Consolas"/>
              </a:defRPr>
            </a:pPr>
            <a:r>
              <a:t>beta1_lam ~ normal(0, 100);</a:t>
            </a:r>
          </a:p>
          <a:p>
            <a:pPr>
              <a:spcAft>
                <a:spcPts val="400"/>
              </a:spcAft>
              <a:defRPr sz="1130" b="0">
                <a:solidFill>
                  <a:srgbClr val="132843"/>
                </a:solidFill>
                <a:latin typeface="Consolas"/>
              </a:defRPr>
            </a:pPr>
            <a:r>
              <a:t>beta2_lam ~ normal(0, 100);</a:t>
            </a:r>
          </a:p>
          <a:p>
            <a:pPr>
              <a:spcAft>
                <a:spcPts val="400"/>
              </a:spcAft>
              <a:defRPr sz="1130" b="0">
                <a:solidFill>
                  <a:srgbClr val="132843"/>
                </a:solidFill>
                <a:latin typeface="Consolas"/>
              </a:defRPr>
            </a:pPr>
            <a:r>
              <a:t>alpha_p ~ normal(0, 10);</a:t>
            </a:r>
          </a:p>
          <a:p>
            <a:pPr>
              <a:spcAft>
                <a:spcPts val="400"/>
              </a:spcAft>
              <a:defRPr sz="1130" b="0">
                <a:solidFill>
                  <a:srgbClr val="132843"/>
                </a:solidFill>
                <a:latin typeface="Consolas"/>
              </a:defRPr>
            </a:pPr>
            <a:r>
              <a:t>beta_p ~ normal(0, 100);</a:t>
            </a:r>
          </a:p>
          <a:p>
            <a:pPr>
              <a:spcAft>
                <a:spcPts val="400"/>
              </a:spcAft>
              <a:defRPr sz="1130" b="0">
                <a:solidFill>
                  <a:srgbClr val="132843"/>
                </a:solidFill>
                <a:latin typeface="Consolas"/>
              </a:defRPr>
            </a:pPr>
            <a:r>
              <a:t>target += log(lik[i]);</a:t>
            </a:r>
          </a:p>
          <a:p>
            <a:pPr>
              <a:spcAft>
                <a:spcPts val="400"/>
              </a:spcAft>
              <a:defRPr sz="1130" b="0">
                <a:solidFill>
                  <a:srgbClr val="132843"/>
                </a:solidFill>
                <a:latin typeface="Consolas"/>
              </a:defRPr>
            </a:pPr>
            <a:r>
              <a:t>generated quantities {</a:t>
            </a:r>
          </a:p>
          <a:p>
            <a:pPr>
              <a:spcAft>
                <a:spcPts val="400"/>
              </a:spcAft>
              <a:defRPr sz="1130" b="0">
                <a:solidFill>
                  <a:srgbClr val="132843"/>
                </a:solidFill>
                <a:latin typeface="Consolas"/>
              </a:defRPr>
            </a:pPr>
            <a:r>
              <a:t>out19B.7 &lt;- stan(file = "model19B_7.stan", data = dataList,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data に観測値、parameters に未知数、model に事前分布と観測尤度を記述。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連続パラメータをHMC/NUTSで推定。潜在離散状態は必要に応じ周辺化する。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generated quantities は推定後の派生量・予測標本を生成する。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19B.7   |   未実行・推定値未検証   |   説明文はコード解読に基づく補足</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19B.7  Stan：実装を読む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transformed parameters{</a:t>
            </a:r>
          </a:p>
          <a:p>
            <a:pPr>
              <a:spcAft>
                <a:spcPts val="400"/>
              </a:spcAft>
              <a:defRPr sz="1130" b="0">
                <a:solidFill>
                  <a:srgbClr val="132843"/>
                </a:solidFill>
                <a:latin typeface="Consolas"/>
              </a:defRPr>
            </a:pPr>
            <a:r>
              <a:t>alpha_lam ~ normal(0, 2);</a:t>
            </a:r>
          </a:p>
          <a:p>
            <a:pPr>
              <a:spcAft>
                <a:spcPts val="400"/>
              </a:spcAft>
              <a:defRPr sz="1130" b="0">
                <a:solidFill>
                  <a:srgbClr val="132843"/>
                </a:solidFill>
                <a:latin typeface="Consolas"/>
              </a:defRPr>
            </a:pPr>
            <a:r>
              <a:t>beta1_lam ~ normal(0, 100);</a:t>
            </a:r>
          </a:p>
          <a:p>
            <a:pPr>
              <a:spcAft>
                <a:spcPts val="400"/>
              </a:spcAft>
              <a:defRPr sz="1130" b="0">
                <a:solidFill>
                  <a:srgbClr val="132843"/>
                </a:solidFill>
                <a:latin typeface="Consolas"/>
              </a:defRPr>
            </a:pPr>
            <a:r>
              <a:t>beta2_lam ~ normal(0, 100);</a:t>
            </a:r>
          </a:p>
          <a:p>
            <a:pPr>
              <a:spcAft>
                <a:spcPts val="400"/>
              </a:spcAft>
              <a:defRPr sz="1130" b="0">
                <a:solidFill>
                  <a:srgbClr val="132843"/>
                </a:solidFill>
                <a:latin typeface="Consolas"/>
              </a:defRPr>
            </a:pPr>
            <a:r>
              <a:t>alpha_p ~ normal(0, 10);</a:t>
            </a:r>
          </a:p>
          <a:p>
            <a:pPr>
              <a:spcAft>
                <a:spcPts val="400"/>
              </a:spcAft>
              <a:defRPr sz="1130" b="0">
                <a:solidFill>
                  <a:srgbClr val="132843"/>
                </a:solidFill>
                <a:latin typeface="Consolas"/>
              </a:defRPr>
            </a:pPr>
            <a:r>
              <a:t>beta_p ~ normal(0, 100);</a:t>
            </a:r>
          </a:p>
          <a:p>
            <a:pPr>
              <a:spcAft>
                <a:spcPts val="400"/>
              </a:spcAft>
              <a:defRPr sz="1130" b="0">
                <a:solidFill>
                  <a:srgbClr val="132843"/>
                </a:solidFill>
                <a:latin typeface="Consolas"/>
              </a:defRPr>
            </a:pPr>
            <a:r>
              <a:t>target += log(lik[i]);</a:t>
            </a:r>
          </a:p>
          <a:p>
            <a:pPr>
              <a:spcAft>
                <a:spcPts val="400"/>
              </a:spcAft>
              <a:defRPr sz="1130" b="0">
                <a:solidFill>
                  <a:srgbClr val="132843"/>
                </a:solidFill>
                <a:latin typeface="Consolas"/>
              </a:defRPr>
            </a:pPr>
            <a:r>
              <a:t>generated quantities {</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ブロック間のデータ依存を data → parameters → model として読む。</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密度関数の引数順序（特にbinomial）は他エンジンと異なる。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離散潜在状態を周辺化した場合、生成量から事後状態を復元できる。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19B.7   |   未実行・推定値未検証   |   説明文はコード解読に基づく補足</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19B.9  自作最尤</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maximum likelihood estimates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NLL &lt;- function(param, C, x, K, nSites, nVisits){</a:t>
            </a:r>
          </a:p>
          <a:p>
            <a:pPr>
              <a:spcAft>
                <a:spcPts val="400"/>
              </a:spcAft>
              <a:defRPr sz="1130" b="0">
                <a:solidFill>
                  <a:srgbClr val="132843"/>
                </a:solidFill>
                <a:latin typeface="Consolas"/>
              </a:defRPr>
            </a:pPr>
            <a:r>
              <a:t>gN &lt;- dpois(0:K, lambda[i])</a:t>
            </a:r>
          </a:p>
          <a:p>
            <a:pPr>
              <a:spcAft>
                <a:spcPts val="400"/>
              </a:spcAft>
              <a:defRPr sz="1130" b="0">
                <a:solidFill>
                  <a:srgbClr val="132843"/>
                </a:solidFill>
                <a:latin typeface="Consolas"/>
              </a:defRPr>
            </a:pPr>
            <a:r>
              <a:t>tmp.like[,1] &lt;- dbinom(dvec[1], 0:K, p[i])</a:t>
            </a:r>
          </a:p>
          <a:p>
            <a:pPr>
              <a:spcAft>
                <a:spcPts val="400"/>
              </a:spcAft>
              <a:defRPr sz="1130" b="0">
                <a:solidFill>
                  <a:srgbClr val="132843"/>
                </a:solidFill>
                <a:latin typeface="Consolas"/>
              </a:defRPr>
            </a:pPr>
            <a:r>
              <a:t>tmp.like[,2] &lt;- dbinom(dvec[2], 0:K, p[i])</a:t>
            </a:r>
          </a:p>
          <a:p>
            <a:pPr>
              <a:spcAft>
                <a:spcPts val="400"/>
              </a:spcAft>
              <a:defRPr sz="1130" b="0">
                <a:solidFill>
                  <a:srgbClr val="132843"/>
                </a:solidFill>
                <a:latin typeface="Consolas"/>
              </a:defRPr>
            </a:pPr>
            <a:r>
              <a:t>tmp.like[,3] &lt;- dbinom(dvec[3], 0:K, p[i])</a:t>
            </a:r>
          </a:p>
          <a:p>
            <a:pPr>
              <a:spcAft>
                <a:spcPts val="400"/>
              </a:spcAft>
              <a:defRPr sz="1130" b="0">
                <a:solidFill>
                  <a:srgbClr val="132843"/>
                </a:solidFill>
                <a:latin typeface="Consolas"/>
              </a:defRPr>
            </a:pPr>
            <a:r>
              <a:t>NLL &lt;- -1 * sum(log(L))</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pN &lt;- dpois(0:K, lambda[i])</a:t>
            </a:r>
          </a:p>
          <a:p>
            <a:pPr>
              <a:spcAft>
                <a:spcPts val="400"/>
              </a:spcAft>
              <a:defRPr sz="1130" b="0">
                <a:solidFill>
                  <a:srgbClr val="132843"/>
                </a:solidFill>
                <a:latin typeface="Consolas"/>
              </a:defRPr>
            </a:pPr>
            <a:r>
              <a:t>pY[k+1] &lt;- pY[k+1] * dbinom(C[i,j], k, p[i])</a:t>
            </a:r>
          </a:p>
          <a:p>
            <a:pPr>
              <a:spcAft>
                <a:spcPts val="400"/>
              </a:spcAft>
              <a:defRPr sz="1130" b="0">
                <a:solidFill>
                  <a:srgbClr val="132843"/>
                </a:solidFill>
                <a:latin typeface="Consolas"/>
              </a:defRPr>
            </a:pPr>
            <a:r>
              <a:t>system.time( out19B.9 &lt;- optim(inits, NLL, C = C, x = mhbElevScaled,</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尤度に対し log を取って総和し、負号を付けて最小化する。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optim() は目的関数を最小化。確率の積は数値的に小さくなるため log=TRUE 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GLMMでは群別のランダム効果を積分で除去して周辺尤度を作る。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19B.9   |   未実行・推定値未検証   |   説明文はコード解読に基づく補足</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19B.9  自作最尤：実装を読む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maximum likelihood estimates｜構文・推定の流れ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NLL &lt;- function(param, C, x, K, nSites, nVisits){</a:t>
            </a:r>
          </a:p>
          <a:p>
            <a:pPr>
              <a:spcAft>
                <a:spcPts val="400"/>
              </a:spcAft>
              <a:defRPr sz="1130" b="0">
                <a:solidFill>
                  <a:srgbClr val="132843"/>
                </a:solidFill>
                <a:latin typeface="Consolas"/>
              </a:defRPr>
            </a:pPr>
            <a:r>
              <a:t>gN &lt;- dpois(0:K, lambda[i])</a:t>
            </a:r>
          </a:p>
          <a:p>
            <a:pPr>
              <a:spcAft>
                <a:spcPts val="400"/>
              </a:spcAft>
              <a:defRPr sz="1130" b="0">
                <a:solidFill>
                  <a:srgbClr val="132843"/>
                </a:solidFill>
                <a:latin typeface="Consolas"/>
              </a:defRPr>
            </a:pPr>
            <a:r>
              <a:t>tmp.like[,1] &lt;- dbinom(dvec[1], 0:K, p[i])</a:t>
            </a:r>
          </a:p>
          <a:p>
            <a:pPr>
              <a:spcAft>
                <a:spcPts val="400"/>
              </a:spcAft>
              <a:defRPr sz="1130" b="0">
                <a:solidFill>
                  <a:srgbClr val="132843"/>
                </a:solidFill>
                <a:latin typeface="Consolas"/>
              </a:defRPr>
            </a:pPr>
            <a:r>
              <a:t>tmp.like[,2] &lt;- dbinom(dvec[2], 0:K, p[i])</a:t>
            </a:r>
          </a:p>
          <a:p>
            <a:pPr>
              <a:spcAft>
                <a:spcPts val="400"/>
              </a:spcAft>
              <a:defRPr sz="1130" b="0">
                <a:solidFill>
                  <a:srgbClr val="132843"/>
                </a:solidFill>
                <a:latin typeface="Consolas"/>
              </a:defRPr>
            </a:pPr>
            <a:r>
              <a:t>tmp.like[,3] &lt;- dbinom(dvec[3], 0:K, p[i])</a:t>
            </a:r>
          </a:p>
          <a:p>
            <a:pPr>
              <a:spcAft>
                <a:spcPts val="400"/>
              </a:spcAft>
              <a:defRPr sz="1130" b="0">
                <a:solidFill>
                  <a:srgbClr val="132843"/>
                </a:solidFill>
                <a:latin typeface="Consolas"/>
              </a:defRPr>
            </a:pPr>
            <a:r>
              <a:t>NLL &lt;- -1 * sum(log(L))</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pN &lt;- dpois(0:K, lambda[i])</a:t>
            </a:r>
          </a:p>
          <a:p>
            <a:pPr>
              <a:spcAft>
                <a:spcPts val="400"/>
              </a:spcAft>
              <a:defRPr sz="1130" b="0">
                <a:solidFill>
                  <a:srgbClr val="132843"/>
                </a:solidFill>
                <a:latin typeface="Consolas"/>
              </a:defRPr>
            </a:pPr>
            <a:r>
              <a:t>pY[k+1] &lt;- pY[k+1] * dbinom(C[i,j], k, p[i])</a:t>
            </a:r>
          </a:p>
          <a:p>
            <a:pPr>
              <a:spcAft>
                <a:spcPts val="400"/>
              </a:spcAft>
              <a:defRPr sz="1130" b="0">
                <a:solidFill>
                  <a:srgbClr val="132843"/>
                </a:solidFill>
                <a:latin typeface="Consolas"/>
              </a:defRPr>
            </a:pPr>
            <a:r>
              <a:t>system.time( out19B.9 &lt;- optim(inits, NLL, C = C, x = mhbElevScaled,</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密度の積がゼロにアンダーフローしないか確認する。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パラメータを log σ で最適化した後は exp で尺度を戻す。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ヘッセ行列と標準誤差は、評価点・変換尺度を確認する。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19B.9   |   未実行・推定値未検証   |   説明文はコード解読に基づく補足</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19B.10  TMB</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DATA_MATRIX(C);</a:t>
            </a:r>
          </a:p>
          <a:p>
            <a:pPr>
              <a:spcAft>
                <a:spcPts val="400"/>
              </a:spcAft>
              <a:defRPr sz="1130" b="0">
                <a:solidFill>
                  <a:srgbClr val="132843"/>
                </a:solidFill>
                <a:latin typeface="Consolas"/>
              </a:defRPr>
            </a:pPr>
            <a:r>
              <a:t>DATA_INTEGER(nSites);</a:t>
            </a:r>
          </a:p>
          <a:p>
            <a:pPr>
              <a:spcAft>
                <a:spcPts val="400"/>
              </a:spcAft>
              <a:defRPr sz="1130" b="0">
                <a:solidFill>
                  <a:srgbClr val="132843"/>
                </a:solidFill>
                <a:latin typeface="Consolas"/>
              </a:defRPr>
            </a:pPr>
            <a:r>
              <a:t>DATA_INTEGER(nVisits);</a:t>
            </a:r>
          </a:p>
          <a:p>
            <a:pPr>
              <a:spcAft>
                <a:spcPts val="400"/>
              </a:spcAft>
              <a:defRPr sz="1130" b="0">
                <a:solidFill>
                  <a:srgbClr val="132843"/>
                </a:solidFill>
                <a:latin typeface="Consolas"/>
              </a:defRPr>
            </a:pPr>
            <a:r>
              <a:t>DATA_VECTOR(elev);</a:t>
            </a:r>
          </a:p>
          <a:p>
            <a:pPr>
              <a:spcAft>
                <a:spcPts val="400"/>
              </a:spcAft>
              <a:defRPr sz="1130" b="0">
                <a:solidFill>
                  <a:srgbClr val="132843"/>
                </a:solidFill>
                <a:latin typeface="Consolas"/>
              </a:defRPr>
            </a:pPr>
            <a:r>
              <a:t>DATA_VECTOR(elev2);</a:t>
            </a:r>
          </a:p>
          <a:p>
            <a:pPr>
              <a:spcAft>
                <a:spcPts val="400"/>
              </a:spcAft>
              <a:defRPr sz="1130" b="0">
                <a:solidFill>
                  <a:srgbClr val="132843"/>
                </a:solidFill>
                <a:latin typeface="Consolas"/>
              </a:defRPr>
            </a:pPr>
            <a:r>
              <a:t>DATA_INTEGER(K);</a:t>
            </a:r>
          </a:p>
          <a:p>
            <a:pPr>
              <a:spcAft>
                <a:spcPts val="400"/>
              </a:spcAft>
              <a:defRPr sz="1130" b="0">
                <a:solidFill>
                  <a:srgbClr val="132843"/>
                </a:solidFill>
                <a:latin typeface="Consolas"/>
              </a:defRPr>
            </a:pPr>
            <a:r>
              <a:t>DATA_IVECTOR(Kmin);</a:t>
            </a:r>
          </a:p>
          <a:p>
            <a:pPr>
              <a:spcAft>
                <a:spcPts val="400"/>
              </a:spcAft>
              <a:defRPr sz="1130" b="0">
                <a:solidFill>
                  <a:srgbClr val="132843"/>
                </a:solidFill>
                <a:latin typeface="Consolas"/>
              </a:defRPr>
            </a:pPr>
            <a:r>
              <a:t>PARAMETER(alpha_lam);</a:t>
            </a:r>
          </a:p>
          <a:p>
            <a:pPr>
              <a:spcAft>
                <a:spcPts val="400"/>
              </a:spcAft>
              <a:defRPr sz="1130" b="0">
                <a:solidFill>
                  <a:srgbClr val="132843"/>
                </a:solidFill>
                <a:latin typeface="Consolas"/>
              </a:defRPr>
            </a:pPr>
            <a:r>
              <a:t>PARAMETER(beta1_lam);</a:t>
            </a:r>
          </a:p>
          <a:p>
            <a:pPr>
              <a:spcAft>
                <a:spcPts val="400"/>
              </a:spcAft>
              <a:defRPr sz="1130" b="0">
                <a:solidFill>
                  <a:srgbClr val="132843"/>
                </a:solidFill>
                <a:latin typeface="Consolas"/>
              </a:defRPr>
            </a:pPr>
            <a:r>
              <a:t>PARAMETER(beta2_lam);</a:t>
            </a:r>
          </a:p>
          <a:p>
            <a:pPr>
              <a:spcAft>
                <a:spcPts val="400"/>
              </a:spcAft>
              <a:defRPr sz="1130" b="0">
                <a:solidFill>
                  <a:srgbClr val="132843"/>
                </a:solidFill>
                <a:latin typeface="Consolas"/>
              </a:defRPr>
            </a:pPr>
            <a:r>
              <a:t>PARAMETER(alpha_p);</a:t>
            </a:r>
          </a:p>
          <a:p>
            <a:pPr>
              <a:spcAft>
                <a:spcPts val="400"/>
              </a:spcAft>
              <a:defRPr sz="1130" b="0">
                <a:solidFill>
                  <a:srgbClr val="132843"/>
                </a:solidFill>
                <a:latin typeface="Consolas"/>
              </a:defRPr>
            </a:pPr>
            <a:r>
              <a:t>PARAMETER(beta_p);</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C++でデータ・パラメータと負の対数尤度を記述し、Rからコンパイルする。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MakeADFun() は目的関数 fn と自動微分の勾配 gr 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random= 指定でランダム効果をラプラス近似により周辺化する。ADREPORT は派生量の不確実性評価用。</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19B.10   |   未実行・推定値未検証   |   説明文はコード解読に基づく補足</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19B  19B.10  TMB：実装を読む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DATA_MATRIX(C);</a:t>
            </a:r>
          </a:p>
          <a:p>
            <a:pPr>
              <a:spcAft>
                <a:spcPts val="400"/>
              </a:spcAft>
              <a:defRPr sz="1130" b="0">
                <a:solidFill>
                  <a:srgbClr val="132843"/>
                </a:solidFill>
                <a:latin typeface="Consolas"/>
              </a:defRPr>
            </a:pPr>
            <a:r>
              <a:t>DATA_INTEGER(nSites);</a:t>
            </a:r>
          </a:p>
          <a:p>
            <a:pPr>
              <a:spcAft>
                <a:spcPts val="400"/>
              </a:spcAft>
              <a:defRPr sz="1130" b="0">
                <a:solidFill>
                  <a:srgbClr val="132843"/>
                </a:solidFill>
                <a:latin typeface="Consolas"/>
              </a:defRPr>
            </a:pPr>
            <a:r>
              <a:t>DATA_INTEGER(nVisits);</a:t>
            </a:r>
          </a:p>
          <a:p>
            <a:pPr>
              <a:spcAft>
                <a:spcPts val="400"/>
              </a:spcAft>
              <a:defRPr sz="1130" b="0">
                <a:solidFill>
                  <a:srgbClr val="132843"/>
                </a:solidFill>
                <a:latin typeface="Consolas"/>
              </a:defRPr>
            </a:pPr>
            <a:r>
              <a:t>DATA_VECTOR(elev);</a:t>
            </a:r>
          </a:p>
          <a:p>
            <a:pPr>
              <a:spcAft>
                <a:spcPts val="400"/>
              </a:spcAft>
              <a:defRPr sz="1130" b="0">
                <a:solidFill>
                  <a:srgbClr val="132843"/>
                </a:solidFill>
                <a:latin typeface="Consolas"/>
              </a:defRPr>
            </a:pPr>
            <a:r>
              <a:t>DATA_VECTOR(elev2);</a:t>
            </a:r>
          </a:p>
          <a:p>
            <a:pPr>
              <a:spcAft>
                <a:spcPts val="400"/>
              </a:spcAft>
              <a:defRPr sz="1130" b="0">
                <a:solidFill>
                  <a:srgbClr val="132843"/>
                </a:solidFill>
                <a:latin typeface="Consolas"/>
              </a:defRPr>
            </a:pPr>
            <a:r>
              <a:t>DATA_INTEGER(K);</a:t>
            </a:r>
          </a:p>
          <a:p>
            <a:pPr>
              <a:spcAft>
                <a:spcPts val="400"/>
              </a:spcAft>
              <a:defRPr sz="1130" b="0">
                <a:solidFill>
                  <a:srgbClr val="132843"/>
                </a:solidFill>
                <a:latin typeface="Consolas"/>
              </a:defRPr>
            </a:pPr>
            <a:r>
              <a:t>DATA_IVECTOR(Kmin);</a:t>
            </a:r>
          </a:p>
          <a:p>
            <a:pPr>
              <a:spcAft>
                <a:spcPts val="400"/>
              </a:spcAft>
              <a:defRPr sz="1130" b="0">
                <a:solidFill>
                  <a:srgbClr val="132843"/>
                </a:solidFill>
                <a:latin typeface="Consolas"/>
              </a:defRPr>
            </a:pPr>
            <a:r>
              <a:t>PARAMETER(alpha_lam);</a:t>
            </a:r>
          </a:p>
          <a:p>
            <a:pPr>
              <a:spcAft>
                <a:spcPts val="400"/>
              </a:spcAft>
              <a:defRPr sz="1130" b="0">
                <a:solidFill>
                  <a:srgbClr val="132843"/>
                </a:solidFill>
                <a:latin typeface="Consolas"/>
              </a:defRPr>
            </a:pPr>
            <a:r>
              <a:t>PARAMETER(beta1_lam);</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C++添字は0始まり、Rは1始まり：pop/regionの値に注意。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dpois/dbinom(...,true) は対数密度を返す。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ADREPORTとREPORTは目的が異なる。MakeADFun後にoptim()で推定する。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出典：ASM_Chapter_19B.R / 19B.10   |   未実行・推定値未検証   |   説明文はコード解読に基づく補足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5927</Words>
  <Application>Microsoft Office PowerPoint</Application>
  <PresentationFormat>ワイド画面</PresentationFormat>
  <Paragraphs>609</Paragraphs>
  <Slides>42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42</vt:i4>
      </vt:variant>
    </vt:vector>
  </HeadingPairs>
  <TitlesOfParts>
    <vt:vector size="47" baseType="lpstr">
      <vt:lpstr>BIZ UDゴシック</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2026-10-23T02:04:45Z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2026-10-23T02:02:44Z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7c1b9ddb-508f-42a2-83be-9a4732488a9b</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