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0" r:id="rId2"/>
    <p:sldId id="311"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ED1038-C534-4F29-B1D8-D2B92E49E1D4}" v="1" dt="2026-10-21T02:07:54.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addSld modSld sldOrd">
      <pc:chgData name="大下　誠二" userId="e5774685-19fa-48b9-bec1-68eebf9ac578" providerId="ADAL" clId="{CDBA04F6-D5A6-4F8F-A920-1860374E7F12}" dt="2026-10-21T02:07:56.241" v="1"/>
      <pc:docMkLst>
        <pc:docMk/>
      </pc:docMkLst>
      <pc:sldChg chg="ord">
        <pc:chgData name="大下　誠二" userId="e5774685-19fa-48b9-bec1-68eebf9ac578" providerId="ADAL" clId="{CDBA04F6-D5A6-4F8F-A920-1860374E7F12}" dt="2026-10-21T02:07:56.241" v="1"/>
        <pc:sldMkLst>
          <pc:docMk/>
          <pc:sldMk cId="0" sldId="256"/>
        </pc:sldMkLst>
      </pc:sldChg>
      <pc:sldChg chg="add">
        <pc:chgData name="大下　誠二" userId="e5774685-19fa-48b9-bec1-68eebf9ac578" providerId="ADAL" clId="{CDBA04F6-D5A6-4F8F-A920-1860374E7F12}" dt="2026-10-21T02:07:54.585" v="0"/>
        <pc:sldMkLst>
          <pc:docMk/>
          <pc:sldMk cId="1006064969" sldId="310"/>
        </pc:sldMkLst>
      </pc:sldChg>
      <pc:sldChg chg="add">
        <pc:chgData name="大下　誠二" userId="e5774685-19fa-48b9-bec1-68eebf9ac578" providerId="ADAL" clId="{CDBA04F6-D5A6-4F8F-A920-1860374E7F12}" dt="2026-10-21T02:07:54.585" v="0"/>
        <pc:sldMkLst>
          <pc:docMk/>
          <pc:sldMk cId="3137194389" sldId="31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4DF54D6D-4B9A-CF30-0100-5D8448D240FD}"/>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normAutofit lnSpcReduction="10000"/>
          </a:bodyPr>
          <a:lstStyle/>
          <a:p>
            <a:r>
              <a:rPr lang="en-US" altLang="ja-JP" dirty="0">
                <a:latin typeface="BIZ UDゴシック" panose="020B0400000000000000" pitchFamily="49" charset="-128"/>
                <a:ea typeface="BIZ UDゴシック" panose="020B0400000000000000" pitchFamily="49" charset="-128"/>
              </a:rPr>
              <a:t>Chapter 6</a:t>
            </a:r>
          </a:p>
          <a:p>
            <a:r>
              <a:rPr kumimoji="1" lang="ja-JP" altLang="en-US" dirty="0">
                <a:latin typeface="BIZ UDゴシック" panose="020B0400000000000000" pitchFamily="49" charset="-128"/>
                <a:ea typeface="BIZ UDゴシック" panose="020B0400000000000000" pitchFamily="49" charset="-128"/>
              </a:rPr>
              <a:t>正規モデルにおける</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グループの比較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(Comparing two groups in a normal model)</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90A82E-2F97-EA2A-39CF-4D74FE566C6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B14D390-BC4D-5D90-A90B-01D826D42CD2}"/>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7F743266-8F62-288B-B396-15CE3AE4A59B}"/>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3137194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6.1  Introduction</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序論</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第4章の「平均値モデル」では、n個の観測値が独立同分布（i.i.d.）で、共通の平均と分散を持つと仮定した。第6章ではこの仮定を拡張し、2群の平均が異なる場合と、分散まで異なる場合を扱う。</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第5章で連続説明変数を用いた線形回帰を、2水準のカテゴリカル説明変数（因子）へ置き換えると、群ごとの平均を推定できる。2群比較を一般的な線形モデルと結び付けることが本章の狙いである。</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2群の平均差は伝統的にはt検定で解析されてきたが、著者らは第7・8章で扱う多水準の因子モデルとのつながりを明確にするため、線形モデルによる見方を重視する。</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標準的な lm の2群回帰は、平均は異なっても群間で残差分散が等しいと仮定する。一方、Welchのt検定は等分散性を必要としない。汎用推定エンジンなら不等分散モデルも明示的に組み立てられる。</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章の二本柱は、6.2「等分散の2群比較」と6.3「不等分散の2群比較」である。推定値だけでなく、分散という確率的変動の部分をモデル化する意義も6.4で検討する。</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171–172</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01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  Comparing two groups with equal variances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等分散を仮定した2群の比較</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第5章と同じ正規線形回帰式を用いるが、説明変数 xᵢ は連続量ではなく群を表す指示変数である。群1は xᵢ=0、群2は xᵢ=1 とする。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線形予測子は群1で α、群2で α+β となる。したがって切片 α は群1の平均、β は「群2の平均−群1の平均」に対応し、傾きというより群効果・平均差を表す。</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470" b="0">
                <a:solidFill>
                  <a:srgbClr val="1E2C3C"/>
                </a:solidFill>
                <a:latin typeface="Yu Gothic"/>
              </a:defRPr>
            </a:pPr>
            <a:r>
              <a:t>これは効果によるパラメータ化（effects parameterization）で、一般化線形モデルの文脈では corner-point parameterization、Rでは treatment contrast とも呼ばれる。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推定パラメータは α、β、および両群共通の残差分散 σ²（実際の推定結果の比較では標準偏差 σ を用いる）の3つである。</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等分散仮定は群平均が同じという意味ではない。群間で期待値は異なってよいが、それぞれの平均周囲での個体差の大きさを同じ σ で表現する。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yᵢ = α + βxᵢ + εᵢ      εᵢ ∼ Normal(0, σ²)     E[y|x=0]=α, E[y|x=1]=α+β</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172–173</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02 /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6.2.1  Data generation</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データ生成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470" b="0">
                <a:solidFill>
                  <a:srgbClr val="1E2C3C"/>
                </a:solidFill>
                <a:latin typeface="Yu Gothic"/>
              </a:defRPr>
            </a:pPr>
            <a:r>
              <a:t>例はハヤブサの雌雄の翼開長（wingspan）。西ヨーロッパの報告値として雄は70–85 cm、雌は95–115 cmであり、正規分布を仮定すると雄の平均77.5 cm・標準偏差約2.5 cm、雌の平均105 cm・標準偏差約3 cmに対応する。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等分散モデルの模擬データでは雌 n₁=60、雄 n₂=40 とし、雌の母平均 μ₁=105 cm、雄の母平均 μ₂=77.5 cm、共通標準偏差 σ=2.75 cm を設定する。群の符号は雌=0、雄=1である。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2群それぞれの正規分布から観測値を生成する「平均によるパラメータ化」と、α=μ₁=105、β=μ₂−μ₁=−27.5 の回帰式から生成する「効果によるパラメータ化」は、同じ確率モデルを表す。</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図6.1の箱ひげ図は、雌雄の翼開長の中心位置が大きく異なり、個体間の残差分散は共通と設定されていることを示す。雌が参照群なので、αは雌平均、βは雄−雌の差となる。</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同じ乱数過程であっても、乱数シードを固定せずデータ生成を繰り返せば標本ごとの結果が変化する。著者らはこの変動を通じて、標本変動・標本誤差を理解するよう促している。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真値：α=105 cm、β=−27.5 cm、σ=2.75 cm</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173–174</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03 / 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6.2.2  Likelihood analysis with canned functions in R</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Rの既存関数による尤度に基づく解析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等分散の2群モデルは、0/1の説明変数を1個持つ通常の線形回帰として推定できる。Rの lm は残差標準偏差を1個だけ推定するため、両群の分散を共通と仮定する。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原著の標本で切片の推定値は104.7706 cm、群効果の推定値は−27.6184 cm、残差標準偏差は2.772 cmであった。雄の平均推定値は切片と群効果の和、約77.1522 cmである。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群効果のt値は−48.8、p&lt;2×10⁻¹⁶であり、雄雌の平均が異なるという結論に至る。ここで有意な「傾き」は、連続変数への反応ではなく2群の平均差を意味する。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470" b="0">
                <a:solidFill>
                  <a:srgbClr val="1E2C3C"/>
                </a:solidFill>
                <a:latin typeface="Yu Gothic"/>
              </a:defRPr>
            </a:pPr>
            <a:r>
              <a:t>等分散を明示した2標本t検定は同じ観測データに対して t=48.805、自由度98、両側p&lt;2.2×10⁻¹⁶となる。t検定では2群それぞれの平均が直接表示され、群0−群1の平均差の95%信頼区間は26.495–28.741 cmである。</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群変数を因子として指定しても同様の推定が可能であり、切片を除く表現では両群の平均を直接係数として得られる。残差プロットとシミュレーションに基づく分位点残差でモデル適合度を確認する。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雌の推定平均 ≈104.77 cm、雄の推定平均 ≈77.15 cm</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174–175</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04 / 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6.2.3  Bayesian analysis with JAGS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JAGSによるベイズ解析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JAGSでも第5章の回帰モデルと同じ構造を用い、観測値に対する正規尤度と、切片 α・群効果 β・共通標準偏差 σ への事前分布を定める。精度 τ=σ⁻² を使って正規分布を指定する。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原著での事前分布は α、β に平均0・精度0.0001の正規分布、σ に0–10の一様分布である。標準偏差の初期値は必ず正でなければならないため、対数正規分布から生成している。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元のパラメータに加え、雌の平均 μ₁=α と雄の平均 μ₂=α+β を派生量として計算する。MCMCでは派生量の事後分布も直接得られ、元パラメータの推定不確実性が伝播する。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470" b="0">
                <a:solidFill>
                  <a:srgbClr val="1E2C3C"/>
                </a:solidFill>
                <a:latin typeface="Yu Gothic"/>
              </a:defRPr>
            </a:pPr>
            <a:r>
              <a:t>JAGS事後平均は α=104.767、β=−27.616、σ=2.805、μ₁=104.767、μ₂=77.151であり、lmの点推定値とほぼ一致する。βの95%信用区間は−28.711～−26.494で0を含まない。</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原著では残差を観測順に図示し、さらに雌雄別の残差箱ひげ図を示す。残差分布からは等分散性を大きく逸脱する兆候は見えない。ただし模擬データなのでモデル適合性の確認は練習として位置づけられる。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α:104.767［95%信用区間 104.033,105.474］ ／ β:−27.616［−28.711,−26.494］</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175–177</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05 /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6.2.4  Bayesian analysis with NIMBLE</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NIMBLEによるベイズ解析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NIMBLEではJAGSと非常によく似たモデル記述によって、同一の等分散2群正規モデルを当てはめる。比較対象は切片 α、群効果 β、共通標準偏差 σ である。</a:t>
            </a:r>
          </a:p>
        </p:txBody>
      </p:sp>
      <p:sp>
        <p:nvSpPr>
          <p:cNvPr id="8" name="TextBox 7"/>
          <p:cNvSpPr txBox="1"/>
          <p:nvPr/>
        </p:nvSpPr>
        <p:spPr>
          <a:xfrm>
            <a:off x="576072" y="265518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655189"/>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原著本文はNIMBLEのモデル記述を詳述せず、コードは書籍ウェブサイトに掲載している。したがって、ここではモデルの違いを新たに創作せず、同一モデルを別の推定エンジンで解くことが主旨である。</a:t>
            </a:r>
          </a:p>
        </p:txBody>
      </p:sp>
      <p:sp>
        <p:nvSpPr>
          <p:cNvPr id="10" name="TextBox 9"/>
          <p:cNvSpPr txBox="1"/>
          <p:nvPr/>
        </p:nvSpPr>
        <p:spPr>
          <a:xfrm>
            <a:off x="576072" y="3865626"/>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865626"/>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後続の6.2.8の比較表では、NIMBLEの推定値は α=104.767、β=−27.613、σ=2.812となる。いずれもJAGSやStanの推定値に非常に近い。</a:t>
            </a:r>
          </a:p>
        </p:txBody>
      </p:sp>
      <p:sp>
        <p:nvSpPr>
          <p:cNvPr id="12" name="TextBox 11"/>
          <p:cNvSpPr txBox="1"/>
          <p:nvPr/>
        </p:nvSpPr>
        <p:spPr>
          <a:xfrm>
            <a:off x="576072" y="5076063"/>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5076063"/>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著者らは全エンジンの推定結果を比較するには、本文に載っていないNIMBLEのコードも取得して実行するよう勧めている。</a:t>
            </a:r>
          </a:p>
        </p:txBody>
      </p:sp>
      <p:sp>
        <p:nvSpPr>
          <p:cNvPr id="14" name="Rectangle 13"/>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177</a:t>
            </a:r>
          </a:p>
        </p:txBody>
      </p:sp>
      <p:sp>
        <p:nvSpPr>
          <p:cNvPr id="16" name="TextBox 15"/>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06 /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6.2.5  Bayesian analysis with Stan</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Stanによるベイズ解析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StanでもJAGS・NIMBLEと同じデータを解析する。データとパラメータの型や大きさを宣言し、線形予測子 μ=α+βx、事前分布、正規尤度を明示する。残差は派生量として保持する。</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本節の事前分布は αとβに Normal(0,100)、σに Cauchy(0,10) を用いる（σは正に制約される）。JAGSとは事前分布の形が全く同一ではない点に注意する。</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原著は、同じ Stan モデルを観測値ごとのループを使う表現と、ベクトル演算に置き換えた表現の両方で示す。ベクトル化はより簡潔で、一般に処理効率もよい。</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MCMCは4チェーン、各3000反復・ウォームアップ1000反復として推定する。推定値は6.2.8の比較表で α=104.765、β=−27.612、σ=2.813と報告され、他のエンジンに近い。</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本節の焦点は、推定結果を変えることではなく、同一の確率モデルをStanの表現と推定法で実装し、ベクトル化・残差の派生量を含めて結果の整合性を確認する点にある。</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177–180</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07 /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6.2.6  Do-it-yourself maximum likelihood estimates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自作の最尤推定</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2群の等分散モデルは0/1の群変数を使う正規線形回帰と同じであり、尤度関数も第5章の線形回帰と同じ正規密度の積で表せる。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最尤推定では各個体について平均 α+βxᵢ、標準偏差 σ の正規確率密度を評価し、それらの対数を合計する。負の対数尤度を最小化すると最尤推定値が得られる。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σが正であるという制約を扱いやすくするため、直接σではなく log(σ) を推定し、結果の比較時に指数変換して標準偏差へ戻す。</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原著の自作最尤推定は α=104.7563、β=−27.6037、log(σ)=1.0134となり、σは約2.755である。近似標準誤差は順に0.3557、0.5623、0.0710（対数尺度）。</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この節は、汎用の関数が内部で実行している「尤度に基づく当てはめ」の内容を明示するための説明である。独自の生物学的仮定を追加するわけではない。</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L(α,β,σ|y,x) = ∏ᵢ NormalDensity(yᵢ ; α+βxᵢ, σ)</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180</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08 /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6.2.7  Likelihood analysis with TMB</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TMBによる尤度解析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TMBによる等分散モデルは、自作の最尤推定と同じ負の対数尤度を最小化する枠組みであり、第5章のTMBモデルと非常に似ている。推定する基本パラメータは α、β、log(σ) である。</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本節の追加要素は派生パラメータの扱いである。雌平均 μ₁=α と雄平均 μ₂=α+β を定義し、推定値と不確実性を出力することができる。</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原著ではTMBの出力例として α=104.770584（標準誤差0.354306）、β=−27.618356（0.560207）、log(σ)=1.009577（0.070711）が報告される。</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派生量である雌平均 μ₁=104.770584 の標準誤差は0.354306、雄平均 μ₂=77.152229 の標準誤差は0.433934である。基本係数だけでなく群平均の不確実性が得られる点が重要である。</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TMBの推定値と回帰やベイズの推定値が近いことは、異なる計算エンジンが同じモデルの推定対象に到達していることを示す。</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181–182</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09 / 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6.2.8  Comparison of the parameter estimates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パラメータ推定値の比較</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原著の比較表では真値、lm、JAGS、NIMBLE、Stan、DIY（自作最尤）、TMBの結果を同じ尺度で並べる。log(σ) を推定するエンジンは元のσに戻して比較する。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αの真値は105.00で、全手法の推定値は104.756～104.771とほぼ一致する。βの真値は−27.50で、推定値は−27.604～−27.618の範囲にまとまる。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σの真値は2.75で、lm=2.772、JAGS=2.805、NIMBLE=2.812、Stan=2.813、DIY=2.755、TMB=2.744となる。平均パラメータよりも標準偏差に小さな方法間差が見られる。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著者らは標本数100の例では最小二乗と最尤推定のσの差はほぼなく、ベイズと非ベイズの小差は事前分布や事後分布の歪みによる可能性があると述べる。</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σが2.75か2.81かという違いは、多くの実践的モデリング場面ではほぼ重要ではない、というのが本文の解釈である。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掲載値：α 104.756–104.771 ／ β −27.618–−27.604 ／ σ 2.744–2.813</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182</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10 / 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  Comparing two groups with unequal variances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不等分散を仮定した2群の比較</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995553"/>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6.2では雌雄の翼開長について個体差の大きさが同じと仮定したが、実際に残差分散まで同一であるとは限らない。これを許容する「不均質な群（heterogeneous groups）」モデルを導入する。</a:t>
            </a:r>
          </a:p>
        </p:txBody>
      </p:sp>
      <p:sp>
        <p:nvSpPr>
          <p:cNvPr id="8" name="TextBox 7"/>
          <p:cNvSpPr txBox="1"/>
          <p:nvPr/>
        </p:nvSpPr>
        <p:spPr>
          <a:xfrm>
            <a:off x="576072" y="2527173"/>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527173"/>
            <a:ext cx="10789920" cy="995553"/>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平均構造は引き続き α+βxᵢ と表現できる。ただし雌（x=0）では残差の分散σ₁²、雄（x=1）ではσ₂²として、群ごとに違う確率的変動を認める。</a:t>
            </a:r>
          </a:p>
        </p:txBody>
      </p:sp>
      <p:sp>
        <p:nvSpPr>
          <p:cNvPr id="10" name="TextBox 9"/>
          <p:cNvSpPr txBox="1"/>
          <p:nvPr/>
        </p:nvSpPr>
        <p:spPr>
          <a:xfrm>
            <a:off x="576072" y="3609594"/>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609594"/>
            <a:ext cx="10789920" cy="995553"/>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等分散モデルの3パラメータに対して、分散パラメータが1つ増えた4パラメータのモデルになる。平均の比較に加え、不等分散性（heteroskedasticity）を適切に表現できる。</a:t>
            </a:r>
          </a:p>
        </p:txBody>
      </p:sp>
      <p:sp>
        <p:nvSpPr>
          <p:cNvPr id="12" name="TextBox 11"/>
          <p:cNvSpPr txBox="1"/>
          <p:nvPr/>
        </p:nvSpPr>
        <p:spPr>
          <a:xfrm>
            <a:off x="576072" y="469201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692015"/>
            <a:ext cx="10789920" cy="995553"/>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原著ではこのモデルを、群別に独立した「平均値モデル」を2つ組み合わせる方法としても示す。これは第4章で説明した基本モデルとつながる。</a:t>
            </a:r>
          </a:p>
        </p:txBody>
      </p:sp>
      <p:sp>
        <p:nvSpPr>
          <p:cNvPr id="14" name="Rounded Rectangle 13"/>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yᵢ = α + βxᵢ + εᵢ,   εᵢ∼N(0,σ₁²)［雌］ または N(0,σ₂²)［雄］</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182–183</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11 / 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6.3.1  Data generation</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データ生成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不等分散モデルの模擬データもハヤブサの翼開長を用い、雌60個体、雄40個体、雌の平均105 cm、雄の平均77.5 cmという条件は6.2と同じにする。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相違点は標準偏差であり、雌のσ₁=3.0 cm、雄のσ₂=2.5 cmと別々に設定する。平均の群差と分散の群差を同時に持つデータを生成する。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図6.2の箱ひげ図は、群ごとの平均だけでなく残差の変動幅も性別に依存するデータを示す。ここでの目的は、不等分散を扱う解析方法を比較するための標本を作ることである。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標本数と平均は共通でも、6.2とは乱数生成の条件・乱数シードが異なるため、6.2の推定結果と数値が一致する必要はない。</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真のパラメータとして μ₁=105、μ₂=77.5、σ₁=3.0、σ₂=2.5 を保存し、後の推定結果との比較基準とする。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真値：μ₁=105、μ₂=77.5、σ₁=3.0、σ₂=2.5（単位cm）</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183–184</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12 / 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6.3.2  Frequentist analysis with canned functions in R</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Rの既存関数による頻度主義的解析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標準的な lm は1つの共通残差分散を仮定するため、ここで設計した群別分散モデルをそのまま推定する関数ではない。等分散仮定を緩めるためWelchの2標本t検定を用いる。</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Welch検定は分散が群によって異なっていても2群の平均差を検討できる。原著の結果は t=50.278、自由度96.17、p&lt;2.2×10⁻¹⁶で、雌雄の平均差を支持する。</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推定された群平均は雌104.96214 cm、雄77.35539 cmであり、群0−群1の平均差の95%信頼区間は26.51684–28.69664 cmである。</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ただし本例の t.test 出力は2群の平均を示しても、群別の分散パラメータの推定値を返さない。この点は4つのパラメータを直接推定する後続のモデルと異なる。</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適合度の確認ではDHARMaがt.testに対応していないため、比較用に等分散のlmを当てはめて分位点残差を見るが、原著ではこの誤指定は残差に表れなかった。残差診断だけで異分散性が常に検出できるわけではない。</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184</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13 / 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6.3.3  Bayesian analysis with JAGS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JAGSによるベイズ解析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不等分散モデルでは、第4章の「平均値モデル」を雌と雄の2群について同時に適用する。各群は独自の平均 μ₁、μ₂ と標準偏差 σ₁、σ₂ を持ち、4つを基本パラメータとして推定する。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JAGSでは各平均へ精度0.0001の正規事前分布、各標準偏差へ0–1000の一様事前分布を置く。尤度は雌・雄それぞれの正規分布からなり、σの代わりに τ=σ⁻² を用いる。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派生量として δ=μ₂−μ₁（雄−雌の平均差）を計算する。δは6.2の群効果βと同じ解釈を持ち、事後分布の95%信用区間を用いて0との差を検討できる。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原著掲載の事後平均は μ₁=104.963、μ₂=77.345、δ=−27.618、σ₁=3.186、σ₂=2.453である。δの95%信用区間は−28.740～−26.469で、0を含まない。</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分散（または標準偏差）の差は、MCMC標本ごとに σ₂−σ₁ を計算して評価できる。原著の95%信用区間は−1.556～0.101で0を含むため、標準偏差の違いを強く支持する結果ではない。</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δ=μ₂−μ₁：事後平均−27.618、95%信用区間［−28.740, −26.469］</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184–186</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14 / 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6.3.4  Bayesian analysis with NIMBLE</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NIMBLEによるベイズ解析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NIMBLEでの不等分散モデルはJAGSと非常に近い。群別の平均と標準偏差を持つ2つの正規モデルを同時に推定し、雄−雌の平均差δを派生量として求める。</a:t>
            </a:r>
          </a:p>
        </p:txBody>
      </p:sp>
      <p:sp>
        <p:nvSpPr>
          <p:cNvPr id="8" name="TextBox 7"/>
          <p:cNvSpPr txBox="1"/>
          <p:nvPr/>
        </p:nvSpPr>
        <p:spPr>
          <a:xfrm>
            <a:off x="576072" y="265518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655189"/>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原著本文ではNIMBLEの詳細コードは再掲せず、書籍ウェブサイトに掲載している。理論上、別の平均構造や特別なデータを導入する節ではない。</a:t>
            </a:r>
          </a:p>
        </p:txBody>
      </p:sp>
      <p:sp>
        <p:nvSpPr>
          <p:cNvPr id="10" name="TextBox 9"/>
          <p:cNvSpPr txBox="1"/>
          <p:nvPr/>
        </p:nvSpPr>
        <p:spPr>
          <a:xfrm>
            <a:off x="576072" y="3865626"/>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865626"/>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6.3.8の比較表では、NIMBLEの推定値は雌平均μ₁=104.99、雄平均μ₂=77.36、雌標準偏差σ₁=3.19、雄標準偏差σ₂=2.45である。</a:t>
            </a:r>
          </a:p>
        </p:txBody>
      </p:sp>
      <p:sp>
        <p:nvSpPr>
          <p:cNvPr id="12" name="TextBox 11"/>
          <p:cNvSpPr txBox="1"/>
          <p:nvPr/>
        </p:nvSpPr>
        <p:spPr>
          <a:xfrm>
            <a:off x="576072" y="5076063"/>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5076063"/>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原著が意図する比較は、複数の推定エンジンが同じ確率モデルに対し概ね同じパラメータ推定を返すかどうかにある。</a:t>
            </a:r>
          </a:p>
        </p:txBody>
      </p:sp>
      <p:sp>
        <p:nvSpPr>
          <p:cNvPr id="14" name="Rectangle 13"/>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186</a:t>
            </a:r>
          </a:p>
        </p:txBody>
      </p:sp>
      <p:sp>
        <p:nvSpPr>
          <p:cNvPr id="16" name="TextBox 15"/>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15 / 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6.3.5  Bayesian analysis with Stan</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Stanによるベイズ解析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Stanの不等分散モデルも、JAGSと同じ4つの基本パラメータ μ₁、μ₂、σ₁、σ₂を用いる。ただしそれぞれの事前分布はStanによる指定で、群別の正規尤度を構成する。</a:t>
            </a:r>
          </a:p>
        </p:txBody>
      </p:sp>
      <p:sp>
        <p:nvSpPr>
          <p:cNvPr id="8" name="TextBox 7"/>
          <p:cNvSpPr txBox="1"/>
          <p:nvPr/>
        </p:nvSpPr>
        <p:spPr>
          <a:xfrm>
            <a:off x="576072" y="265518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655189"/>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具体的な事前分布は μ₁、μ₂が Normal(0,100)、σ₁、σ₂が Cauchy(0,10)（標準偏差は正に制約）である。JAGSと異なる事前設定でも結果が近いか確認できる。</a:t>
            </a:r>
          </a:p>
        </p:txBody>
      </p:sp>
      <p:sp>
        <p:nvSpPr>
          <p:cNvPr id="10" name="TextBox 9"/>
          <p:cNvSpPr txBox="1"/>
          <p:nvPr/>
        </p:nvSpPr>
        <p:spPr>
          <a:xfrm>
            <a:off x="576072" y="3865626"/>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865626"/>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本節では6.2.5で説明したベクトル化を使い、雌の観測ベクトルと雄の観測ベクトルを、それぞれ対応する平均と標準偏差を持つ正規分布からの観測として扱う。</a:t>
            </a:r>
          </a:p>
        </p:txBody>
      </p:sp>
      <p:sp>
        <p:nvSpPr>
          <p:cNvPr id="12" name="TextBox 11"/>
          <p:cNvSpPr txBox="1"/>
          <p:nvPr/>
        </p:nvSpPr>
        <p:spPr>
          <a:xfrm>
            <a:off x="576072" y="5076063"/>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5076063"/>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派生量 δ=μ₂−μ₁ を計算して平均差の事後分布を得る。6.3.8の比較表ではStanによるμ₁=104.96、μ₂=77.35、σ₁=3.17、σ₂=2.44であり、JAGS・NIMBLEに近い。</a:t>
            </a:r>
          </a:p>
        </p:txBody>
      </p:sp>
      <p:sp>
        <p:nvSpPr>
          <p:cNvPr id="14" name="Rectangle 13"/>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186–187</a:t>
            </a:r>
          </a:p>
        </p:txBody>
      </p:sp>
      <p:sp>
        <p:nvSpPr>
          <p:cNvPr id="16" name="TextBox 15"/>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16 / 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6.3.6  Do-it-yourself maximum likelihood estimates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自作の最尤推定</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不等分散の正規モデルは、第4章の平均値モデルを2つ組み合わせたものと考える。群1と群2の尤度を掛け合わせることにより、全データの尤度が得られる。</a:t>
            </a:r>
          </a:p>
        </p:txBody>
      </p:sp>
      <p:sp>
        <p:nvSpPr>
          <p:cNvPr id="8" name="TextBox 7"/>
          <p:cNvSpPr txBox="1"/>
          <p:nvPr/>
        </p:nvSpPr>
        <p:spPr>
          <a:xfrm>
            <a:off x="576072" y="2310688"/>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310688"/>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計算では各群の観測に対する正規対数尤度を合計し、2群の合計を最大化する（負の対数尤度を最小化する）。この操作は2つの尤度の積を扱うことと等価である。</a:t>
            </a:r>
          </a:p>
        </p:txBody>
      </p:sp>
      <p:sp>
        <p:nvSpPr>
          <p:cNvPr id="10" name="TextBox 9"/>
          <p:cNvSpPr txBox="1"/>
          <p:nvPr/>
        </p:nvSpPr>
        <p:spPr>
          <a:xfrm>
            <a:off x="576072" y="3176625"/>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176625"/>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パラメータは μ₁、μ₂、log(σ₁)、log(σ₂) として扱う。標準偏差を対数で推定するのは、正値制約を数値計算上扱いやすくするためである。</a:t>
            </a:r>
          </a:p>
        </p:txBody>
      </p:sp>
      <p:sp>
        <p:nvSpPr>
          <p:cNvPr id="12" name="TextBox 11"/>
          <p:cNvSpPr txBox="1"/>
          <p:nvPr/>
        </p:nvSpPr>
        <p:spPr>
          <a:xfrm>
            <a:off x="576072" y="404256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042562"/>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原著掲載の最尤推定値は μ₁=104.94770、μ₂=77.35551、log(σ₁)=1.10626、log(σ₂)=0.87994である。標準偏差に戻すとおよそσ₁=3.02、σ₂=2.41となる。</a:t>
            </a:r>
          </a:p>
        </p:txBody>
      </p:sp>
      <p:sp>
        <p:nvSpPr>
          <p:cNvPr id="14" name="TextBox 13"/>
          <p:cNvSpPr txBox="1"/>
          <p:nvPr/>
        </p:nvSpPr>
        <p:spPr>
          <a:xfrm>
            <a:off x="576072" y="490849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4908499"/>
            <a:ext cx="10789920" cy="779068"/>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群平均を直接の推定パラメータとする表現では、平均差が独立した基本パラメータにはならない。しかし平均差は μ₂−μ₁として導出可能であり、効果による表現へ組み替えることもできる。</a:t>
            </a:r>
          </a:p>
        </p:txBody>
      </p:sp>
      <p:sp>
        <p:nvSpPr>
          <p:cNvPr id="16" name="Rounded Rectangle 15"/>
          <p:cNvSpPr/>
          <p:nvPr/>
        </p:nvSpPr>
        <p:spPr>
          <a:xfrm>
            <a:off x="557784" y="5724144"/>
            <a:ext cx="11018520" cy="475488"/>
          </a:xfrm>
          <a:prstGeom prst="roundRect">
            <a:avLst/>
          </a:prstGeom>
          <a:solidFill>
            <a:srgbClr val="F1F5F9"/>
          </a:solidFill>
          <a:ln>
            <a:solidFill>
              <a:srgbClr val="E5EA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815583"/>
            <a:ext cx="10652760" cy="301752"/>
          </a:xfrm>
          <a:prstGeom prst="rect">
            <a:avLst/>
          </a:prstGeom>
          <a:noFill/>
        </p:spPr>
        <p:txBody>
          <a:bodyPr wrap="square" lIns="27432" tIns="27432" rIns="27432" bIns="27432">
            <a:spAutoFit/>
          </a:bodyPr>
          <a:lstStyle/>
          <a:p>
            <a:pPr>
              <a:spcAft>
                <a:spcPts val="0"/>
              </a:spcAft>
              <a:defRPr sz="1420" b="1">
                <a:solidFill>
                  <a:srgbClr val="1A3757"/>
                </a:solidFill>
                <a:latin typeface="Yu Gothic"/>
              </a:defRPr>
            </a:pPr>
            <a:r>
              <a:t>L(μ₁,μ₂,σ₁,σ₂|y₁,y₂) = L₁(μ₁,σ₁|y₁) × L₂(μ₂,σ₂|y₂)</a:t>
            </a:r>
          </a:p>
        </p:txBody>
      </p:sp>
      <p:sp>
        <p:nvSpPr>
          <p:cNvPr id="18" name="Rectangle 17"/>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187–188</a:t>
            </a:r>
          </a:p>
        </p:txBody>
      </p:sp>
      <p:sp>
        <p:nvSpPr>
          <p:cNvPr id="20" name="TextBox 19"/>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17 / 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6.3.7  Likelihood analysis with TMB</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TMBによる尤度解析</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TMBでも、雌と雄のそれぞれの正規対数尤度を計算して合計し、全体の負の対数尤度を最小化する。推定する基本パラメータは2つの平均と2つの対数標準偏差である。</a:t>
            </a:r>
          </a:p>
        </p:txBody>
      </p:sp>
      <p:sp>
        <p:nvSpPr>
          <p:cNvPr id="8" name="TextBox 7"/>
          <p:cNvSpPr txBox="1"/>
          <p:nvPr/>
        </p:nvSpPr>
        <p:spPr>
          <a:xfrm>
            <a:off x="576072" y="2655189"/>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655189"/>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自作最尤推定と同じ確率モデルだが、TMBでは派生パラメータδ=μ₂−μ₁を定義し、その推定値と不確実性を出力できる。これは6.2.7で群別平均の派生量を出力した考え方と同じである。</a:t>
            </a:r>
          </a:p>
        </p:txBody>
      </p:sp>
      <p:sp>
        <p:nvSpPr>
          <p:cNvPr id="10" name="TextBox 9"/>
          <p:cNvSpPr txBox="1"/>
          <p:nvPr/>
        </p:nvSpPr>
        <p:spPr>
          <a:xfrm>
            <a:off x="576072" y="3865626"/>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865626"/>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原著の6.3.8比較表でのTMB推定値は μ₁=104.96、μ₂=77.36、σ₁=3.08、σ₂=2.34。ベイズ推定より標準偏差の推定値がやや小さい傾向が見られる。</a:t>
            </a:r>
          </a:p>
        </p:txBody>
      </p:sp>
      <p:sp>
        <p:nvSpPr>
          <p:cNvPr id="12" name="TextBox 11"/>
          <p:cNvSpPr txBox="1"/>
          <p:nvPr/>
        </p:nvSpPr>
        <p:spPr>
          <a:xfrm>
            <a:off x="576072" y="5076063"/>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5076063"/>
            <a:ext cx="10789920" cy="1123569"/>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著者らは、TMBを単なる計算高速化の方法としてではなく、通常の最尤法を使いながら派生量の不確実性も推定できる推定エンジンとして示している。</a:t>
            </a:r>
          </a:p>
        </p:txBody>
      </p:sp>
      <p:sp>
        <p:nvSpPr>
          <p:cNvPr id="14" name="Rectangle 13"/>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188–190</a:t>
            </a:r>
          </a:p>
        </p:txBody>
      </p:sp>
      <p:sp>
        <p:nvSpPr>
          <p:cNvPr id="16" name="TextBox 15"/>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18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6.3.8  Comparison of the parameter estimates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パラメータ推定値の比較</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6.3の比較表は、真値、Welchのt検定、JAGS、NIMBLE、Stan、自作最尤推定、TMBを、群別平均μ₁・μ₂および群別標準偏差σ₁・σ₂について比較する。</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μ₁の真値105.0に対し、Welch検定=105.0（丸め表示）、JAGS=104.96、NIMBLE=104.99、Stan=104.96、DIY=104.95、TMB=104.96である。</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μ₂の真値77.5に対しても推定値は77.35～77.4で近い。平均差について各方法の結論に大きな違いはない。</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470" b="0">
                <a:solidFill>
                  <a:srgbClr val="1E2C3C"/>
                </a:solidFill>
                <a:latin typeface="Yu Gothic"/>
              </a:defRPr>
            </a:pPr>
            <a:r>
              <a:t>σ₁の真値3.0に対してJAGS=3.19、NIMBLE=3.19、Stan=3.17、DIY=3.02、TMB=3.08。σ₂の真値2.5に対してJAGS=2.45、NIMBLE=2.45、Stan=2.44、DIY=2.41、TMB=2.34である。</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Welchのt検定はこの比較表では標準偏差の推定値を報告しない。著者らは最尤エンジンによる分散・標準偏差の推定がやや低い以外、全体として推定結果がよく似ているとまとめる。</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190</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19 / 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A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1292840" cy="393192"/>
          </a:xfrm>
          <a:prstGeom prst="rect">
            <a:avLst/>
          </a:prstGeom>
          <a:noFill/>
        </p:spPr>
        <p:txBody>
          <a:bodyPr wrap="square" lIns="27432" tIns="27432" rIns="27432" bIns="27432">
            <a:spAutoFit/>
          </a:bodyPr>
          <a:lstStyle/>
          <a:p>
            <a:pPr>
              <a:spcAft>
                <a:spcPts val="0"/>
              </a:spcAft>
              <a:defRPr sz="2100" b="1">
                <a:solidFill>
                  <a:srgbClr val="1A3757"/>
                </a:solidFill>
                <a:latin typeface="Yu Gothic"/>
              </a:defRPr>
            </a:pPr>
            <a:r>
              <a:t>6.4  Summary and a comment on the modeling of variances</a:t>
            </a:r>
          </a:p>
        </p:txBody>
      </p:sp>
      <p:sp>
        <p:nvSpPr>
          <p:cNvPr id="4" name="TextBox 3"/>
          <p:cNvSpPr txBox="1"/>
          <p:nvPr/>
        </p:nvSpPr>
        <p:spPr>
          <a:xfrm>
            <a:off x="457200" y="713232"/>
            <a:ext cx="11155680" cy="402336"/>
          </a:xfrm>
          <a:prstGeom prst="rect">
            <a:avLst/>
          </a:prstGeom>
          <a:noFill/>
        </p:spPr>
        <p:txBody>
          <a:bodyPr wrap="square" lIns="27432" tIns="27432" rIns="27432" bIns="27432">
            <a:spAutoFit/>
          </a:bodyPr>
          <a:lstStyle/>
          <a:p>
            <a:pPr>
              <a:spcAft>
                <a:spcPts val="0"/>
              </a:spcAft>
              <a:defRPr sz="2400" b="1">
                <a:solidFill>
                  <a:srgbClr val="1E2C3C"/>
                </a:solidFill>
                <a:latin typeface="Yu Gothic"/>
              </a:defRPr>
            </a:pPr>
            <a:r>
              <a:t>まとめと分散のモデル化に関する考察</a:t>
            </a:r>
          </a:p>
        </p:txBody>
      </p:sp>
      <p:sp>
        <p:nvSpPr>
          <p:cNvPr id="5" name="Rectangle 4"/>
          <p:cNvSpPr/>
          <p:nvPr/>
        </p:nvSpPr>
        <p:spPr>
          <a:xfrm>
            <a:off x="484632" y="1243584"/>
            <a:ext cx="11201400" cy="11887"/>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44752"/>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7" name="TextBox 6"/>
          <p:cNvSpPr txBox="1"/>
          <p:nvPr/>
        </p:nvSpPr>
        <p:spPr>
          <a:xfrm>
            <a:off x="886968" y="1444752"/>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本章は、2群の平均差を、等分散のケースと不等分散のケースの双方で比較した。等分散なら群所属を表す0/1の説明変数を持つ線形回帰（第5章）として表せる。</a:t>
            </a:r>
          </a:p>
        </p:txBody>
      </p:sp>
      <p:sp>
        <p:nvSpPr>
          <p:cNvPr id="8" name="TextBox 7"/>
          <p:cNvSpPr txBox="1"/>
          <p:nvPr/>
        </p:nvSpPr>
        <p:spPr>
          <a:xfrm>
            <a:off x="576072" y="241310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9" name="TextBox 8"/>
          <p:cNvSpPr txBox="1"/>
          <p:nvPr/>
        </p:nvSpPr>
        <p:spPr>
          <a:xfrm>
            <a:off x="886968" y="241310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不等分散なら、2つの「平均値モデル」（第4章）を組み合わせたモデルとして、群ごとの平均・分散を同時に推定できる。伝統的には、両者とも対応する形のt検定で解析されてきた。</a:t>
            </a:r>
          </a:p>
        </p:txBody>
      </p:sp>
      <p:sp>
        <p:nvSpPr>
          <p:cNvPr id="10" name="TextBox 9"/>
          <p:cNvSpPr txBox="1"/>
          <p:nvPr/>
        </p:nvSpPr>
        <p:spPr>
          <a:xfrm>
            <a:off x="576072" y="3381451"/>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1" name="TextBox 10"/>
          <p:cNvSpPr txBox="1"/>
          <p:nvPr/>
        </p:nvSpPr>
        <p:spPr>
          <a:xfrm>
            <a:off x="886968" y="3381451"/>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本書で明示的に残差分散をモデル化する例は、この不等分散のt検定に対応する部分が中心である。ただし別章では階層モデルなどの分散成分も扱う。</a:t>
            </a:r>
          </a:p>
        </p:txBody>
      </p:sp>
      <p:sp>
        <p:nvSpPr>
          <p:cNvPr id="12" name="TextBox 11"/>
          <p:cNvSpPr txBox="1"/>
          <p:nvPr/>
        </p:nvSpPr>
        <p:spPr>
          <a:xfrm>
            <a:off x="576072" y="434980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3" name="TextBox 12"/>
          <p:cNvSpPr txBox="1"/>
          <p:nvPr/>
        </p:nvSpPr>
        <p:spPr>
          <a:xfrm>
            <a:off x="886968" y="434980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著者らは平均だけでなく分散も、共変量の関数としてモデル化できると強調する。汎用モデルエンジンでは、例えば分散パラメータに対数リンクを使うことで、変動の大きさと説明変数の関係を考えられる。</a:t>
            </a:r>
          </a:p>
        </p:txBody>
      </p:sp>
      <p:sp>
        <p:nvSpPr>
          <p:cNvPr id="14" name="TextBox 13"/>
          <p:cNvSpPr txBox="1"/>
          <p:nvPr/>
        </p:nvSpPr>
        <p:spPr>
          <a:xfrm>
            <a:off x="576072" y="5318150"/>
            <a:ext cx="201168" cy="201168"/>
          </a:xfrm>
          <a:prstGeom prst="rect">
            <a:avLst/>
          </a:prstGeom>
          <a:noFill/>
        </p:spPr>
        <p:txBody>
          <a:bodyPr wrap="square" lIns="27432" tIns="27432" rIns="27432" bIns="27432">
            <a:spAutoFit/>
          </a:bodyPr>
          <a:lstStyle/>
          <a:p>
            <a:pPr>
              <a:spcAft>
                <a:spcPts val="0"/>
              </a:spcAft>
              <a:defRPr sz="1800" b="1">
                <a:solidFill>
                  <a:srgbClr val="1A3757"/>
                </a:solidFill>
                <a:latin typeface="Yu Gothic"/>
              </a:defRPr>
            </a:pPr>
            <a:r>
              <a:t>•</a:t>
            </a:r>
          </a:p>
        </p:txBody>
      </p:sp>
      <p:sp>
        <p:nvSpPr>
          <p:cNvPr id="15" name="TextBox 14"/>
          <p:cNvSpPr txBox="1"/>
          <p:nvPr/>
        </p:nvSpPr>
        <p:spPr>
          <a:xfrm>
            <a:off x="886968" y="5318150"/>
            <a:ext cx="10789920" cy="881481"/>
          </a:xfrm>
          <a:prstGeom prst="rect">
            <a:avLst/>
          </a:prstGeom>
          <a:noFill/>
        </p:spPr>
        <p:txBody>
          <a:bodyPr wrap="square" lIns="27432" tIns="27432" rIns="27432" bIns="27432">
            <a:spAutoFit/>
          </a:bodyPr>
          <a:lstStyle/>
          <a:p>
            <a:pPr>
              <a:spcAft>
                <a:spcPts val="0"/>
              </a:spcAft>
              <a:defRPr sz="1530" b="0">
                <a:solidFill>
                  <a:srgbClr val="1E2C3C"/>
                </a:solidFill>
                <a:latin typeface="Yu Gothic"/>
              </a:defRPr>
            </a:pPr>
            <a:r>
              <a:t>平均への推論が主目的でも、残差やランダム効果の分散を適切に捉えることは確率的過程の特徴づけに重要である。逆に、ある環境条件が形質の分散を拡大するかどうか自体を研究課題にすることも可能である。</a:t>
            </a:r>
          </a:p>
        </p:txBody>
      </p:sp>
      <p:sp>
        <p:nvSpPr>
          <p:cNvPr id="16" name="Rectangle 15"/>
          <p:cNvSpPr/>
          <p:nvPr/>
        </p:nvSpPr>
        <p:spPr>
          <a:xfrm>
            <a:off x="475488" y="6428232"/>
            <a:ext cx="11247120" cy="10972"/>
          </a:xfrm>
          <a:prstGeom prst="rect">
            <a:avLst/>
          </a:prstGeom>
          <a:solidFill>
            <a:srgbClr val="E5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 y="6483096"/>
            <a:ext cx="10012680" cy="182880"/>
          </a:xfrm>
          <a:prstGeom prst="rect">
            <a:avLst/>
          </a:prstGeom>
          <a:noFill/>
        </p:spPr>
        <p:txBody>
          <a:bodyPr wrap="square" lIns="27432" tIns="27432" rIns="27432" bIns="27432">
            <a:spAutoFit/>
          </a:bodyPr>
          <a:lstStyle/>
          <a:p>
            <a:pPr>
              <a:spcAft>
                <a:spcPts val="0"/>
              </a:spcAft>
              <a:defRPr sz="930" b="0">
                <a:solidFill>
                  <a:srgbClr val="566777"/>
                </a:solidFill>
                <a:latin typeface="Yu Gothic"/>
              </a:defRPr>
            </a:pPr>
            <a:r>
              <a:t>Kéry &amp; Kellner (2024)  •  Applied Statistical Modelling for Ecologists  •  Chapter 6  •  原著 pp. 190</a:t>
            </a:r>
          </a:p>
        </p:txBody>
      </p:sp>
      <p:sp>
        <p:nvSpPr>
          <p:cNvPr id="18" name="TextBox 17"/>
          <p:cNvSpPr txBox="1"/>
          <p:nvPr/>
        </p:nvSpPr>
        <p:spPr>
          <a:xfrm>
            <a:off x="10972800" y="6473952"/>
            <a:ext cx="731520" cy="219456"/>
          </a:xfrm>
          <a:prstGeom prst="rect">
            <a:avLst/>
          </a:prstGeom>
          <a:noFill/>
        </p:spPr>
        <p:txBody>
          <a:bodyPr wrap="square" lIns="27432" tIns="27432" rIns="27432" bIns="27432">
            <a:spAutoFit/>
          </a:bodyPr>
          <a:lstStyle/>
          <a:p>
            <a:pPr>
              <a:spcAft>
                <a:spcPts val="0"/>
              </a:spcAft>
              <a:defRPr sz="940" b="0">
                <a:solidFill>
                  <a:srgbClr val="566777"/>
                </a:solidFill>
                <a:latin typeface="Yu Gothic"/>
              </a:defRPr>
            </a:pPr>
            <a:r>
              <a:t>20 / 20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  第6章：2群比較のモデルを各エンジンで読む</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Comparing two groups in a normal model</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yᵢ = α + βxᵢ + εᵢ,  εᵢ ~ Normal(0, σ²)</a:t>
            </a:r>
          </a:p>
          <a:p>
            <a:pPr>
              <a:lnSpc>
                <a:spcPct val="110000"/>
              </a:lnSpc>
              <a:spcBef>
                <a:spcPts val="0"/>
              </a:spcBef>
              <a:spcAft>
                <a:spcPts val="0"/>
              </a:spcAft>
            </a:pPr>
            <a:r>
              <a:rPr sz="1400" b="0">
                <a:solidFill>
                  <a:srgbClr val="16303A"/>
                </a:solidFill>
                <a:latin typeface="Consolas"/>
              </a:rPr>
              <a:t>xᵢ = 0：雌、1：雄</a:t>
            </a:r>
          </a:p>
          <a:p>
            <a:pPr>
              <a:lnSpc>
                <a:spcPct val="110000"/>
              </a:lnSpc>
              <a:spcBef>
                <a:spcPts val="0"/>
              </a:spcBef>
              <a:spcAft>
                <a:spcPts val="0"/>
              </a:spcAft>
            </a:pPr>
            <a:r>
              <a:rPr sz="1400" b="0">
                <a:solidFill>
                  <a:srgbClr val="16303A"/>
                </a:solidFill>
                <a:latin typeface="Consolas"/>
              </a:rPr>
              <a:t>μ₁ = α（雌の平均）</a:t>
            </a:r>
          </a:p>
          <a:p>
            <a:pPr>
              <a:lnSpc>
                <a:spcPct val="110000"/>
              </a:lnSpc>
              <a:spcBef>
                <a:spcPts val="0"/>
              </a:spcBef>
              <a:spcAft>
                <a:spcPts val="0"/>
              </a:spcAft>
            </a:pPr>
            <a:r>
              <a:rPr sz="1400" b="0">
                <a:solidFill>
                  <a:srgbClr val="16303A"/>
                </a:solidFill>
                <a:latin typeface="Consolas"/>
              </a:rPr>
              <a:t>μ₂ = α + β（雄の平均）</a:t>
            </a:r>
          </a:p>
          <a:p>
            <a:pPr>
              <a:lnSpc>
                <a:spcPct val="110000"/>
              </a:lnSpc>
              <a:spcBef>
                <a:spcPts val="0"/>
              </a:spcBef>
              <a:spcAft>
                <a:spcPts val="0"/>
              </a:spcAft>
            </a:pPr>
            <a:r>
              <a:rPr sz="1400" b="0">
                <a:solidFill>
                  <a:srgbClr val="16303A"/>
                </a:solidFill>
                <a:latin typeface="Consolas"/>
              </a:rPr>
              <a:t>β = μ₂ − μ₁（雄 − 雌）</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第4章の平均モデルを2群に拡張。等分散（6.2）と不等分散（6.3）を別々に解析する。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左欄はアップロードされた第6章Rコードに対応する主要行を抜粋・整理。右欄で意味を説明する。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JAGS・NIMBLE・Stanは事前分布と尤度から事後分布を求め、DIY・TMBは負の対数尤度を最小化する。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同じモデルでも事前分布や推定量（事後平均 vs MLE）が異なるので、結果の完全一致は前提にしない。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  等分散モデル：式と変数の対応</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Comparing two groups with equal variances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yᵢ = α + βxᵢ + εᵢ,  εᵢ ~ Normal(0, σ²)</a:t>
            </a:r>
          </a:p>
          <a:p>
            <a:pPr>
              <a:lnSpc>
                <a:spcPct val="110000"/>
              </a:lnSpc>
              <a:spcBef>
                <a:spcPts val="0"/>
              </a:spcBef>
              <a:spcAft>
                <a:spcPts val="0"/>
              </a:spcAft>
            </a:pPr>
            <a:r>
              <a:rPr sz="1400" b="0">
                <a:solidFill>
                  <a:srgbClr val="16303A"/>
                </a:solidFill>
                <a:latin typeface="Consolas"/>
              </a:rPr>
              <a:t>xᵢ = 0：雌、1：雄</a:t>
            </a:r>
          </a:p>
          <a:p>
            <a:pPr>
              <a:lnSpc>
                <a:spcPct val="110000"/>
              </a:lnSpc>
              <a:spcBef>
                <a:spcPts val="0"/>
              </a:spcBef>
              <a:spcAft>
                <a:spcPts val="0"/>
              </a:spcAft>
            </a:pPr>
            <a:r>
              <a:rPr sz="1400" b="0">
                <a:solidFill>
                  <a:srgbClr val="16303A"/>
                </a:solidFill>
                <a:latin typeface="Consolas"/>
              </a:rPr>
              <a:t>μ₁ = α（雌の平均）</a:t>
            </a:r>
          </a:p>
          <a:p>
            <a:pPr>
              <a:lnSpc>
                <a:spcPct val="110000"/>
              </a:lnSpc>
              <a:spcBef>
                <a:spcPts val="0"/>
              </a:spcBef>
              <a:spcAft>
                <a:spcPts val="0"/>
              </a:spcAft>
            </a:pPr>
            <a:r>
              <a:rPr sz="1400" b="0">
                <a:solidFill>
                  <a:srgbClr val="16303A"/>
                </a:solidFill>
                <a:latin typeface="Consolas"/>
              </a:rPr>
              <a:t>μ₂ = α + β（雄の平均）</a:t>
            </a:r>
          </a:p>
          <a:p>
            <a:pPr>
              <a:lnSpc>
                <a:spcPct val="110000"/>
              </a:lnSpc>
              <a:spcBef>
                <a:spcPts val="0"/>
              </a:spcBef>
              <a:spcAft>
                <a:spcPts val="0"/>
              </a:spcAft>
            </a:pPr>
            <a:r>
              <a:rPr sz="1400" b="0">
                <a:solidFill>
                  <a:srgbClr val="16303A"/>
                </a:solidFill>
                <a:latin typeface="Consolas"/>
              </a:rPr>
              <a:t>β = μ₂ − μ₁（雄 − 雌）</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αは雌の平均で、x=0を代入すればE[y|雌]=αとなる。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βは回帰直線の傾きではなく、0/1指示変数に対応する群間平均差。負なら雄の平均が小さい。</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σは両群に共通の残差標準偏差。残差分散はσ²であり、JAGSの精度τ=σ⁻²とは別物。</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このモデルの未知パラメータはα・β・σの3つ。μ₁・μ₂はそれらから得る派生量である。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6.2.1  データ生成：何を真値として与えたか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Data generation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set.seed(61)</a:t>
            </a:r>
          </a:p>
          <a:p>
            <a:pPr>
              <a:lnSpc>
                <a:spcPct val="110000"/>
              </a:lnSpc>
              <a:spcBef>
                <a:spcPts val="0"/>
              </a:spcBef>
              <a:spcAft>
                <a:spcPts val="0"/>
              </a:spcAft>
            </a:pPr>
            <a:r>
              <a:rPr sz="1400" b="0">
                <a:solidFill>
                  <a:srgbClr val="16303A"/>
                </a:solidFill>
                <a:latin typeface="Consolas"/>
              </a:rPr>
              <a:t>n1 &lt;- 60; n2 &lt;- 40</a:t>
            </a:r>
          </a:p>
          <a:p>
            <a:pPr>
              <a:lnSpc>
                <a:spcPct val="110000"/>
              </a:lnSpc>
              <a:spcBef>
                <a:spcPts val="0"/>
              </a:spcBef>
              <a:spcAft>
                <a:spcPts val="0"/>
              </a:spcAft>
            </a:pPr>
            <a:r>
              <a:rPr sz="1400" b="0">
                <a:solidFill>
                  <a:srgbClr val="16303A"/>
                </a:solidFill>
                <a:latin typeface="Consolas"/>
              </a:rPr>
              <a:t>mu1 &lt;- 105; mu2 &lt;- 77.5</a:t>
            </a:r>
          </a:p>
          <a:p>
            <a:pPr>
              <a:lnSpc>
                <a:spcPct val="110000"/>
              </a:lnSpc>
              <a:spcBef>
                <a:spcPts val="0"/>
              </a:spcBef>
              <a:spcAft>
                <a:spcPts val="0"/>
              </a:spcAft>
            </a:pPr>
            <a:r>
              <a:rPr sz="1400" b="0">
                <a:solidFill>
                  <a:srgbClr val="16303A"/>
                </a:solidFill>
                <a:latin typeface="Consolas"/>
              </a:rPr>
              <a:t>sigma &lt;- 2.75</a:t>
            </a:r>
          </a:p>
          <a:p>
            <a:pPr>
              <a:lnSpc>
                <a:spcPct val="110000"/>
              </a:lnSpc>
              <a:spcBef>
                <a:spcPts val="0"/>
              </a:spcBef>
              <a:spcAft>
                <a:spcPts val="0"/>
              </a:spcAft>
            </a:pPr>
            <a:r>
              <a:rPr sz="1400" b="0">
                <a:solidFill>
                  <a:srgbClr val="16303A"/>
                </a:solidFill>
                <a:latin typeface="Consolas"/>
              </a:rPr>
              <a:t>y1 &lt;- rnorm(n1, mu1, sigma)</a:t>
            </a:r>
          </a:p>
          <a:p>
            <a:pPr>
              <a:lnSpc>
                <a:spcPct val="110000"/>
              </a:lnSpc>
              <a:spcBef>
                <a:spcPts val="0"/>
              </a:spcBef>
              <a:spcAft>
                <a:spcPts val="0"/>
              </a:spcAft>
            </a:pPr>
            <a:r>
              <a:rPr sz="1400" b="0">
                <a:solidFill>
                  <a:srgbClr val="16303A"/>
                </a:solidFill>
                <a:latin typeface="Consolas"/>
              </a:rPr>
              <a:t>y2 &lt;- rnorm(n2, mu2, sigma)</a:t>
            </a:r>
          </a:p>
          <a:p>
            <a:pPr>
              <a:lnSpc>
                <a:spcPct val="110000"/>
              </a:lnSpc>
              <a:spcBef>
                <a:spcPts val="0"/>
              </a:spcBef>
              <a:spcAft>
                <a:spcPts val="0"/>
              </a:spcAft>
            </a:pPr>
            <a:r>
              <a:rPr sz="1400" b="0">
                <a:solidFill>
                  <a:srgbClr val="16303A"/>
                </a:solidFill>
                <a:latin typeface="Consolas"/>
              </a:rPr>
              <a:t>y &lt;- c(y1, y2)</a:t>
            </a:r>
          </a:p>
          <a:p>
            <a:pPr>
              <a:lnSpc>
                <a:spcPct val="110000"/>
              </a:lnSpc>
              <a:spcBef>
                <a:spcPts val="0"/>
              </a:spcBef>
              <a:spcAft>
                <a:spcPts val="0"/>
              </a:spcAft>
            </a:pPr>
            <a:r>
              <a:rPr sz="1400" b="0">
                <a:solidFill>
                  <a:srgbClr val="16303A"/>
                </a:solidFill>
                <a:latin typeface="Consolas"/>
              </a:rPr>
              <a:t>x &lt;- rep(c(0, 1), c(n1, n2))</a:t>
            </a:r>
          </a:p>
          <a:p>
            <a:pPr>
              <a:lnSpc>
                <a:spcPct val="110000"/>
              </a:lnSpc>
              <a:spcBef>
                <a:spcPts val="0"/>
              </a:spcBef>
              <a:spcAft>
                <a:spcPts val="0"/>
              </a:spcAft>
            </a:pPr>
            <a:r>
              <a:rPr sz="1400" b="0">
                <a:solidFill>
                  <a:srgbClr val="16303A"/>
                </a:solidFill>
                <a:latin typeface="Consolas"/>
              </a:rPr>
              <a:t>truth &lt;- c(alpha=mu1, beta=mu2-mu1, sigma=sigma)</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雌60羽・雄40羽の翼開長を正規分布からシミュレーションし、2群とも同じσ=2.75 cmを仮定する。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雌の母平均105 cm、雄77.5 cmなので真のβは−27.5 cm。xの0/1とyの並びが一致する必要がある。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rnormの第3引数は分散ではなく標準偏差。set.seed(61)によって乱数系列を固定する。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この章の数値比較は原著に掲載されたシミュレーション結果。ここで新たに実行した値ではない。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6.2.1  生成方法の同値性：群平均と効果の表現</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Data generation | two parameterizations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alpha &lt;- mu1</a:t>
            </a:r>
          </a:p>
          <a:p>
            <a:pPr>
              <a:lnSpc>
                <a:spcPct val="110000"/>
              </a:lnSpc>
              <a:spcBef>
                <a:spcPts val="0"/>
              </a:spcBef>
              <a:spcAft>
                <a:spcPts val="0"/>
              </a:spcAft>
            </a:pPr>
            <a:r>
              <a:rPr sz="1400" b="0">
                <a:solidFill>
                  <a:srgbClr val="16303A"/>
                </a:solidFill>
                <a:latin typeface="Consolas"/>
              </a:rPr>
              <a:t>beta &lt;- mu2 - mu1</a:t>
            </a:r>
          </a:p>
          <a:p>
            <a:pPr>
              <a:lnSpc>
                <a:spcPct val="110000"/>
              </a:lnSpc>
              <a:spcBef>
                <a:spcPts val="0"/>
              </a:spcBef>
              <a:spcAft>
                <a:spcPts val="0"/>
              </a:spcAft>
            </a:pPr>
            <a:r>
              <a:rPr sz="1400" b="0">
                <a:solidFill>
                  <a:srgbClr val="16303A"/>
                </a:solidFill>
                <a:latin typeface="Consolas"/>
              </a:rPr>
              <a:t>E.y &lt;- alpha + beta*x</a:t>
            </a:r>
          </a:p>
          <a:p>
            <a:pPr>
              <a:lnSpc>
                <a:spcPct val="110000"/>
              </a:lnSpc>
              <a:spcBef>
                <a:spcPts val="0"/>
              </a:spcBef>
              <a:spcAft>
                <a:spcPts val="0"/>
              </a:spcAft>
            </a:pPr>
            <a:r>
              <a:rPr sz="1400" b="0">
                <a:solidFill>
                  <a:srgbClr val="16303A"/>
                </a:solidFill>
                <a:latin typeface="Consolas"/>
              </a:rPr>
              <a:t>y.obs &lt;- rnorm(n=n, mean=E.y, sd=sigma)</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 群平均表現</a:t>
            </a:r>
          </a:p>
          <a:p>
            <a:pPr>
              <a:lnSpc>
                <a:spcPct val="110000"/>
              </a:lnSpc>
              <a:spcBef>
                <a:spcPts val="0"/>
              </a:spcBef>
              <a:spcAft>
                <a:spcPts val="0"/>
              </a:spcAft>
            </a:pPr>
            <a:r>
              <a:rPr sz="1400" b="0">
                <a:solidFill>
                  <a:srgbClr val="16303A"/>
                </a:solidFill>
                <a:latin typeface="Consolas"/>
              </a:rPr>
              <a:t># 雌: mu1 = 105</a:t>
            </a:r>
          </a:p>
          <a:p>
            <a:pPr>
              <a:lnSpc>
                <a:spcPct val="110000"/>
              </a:lnSpc>
              <a:spcBef>
                <a:spcPts val="0"/>
              </a:spcBef>
              <a:spcAft>
                <a:spcPts val="0"/>
              </a:spcAft>
            </a:pPr>
            <a:r>
              <a:rPr sz="1400" b="0">
                <a:solidFill>
                  <a:srgbClr val="16303A"/>
                </a:solidFill>
                <a:latin typeface="Consolas"/>
              </a:rPr>
              <a:t># 雄: mu2 = 77.5</a:t>
            </a:r>
          </a:p>
          <a:p>
            <a:pPr>
              <a:lnSpc>
                <a:spcPct val="110000"/>
              </a:lnSpc>
              <a:spcBef>
                <a:spcPts val="0"/>
              </a:spcBef>
              <a:spcAft>
                <a:spcPts val="0"/>
              </a:spcAft>
            </a:pPr>
            <a:r>
              <a:rPr sz="1400" b="0">
                <a:solidFill>
                  <a:srgbClr val="16303A"/>
                </a:solidFill>
                <a:latin typeface="Consolas"/>
              </a:rPr>
              <a:t># 効果表現</a:t>
            </a:r>
          </a:p>
          <a:p>
            <a:pPr>
              <a:lnSpc>
                <a:spcPct val="110000"/>
              </a:lnSpc>
              <a:spcBef>
                <a:spcPts val="0"/>
              </a:spcBef>
              <a:spcAft>
                <a:spcPts val="0"/>
              </a:spcAft>
            </a:pPr>
            <a:r>
              <a:rPr sz="1400" b="0">
                <a:solidFill>
                  <a:srgbClr val="16303A"/>
                </a:solidFill>
                <a:latin typeface="Consolas"/>
              </a:rPr>
              <a:t># alpha = 105, beta = -27.5</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群平均表現は各群のμ₁・μ₂を直接指定する。効果表現は基準群のαと群間差βを用いる。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x=0なら期待値α=105、x=1ならα+β=77.5。いずれも同じ確率モデルを表す。</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同じseedと同じ並びで正規乱数を発生させれば、ここでの2つのデータ生成法は同一のデータになる。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以後、推定値の表では真値（truth）と各エンジンの推定結果を対応させる。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4/34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6.2.2  lmと等分散t検定：基準となる推定</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canned functions in R</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summary(out6.2.2 &lt;- lm(y ~ x))</a:t>
            </a:r>
          </a:p>
          <a:p>
            <a:pPr>
              <a:lnSpc>
                <a:spcPct val="110000"/>
              </a:lnSpc>
              <a:spcBef>
                <a:spcPts val="0"/>
              </a:spcBef>
              <a:spcAft>
                <a:spcPts val="0"/>
              </a:spcAft>
            </a:pPr>
            <a:r>
              <a:rPr sz="1400" b="0">
                <a:solidFill>
                  <a:srgbClr val="16303A"/>
                </a:solidFill>
                <a:latin typeface="Consolas"/>
              </a:rPr>
              <a:t>lm_est &lt;- c(coef(out6.2.2),</a:t>
            </a:r>
          </a:p>
          <a:p>
            <a:pPr>
              <a:lnSpc>
                <a:spcPct val="110000"/>
              </a:lnSpc>
              <a:spcBef>
                <a:spcPts val="0"/>
              </a:spcBef>
              <a:spcAft>
                <a:spcPts val="0"/>
              </a:spcAft>
            </a:pPr>
            <a:r>
              <a:rPr sz="1400" b="0">
                <a:solidFill>
                  <a:srgbClr val="16303A"/>
                </a:solidFill>
                <a:latin typeface="Consolas"/>
              </a:rPr>
              <a:t>            sigma(out6.2.2))</a:t>
            </a:r>
          </a:p>
          <a:p>
            <a:pPr>
              <a:lnSpc>
                <a:spcPct val="110000"/>
              </a:lnSpc>
              <a:spcBef>
                <a:spcPts val="0"/>
              </a:spcBef>
              <a:spcAft>
                <a:spcPts val="0"/>
              </a:spcAft>
            </a:pPr>
            <a:r>
              <a:rPr sz="1400" b="0">
                <a:solidFill>
                  <a:srgbClr val="16303A"/>
                </a:solidFill>
                <a:latin typeface="Consolas"/>
              </a:rPr>
              <a:t>t.test(y ~ x, var.equal = TRUE)</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xfac &lt;- factor(rep(c("group1", "group2"),</a:t>
            </a:r>
          </a:p>
          <a:p>
            <a:pPr>
              <a:lnSpc>
                <a:spcPct val="110000"/>
              </a:lnSpc>
              <a:spcBef>
                <a:spcPts val="0"/>
              </a:spcBef>
              <a:spcAft>
                <a:spcPts val="0"/>
              </a:spcAft>
            </a:pPr>
            <a:r>
              <a:rPr sz="1400" b="0">
                <a:solidFill>
                  <a:srgbClr val="16303A"/>
                </a:solidFill>
                <a:latin typeface="Consolas"/>
              </a:rPr>
              <a:t>                   c(n1, n2)))</a:t>
            </a:r>
          </a:p>
          <a:p>
            <a:pPr>
              <a:lnSpc>
                <a:spcPct val="110000"/>
              </a:lnSpc>
              <a:spcBef>
                <a:spcPts val="0"/>
              </a:spcBef>
              <a:spcAft>
                <a:spcPts val="0"/>
              </a:spcAft>
            </a:pPr>
            <a:r>
              <a:rPr sz="1400" b="0">
                <a:solidFill>
                  <a:srgbClr val="16303A"/>
                </a:solidFill>
                <a:latin typeface="Consolas"/>
              </a:rPr>
              <a:t>summary(lm(y ~ xfac))</a:t>
            </a:r>
          </a:p>
          <a:p>
            <a:pPr>
              <a:lnSpc>
                <a:spcPct val="110000"/>
              </a:lnSpc>
              <a:spcBef>
                <a:spcPts val="0"/>
              </a:spcBef>
              <a:spcAft>
                <a:spcPts val="0"/>
              </a:spcAft>
            </a:pPr>
            <a:r>
              <a:rPr sz="1400" b="0">
                <a:solidFill>
                  <a:srgbClr val="16303A"/>
                </a:solidFill>
                <a:latin typeface="Consolas"/>
              </a:rPr>
              <a:t>summary(lm(y ~ xfac - 1))</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lm(y ~ x)は切片αと係数βを推定し、sigma(out6.2.2)は共通残差標準偏差を取り出す。</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var.equal=TRUEは2群で共通分散を仮定する古典的な2標本t検定の指定である。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factor表現ではlm(y ~ xfac)が基準群と効果の係数化、−1を付けると各群平均の係数化となる。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原著掲載値はα≈104.771、β≈−27.618、σ≈2.772。雌≈104.77 cm、雄≈77.15 cm。</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5/34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6.2.2  残差診断：等分散をどこで点検するか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Model checking with DHARMa</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plot(out6.2.2)</a:t>
            </a:r>
          </a:p>
          <a:p>
            <a:pPr>
              <a:lnSpc>
                <a:spcPct val="110000"/>
              </a:lnSpc>
              <a:spcBef>
                <a:spcPts val="0"/>
              </a:spcBef>
              <a:spcAft>
                <a:spcPts val="0"/>
              </a:spcAft>
            </a:pPr>
            <a:r>
              <a:rPr sz="1400" b="0">
                <a:solidFill>
                  <a:srgbClr val="16303A"/>
                </a:solidFill>
                <a:latin typeface="Consolas"/>
              </a:rPr>
              <a:t>simOut &lt;- simulateResiduals(</a:t>
            </a:r>
          </a:p>
          <a:p>
            <a:pPr>
              <a:lnSpc>
                <a:spcPct val="110000"/>
              </a:lnSpc>
              <a:spcBef>
                <a:spcPts val="0"/>
              </a:spcBef>
              <a:spcAft>
                <a:spcPts val="0"/>
              </a:spcAft>
            </a:pPr>
            <a:r>
              <a:rPr sz="1400" b="0">
                <a:solidFill>
                  <a:srgbClr val="16303A"/>
                </a:solidFill>
                <a:latin typeface="Consolas"/>
              </a:rPr>
              <a:t>  out6.2.2, n=1000, plot=TRUE)</a:t>
            </a:r>
          </a:p>
          <a:p>
            <a:pPr>
              <a:lnSpc>
                <a:spcPct val="110000"/>
              </a:lnSpc>
              <a:spcBef>
                <a:spcPts val="0"/>
              </a:spcBef>
              <a:spcAft>
                <a:spcPts val="0"/>
              </a:spcAft>
            </a:pPr>
            <a:r>
              <a:rPr sz="1400" b="0">
                <a:solidFill>
                  <a:srgbClr val="16303A"/>
                </a:solidFill>
                <a:latin typeface="Consolas"/>
              </a:rPr>
              <a:t>plotResiduals(simOut)</a:t>
            </a:r>
          </a:p>
          <a:p>
            <a:pPr>
              <a:lnSpc>
                <a:spcPct val="110000"/>
              </a:lnSpc>
              <a:spcBef>
                <a:spcPts val="0"/>
              </a:spcBef>
              <a:spcAft>
                <a:spcPts val="0"/>
              </a:spcAft>
            </a:pPr>
            <a:r>
              <a:rPr sz="1400" b="0">
                <a:solidFill>
                  <a:srgbClr val="16303A"/>
                </a:solidFill>
                <a:latin typeface="Consolas"/>
              </a:rPr>
              <a:t>testDispersion(out6.2.2)</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plot(out6.2.2)はlmの標準診断プロット。残差の分布形や水準ごとのばらつきを確認する。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simulateResidualsは当てはめたモデルからデータを反復生成し、観測値と比較する分位点残差を構成する。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plotResidualsは説明変数に沿った系統的な残差構造を点検する。testDispersionは分散の過不足に関する検定。</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本例はモデルに従うデータを生成しているため、診断もその条件下での動作確認という意味合いが強い。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6/34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6.2.3  JAGS①：事前分布・精度・尤度</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JAGS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model {</a:t>
            </a:r>
          </a:p>
          <a:p>
            <a:pPr>
              <a:lnSpc>
                <a:spcPct val="110000"/>
              </a:lnSpc>
              <a:spcBef>
                <a:spcPts val="0"/>
              </a:spcBef>
              <a:spcAft>
                <a:spcPts val="0"/>
              </a:spcAft>
            </a:pPr>
            <a:r>
              <a:rPr sz="1400" b="0">
                <a:solidFill>
                  <a:srgbClr val="16303A"/>
                </a:solidFill>
                <a:latin typeface="Consolas"/>
              </a:rPr>
              <a:t>  alpha ~ dnorm(0, 0.0001)</a:t>
            </a:r>
          </a:p>
          <a:p>
            <a:pPr>
              <a:lnSpc>
                <a:spcPct val="110000"/>
              </a:lnSpc>
              <a:spcBef>
                <a:spcPts val="0"/>
              </a:spcBef>
              <a:spcAft>
                <a:spcPts val="0"/>
              </a:spcAft>
            </a:pPr>
            <a:r>
              <a:rPr sz="1400" b="0">
                <a:solidFill>
                  <a:srgbClr val="16303A"/>
                </a:solidFill>
                <a:latin typeface="Consolas"/>
              </a:rPr>
              <a:t>  beta  ~ dnorm(0, 0.0001)</a:t>
            </a:r>
          </a:p>
          <a:p>
            <a:pPr>
              <a:lnSpc>
                <a:spcPct val="110000"/>
              </a:lnSpc>
              <a:spcBef>
                <a:spcPts val="0"/>
              </a:spcBef>
              <a:spcAft>
                <a:spcPts val="0"/>
              </a:spcAft>
            </a:pPr>
            <a:r>
              <a:rPr sz="1400" b="0">
                <a:solidFill>
                  <a:srgbClr val="16303A"/>
                </a:solidFill>
                <a:latin typeface="Consolas"/>
              </a:rPr>
              <a:t>  tau &lt;- pow(sigma, -2)</a:t>
            </a:r>
          </a:p>
          <a:p>
            <a:pPr>
              <a:lnSpc>
                <a:spcPct val="110000"/>
              </a:lnSpc>
              <a:spcBef>
                <a:spcPts val="0"/>
              </a:spcBef>
              <a:spcAft>
                <a:spcPts val="0"/>
              </a:spcAft>
            </a:pPr>
            <a:r>
              <a:rPr sz="1400" b="0">
                <a:solidFill>
                  <a:srgbClr val="16303A"/>
                </a:solidFill>
                <a:latin typeface="Consolas"/>
              </a:rPr>
              <a:t>  sigma ~ dunif(0, 10)</a:t>
            </a:r>
          </a:p>
          <a:p>
            <a:pPr>
              <a:lnSpc>
                <a:spcPct val="110000"/>
              </a:lnSpc>
              <a:spcBef>
                <a:spcPts val="0"/>
              </a:spcBef>
              <a:spcAft>
                <a:spcPts val="0"/>
              </a:spcAft>
            </a:pPr>
            <a:r>
              <a:rPr sz="1400" b="0">
                <a:solidFill>
                  <a:srgbClr val="16303A"/>
                </a:solidFill>
                <a:latin typeface="Consolas"/>
              </a:rPr>
              <a:t>  for(i in 1:n) {</a:t>
            </a:r>
          </a:p>
          <a:p>
            <a:pPr>
              <a:lnSpc>
                <a:spcPct val="110000"/>
              </a:lnSpc>
              <a:spcBef>
                <a:spcPts val="0"/>
              </a:spcBef>
              <a:spcAft>
                <a:spcPts val="0"/>
              </a:spcAft>
            </a:pPr>
            <a:r>
              <a:rPr sz="1400" b="0">
                <a:solidFill>
                  <a:srgbClr val="16303A"/>
                </a:solidFill>
                <a:latin typeface="Consolas"/>
              </a:rPr>
              <a:t>    y[i] ~ dnorm(mu[i], tau)</a:t>
            </a:r>
          </a:p>
          <a:p>
            <a:pPr>
              <a:lnSpc>
                <a:spcPct val="110000"/>
              </a:lnSpc>
              <a:spcBef>
                <a:spcPts val="0"/>
              </a:spcBef>
              <a:spcAft>
                <a:spcPts val="0"/>
              </a:spcAft>
            </a:pPr>
            <a:r>
              <a:rPr sz="1400" b="0">
                <a:solidFill>
                  <a:srgbClr val="16303A"/>
                </a:solidFill>
                <a:latin typeface="Consolas"/>
              </a:rPr>
              <a:t>    mu[i] &lt;- alpha + beta*x[i]</a:t>
            </a:r>
          </a:p>
          <a:p>
            <a:pPr>
              <a:lnSpc>
                <a:spcPct val="110000"/>
              </a:lnSpc>
              <a:spcBef>
                <a:spcPts val="0"/>
              </a:spcBef>
              <a:spcAft>
                <a:spcPts val="0"/>
              </a:spcAft>
            </a:pPr>
            <a:r>
              <a:rPr sz="1400" b="0">
                <a:solidFill>
                  <a:srgbClr val="16303A"/>
                </a:solidFill>
                <a:latin typeface="Consolas"/>
              </a:rPr>
              <a:t>  }</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alphaとbetaには平均0・精度0.0001の正規事前分布を設定。JAGSのdnorm第2引数は標準偏差ではなく精度。</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精度τ=1/σ²を定義し、σには0～10の一様事前分布を与える。sigmaは正値に制約される。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y[i] ~ dnorm(mu[i],tau)が観測尤度、mu[i] &lt;- alpha+beta*x[i]が線形予測子。</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「~」は確率分布、「&lt;-」は決定論的な関係を示す。各観測に対し同じσを利用する点が等分散モデルの核心。</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7/34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6.2.3  JAGS②：派生量・初期値・MCMC設定</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JAGS | execution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mu1 &lt;- alpha</a:t>
            </a:r>
          </a:p>
          <a:p>
            <a:pPr>
              <a:lnSpc>
                <a:spcPct val="110000"/>
              </a:lnSpc>
              <a:spcBef>
                <a:spcPts val="0"/>
              </a:spcBef>
              <a:spcAft>
                <a:spcPts val="0"/>
              </a:spcAft>
            </a:pPr>
            <a:r>
              <a:rPr sz="1400" b="0">
                <a:solidFill>
                  <a:srgbClr val="16303A"/>
                </a:solidFill>
                <a:latin typeface="Consolas"/>
              </a:rPr>
              <a:t>mu2 &lt;- alpha + beta</a:t>
            </a:r>
          </a:p>
          <a:p>
            <a:pPr>
              <a:lnSpc>
                <a:spcPct val="110000"/>
              </a:lnSpc>
              <a:spcBef>
                <a:spcPts val="0"/>
              </a:spcBef>
              <a:spcAft>
                <a:spcPts val="0"/>
              </a:spcAft>
            </a:pPr>
            <a:r>
              <a:rPr sz="1400" b="0">
                <a:solidFill>
                  <a:srgbClr val="16303A"/>
                </a:solidFill>
                <a:latin typeface="Consolas"/>
              </a:rPr>
              <a:t>residual[i] &lt;- y[i] - mu[i]</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inits &lt;- function(){list(</a:t>
            </a:r>
          </a:p>
          <a:p>
            <a:pPr>
              <a:lnSpc>
                <a:spcPct val="110000"/>
              </a:lnSpc>
              <a:spcBef>
                <a:spcPts val="0"/>
              </a:spcBef>
              <a:spcAft>
                <a:spcPts val="0"/>
              </a:spcAft>
            </a:pPr>
            <a:r>
              <a:rPr sz="1400" b="0">
                <a:solidFill>
                  <a:srgbClr val="16303A"/>
                </a:solidFill>
                <a:latin typeface="Consolas"/>
              </a:rPr>
              <a:t>  alpha=rnorm(1), beta=rnorm(1),</a:t>
            </a:r>
          </a:p>
          <a:p>
            <a:pPr>
              <a:lnSpc>
                <a:spcPct val="110000"/>
              </a:lnSpc>
              <a:spcBef>
                <a:spcPts val="0"/>
              </a:spcBef>
              <a:spcAft>
                <a:spcPts val="0"/>
              </a:spcAft>
            </a:pPr>
            <a:r>
              <a:rPr sz="1400" b="0">
                <a:solidFill>
                  <a:srgbClr val="16303A"/>
                </a:solidFill>
                <a:latin typeface="Consolas"/>
              </a:rPr>
              <a:t>  sigma=rlnorm(1))}</a:t>
            </a:r>
          </a:p>
          <a:p>
            <a:pPr>
              <a:lnSpc>
                <a:spcPct val="110000"/>
              </a:lnSpc>
              <a:spcBef>
                <a:spcPts val="0"/>
              </a:spcBef>
              <a:spcAft>
                <a:spcPts val="0"/>
              </a:spcAft>
            </a:pPr>
            <a:r>
              <a:rPr sz="1400" b="0">
                <a:solidFill>
                  <a:srgbClr val="16303A"/>
                </a:solidFill>
                <a:latin typeface="Consolas"/>
              </a:rPr>
              <a:t>params &lt;- c("alpha","beta","sigma",</a:t>
            </a:r>
          </a:p>
          <a:p>
            <a:pPr>
              <a:lnSpc>
                <a:spcPct val="110000"/>
              </a:lnSpc>
              <a:spcBef>
                <a:spcPts val="0"/>
              </a:spcBef>
              <a:spcAft>
                <a:spcPts val="0"/>
              </a:spcAft>
            </a:pPr>
            <a:r>
              <a:rPr sz="1400" b="0">
                <a:solidFill>
                  <a:srgbClr val="16303A"/>
                </a:solidFill>
                <a:latin typeface="Consolas"/>
              </a:rPr>
              <a:t>            "mu1","mu2","residual")</a:t>
            </a:r>
          </a:p>
          <a:p>
            <a:pPr>
              <a:lnSpc>
                <a:spcPct val="110000"/>
              </a:lnSpc>
              <a:spcBef>
                <a:spcPts val="0"/>
              </a:spcBef>
              <a:spcAft>
                <a:spcPts val="0"/>
              </a:spcAft>
            </a:pPr>
            <a:r>
              <a:rPr sz="1400" b="0">
                <a:solidFill>
                  <a:srgbClr val="16303A"/>
                </a:solidFill>
                <a:latin typeface="Consolas"/>
              </a:rPr>
              <a:t>na &lt;- 1000; ni &lt;- 3000</a:t>
            </a:r>
          </a:p>
          <a:p>
            <a:pPr>
              <a:lnSpc>
                <a:spcPct val="110000"/>
              </a:lnSpc>
              <a:spcBef>
                <a:spcPts val="0"/>
              </a:spcBef>
              <a:spcAft>
                <a:spcPts val="0"/>
              </a:spcAft>
            </a:pPr>
            <a:r>
              <a:rPr sz="1400" b="0">
                <a:solidFill>
                  <a:srgbClr val="16303A"/>
                </a:solidFill>
                <a:latin typeface="Consolas"/>
              </a:rPr>
              <a:t>nb &lt;- 1000; nc &lt;- 4; nt &lt;- 1</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μ₁とμ₂はMCMC各反復でαとβから計算する派生パラメータで、推定不確実性も事後分布に反映される。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残差も各事後標本のパラメータで計算されるため、点推定を単純代入した残差とは区別できる。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rlnorm(1)はσの初期値を必ず正にする。負の初期値は一様事前分布の範囲外となる。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4チェーン、各3000反復、burn-in1000、thin1、適応1000。保存対象paramsは推定変数と派生量を含む。</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8/34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6.2.3  JAGS③：実行・収束・結果の読み方</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JAGS | interpretation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out6.2.3 &lt;- jags(</a:t>
            </a:r>
          </a:p>
          <a:p>
            <a:pPr>
              <a:lnSpc>
                <a:spcPct val="110000"/>
              </a:lnSpc>
              <a:spcBef>
                <a:spcPts val="0"/>
              </a:spcBef>
              <a:spcAft>
                <a:spcPts val="0"/>
              </a:spcAft>
            </a:pPr>
            <a:r>
              <a:rPr sz="1400" b="0">
                <a:solidFill>
                  <a:srgbClr val="16303A"/>
                </a:solidFill>
                <a:latin typeface="Consolas"/>
              </a:rPr>
              <a:t> data=dataList, inits=inits,</a:t>
            </a:r>
          </a:p>
          <a:p>
            <a:pPr>
              <a:lnSpc>
                <a:spcPct val="110000"/>
              </a:lnSpc>
              <a:spcBef>
                <a:spcPts val="0"/>
              </a:spcBef>
              <a:spcAft>
                <a:spcPts val="0"/>
              </a:spcAft>
            </a:pPr>
            <a:r>
              <a:rPr sz="1400" b="0">
                <a:solidFill>
                  <a:srgbClr val="16303A"/>
                </a:solidFill>
                <a:latin typeface="Consolas"/>
              </a:rPr>
              <a:t> parameters.to.save=params,</a:t>
            </a:r>
          </a:p>
          <a:p>
            <a:pPr>
              <a:lnSpc>
                <a:spcPct val="110000"/>
              </a:lnSpc>
              <a:spcBef>
                <a:spcPts val="0"/>
              </a:spcBef>
              <a:spcAft>
                <a:spcPts val="0"/>
              </a:spcAft>
            </a:pPr>
            <a:r>
              <a:rPr sz="1400" b="0">
                <a:solidFill>
                  <a:srgbClr val="16303A"/>
                </a:solidFill>
                <a:latin typeface="Consolas"/>
              </a:rPr>
              <a:t> model.file="model6.2.3.txt",</a:t>
            </a:r>
          </a:p>
          <a:p>
            <a:pPr>
              <a:lnSpc>
                <a:spcPct val="110000"/>
              </a:lnSpc>
              <a:spcBef>
                <a:spcPts val="0"/>
              </a:spcBef>
              <a:spcAft>
                <a:spcPts val="0"/>
              </a:spcAft>
            </a:pPr>
            <a:r>
              <a:rPr sz="1400" b="0">
                <a:solidFill>
                  <a:srgbClr val="16303A"/>
                </a:solidFill>
                <a:latin typeface="Consolas"/>
              </a:rPr>
              <a:t> n.iter=ni, n.burnin=nb,</a:t>
            </a:r>
          </a:p>
          <a:p>
            <a:pPr>
              <a:lnSpc>
                <a:spcPct val="110000"/>
              </a:lnSpc>
              <a:spcBef>
                <a:spcPts val="0"/>
              </a:spcBef>
              <a:spcAft>
                <a:spcPts val="0"/>
              </a:spcAft>
            </a:pPr>
            <a:r>
              <a:rPr sz="1400" b="0">
                <a:solidFill>
                  <a:srgbClr val="16303A"/>
                </a:solidFill>
                <a:latin typeface="Consolas"/>
              </a:rPr>
              <a:t> n.chains=nc, n.thin=nt,</a:t>
            </a:r>
          </a:p>
          <a:p>
            <a:pPr>
              <a:lnSpc>
                <a:spcPct val="110000"/>
              </a:lnSpc>
              <a:spcBef>
                <a:spcPts val="0"/>
              </a:spcBef>
              <a:spcAft>
                <a:spcPts val="0"/>
              </a:spcAft>
            </a:pPr>
            <a:r>
              <a:rPr sz="1400" b="0">
                <a:solidFill>
                  <a:srgbClr val="16303A"/>
                </a:solidFill>
                <a:latin typeface="Consolas"/>
              </a:rPr>
              <a:t> n.adapt=na, parallel=TRUE)</a:t>
            </a:r>
          </a:p>
          <a:p>
            <a:pPr>
              <a:lnSpc>
                <a:spcPct val="110000"/>
              </a:lnSpc>
              <a:spcBef>
                <a:spcPts val="0"/>
              </a:spcBef>
              <a:spcAft>
                <a:spcPts val="0"/>
              </a:spcAft>
            </a:pPr>
            <a:r>
              <a:rPr sz="1400" b="0">
                <a:solidFill>
                  <a:srgbClr val="16303A"/>
                </a:solidFill>
                <a:latin typeface="Consolas"/>
              </a:rPr>
              <a:t>jagsUI::traceplot(out6.2.3)</a:t>
            </a:r>
          </a:p>
          <a:p>
            <a:pPr>
              <a:lnSpc>
                <a:spcPct val="110000"/>
              </a:lnSpc>
              <a:spcBef>
                <a:spcPts val="0"/>
              </a:spcBef>
              <a:spcAft>
                <a:spcPts val="0"/>
              </a:spcAft>
            </a:pPr>
            <a:r>
              <a:rPr sz="1400" b="0">
                <a:solidFill>
                  <a:srgbClr val="16303A"/>
                </a:solidFill>
                <a:latin typeface="Consolas"/>
              </a:rPr>
              <a:t>print(out6.2.3, 3)</a:t>
            </a:r>
          </a:p>
          <a:p>
            <a:pPr>
              <a:lnSpc>
                <a:spcPct val="110000"/>
              </a:lnSpc>
              <a:spcBef>
                <a:spcPts val="0"/>
              </a:spcBef>
              <a:spcAft>
                <a:spcPts val="0"/>
              </a:spcAft>
            </a:pPr>
            <a:r>
              <a:rPr sz="1400" b="0">
                <a:solidFill>
                  <a:srgbClr val="16303A"/>
                </a:solidFill>
                <a:latin typeface="Consolas"/>
              </a:rPr>
              <a:t>jags_est &lt;- out6.2.3$summary[1:3,1]</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dataListは観測値y、群指示変数x、総標本数n。モデルファイルで定義した名前と完全に一致させる。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複数チェーンの混合と安定性はtraceplot、Rhat、n.effを併用して確認する。反復回数と有効標本数は異なる。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原著の事後平均はα=104.767、β=−27.616、σ=2.805、μ₂=77.151。</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summary[1:3,1]は要約表の最初の3行の「平均」列を抽出する書き方。行順への依存に注意。</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9/34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6.2.4  NIMBLE①：JAGSと同型の確率モデル</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NIMBLE</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model6.2.4 &lt;- nimbleCode({</a:t>
            </a:r>
          </a:p>
          <a:p>
            <a:pPr>
              <a:lnSpc>
                <a:spcPct val="110000"/>
              </a:lnSpc>
              <a:spcBef>
                <a:spcPts val="0"/>
              </a:spcBef>
              <a:spcAft>
                <a:spcPts val="0"/>
              </a:spcAft>
            </a:pPr>
            <a:r>
              <a:rPr sz="1400" b="0">
                <a:solidFill>
                  <a:srgbClr val="16303A"/>
                </a:solidFill>
                <a:latin typeface="Consolas"/>
              </a:rPr>
              <a:t>  alpha ~ dnorm(0, 0.0001)</a:t>
            </a:r>
          </a:p>
          <a:p>
            <a:pPr>
              <a:lnSpc>
                <a:spcPct val="110000"/>
              </a:lnSpc>
              <a:spcBef>
                <a:spcPts val="0"/>
              </a:spcBef>
              <a:spcAft>
                <a:spcPts val="0"/>
              </a:spcAft>
            </a:pPr>
            <a:r>
              <a:rPr sz="1400" b="0">
                <a:solidFill>
                  <a:srgbClr val="16303A"/>
                </a:solidFill>
                <a:latin typeface="Consolas"/>
              </a:rPr>
              <a:t>  beta ~ dnorm(0, 0.0001)</a:t>
            </a:r>
          </a:p>
          <a:p>
            <a:pPr>
              <a:lnSpc>
                <a:spcPct val="110000"/>
              </a:lnSpc>
              <a:spcBef>
                <a:spcPts val="0"/>
              </a:spcBef>
              <a:spcAft>
                <a:spcPts val="0"/>
              </a:spcAft>
            </a:pPr>
            <a:r>
              <a:rPr sz="1400" b="0">
                <a:solidFill>
                  <a:srgbClr val="16303A"/>
                </a:solidFill>
                <a:latin typeface="Consolas"/>
              </a:rPr>
              <a:t>  tau &lt;- pow(sigma, -2)</a:t>
            </a:r>
          </a:p>
          <a:p>
            <a:pPr>
              <a:lnSpc>
                <a:spcPct val="110000"/>
              </a:lnSpc>
              <a:spcBef>
                <a:spcPts val="0"/>
              </a:spcBef>
              <a:spcAft>
                <a:spcPts val="0"/>
              </a:spcAft>
            </a:pPr>
            <a:r>
              <a:rPr sz="1400" b="0">
                <a:solidFill>
                  <a:srgbClr val="16303A"/>
                </a:solidFill>
                <a:latin typeface="Consolas"/>
              </a:rPr>
              <a:t>  sigma ~ dunif(0, 10)</a:t>
            </a:r>
          </a:p>
          <a:p>
            <a:pPr>
              <a:lnSpc>
                <a:spcPct val="110000"/>
              </a:lnSpc>
              <a:spcBef>
                <a:spcPts val="0"/>
              </a:spcBef>
              <a:spcAft>
                <a:spcPts val="0"/>
              </a:spcAft>
            </a:pPr>
            <a:r>
              <a:rPr sz="1400" b="0">
                <a:solidFill>
                  <a:srgbClr val="16303A"/>
                </a:solidFill>
                <a:latin typeface="Consolas"/>
              </a:rPr>
              <a:t>  for(i in 1:n){</a:t>
            </a:r>
          </a:p>
          <a:p>
            <a:pPr>
              <a:lnSpc>
                <a:spcPct val="110000"/>
              </a:lnSpc>
              <a:spcBef>
                <a:spcPts val="0"/>
              </a:spcBef>
              <a:spcAft>
                <a:spcPts val="0"/>
              </a:spcAft>
            </a:pPr>
            <a:r>
              <a:rPr sz="1400" b="0">
                <a:solidFill>
                  <a:srgbClr val="16303A"/>
                </a:solidFill>
                <a:latin typeface="Consolas"/>
              </a:rPr>
              <a:t>    y[i] ~ dnorm(mu[i], tau)</a:t>
            </a:r>
          </a:p>
          <a:p>
            <a:pPr>
              <a:lnSpc>
                <a:spcPct val="110000"/>
              </a:lnSpc>
              <a:spcBef>
                <a:spcPts val="0"/>
              </a:spcBef>
              <a:spcAft>
                <a:spcPts val="0"/>
              </a:spcAft>
            </a:pPr>
            <a:r>
              <a:rPr sz="1400" b="0">
                <a:solidFill>
                  <a:srgbClr val="16303A"/>
                </a:solidFill>
                <a:latin typeface="Consolas"/>
              </a:rPr>
              <a:t>    mu[i] &lt;- alpha + beta*x[i]</a:t>
            </a:r>
          </a:p>
          <a:p>
            <a:pPr>
              <a:lnSpc>
                <a:spcPct val="110000"/>
              </a:lnSpc>
              <a:spcBef>
                <a:spcPts val="0"/>
              </a:spcBef>
              <a:spcAft>
                <a:spcPts val="0"/>
              </a:spcAft>
            </a:pPr>
            <a:r>
              <a:rPr sz="1400" b="0">
                <a:solidFill>
                  <a:srgbClr val="16303A"/>
                </a:solidFill>
                <a:latin typeface="Consolas"/>
              </a:rPr>
              <a:t>  }</a:t>
            </a:r>
          </a:p>
          <a:p>
            <a:pPr>
              <a:lnSpc>
                <a:spcPct val="110000"/>
              </a:lnSpc>
              <a:spcBef>
                <a:spcPts val="0"/>
              </a:spcBef>
              <a:spcAft>
                <a:spcPts val="0"/>
              </a:spcAft>
            </a:pPr>
            <a:r>
              <a:rPr sz="1400" b="0">
                <a:solidFill>
                  <a:srgbClr val="16303A"/>
                </a:solidFill>
                <a:latin typeface="Consolas"/>
              </a:rPr>
              <a:t>  mu1 &lt;- alpha</a:t>
            </a:r>
          </a:p>
          <a:p>
            <a:pPr>
              <a:lnSpc>
                <a:spcPct val="110000"/>
              </a:lnSpc>
              <a:spcBef>
                <a:spcPts val="0"/>
              </a:spcBef>
              <a:spcAft>
                <a:spcPts val="0"/>
              </a:spcAft>
            </a:pPr>
            <a:r>
              <a:rPr sz="1400" b="0">
                <a:solidFill>
                  <a:srgbClr val="16303A"/>
                </a:solidFill>
                <a:latin typeface="Consolas"/>
              </a:rPr>
              <a:t>  mu2 &lt;- alpha + beta</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nimbleCode({…})の中に分布・線形予測子・派生量を記述。第6章のNIMBLEコードはJAGSと同じτ表現を採用する。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JAGSは外部テキストファイルへモデルを保存するが、このNIMBLE例はRオブジェクト内にモデルを保持する。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事前分布と尤度が同じでも、MCMCアルゴリズムの詳細や乱数により標本平均は完全には一致しない。</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等分散モデルでは未知数はα・β・σ、mu1とmu2は決定論的な派生量。</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10/34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6.2.4  NIMBLE②：実行引数・結果の抽出</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NIMBLE | execution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out6.2.4 &lt;- nimbleMCMC(</a:t>
            </a:r>
          </a:p>
          <a:p>
            <a:pPr>
              <a:lnSpc>
                <a:spcPct val="110000"/>
              </a:lnSpc>
              <a:spcBef>
                <a:spcPts val="0"/>
              </a:spcBef>
              <a:spcAft>
                <a:spcPts val="0"/>
              </a:spcAft>
            </a:pPr>
            <a:r>
              <a:rPr sz="1400" b="0">
                <a:solidFill>
                  <a:srgbClr val="16303A"/>
                </a:solidFill>
                <a:latin typeface="Consolas"/>
              </a:rPr>
              <a:t>  code=model6.2.4,</a:t>
            </a:r>
          </a:p>
          <a:p>
            <a:pPr>
              <a:lnSpc>
                <a:spcPct val="110000"/>
              </a:lnSpc>
              <a:spcBef>
                <a:spcPts val="0"/>
              </a:spcBef>
              <a:spcAft>
                <a:spcPts val="0"/>
              </a:spcAft>
            </a:pPr>
            <a:r>
              <a:rPr sz="1400" b="0">
                <a:solidFill>
                  <a:srgbClr val="16303A"/>
                </a:solidFill>
                <a:latin typeface="Consolas"/>
              </a:rPr>
              <a:t>  constants=dataList,</a:t>
            </a:r>
          </a:p>
          <a:p>
            <a:pPr>
              <a:lnSpc>
                <a:spcPct val="110000"/>
              </a:lnSpc>
              <a:spcBef>
                <a:spcPts val="0"/>
              </a:spcBef>
              <a:spcAft>
                <a:spcPts val="0"/>
              </a:spcAft>
            </a:pPr>
            <a:r>
              <a:rPr sz="1400" b="0">
                <a:solidFill>
                  <a:srgbClr val="16303A"/>
                </a:solidFill>
                <a:latin typeface="Consolas"/>
              </a:rPr>
              <a:t>  inits=inits, monitors=params,</a:t>
            </a:r>
          </a:p>
          <a:p>
            <a:pPr>
              <a:lnSpc>
                <a:spcPct val="110000"/>
              </a:lnSpc>
              <a:spcBef>
                <a:spcPts val="0"/>
              </a:spcBef>
              <a:spcAft>
                <a:spcPts val="0"/>
              </a:spcAft>
            </a:pPr>
            <a:r>
              <a:rPr sz="1400" b="0">
                <a:solidFill>
                  <a:srgbClr val="16303A"/>
                </a:solidFill>
                <a:latin typeface="Consolas"/>
              </a:rPr>
              <a:t>  nburnin=nb, niter=ni,</a:t>
            </a:r>
          </a:p>
          <a:p>
            <a:pPr>
              <a:lnSpc>
                <a:spcPct val="110000"/>
              </a:lnSpc>
              <a:spcBef>
                <a:spcPts val="0"/>
              </a:spcBef>
              <a:spcAft>
                <a:spcPts val="0"/>
              </a:spcAft>
            </a:pPr>
            <a:r>
              <a:rPr sz="1400" b="0">
                <a:solidFill>
                  <a:srgbClr val="16303A"/>
                </a:solidFill>
                <a:latin typeface="Consolas"/>
              </a:rPr>
              <a:t>  thin=nt, nchains=nc,</a:t>
            </a:r>
          </a:p>
          <a:p>
            <a:pPr>
              <a:lnSpc>
                <a:spcPct val="110000"/>
              </a:lnSpc>
              <a:spcBef>
                <a:spcPts val="0"/>
              </a:spcBef>
              <a:spcAft>
                <a:spcPts val="0"/>
              </a:spcAft>
            </a:pPr>
            <a:r>
              <a:rPr sz="1400" b="0">
                <a:solidFill>
                  <a:srgbClr val="16303A"/>
                </a:solidFill>
                <a:latin typeface="Consolas"/>
              </a:rPr>
              <a:t>  samplesAsCodaMCMC=TRUE)</a:t>
            </a:r>
          </a:p>
          <a:p>
            <a:pPr>
              <a:lnSpc>
                <a:spcPct val="110000"/>
              </a:lnSpc>
              <a:spcBef>
                <a:spcPts val="0"/>
              </a:spcBef>
              <a:spcAft>
                <a:spcPts val="0"/>
              </a:spcAft>
            </a:pPr>
            <a:r>
              <a:rPr sz="1400" b="0">
                <a:solidFill>
                  <a:srgbClr val="16303A"/>
                </a:solidFill>
                <a:latin typeface="Consolas"/>
              </a:rPr>
              <a:t>coda::traceplot(out6.2.4)</a:t>
            </a:r>
          </a:p>
          <a:p>
            <a:pPr>
              <a:lnSpc>
                <a:spcPct val="110000"/>
              </a:lnSpc>
              <a:spcBef>
                <a:spcPts val="0"/>
              </a:spcBef>
              <a:spcAft>
                <a:spcPts val="0"/>
              </a:spcAft>
            </a:pPr>
            <a:r>
              <a:rPr sz="1400" b="0">
                <a:solidFill>
                  <a:srgbClr val="16303A"/>
                </a:solidFill>
                <a:latin typeface="Consolas"/>
              </a:rPr>
              <a:t>nsum &lt;- nimble_summary(out6.2.4, params)</a:t>
            </a:r>
          </a:p>
          <a:p>
            <a:pPr>
              <a:lnSpc>
                <a:spcPct val="110000"/>
              </a:lnSpc>
              <a:spcBef>
                <a:spcPts val="0"/>
              </a:spcBef>
              <a:spcAft>
                <a:spcPts val="0"/>
              </a:spcAft>
            </a:pPr>
            <a:r>
              <a:rPr sz="1400" b="0">
                <a:solidFill>
                  <a:srgbClr val="16303A"/>
                </a:solidFill>
                <a:latin typeface="Consolas"/>
              </a:rPr>
              <a:t>nimble_est &lt;- nsum[1:3,1]</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codeにはnimbleCodeオブジェクト、constantsには既知の入力値、monitorsには保存する変数を指定。</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samplesAsCodaMCMC=TRUEでcoda形式として保存し、coda::traceplotによるチェーン診断を行う。</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nimble_summaryは書籍付属ASMbookの補助関数。最初の3行からα・β・σの推定値を収集する。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原著の比較表ではNIMBLEのα=104.767、β=−27.613、σ=2.812で、JAGSと近い。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11/34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6.2.5  Stan①：各ブロックと型・制約</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Stan | declarations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data {</a:t>
            </a:r>
          </a:p>
          <a:p>
            <a:pPr>
              <a:lnSpc>
                <a:spcPct val="110000"/>
              </a:lnSpc>
              <a:spcBef>
                <a:spcPts val="0"/>
              </a:spcBef>
              <a:spcAft>
                <a:spcPts val="0"/>
              </a:spcAft>
            </a:pPr>
            <a:r>
              <a:rPr sz="1220" b="0">
                <a:solidFill>
                  <a:srgbClr val="16303A"/>
                </a:solidFill>
                <a:latin typeface="Consolas"/>
              </a:rPr>
              <a:t>  int&lt;lower=0&gt; n;</a:t>
            </a:r>
          </a:p>
          <a:p>
            <a:pPr>
              <a:lnSpc>
                <a:spcPct val="110000"/>
              </a:lnSpc>
              <a:spcBef>
                <a:spcPts val="0"/>
              </a:spcBef>
              <a:spcAft>
                <a:spcPts val="0"/>
              </a:spcAft>
            </a:pPr>
            <a:r>
              <a:rPr sz="1220" b="0">
                <a:solidFill>
                  <a:srgbClr val="16303A"/>
                </a:solidFill>
                <a:latin typeface="Consolas"/>
              </a:rPr>
              <a:t>  vector[n] y;</a:t>
            </a:r>
          </a:p>
          <a:p>
            <a:pPr>
              <a:lnSpc>
                <a:spcPct val="110000"/>
              </a:lnSpc>
              <a:spcBef>
                <a:spcPts val="0"/>
              </a:spcBef>
              <a:spcAft>
                <a:spcPts val="0"/>
              </a:spcAft>
            </a:pPr>
            <a:r>
              <a:rPr sz="1220" b="0">
                <a:solidFill>
                  <a:srgbClr val="16303A"/>
                </a:solidFill>
                <a:latin typeface="Consolas"/>
              </a:rPr>
              <a:t>  vector[n] x;</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parameters {</a:t>
            </a:r>
          </a:p>
          <a:p>
            <a:pPr>
              <a:lnSpc>
                <a:spcPct val="110000"/>
              </a:lnSpc>
              <a:spcBef>
                <a:spcPts val="0"/>
              </a:spcBef>
              <a:spcAft>
                <a:spcPts val="0"/>
              </a:spcAft>
            </a:pPr>
            <a:r>
              <a:rPr sz="1220" b="0">
                <a:solidFill>
                  <a:srgbClr val="16303A"/>
                </a:solidFill>
                <a:latin typeface="Consolas"/>
              </a:rPr>
              <a:t>  real alpha;</a:t>
            </a:r>
          </a:p>
          <a:p>
            <a:pPr>
              <a:lnSpc>
                <a:spcPct val="110000"/>
              </a:lnSpc>
              <a:spcBef>
                <a:spcPts val="0"/>
              </a:spcBef>
              <a:spcAft>
                <a:spcPts val="0"/>
              </a:spcAft>
            </a:pPr>
            <a:r>
              <a:rPr sz="1220" b="0">
                <a:solidFill>
                  <a:srgbClr val="16303A"/>
                </a:solidFill>
                <a:latin typeface="Consolas"/>
              </a:rPr>
              <a:t>  real beta;</a:t>
            </a:r>
          </a:p>
          <a:p>
            <a:pPr>
              <a:lnSpc>
                <a:spcPct val="110000"/>
              </a:lnSpc>
              <a:spcBef>
                <a:spcPts val="0"/>
              </a:spcBef>
              <a:spcAft>
                <a:spcPts val="0"/>
              </a:spcAft>
            </a:pPr>
            <a:r>
              <a:rPr sz="1220" b="0">
                <a:solidFill>
                  <a:srgbClr val="16303A"/>
                </a:solidFill>
                <a:latin typeface="Consolas"/>
              </a:rPr>
              <a:t>  real&lt;lower=0&gt; sigma;</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transformed parameters {</a:t>
            </a:r>
          </a:p>
          <a:p>
            <a:pPr>
              <a:lnSpc>
                <a:spcPct val="110000"/>
              </a:lnSpc>
              <a:spcBef>
                <a:spcPts val="0"/>
              </a:spcBef>
              <a:spcAft>
                <a:spcPts val="0"/>
              </a:spcAft>
            </a:pPr>
            <a:r>
              <a:rPr sz="1220" b="0">
                <a:solidFill>
                  <a:srgbClr val="16303A"/>
                </a:solidFill>
                <a:latin typeface="Consolas"/>
              </a:rPr>
              <a:t>  vector[n] mu;</a:t>
            </a:r>
          </a:p>
          <a:p>
            <a:pPr>
              <a:lnSpc>
                <a:spcPct val="110000"/>
              </a:lnSpc>
              <a:spcBef>
                <a:spcPts val="0"/>
              </a:spcBef>
              <a:spcAft>
                <a:spcPts val="0"/>
              </a:spcAft>
            </a:pPr>
            <a:r>
              <a:rPr sz="1220" b="0">
                <a:solidFill>
                  <a:srgbClr val="16303A"/>
                </a:solidFill>
                <a:latin typeface="Consolas"/>
              </a:rPr>
              <a:t>  mu = alpha + beta*x;</a:t>
            </a:r>
          </a:p>
          <a:p>
            <a:pPr>
              <a:lnSpc>
                <a:spcPct val="110000"/>
              </a:lnSpc>
              <a:spcBef>
                <a:spcPts val="0"/>
              </a:spcBef>
              <a:spcAft>
                <a:spcPts val="0"/>
              </a:spcAft>
            </a:pPr>
            <a:r>
              <a:rPr sz="122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dataブロックに既知の標本数・観測値・群指示変数を宣言。vector[n]で長さを明示する。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parametersブロックのalphaとbetaは実数、sigmaは0以上という制約を設定。</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muは推定対象そのものではなく、α・βとxから作る長さnの線形予測子。</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同一のスタンモデルにループ版とベクトル化版を示すが、Rコードでは後の版が同名ファイルを上書きする。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12/34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6.2.5  Stan②：事前分布・尤度・残差</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Stan | model</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model {</a:t>
            </a:r>
          </a:p>
          <a:p>
            <a:pPr>
              <a:lnSpc>
                <a:spcPct val="110000"/>
              </a:lnSpc>
              <a:spcBef>
                <a:spcPts val="0"/>
              </a:spcBef>
              <a:spcAft>
                <a:spcPts val="0"/>
              </a:spcAft>
            </a:pPr>
            <a:r>
              <a:rPr sz="1400" b="0">
                <a:solidFill>
                  <a:srgbClr val="16303A"/>
                </a:solidFill>
                <a:latin typeface="Consolas"/>
              </a:rPr>
              <a:t>  alpha ~ normal(0, 100);</a:t>
            </a:r>
          </a:p>
          <a:p>
            <a:pPr>
              <a:lnSpc>
                <a:spcPct val="110000"/>
              </a:lnSpc>
              <a:spcBef>
                <a:spcPts val="0"/>
              </a:spcBef>
              <a:spcAft>
                <a:spcPts val="0"/>
              </a:spcAft>
            </a:pPr>
            <a:r>
              <a:rPr sz="1400" b="0">
                <a:solidFill>
                  <a:srgbClr val="16303A"/>
                </a:solidFill>
                <a:latin typeface="Consolas"/>
              </a:rPr>
              <a:t>  beta ~ normal(0, 100);</a:t>
            </a:r>
          </a:p>
          <a:p>
            <a:pPr>
              <a:lnSpc>
                <a:spcPct val="110000"/>
              </a:lnSpc>
              <a:spcBef>
                <a:spcPts val="0"/>
              </a:spcBef>
              <a:spcAft>
                <a:spcPts val="0"/>
              </a:spcAft>
            </a:pPr>
            <a:r>
              <a:rPr sz="1400" b="0">
                <a:solidFill>
                  <a:srgbClr val="16303A"/>
                </a:solidFill>
                <a:latin typeface="Consolas"/>
              </a:rPr>
              <a:t>  sigma ~ cauchy(0, 10);</a:t>
            </a:r>
          </a:p>
          <a:p>
            <a:pPr>
              <a:lnSpc>
                <a:spcPct val="110000"/>
              </a:lnSpc>
              <a:spcBef>
                <a:spcPts val="0"/>
              </a:spcBef>
              <a:spcAft>
                <a:spcPts val="0"/>
              </a:spcAft>
            </a:pPr>
            <a:r>
              <a:rPr sz="1400" b="0">
                <a:solidFill>
                  <a:srgbClr val="16303A"/>
                </a:solidFill>
                <a:latin typeface="Consolas"/>
              </a:rPr>
              <a:t>  y ~ normal(mu, sigma);</a:t>
            </a:r>
          </a:p>
          <a:p>
            <a:pPr>
              <a:lnSpc>
                <a:spcPct val="110000"/>
              </a:lnSpc>
              <a:spcBef>
                <a:spcPts val="0"/>
              </a:spcBef>
              <a:spcAft>
                <a:spcPts val="0"/>
              </a:spcAft>
            </a:pPr>
            <a:r>
              <a:rPr sz="1400" b="0">
                <a:solidFill>
                  <a:srgbClr val="16303A"/>
                </a:solidFill>
                <a:latin typeface="Consolas"/>
              </a:rPr>
              <a:t>}</a:t>
            </a:r>
          </a:p>
          <a:p>
            <a:pPr>
              <a:lnSpc>
                <a:spcPct val="110000"/>
              </a:lnSpc>
              <a:spcBef>
                <a:spcPts val="0"/>
              </a:spcBef>
              <a:spcAft>
                <a:spcPts val="0"/>
              </a:spcAft>
            </a:pPr>
            <a:r>
              <a:rPr sz="1400" b="0">
                <a:solidFill>
                  <a:srgbClr val="16303A"/>
                </a:solidFill>
                <a:latin typeface="Consolas"/>
              </a:rPr>
              <a:t>generated quantities {</a:t>
            </a:r>
          </a:p>
          <a:p>
            <a:pPr>
              <a:lnSpc>
                <a:spcPct val="110000"/>
              </a:lnSpc>
              <a:spcBef>
                <a:spcPts val="0"/>
              </a:spcBef>
              <a:spcAft>
                <a:spcPts val="0"/>
              </a:spcAft>
            </a:pPr>
            <a:r>
              <a:rPr sz="1400" b="0">
                <a:solidFill>
                  <a:srgbClr val="16303A"/>
                </a:solidFill>
                <a:latin typeface="Consolas"/>
              </a:rPr>
              <a:t>  vector[n] residuals;</a:t>
            </a:r>
          </a:p>
          <a:p>
            <a:pPr>
              <a:lnSpc>
                <a:spcPct val="110000"/>
              </a:lnSpc>
              <a:spcBef>
                <a:spcPts val="0"/>
              </a:spcBef>
              <a:spcAft>
                <a:spcPts val="0"/>
              </a:spcAft>
            </a:pPr>
            <a:r>
              <a:rPr sz="1400" b="0">
                <a:solidFill>
                  <a:srgbClr val="16303A"/>
                </a:solidFill>
                <a:latin typeface="Consolas"/>
              </a:rPr>
              <a:t>  residuals = y - mu;</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Stanのnormal(平均,標準偏差)とJAGSのdnorm(平均,精度)は引数の意味が違う。ここではα・βにN(0,100²)。</a:t>
            </a:r>
          </a:p>
        </p:txBody>
      </p:sp>
      <p:sp>
        <p:nvSpPr>
          <p:cNvPr id="11" name="TextBox 10"/>
          <p:cNvSpPr txBox="1"/>
          <p:nvPr/>
        </p:nvSpPr>
        <p:spPr>
          <a:xfrm>
            <a:off x="6510528" y="2500884"/>
            <a:ext cx="4873752" cy="650703"/>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cauchy(0,10)はσへの事前分布で、parameters側のlower=0制約によりσは非負となる。JAGSの一様事前分布と同じではない。</a:t>
            </a:r>
          </a:p>
        </p:txBody>
      </p:sp>
      <p:sp>
        <p:nvSpPr>
          <p:cNvPr id="12" name="TextBox 11"/>
          <p:cNvSpPr txBox="1"/>
          <p:nvPr/>
        </p:nvSpPr>
        <p:spPr>
          <a:xfrm>
            <a:off x="6510528" y="3201879"/>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ベクトル化したy ~ normal(mu,sigma)は各観測の正規尤度の積に相当する。</a:t>
            </a:r>
          </a:p>
        </p:txBody>
      </p:sp>
      <p:sp>
        <p:nvSpPr>
          <p:cNvPr id="13" name="TextBox 12"/>
          <p:cNvSpPr txBox="1"/>
          <p:nvPr/>
        </p:nvSpPr>
        <p:spPr>
          <a:xfrm>
            <a:off x="6510528" y="3873963"/>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generated quantitiesは各事後標本で残差を計算する場所。モデルの尤度への追加ではない。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13/34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6.2.5  Stan③：HMC実行とベクトル化の意味</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Stan | sampling</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ni &lt;- 3000; nb &lt;- 1000</a:t>
            </a:r>
          </a:p>
          <a:p>
            <a:pPr>
              <a:lnSpc>
                <a:spcPct val="110000"/>
              </a:lnSpc>
              <a:spcBef>
                <a:spcPts val="0"/>
              </a:spcBef>
              <a:spcAft>
                <a:spcPts val="0"/>
              </a:spcAft>
            </a:pPr>
            <a:r>
              <a:rPr sz="1400" b="0">
                <a:solidFill>
                  <a:srgbClr val="16303A"/>
                </a:solidFill>
                <a:latin typeface="Consolas"/>
              </a:rPr>
              <a:t>nc &lt;- 4; nt &lt;- 1</a:t>
            </a:r>
          </a:p>
          <a:p>
            <a:pPr>
              <a:lnSpc>
                <a:spcPct val="110000"/>
              </a:lnSpc>
              <a:spcBef>
                <a:spcPts val="0"/>
              </a:spcBef>
              <a:spcAft>
                <a:spcPts val="0"/>
              </a:spcAft>
            </a:pPr>
            <a:r>
              <a:rPr sz="1400" b="0">
                <a:solidFill>
                  <a:srgbClr val="16303A"/>
                </a:solidFill>
                <a:latin typeface="Consolas"/>
              </a:rPr>
              <a:t>out6.2.5 &lt;- stan(</a:t>
            </a:r>
          </a:p>
          <a:p>
            <a:pPr>
              <a:lnSpc>
                <a:spcPct val="110000"/>
              </a:lnSpc>
              <a:spcBef>
                <a:spcPts val="0"/>
              </a:spcBef>
              <a:spcAft>
                <a:spcPts val="0"/>
              </a:spcAft>
            </a:pPr>
            <a:r>
              <a:rPr sz="1400" b="0">
                <a:solidFill>
                  <a:srgbClr val="16303A"/>
                </a:solidFill>
                <a:latin typeface="Consolas"/>
              </a:rPr>
              <a:t> file="model6_2_5.stan",</a:t>
            </a:r>
          </a:p>
          <a:p>
            <a:pPr>
              <a:lnSpc>
                <a:spcPct val="110000"/>
              </a:lnSpc>
              <a:spcBef>
                <a:spcPts val="0"/>
              </a:spcBef>
              <a:spcAft>
                <a:spcPts val="0"/>
              </a:spcAft>
            </a:pPr>
            <a:r>
              <a:rPr sz="1400" b="0">
                <a:solidFill>
                  <a:srgbClr val="16303A"/>
                </a:solidFill>
                <a:latin typeface="Consolas"/>
              </a:rPr>
              <a:t> data=dataList,</a:t>
            </a:r>
          </a:p>
          <a:p>
            <a:pPr>
              <a:lnSpc>
                <a:spcPct val="110000"/>
              </a:lnSpc>
              <a:spcBef>
                <a:spcPts val="0"/>
              </a:spcBef>
              <a:spcAft>
                <a:spcPts val="0"/>
              </a:spcAft>
            </a:pPr>
            <a:r>
              <a:rPr sz="1400" b="0">
                <a:solidFill>
                  <a:srgbClr val="16303A"/>
                </a:solidFill>
                <a:latin typeface="Consolas"/>
              </a:rPr>
              <a:t> chains=nc, iter=ni,</a:t>
            </a:r>
          </a:p>
          <a:p>
            <a:pPr>
              <a:lnSpc>
                <a:spcPct val="110000"/>
              </a:lnSpc>
              <a:spcBef>
                <a:spcPts val="0"/>
              </a:spcBef>
              <a:spcAft>
                <a:spcPts val="0"/>
              </a:spcAft>
            </a:pPr>
            <a:r>
              <a:rPr sz="1400" b="0">
                <a:solidFill>
                  <a:srgbClr val="16303A"/>
                </a:solidFill>
                <a:latin typeface="Consolas"/>
              </a:rPr>
              <a:t> warmup=nb, thin=nt)</a:t>
            </a:r>
          </a:p>
          <a:p>
            <a:pPr>
              <a:lnSpc>
                <a:spcPct val="110000"/>
              </a:lnSpc>
              <a:spcBef>
                <a:spcPts val="0"/>
              </a:spcBef>
              <a:spcAft>
                <a:spcPts val="0"/>
              </a:spcAft>
            </a:pPr>
            <a:r>
              <a:rPr sz="1400" b="0">
                <a:solidFill>
                  <a:srgbClr val="16303A"/>
                </a:solidFill>
                <a:latin typeface="Consolas"/>
              </a:rPr>
              <a:t>rstan::traceplot(out6.2.5)</a:t>
            </a:r>
          </a:p>
          <a:p>
            <a:pPr>
              <a:lnSpc>
                <a:spcPct val="110000"/>
              </a:lnSpc>
              <a:spcBef>
                <a:spcPts val="0"/>
              </a:spcBef>
              <a:spcAft>
                <a:spcPts val="0"/>
              </a:spcAft>
            </a:pPr>
            <a:r>
              <a:rPr sz="1400" b="0">
                <a:solidFill>
                  <a:srgbClr val="16303A"/>
                </a:solidFill>
                <a:latin typeface="Consolas"/>
              </a:rPr>
              <a:t>stan_est &lt;- summary(out6.2.5)$summary[1:3,1]</a:t>
            </a:r>
          </a:p>
        </p:txBody>
      </p:sp>
      <p:sp>
        <p:nvSpPr>
          <p:cNvPr id="10" name="TextBox 9"/>
          <p:cNvSpPr txBox="1"/>
          <p:nvPr/>
        </p:nvSpPr>
        <p:spPr>
          <a:xfrm>
            <a:off x="6510528" y="1828800"/>
            <a:ext cx="4873752" cy="656485"/>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Stanのstan()はHMC系のサンプリング（通常NUTS）を用いる。iterは1チェーン当たりの総反復、warmupは適応を含む前半の破棄区間。</a:t>
            </a:r>
          </a:p>
        </p:txBody>
      </p:sp>
      <p:sp>
        <p:nvSpPr>
          <p:cNvPr id="11" name="TextBox 10"/>
          <p:cNvSpPr txBox="1"/>
          <p:nvPr/>
        </p:nvSpPr>
        <p:spPr>
          <a:xfrm>
            <a:off x="6510528" y="2535577"/>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Rのni・nb・nc・ntをそれぞれiter・warmup・chains・thinに渡している。</a:t>
            </a:r>
          </a:p>
        </p:txBody>
      </p:sp>
      <p:sp>
        <p:nvSpPr>
          <p:cNvPr id="12" name="TextBox 11"/>
          <p:cNvSpPr txBox="1"/>
          <p:nvPr/>
        </p:nvSpPr>
        <p:spPr>
          <a:xfrm>
            <a:off x="6510528" y="3207661"/>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ベクトル化は「同じ分布を全観測に適用する」という構造を短いコードで明示する。</a:t>
            </a:r>
          </a:p>
        </p:txBody>
      </p:sp>
      <p:sp>
        <p:nvSpPr>
          <p:cNvPr id="13" name="TextBox 12"/>
          <p:cNvSpPr txBox="1"/>
          <p:nvPr/>
        </p:nvSpPr>
        <p:spPr>
          <a:xfrm>
            <a:off x="6510528" y="3879745"/>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原著のStan推定値はα=104.765、β=−27.612、σ=2.813。収束の判断はtraceplotだけでなく診断量を確認する。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14/34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6.2.6  DIY最尤①：負の対数尤度を組み立てる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Do-it-yourself maximum likelihood estimates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NLL &lt;- function(params, y, x) {</a:t>
            </a:r>
          </a:p>
          <a:p>
            <a:pPr>
              <a:lnSpc>
                <a:spcPct val="110000"/>
              </a:lnSpc>
              <a:spcBef>
                <a:spcPts val="0"/>
              </a:spcBef>
              <a:spcAft>
                <a:spcPts val="0"/>
              </a:spcAft>
            </a:pPr>
            <a:r>
              <a:rPr sz="1400" b="0">
                <a:solidFill>
                  <a:srgbClr val="16303A"/>
                </a:solidFill>
                <a:latin typeface="Consolas"/>
              </a:rPr>
              <a:t>  alpha &lt;- params[1]</a:t>
            </a:r>
          </a:p>
          <a:p>
            <a:pPr>
              <a:lnSpc>
                <a:spcPct val="110000"/>
              </a:lnSpc>
              <a:spcBef>
                <a:spcPts val="0"/>
              </a:spcBef>
              <a:spcAft>
                <a:spcPts val="0"/>
              </a:spcAft>
            </a:pPr>
            <a:r>
              <a:rPr sz="1400" b="0">
                <a:solidFill>
                  <a:srgbClr val="16303A"/>
                </a:solidFill>
                <a:latin typeface="Consolas"/>
              </a:rPr>
              <a:t>  beta &lt;- params[2]</a:t>
            </a:r>
          </a:p>
          <a:p>
            <a:pPr>
              <a:lnSpc>
                <a:spcPct val="110000"/>
              </a:lnSpc>
              <a:spcBef>
                <a:spcPts val="0"/>
              </a:spcBef>
              <a:spcAft>
                <a:spcPts val="0"/>
              </a:spcAft>
            </a:pPr>
            <a:r>
              <a:rPr sz="1400" b="0">
                <a:solidFill>
                  <a:srgbClr val="16303A"/>
                </a:solidFill>
                <a:latin typeface="Consolas"/>
              </a:rPr>
              <a:t>  sigma &lt;- exp(params[3])</a:t>
            </a:r>
          </a:p>
          <a:p>
            <a:pPr>
              <a:lnSpc>
                <a:spcPct val="110000"/>
              </a:lnSpc>
              <a:spcBef>
                <a:spcPts val="0"/>
              </a:spcBef>
              <a:spcAft>
                <a:spcPts val="0"/>
              </a:spcAft>
            </a:pPr>
            <a:r>
              <a:rPr sz="1400" b="0">
                <a:solidFill>
                  <a:srgbClr val="16303A"/>
                </a:solidFill>
                <a:latin typeface="Consolas"/>
              </a:rPr>
              <a:t>  mu &lt;- LL &lt;- numeric(length(y))</a:t>
            </a:r>
          </a:p>
          <a:p>
            <a:pPr>
              <a:lnSpc>
                <a:spcPct val="110000"/>
              </a:lnSpc>
              <a:spcBef>
                <a:spcPts val="0"/>
              </a:spcBef>
              <a:spcAft>
                <a:spcPts val="0"/>
              </a:spcAft>
            </a:pPr>
            <a:r>
              <a:rPr sz="1400" b="0">
                <a:solidFill>
                  <a:srgbClr val="16303A"/>
                </a:solidFill>
                <a:latin typeface="Consolas"/>
              </a:rPr>
              <a:t>  for(i in 1:length(y)) {</a:t>
            </a:r>
          </a:p>
          <a:p>
            <a:pPr>
              <a:lnSpc>
                <a:spcPct val="110000"/>
              </a:lnSpc>
              <a:spcBef>
                <a:spcPts val="0"/>
              </a:spcBef>
              <a:spcAft>
                <a:spcPts val="0"/>
              </a:spcAft>
            </a:pPr>
            <a:r>
              <a:rPr sz="1400" b="0">
                <a:solidFill>
                  <a:srgbClr val="16303A"/>
                </a:solidFill>
                <a:latin typeface="Consolas"/>
              </a:rPr>
              <a:t>    mu[i] &lt;- alpha + beta*x[i]</a:t>
            </a:r>
          </a:p>
          <a:p>
            <a:pPr>
              <a:lnSpc>
                <a:spcPct val="110000"/>
              </a:lnSpc>
              <a:spcBef>
                <a:spcPts val="0"/>
              </a:spcBef>
              <a:spcAft>
                <a:spcPts val="0"/>
              </a:spcAft>
            </a:pPr>
            <a:r>
              <a:rPr sz="1400" b="0">
                <a:solidFill>
                  <a:srgbClr val="16303A"/>
                </a:solidFill>
                <a:latin typeface="Consolas"/>
              </a:rPr>
              <a:t>    LL[i] &lt;- dnorm(y[i], mu[i],</a:t>
            </a:r>
          </a:p>
          <a:p>
            <a:pPr>
              <a:lnSpc>
                <a:spcPct val="110000"/>
              </a:lnSpc>
              <a:spcBef>
                <a:spcPts val="0"/>
              </a:spcBef>
              <a:spcAft>
                <a:spcPts val="0"/>
              </a:spcAft>
            </a:pPr>
            <a:r>
              <a:rPr sz="1400" b="0">
                <a:solidFill>
                  <a:srgbClr val="16303A"/>
                </a:solidFill>
                <a:latin typeface="Consolas"/>
              </a:rPr>
              <a:t>                   sigma, log=TRUE)</a:t>
            </a:r>
          </a:p>
          <a:p>
            <a:pPr>
              <a:lnSpc>
                <a:spcPct val="110000"/>
              </a:lnSpc>
              <a:spcBef>
                <a:spcPts val="0"/>
              </a:spcBef>
              <a:spcAft>
                <a:spcPts val="0"/>
              </a:spcAft>
            </a:pPr>
            <a:r>
              <a:rPr sz="1400" b="0">
                <a:solidFill>
                  <a:srgbClr val="16303A"/>
                </a:solidFill>
                <a:latin typeface="Consolas"/>
              </a:rPr>
              <a:t>  }</a:t>
            </a:r>
          </a:p>
          <a:p>
            <a:pPr>
              <a:lnSpc>
                <a:spcPct val="110000"/>
              </a:lnSpc>
              <a:spcBef>
                <a:spcPts val="0"/>
              </a:spcBef>
              <a:spcAft>
                <a:spcPts val="0"/>
              </a:spcAft>
            </a:pPr>
            <a:r>
              <a:rPr sz="1400" b="0">
                <a:solidFill>
                  <a:srgbClr val="16303A"/>
                </a:solidFill>
                <a:latin typeface="Consolas"/>
              </a:rPr>
              <a:t>  -sum(LL)</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観測iの分布はNormal(α+βxᵢ,σ²)。各観測の対数密度を足した値が対数尤度。</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optim()は最小化なので、合計対数尤度に負号を付けて負の対数尤度NLLを返す。</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sigma=exp(params[3])はlogσを未知数にする工夫で、最適化中にもσ&gt;0を保証する。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dnorm(...,log=TRUE)は対数密度を直接返し、小さい密度値の積によるアンダーフローを避ける。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15/34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6.2.6  DIY最尤②：最適化と標準誤差</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Do-it-yourself MLEs | optimization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inits &lt;- c(alpha=50, beta=10,</a:t>
            </a:r>
          </a:p>
          <a:p>
            <a:pPr>
              <a:lnSpc>
                <a:spcPct val="110000"/>
              </a:lnSpc>
              <a:spcBef>
                <a:spcPts val="0"/>
              </a:spcBef>
              <a:spcAft>
                <a:spcPts val="0"/>
              </a:spcAft>
            </a:pPr>
            <a:r>
              <a:rPr sz="1400" b="0">
                <a:solidFill>
                  <a:srgbClr val="16303A"/>
                </a:solidFill>
                <a:latin typeface="Consolas"/>
              </a:rPr>
              <a:t>           log_sigma=0)</a:t>
            </a:r>
          </a:p>
          <a:p>
            <a:pPr>
              <a:lnSpc>
                <a:spcPct val="110000"/>
              </a:lnSpc>
              <a:spcBef>
                <a:spcPts val="0"/>
              </a:spcBef>
              <a:spcAft>
                <a:spcPts val="0"/>
              </a:spcAft>
            </a:pPr>
            <a:r>
              <a:rPr sz="1400" b="0">
                <a:solidFill>
                  <a:srgbClr val="16303A"/>
                </a:solidFill>
                <a:latin typeface="Consolas"/>
              </a:rPr>
              <a:t>out6.2.6 &lt;- optim(</a:t>
            </a:r>
          </a:p>
          <a:p>
            <a:pPr>
              <a:lnSpc>
                <a:spcPct val="110000"/>
              </a:lnSpc>
              <a:spcBef>
                <a:spcPts val="0"/>
              </a:spcBef>
              <a:spcAft>
                <a:spcPts val="0"/>
              </a:spcAft>
            </a:pPr>
            <a:r>
              <a:rPr sz="1400" b="0">
                <a:solidFill>
                  <a:srgbClr val="16303A"/>
                </a:solidFill>
                <a:latin typeface="Consolas"/>
              </a:rPr>
              <a:t>  inits, NLL, y=y, x=x,</a:t>
            </a:r>
          </a:p>
          <a:p>
            <a:pPr>
              <a:lnSpc>
                <a:spcPct val="110000"/>
              </a:lnSpc>
              <a:spcBef>
                <a:spcPts val="0"/>
              </a:spcBef>
              <a:spcAft>
                <a:spcPts val="0"/>
              </a:spcAft>
            </a:pPr>
            <a:r>
              <a:rPr sz="1400" b="0">
                <a:solidFill>
                  <a:srgbClr val="16303A"/>
                </a:solidFill>
                <a:latin typeface="Consolas"/>
              </a:rPr>
              <a:t>  hessian=TRUE)</a:t>
            </a:r>
          </a:p>
          <a:p>
            <a:pPr>
              <a:lnSpc>
                <a:spcPct val="110000"/>
              </a:lnSpc>
              <a:spcBef>
                <a:spcPts val="0"/>
              </a:spcBef>
              <a:spcAft>
                <a:spcPts val="0"/>
              </a:spcAft>
            </a:pPr>
            <a:r>
              <a:rPr sz="1400" b="0">
                <a:solidFill>
                  <a:srgbClr val="16303A"/>
                </a:solidFill>
                <a:latin typeface="Consolas"/>
              </a:rPr>
              <a:t>diy_est &lt;- c(</a:t>
            </a:r>
          </a:p>
          <a:p>
            <a:pPr>
              <a:lnSpc>
                <a:spcPct val="110000"/>
              </a:lnSpc>
              <a:spcBef>
                <a:spcPts val="0"/>
              </a:spcBef>
              <a:spcAft>
                <a:spcPts val="0"/>
              </a:spcAft>
            </a:pPr>
            <a:r>
              <a:rPr sz="1400" b="0">
                <a:solidFill>
                  <a:srgbClr val="16303A"/>
                </a:solidFill>
                <a:latin typeface="Consolas"/>
              </a:rPr>
              <a:t>  out6.2.6$par[1:2],</a:t>
            </a:r>
          </a:p>
          <a:p>
            <a:pPr>
              <a:lnSpc>
                <a:spcPct val="110000"/>
              </a:lnSpc>
              <a:spcBef>
                <a:spcPts val="0"/>
              </a:spcBef>
              <a:spcAft>
                <a:spcPts val="0"/>
              </a:spcAft>
            </a:pPr>
            <a:r>
              <a:rPr sz="1400" b="0">
                <a:solidFill>
                  <a:srgbClr val="16303A"/>
                </a:solidFill>
                <a:latin typeface="Consolas"/>
              </a:rPr>
              <a:t>  exp(out6.2.6$par[3]))</a:t>
            </a:r>
          </a:p>
          <a:p>
            <a:pPr>
              <a:lnSpc>
                <a:spcPct val="110000"/>
              </a:lnSpc>
              <a:spcBef>
                <a:spcPts val="0"/>
              </a:spcBef>
              <a:spcAft>
                <a:spcPts val="0"/>
              </a:spcAft>
            </a:pPr>
            <a:r>
              <a:rPr sz="1400" b="0">
                <a:solidFill>
                  <a:srgbClr val="16303A"/>
                </a:solidFill>
                <a:latin typeface="Consolas"/>
              </a:rPr>
              <a:t>get_MLE(out6.2.6, 5)</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初期値はα=50、β=10、logσ=0（σ=1）。負の対数尤度の最小値を探索する。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parには最適化されたα・β・logσが返るため、比較前にexp()でσの尺度に戻す。</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hessian=TRUEは最適値付近の曲率を計算し、標準誤差の近似に使う。get_MLEは補助関数。</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原著のDIY推定結果はα=104.756、β=−27.604、σ≈2.755。</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16/34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6.2.7  TMB①：C++モデルの入力・パラメータ</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TMB | C++ structure</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#include &lt;TMB.hpp&gt;</a:t>
            </a:r>
          </a:p>
          <a:p>
            <a:pPr>
              <a:lnSpc>
                <a:spcPct val="110000"/>
              </a:lnSpc>
              <a:spcBef>
                <a:spcPts val="0"/>
              </a:spcBef>
              <a:spcAft>
                <a:spcPts val="0"/>
              </a:spcAft>
            </a:pPr>
            <a:r>
              <a:rPr sz="1220" b="0">
                <a:solidFill>
                  <a:srgbClr val="16303A"/>
                </a:solidFill>
                <a:latin typeface="Consolas"/>
              </a:rPr>
              <a:t>template&lt;class Type&gt;</a:t>
            </a:r>
          </a:p>
          <a:p>
            <a:pPr>
              <a:lnSpc>
                <a:spcPct val="110000"/>
              </a:lnSpc>
              <a:spcBef>
                <a:spcPts val="0"/>
              </a:spcBef>
              <a:spcAft>
                <a:spcPts val="0"/>
              </a:spcAft>
            </a:pPr>
            <a:r>
              <a:rPr sz="1220" b="0">
                <a:solidFill>
                  <a:srgbClr val="16303A"/>
                </a:solidFill>
                <a:latin typeface="Consolas"/>
              </a:rPr>
              <a:t>Type objective_function&lt;Type&gt;::operator()(){</a:t>
            </a:r>
          </a:p>
          <a:p>
            <a:pPr>
              <a:lnSpc>
                <a:spcPct val="110000"/>
              </a:lnSpc>
              <a:spcBef>
                <a:spcPts val="0"/>
              </a:spcBef>
              <a:spcAft>
                <a:spcPts val="0"/>
              </a:spcAft>
            </a:pPr>
            <a:r>
              <a:rPr sz="1220" b="0">
                <a:solidFill>
                  <a:srgbClr val="16303A"/>
                </a:solidFill>
                <a:latin typeface="Consolas"/>
              </a:rPr>
              <a:t>  DATA_VECTOR(y);</a:t>
            </a:r>
          </a:p>
          <a:p>
            <a:pPr>
              <a:lnSpc>
                <a:spcPct val="110000"/>
              </a:lnSpc>
              <a:spcBef>
                <a:spcPts val="0"/>
              </a:spcBef>
              <a:spcAft>
                <a:spcPts val="0"/>
              </a:spcAft>
            </a:pPr>
            <a:r>
              <a:rPr sz="1220" b="0">
                <a:solidFill>
                  <a:srgbClr val="16303A"/>
                </a:solidFill>
                <a:latin typeface="Consolas"/>
              </a:rPr>
              <a:t>  DATA_VECTOR(x);</a:t>
            </a:r>
          </a:p>
          <a:p>
            <a:pPr>
              <a:lnSpc>
                <a:spcPct val="110000"/>
              </a:lnSpc>
              <a:spcBef>
                <a:spcPts val="0"/>
              </a:spcBef>
              <a:spcAft>
                <a:spcPts val="0"/>
              </a:spcAft>
            </a:pPr>
            <a:r>
              <a:rPr sz="1220" b="0">
                <a:solidFill>
                  <a:srgbClr val="16303A"/>
                </a:solidFill>
                <a:latin typeface="Consolas"/>
              </a:rPr>
              <a:t>  DATA_INTEGER(n);</a:t>
            </a:r>
          </a:p>
          <a:p>
            <a:pPr>
              <a:lnSpc>
                <a:spcPct val="110000"/>
              </a:lnSpc>
              <a:spcBef>
                <a:spcPts val="0"/>
              </a:spcBef>
              <a:spcAft>
                <a:spcPts val="0"/>
              </a:spcAft>
            </a:pPr>
            <a:r>
              <a:rPr sz="1220" b="0">
                <a:solidFill>
                  <a:srgbClr val="16303A"/>
                </a:solidFill>
                <a:latin typeface="Consolas"/>
              </a:rPr>
              <a:t>  PARAMETER(alpha);</a:t>
            </a:r>
          </a:p>
          <a:p>
            <a:pPr>
              <a:lnSpc>
                <a:spcPct val="110000"/>
              </a:lnSpc>
              <a:spcBef>
                <a:spcPts val="0"/>
              </a:spcBef>
              <a:spcAft>
                <a:spcPts val="0"/>
              </a:spcAft>
            </a:pPr>
            <a:r>
              <a:rPr sz="1220" b="0">
                <a:solidFill>
                  <a:srgbClr val="16303A"/>
                </a:solidFill>
                <a:latin typeface="Consolas"/>
              </a:rPr>
              <a:t>  PARAMETER(beta);</a:t>
            </a:r>
          </a:p>
          <a:p>
            <a:pPr>
              <a:lnSpc>
                <a:spcPct val="110000"/>
              </a:lnSpc>
              <a:spcBef>
                <a:spcPts val="0"/>
              </a:spcBef>
              <a:spcAft>
                <a:spcPts val="0"/>
              </a:spcAft>
            </a:pPr>
            <a:r>
              <a:rPr sz="1220" b="0">
                <a:solidFill>
                  <a:srgbClr val="16303A"/>
                </a:solidFill>
                <a:latin typeface="Consolas"/>
              </a:rPr>
              <a:t>  PARAMETER(log_sigma);</a:t>
            </a:r>
          </a:p>
          <a:p>
            <a:pPr>
              <a:lnSpc>
                <a:spcPct val="110000"/>
              </a:lnSpc>
              <a:spcBef>
                <a:spcPts val="0"/>
              </a:spcBef>
              <a:spcAft>
                <a:spcPts val="0"/>
              </a:spcAft>
            </a:pPr>
            <a:r>
              <a:rPr sz="1220" b="0">
                <a:solidFill>
                  <a:srgbClr val="16303A"/>
                </a:solidFill>
                <a:latin typeface="Consolas"/>
              </a:rPr>
              <a:t>  Type sigma = exp(log_sigma);</a:t>
            </a:r>
          </a:p>
          <a:p>
            <a:pPr>
              <a:lnSpc>
                <a:spcPct val="110000"/>
              </a:lnSpc>
              <a:spcBef>
                <a:spcPts val="0"/>
              </a:spcBef>
              <a:spcAft>
                <a:spcPts val="0"/>
              </a:spcAft>
            </a:pPr>
            <a:r>
              <a:rPr sz="1220" b="0">
                <a:solidFill>
                  <a:srgbClr val="16303A"/>
                </a:solidFill>
                <a:latin typeface="Consolas"/>
              </a:rPr>
              <a:t>  Type LL = 0.0;</a:t>
            </a:r>
          </a:p>
          <a:p>
            <a:pPr>
              <a:lnSpc>
                <a:spcPct val="110000"/>
              </a:lnSpc>
              <a:spcBef>
                <a:spcPts val="0"/>
              </a:spcBef>
              <a:spcAft>
                <a:spcPts val="0"/>
              </a:spcAft>
            </a:pPr>
            <a:r>
              <a:rPr sz="1220" b="0">
                <a:solidFill>
                  <a:srgbClr val="16303A"/>
                </a:solidFill>
                <a:latin typeface="Consolas"/>
              </a:rPr>
              <a:t>  Type mu;</a:t>
            </a:r>
          </a:p>
          <a:p>
            <a:pPr>
              <a:lnSpc>
                <a:spcPct val="110000"/>
              </a:lnSpc>
              <a:spcBef>
                <a:spcPts val="0"/>
              </a:spcBef>
              <a:spcAft>
                <a:spcPts val="0"/>
              </a:spcAft>
            </a:pPr>
            <a:r>
              <a:rPr sz="1220" b="0">
                <a:solidFill>
                  <a:srgbClr val="16303A"/>
                </a:solidFill>
                <a:latin typeface="Consolas"/>
              </a:rPr>
              <a:t>  ...</a:t>
            </a:r>
          </a:p>
          <a:p>
            <a:pPr>
              <a:lnSpc>
                <a:spcPct val="110000"/>
              </a:lnSpc>
              <a:spcBef>
                <a:spcPts val="0"/>
              </a:spcBef>
              <a:spcAft>
                <a:spcPts val="0"/>
              </a:spcAft>
            </a:pPr>
            <a:r>
              <a:rPr sz="122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TMBのC++ファイルは目的関数（負の対数尤度）を記述する。DATA_*がRから渡される既知データ。</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PARAMETER()は最適化対象。sigmaではなくlog_sigmaを推定し、expで正値に変換する。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TypeはTMBの自動微分が利用できる型。LLを0で初期化して観測ごとの対数尤度を加える。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この第6章にはランダム効果が無いのでrandom=指定やラプラス近似は登場しない。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17/34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6.2.7  TMB②：ループ・ADREPORT・返り値</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TMB | likelihood</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for (int i=0; i&lt;n; i++) {</a:t>
            </a:r>
          </a:p>
          <a:p>
            <a:pPr>
              <a:lnSpc>
                <a:spcPct val="110000"/>
              </a:lnSpc>
              <a:spcBef>
                <a:spcPts val="0"/>
              </a:spcBef>
              <a:spcAft>
                <a:spcPts val="0"/>
              </a:spcAft>
            </a:pPr>
            <a:r>
              <a:rPr sz="1400" b="0">
                <a:solidFill>
                  <a:srgbClr val="16303A"/>
                </a:solidFill>
                <a:latin typeface="Consolas"/>
              </a:rPr>
              <a:t>  mu = alpha + beta*x(i);</a:t>
            </a:r>
          </a:p>
          <a:p>
            <a:pPr>
              <a:lnSpc>
                <a:spcPct val="110000"/>
              </a:lnSpc>
              <a:spcBef>
                <a:spcPts val="0"/>
              </a:spcBef>
              <a:spcAft>
                <a:spcPts val="0"/>
              </a:spcAft>
            </a:pPr>
            <a:r>
              <a:rPr sz="1400" b="0">
                <a:solidFill>
                  <a:srgbClr val="16303A"/>
                </a:solidFill>
                <a:latin typeface="Consolas"/>
              </a:rPr>
              <a:t>  LL += dnorm(y(i), mu, sigma, true);</a:t>
            </a:r>
          </a:p>
          <a:p>
            <a:pPr>
              <a:lnSpc>
                <a:spcPct val="110000"/>
              </a:lnSpc>
              <a:spcBef>
                <a:spcPts val="0"/>
              </a:spcBef>
              <a:spcAft>
                <a:spcPts val="0"/>
              </a:spcAft>
            </a:pPr>
            <a:r>
              <a:rPr sz="1400" b="0">
                <a:solidFill>
                  <a:srgbClr val="16303A"/>
                </a:solidFill>
                <a:latin typeface="Consolas"/>
              </a:rPr>
              <a:t>}</a:t>
            </a:r>
          </a:p>
          <a:p>
            <a:pPr>
              <a:lnSpc>
                <a:spcPct val="110000"/>
              </a:lnSpc>
              <a:spcBef>
                <a:spcPts val="0"/>
              </a:spcBef>
              <a:spcAft>
                <a:spcPts val="0"/>
              </a:spcAft>
            </a:pPr>
            <a:r>
              <a:rPr sz="1400" b="0">
                <a:solidFill>
                  <a:srgbClr val="16303A"/>
                </a:solidFill>
                <a:latin typeface="Consolas"/>
              </a:rPr>
              <a:t>Type mu1 = alpha;</a:t>
            </a:r>
          </a:p>
          <a:p>
            <a:pPr>
              <a:lnSpc>
                <a:spcPct val="110000"/>
              </a:lnSpc>
              <a:spcBef>
                <a:spcPts val="0"/>
              </a:spcBef>
              <a:spcAft>
                <a:spcPts val="0"/>
              </a:spcAft>
            </a:pPr>
            <a:r>
              <a:rPr sz="1400" b="0">
                <a:solidFill>
                  <a:srgbClr val="16303A"/>
                </a:solidFill>
                <a:latin typeface="Consolas"/>
              </a:rPr>
              <a:t>Type mu2 = alpha + beta;</a:t>
            </a:r>
          </a:p>
          <a:p>
            <a:pPr>
              <a:lnSpc>
                <a:spcPct val="110000"/>
              </a:lnSpc>
              <a:spcBef>
                <a:spcPts val="0"/>
              </a:spcBef>
              <a:spcAft>
                <a:spcPts val="0"/>
              </a:spcAft>
            </a:pPr>
            <a:r>
              <a:rPr sz="1400" b="0">
                <a:solidFill>
                  <a:srgbClr val="16303A"/>
                </a:solidFill>
                <a:latin typeface="Consolas"/>
              </a:rPr>
              <a:t>ADREPORT(mu1);</a:t>
            </a:r>
          </a:p>
          <a:p>
            <a:pPr>
              <a:lnSpc>
                <a:spcPct val="110000"/>
              </a:lnSpc>
              <a:spcBef>
                <a:spcPts val="0"/>
              </a:spcBef>
              <a:spcAft>
                <a:spcPts val="0"/>
              </a:spcAft>
            </a:pPr>
            <a:r>
              <a:rPr sz="1400" b="0">
                <a:solidFill>
                  <a:srgbClr val="16303A"/>
                </a:solidFill>
                <a:latin typeface="Consolas"/>
              </a:rPr>
              <a:t>ADREPORT(mu2);</a:t>
            </a:r>
          </a:p>
          <a:p>
            <a:pPr>
              <a:lnSpc>
                <a:spcPct val="110000"/>
              </a:lnSpc>
              <a:spcBef>
                <a:spcPts val="0"/>
              </a:spcBef>
              <a:spcAft>
                <a:spcPts val="0"/>
              </a:spcAft>
            </a:pPr>
            <a:r>
              <a:rPr sz="1400" b="0">
                <a:solidFill>
                  <a:srgbClr val="16303A"/>
                </a:solidFill>
                <a:latin typeface="Consolas"/>
              </a:rPr>
              <a:t>return -LL;</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C++添字は0からn−1。Rの配列添字1からnと混同しない。x(i)とy(i)は対応する観測。</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TMBのdnorm(...,true)は対数密度の指定。全観測分をLLに加算し、−LLを最小化する。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ADREPORT(mu1)とADREPORT(mu2)で派生平均の推定値に加え、標準誤差も得られるようにする。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ADREPORTは派生パラメータの不確実性を求める点で単なる表示とは異なる。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18/34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6.2.7  TMB③：Rからコンパイル・最適化</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TMB | R driver</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compile("model6_2_7.cpp")</a:t>
            </a:r>
          </a:p>
          <a:p>
            <a:pPr>
              <a:lnSpc>
                <a:spcPct val="110000"/>
              </a:lnSpc>
              <a:spcBef>
                <a:spcPts val="0"/>
              </a:spcBef>
              <a:spcAft>
                <a:spcPts val="0"/>
              </a:spcAft>
            </a:pPr>
            <a:r>
              <a:rPr sz="1400" b="0">
                <a:solidFill>
                  <a:srgbClr val="16303A"/>
                </a:solidFill>
                <a:latin typeface="Consolas"/>
              </a:rPr>
              <a:t>dyn.load(dynlib("model6_2_7"))</a:t>
            </a:r>
          </a:p>
          <a:p>
            <a:pPr>
              <a:lnSpc>
                <a:spcPct val="110000"/>
              </a:lnSpc>
              <a:spcBef>
                <a:spcPts val="0"/>
              </a:spcBef>
              <a:spcAft>
                <a:spcPts val="0"/>
              </a:spcAft>
            </a:pPr>
            <a:r>
              <a:rPr sz="1400" b="0">
                <a:solidFill>
                  <a:srgbClr val="16303A"/>
                </a:solidFill>
                <a:latin typeface="Consolas"/>
              </a:rPr>
              <a:t>params &lt;- list(alpha=0, beta=0,</a:t>
            </a:r>
          </a:p>
          <a:p>
            <a:pPr>
              <a:lnSpc>
                <a:spcPct val="110000"/>
              </a:lnSpc>
              <a:spcBef>
                <a:spcPts val="0"/>
              </a:spcBef>
              <a:spcAft>
                <a:spcPts val="0"/>
              </a:spcAft>
            </a:pPr>
            <a:r>
              <a:rPr sz="1400" b="0">
                <a:solidFill>
                  <a:srgbClr val="16303A"/>
                </a:solidFill>
                <a:latin typeface="Consolas"/>
              </a:rPr>
              <a:t>               log_sigma=0)</a:t>
            </a:r>
          </a:p>
          <a:p>
            <a:pPr>
              <a:lnSpc>
                <a:spcPct val="110000"/>
              </a:lnSpc>
              <a:spcBef>
                <a:spcPts val="0"/>
              </a:spcBef>
              <a:spcAft>
                <a:spcPts val="0"/>
              </a:spcAft>
            </a:pPr>
            <a:r>
              <a:rPr sz="1400" b="0">
                <a:solidFill>
                  <a:srgbClr val="16303A"/>
                </a:solidFill>
                <a:latin typeface="Consolas"/>
              </a:rPr>
              <a:t>out6.2.7 &lt;- MakeADFun(</a:t>
            </a:r>
          </a:p>
          <a:p>
            <a:pPr>
              <a:lnSpc>
                <a:spcPct val="110000"/>
              </a:lnSpc>
              <a:spcBef>
                <a:spcPts val="0"/>
              </a:spcBef>
              <a:spcAft>
                <a:spcPts val="0"/>
              </a:spcAft>
            </a:pPr>
            <a:r>
              <a:rPr sz="1400" b="0">
                <a:solidFill>
                  <a:srgbClr val="16303A"/>
                </a:solidFill>
                <a:latin typeface="Consolas"/>
              </a:rPr>
              <a:t> data=dataList, parameters=params,</a:t>
            </a:r>
          </a:p>
          <a:p>
            <a:pPr>
              <a:lnSpc>
                <a:spcPct val="110000"/>
              </a:lnSpc>
              <a:spcBef>
                <a:spcPts val="0"/>
              </a:spcBef>
              <a:spcAft>
                <a:spcPts val="0"/>
              </a:spcAft>
            </a:pPr>
            <a:r>
              <a:rPr sz="1400" b="0">
                <a:solidFill>
                  <a:srgbClr val="16303A"/>
                </a:solidFill>
                <a:latin typeface="Consolas"/>
              </a:rPr>
              <a:t> DLL="model6_2_7", silent=TRUE)</a:t>
            </a:r>
          </a:p>
          <a:p>
            <a:pPr>
              <a:lnSpc>
                <a:spcPct val="110000"/>
              </a:lnSpc>
              <a:spcBef>
                <a:spcPts val="0"/>
              </a:spcBef>
              <a:spcAft>
                <a:spcPts val="0"/>
              </a:spcAft>
            </a:pPr>
            <a:r>
              <a:rPr sz="1400" b="0">
                <a:solidFill>
                  <a:srgbClr val="16303A"/>
                </a:solidFill>
                <a:latin typeface="Consolas"/>
              </a:rPr>
              <a:t>opt &lt;- optim(out6.2.7$par,</a:t>
            </a:r>
          </a:p>
          <a:p>
            <a:pPr>
              <a:lnSpc>
                <a:spcPct val="110000"/>
              </a:lnSpc>
              <a:spcBef>
                <a:spcPts val="0"/>
              </a:spcBef>
              <a:spcAft>
                <a:spcPts val="0"/>
              </a:spcAft>
            </a:pPr>
            <a:r>
              <a:rPr sz="1400" b="0">
                <a:solidFill>
                  <a:srgbClr val="16303A"/>
                </a:solidFill>
                <a:latin typeface="Consolas"/>
              </a:rPr>
              <a:t> fn=out6.2.7$fn, gr=out6.2.7$gr,</a:t>
            </a:r>
          </a:p>
          <a:p>
            <a:pPr>
              <a:lnSpc>
                <a:spcPct val="110000"/>
              </a:lnSpc>
              <a:spcBef>
                <a:spcPts val="0"/>
              </a:spcBef>
              <a:spcAft>
                <a:spcPts val="0"/>
              </a:spcAft>
            </a:pPr>
            <a:r>
              <a:rPr sz="1400" b="0">
                <a:solidFill>
                  <a:srgbClr val="16303A"/>
                </a:solidFill>
                <a:latin typeface="Consolas"/>
              </a:rPr>
              <a:t> method="BFGS", hessian=TRUE)</a:t>
            </a:r>
          </a:p>
          <a:p>
            <a:pPr>
              <a:lnSpc>
                <a:spcPct val="110000"/>
              </a:lnSpc>
              <a:spcBef>
                <a:spcPts val="0"/>
              </a:spcBef>
              <a:spcAft>
                <a:spcPts val="0"/>
              </a:spcAft>
            </a:pPr>
            <a:r>
              <a:rPr sz="1400" b="0">
                <a:solidFill>
                  <a:srgbClr val="16303A"/>
                </a:solidFill>
                <a:latin typeface="Consolas"/>
              </a:rPr>
              <a:t>tmb_summary(out6.2.7)</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compileでC++をコンパイルし、dyn.loadでDLLを読み込む。MakeADFunは目的関数fnと自動微分勾配grを生成する。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optimへfnとgrを渡すことで最尤推定を実行する。method="BFGS"は勾配を使う最適化法。</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推定後、TMB側の報告情報からADREPORTのμ₁・μ₂と対応する標準誤差を取り出せる。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原著のTMB結果はα≈104.771、β≈−27.618、μ₁≈104.771、μ₂≈77.152。</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19/34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6.2.8  等分散モデル：エンジン間の比較</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Comparison of the parameter estimates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             truth    lm     JAGS    NIMBLE    Stan     DIY     TMB</a:t>
            </a:r>
          </a:p>
          <a:p>
            <a:pPr>
              <a:lnSpc>
                <a:spcPct val="110000"/>
              </a:lnSpc>
              <a:spcBef>
                <a:spcPts val="0"/>
              </a:spcBef>
              <a:spcAft>
                <a:spcPts val="0"/>
              </a:spcAft>
            </a:pPr>
            <a:r>
              <a:rPr sz="1220" b="0">
                <a:solidFill>
                  <a:srgbClr val="16303A"/>
                </a:solidFill>
                <a:latin typeface="Consolas"/>
              </a:rPr>
              <a:t>alpha        105.00  104.771  104.767  104.767  104.765  104.756  104.771</a:t>
            </a:r>
          </a:p>
          <a:p>
            <a:pPr>
              <a:lnSpc>
                <a:spcPct val="110000"/>
              </a:lnSpc>
              <a:spcBef>
                <a:spcPts val="0"/>
              </a:spcBef>
              <a:spcAft>
                <a:spcPts val="0"/>
              </a:spcAft>
            </a:pPr>
            <a:r>
              <a:rPr sz="1220" b="0">
                <a:solidFill>
                  <a:srgbClr val="16303A"/>
                </a:solidFill>
                <a:latin typeface="Consolas"/>
              </a:rPr>
              <a:t>beta         -27.50 -27.618  -27.616  -27.613  -27.612  -27.604  -27.618</a:t>
            </a:r>
          </a:p>
          <a:p>
            <a:pPr>
              <a:lnSpc>
                <a:spcPct val="110000"/>
              </a:lnSpc>
              <a:spcBef>
                <a:spcPts val="0"/>
              </a:spcBef>
              <a:spcAft>
                <a:spcPts val="0"/>
              </a:spcAft>
            </a:pPr>
            <a:r>
              <a:rPr sz="1220" b="0">
                <a:solidFill>
                  <a:srgbClr val="16303A"/>
                </a:solidFill>
                <a:latin typeface="Consolas"/>
              </a:rPr>
              <a:t>sigma          2.75   2.772    2.805    2.812    2.813    2.755    2.744</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この表は原著6.2.8の掲載値。ベイズ系は事後平均、頻度論系は推定値を比較している。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αとβは各エンジンでほぼ一致する。σは事前分布や推定基準により僅かな差がある。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DIY・TMBはlogσを最適化した後、指数関数で変換して比較している。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本章の狙いは「別のコード形式でも同じ統計モデルを実装できる」という理解にある。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20/34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  不等分散モデル：何が変更されるか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Comparing two groups with unequal variances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雌： y₁ᵢ ~ Normal(μ₁, σ₁²)</a:t>
            </a:r>
          </a:p>
          <a:p>
            <a:pPr>
              <a:lnSpc>
                <a:spcPct val="110000"/>
              </a:lnSpc>
              <a:spcBef>
                <a:spcPts val="0"/>
              </a:spcBef>
              <a:spcAft>
                <a:spcPts val="0"/>
              </a:spcAft>
            </a:pPr>
            <a:r>
              <a:rPr sz="1400" b="0">
                <a:solidFill>
                  <a:srgbClr val="16303A"/>
                </a:solidFill>
                <a:latin typeface="Consolas"/>
              </a:rPr>
              <a:t>雄： y₂ⱼ ~ Normal(μ₂, σ₂²)</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δ = μ₂ − μ₁</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未知パラメータ：μ₁, μ₂, σ₁, σ₂</a:t>
            </a:r>
          </a:p>
          <a:p>
            <a:pPr>
              <a:lnSpc>
                <a:spcPct val="110000"/>
              </a:lnSpc>
              <a:spcBef>
                <a:spcPts val="0"/>
              </a:spcBef>
              <a:spcAft>
                <a:spcPts val="0"/>
              </a:spcAft>
            </a:pPr>
            <a:r>
              <a:rPr sz="1400" b="0">
                <a:solidFill>
                  <a:srgbClr val="16303A"/>
                </a:solidFill>
                <a:latin typeface="Consolas"/>
              </a:rPr>
              <a:t>δは平均差として計算する派生量</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等分散モデルのσをσ₁（雌）とσ₂（雄）に分け、群平均μ₁・μ₂を直接推定する。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これは第4章の「平均モデル」を群ごとに2つ組み合わせる形。残差の分散が群によって違ってよい。</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δ=μ₂−μ₁は性差を表すための派生量。JAGS・NIMBLE・Stan・TMBで計算する。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等分散モデルのα・βと不等分散モデルのμ₁・μ₂はパラメータ化が異なるため名前を合わせて比較する。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21/34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6.3.1  不等分散データ生成とWelch検定</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Data generation and frequentist analysis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set.seed(63)</a:t>
            </a:r>
          </a:p>
          <a:p>
            <a:pPr>
              <a:lnSpc>
                <a:spcPct val="110000"/>
              </a:lnSpc>
              <a:spcBef>
                <a:spcPts val="0"/>
              </a:spcBef>
              <a:spcAft>
                <a:spcPts val="0"/>
              </a:spcAft>
            </a:pPr>
            <a:r>
              <a:rPr sz="1400" b="0">
                <a:solidFill>
                  <a:srgbClr val="16303A"/>
                </a:solidFill>
                <a:latin typeface="Consolas"/>
              </a:rPr>
              <a:t>n1 &lt;- 60; n2 &lt;- 40</a:t>
            </a:r>
          </a:p>
          <a:p>
            <a:pPr>
              <a:lnSpc>
                <a:spcPct val="110000"/>
              </a:lnSpc>
              <a:spcBef>
                <a:spcPts val="0"/>
              </a:spcBef>
              <a:spcAft>
                <a:spcPts val="0"/>
              </a:spcAft>
            </a:pPr>
            <a:r>
              <a:rPr sz="1400" b="0">
                <a:solidFill>
                  <a:srgbClr val="16303A"/>
                </a:solidFill>
                <a:latin typeface="Consolas"/>
              </a:rPr>
              <a:t>mu1 &lt;- 105; mu2 &lt;- 77.5</a:t>
            </a:r>
          </a:p>
          <a:p>
            <a:pPr>
              <a:lnSpc>
                <a:spcPct val="110000"/>
              </a:lnSpc>
              <a:spcBef>
                <a:spcPts val="0"/>
              </a:spcBef>
              <a:spcAft>
                <a:spcPts val="0"/>
              </a:spcAft>
            </a:pPr>
            <a:r>
              <a:rPr sz="1400" b="0">
                <a:solidFill>
                  <a:srgbClr val="16303A"/>
                </a:solidFill>
                <a:latin typeface="Consolas"/>
              </a:rPr>
              <a:t>sigma1 &lt;- 3; sigma2 &lt;- 2.5</a:t>
            </a:r>
          </a:p>
          <a:p>
            <a:pPr>
              <a:lnSpc>
                <a:spcPct val="110000"/>
              </a:lnSpc>
              <a:spcBef>
                <a:spcPts val="0"/>
              </a:spcBef>
              <a:spcAft>
                <a:spcPts val="0"/>
              </a:spcAft>
            </a:pPr>
            <a:r>
              <a:rPr sz="1400" b="0">
                <a:solidFill>
                  <a:srgbClr val="16303A"/>
                </a:solidFill>
                <a:latin typeface="Consolas"/>
              </a:rPr>
              <a:t>y1 &lt;- rnorm(n1, mu1, sigma1)</a:t>
            </a:r>
          </a:p>
          <a:p>
            <a:pPr>
              <a:lnSpc>
                <a:spcPct val="110000"/>
              </a:lnSpc>
              <a:spcBef>
                <a:spcPts val="0"/>
              </a:spcBef>
              <a:spcAft>
                <a:spcPts val="0"/>
              </a:spcAft>
            </a:pPr>
            <a:r>
              <a:rPr sz="1400" b="0">
                <a:solidFill>
                  <a:srgbClr val="16303A"/>
                </a:solidFill>
                <a:latin typeface="Consolas"/>
              </a:rPr>
              <a:t>y2 &lt;- rnorm(n2, mu2, sigma2)</a:t>
            </a:r>
          </a:p>
          <a:p>
            <a:pPr>
              <a:lnSpc>
                <a:spcPct val="110000"/>
              </a:lnSpc>
              <a:spcBef>
                <a:spcPts val="0"/>
              </a:spcBef>
              <a:spcAft>
                <a:spcPts val="0"/>
              </a:spcAft>
            </a:pPr>
            <a:r>
              <a:rPr sz="1400" b="0">
                <a:solidFill>
                  <a:srgbClr val="16303A"/>
                </a:solidFill>
                <a:latin typeface="Consolas"/>
              </a:rPr>
              <a:t>y &lt;- c(y1,y2)</a:t>
            </a:r>
          </a:p>
          <a:p>
            <a:pPr>
              <a:lnSpc>
                <a:spcPct val="110000"/>
              </a:lnSpc>
              <a:spcBef>
                <a:spcPts val="0"/>
              </a:spcBef>
              <a:spcAft>
                <a:spcPts val="0"/>
              </a:spcAft>
            </a:pPr>
            <a:r>
              <a:rPr sz="1400" b="0">
                <a:solidFill>
                  <a:srgbClr val="16303A"/>
                </a:solidFill>
                <a:latin typeface="Consolas"/>
              </a:rPr>
              <a:t>x &lt;- rep(c(0,1), c(n1,n2))</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out6.3.2 &lt;- t.test(y ~ x)</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雌60羽はσ₁=3、雄40羽はσ₂=2.5として別の正規分布から発生させる。母平均は6.2と同じ。</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Rのt.testのデフォルトはvar.equal=FALSEでWelchの2標本t検定となる。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Welch検定は群の分散の等しさを仮定せず、平均差について推論する。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原著のWelch推定平均は雌104.962、雄77.355、p&lt;2.2×10⁻¹⁶。</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22/34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6.3.3  不等分散JAGS①：2本の尤度</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JAGS | two groups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model {</a:t>
            </a:r>
          </a:p>
          <a:p>
            <a:pPr>
              <a:lnSpc>
                <a:spcPct val="110000"/>
              </a:lnSpc>
              <a:spcBef>
                <a:spcPts val="0"/>
              </a:spcBef>
              <a:spcAft>
                <a:spcPts val="0"/>
              </a:spcAft>
            </a:pPr>
            <a:r>
              <a:rPr sz="1400" b="0">
                <a:solidFill>
                  <a:srgbClr val="16303A"/>
                </a:solidFill>
                <a:latin typeface="Consolas"/>
              </a:rPr>
              <a:t>  mu1 ~ dnorm(0, 0.0001)</a:t>
            </a:r>
          </a:p>
          <a:p>
            <a:pPr>
              <a:lnSpc>
                <a:spcPct val="110000"/>
              </a:lnSpc>
              <a:spcBef>
                <a:spcPts val="0"/>
              </a:spcBef>
              <a:spcAft>
                <a:spcPts val="0"/>
              </a:spcAft>
            </a:pPr>
            <a:r>
              <a:rPr sz="1400" b="0">
                <a:solidFill>
                  <a:srgbClr val="16303A"/>
                </a:solidFill>
                <a:latin typeface="Consolas"/>
              </a:rPr>
              <a:t>  mu2 ~ dnorm(0, 0.0001)</a:t>
            </a:r>
          </a:p>
          <a:p>
            <a:pPr>
              <a:lnSpc>
                <a:spcPct val="110000"/>
              </a:lnSpc>
              <a:spcBef>
                <a:spcPts val="0"/>
              </a:spcBef>
              <a:spcAft>
                <a:spcPts val="0"/>
              </a:spcAft>
            </a:pPr>
            <a:r>
              <a:rPr sz="1400" b="0">
                <a:solidFill>
                  <a:srgbClr val="16303A"/>
                </a:solidFill>
                <a:latin typeface="Consolas"/>
              </a:rPr>
              <a:t>  tau1 &lt;- pow(sigma1,-2)</a:t>
            </a:r>
          </a:p>
          <a:p>
            <a:pPr>
              <a:lnSpc>
                <a:spcPct val="110000"/>
              </a:lnSpc>
              <a:spcBef>
                <a:spcPts val="0"/>
              </a:spcBef>
              <a:spcAft>
                <a:spcPts val="0"/>
              </a:spcAft>
            </a:pPr>
            <a:r>
              <a:rPr sz="1400" b="0">
                <a:solidFill>
                  <a:srgbClr val="16303A"/>
                </a:solidFill>
                <a:latin typeface="Consolas"/>
              </a:rPr>
              <a:t>  tau2 &lt;- pow(sigma2,-2)</a:t>
            </a:r>
          </a:p>
          <a:p>
            <a:pPr>
              <a:lnSpc>
                <a:spcPct val="110000"/>
              </a:lnSpc>
              <a:spcBef>
                <a:spcPts val="0"/>
              </a:spcBef>
              <a:spcAft>
                <a:spcPts val="0"/>
              </a:spcAft>
            </a:pPr>
            <a:r>
              <a:rPr sz="1400" b="0">
                <a:solidFill>
                  <a:srgbClr val="16303A"/>
                </a:solidFill>
                <a:latin typeface="Consolas"/>
              </a:rPr>
              <a:t>  sigma1 ~ dunif(0,1000)</a:t>
            </a:r>
          </a:p>
          <a:p>
            <a:pPr>
              <a:lnSpc>
                <a:spcPct val="110000"/>
              </a:lnSpc>
              <a:spcBef>
                <a:spcPts val="0"/>
              </a:spcBef>
              <a:spcAft>
                <a:spcPts val="0"/>
              </a:spcAft>
            </a:pPr>
            <a:r>
              <a:rPr sz="1400" b="0">
                <a:solidFill>
                  <a:srgbClr val="16303A"/>
                </a:solidFill>
                <a:latin typeface="Consolas"/>
              </a:rPr>
              <a:t>  sigma2 ~ dunif(0,1000)</a:t>
            </a:r>
          </a:p>
          <a:p>
            <a:pPr>
              <a:lnSpc>
                <a:spcPct val="110000"/>
              </a:lnSpc>
              <a:spcBef>
                <a:spcPts val="0"/>
              </a:spcBef>
              <a:spcAft>
                <a:spcPts val="0"/>
              </a:spcAft>
            </a:pPr>
            <a:r>
              <a:rPr sz="1400" b="0">
                <a:solidFill>
                  <a:srgbClr val="16303A"/>
                </a:solidFill>
                <a:latin typeface="Consolas"/>
              </a:rPr>
              <a:t>  for(i in 1:n1){ y1[i] ~ dnorm(mu1,tau1) }</a:t>
            </a:r>
          </a:p>
          <a:p>
            <a:pPr>
              <a:lnSpc>
                <a:spcPct val="110000"/>
              </a:lnSpc>
              <a:spcBef>
                <a:spcPts val="0"/>
              </a:spcBef>
              <a:spcAft>
                <a:spcPts val="0"/>
              </a:spcAft>
            </a:pPr>
            <a:r>
              <a:rPr sz="1400" b="0">
                <a:solidFill>
                  <a:srgbClr val="16303A"/>
                </a:solidFill>
                <a:latin typeface="Consolas"/>
              </a:rPr>
              <a:t>  for(i in 1:n2){ y2[i] ~ dnorm(mu2,tau2) }</a:t>
            </a:r>
          </a:p>
          <a:p>
            <a:pPr>
              <a:lnSpc>
                <a:spcPct val="110000"/>
              </a:lnSpc>
              <a:spcBef>
                <a:spcPts val="0"/>
              </a:spcBef>
              <a:spcAft>
                <a:spcPts val="0"/>
              </a:spcAft>
            </a:pPr>
            <a:r>
              <a:rPr sz="1400" b="0">
                <a:solidFill>
                  <a:srgbClr val="16303A"/>
                </a:solidFill>
                <a:latin typeface="Consolas"/>
              </a:rPr>
              <a:t>  delta &lt;- mu2 - mu1</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雌と雄の平均μ₁・μ₂に別々の事前分布、標準偏差σ₁・σ₂にも別々の事前分布を与える。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観測尤度は群ごとにforループを分ける。各群では対応するμとτを使い、分布の独立性を仮定する。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JAGSの精度パラメータτ₁=1/σ₁²、τ₂=1/σ₂²を個別に定義する。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deltaはμ₂−μ₁という決定論的な派生量で、平均差の事後分布を取得できる。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23/34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6.3.3  不等分散JAGS②：実行と標準偏差差</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JAGS | diagnostics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dataList &lt;- list(y1=y1,y2=y2,</a:t>
            </a:r>
          </a:p>
          <a:p>
            <a:pPr>
              <a:lnSpc>
                <a:spcPct val="110000"/>
              </a:lnSpc>
              <a:spcBef>
                <a:spcPts val="0"/>
              </a:spcBef>
              <a:spcAft>
                <a:spcPts val="0"/>
              </a:spcAft>
            </a:pPr>
            <a:r>
              <a:rPr sz="1400" b="0">
                <a:solidFill>
                  <a:srgbClr val="16303A"/>
                </a:solidFill>
                <a:latin typeface="Consolas"/>
              </a:rPr>
              <a:t>                 n1=n1,n2=n2)</a:t>
            </a:r>
          </a:p>
          <a:p>
            <a:pPr>
              <a:lnSpc>
                <a:spcPct val="110000"/>
              </a:lnSpc>
              <a:spcBef>
                <a:spcPts val="0"/>
              </a:spcBef>
              <a:spcAft>
                <a:spcPts val="0"/>
              </a:spcAft>
            </a:pPr>
            <a:r>
              <a:rPr sz="1400" b="0">
                <a:solidFill>
                  <a:srgbClr val="16303A"/>
                </a:solidFill>
                <a:latin typeface="Consolas"/>
              </a:rPr>
              <a:t>params &lt;- c("mu1","mu2","delta",</a:t>
            </a:r>
          </a:p>
          <a:p>
            <a:pPr>
              <a:lnSpc>
                <a:spcPct val="110000"/>
              </a:lnSpc>
              <a:spcBef>
                <a:spcPts val="0"/>
              </a:spcBef>
              <a:spcAft>
                <a:spcPts val="0"/>
              </a:spcAft>
            </a:pPr>
            <a:r>
              <a:rPr sz="1400" b="0">
                <a:solidFill>
                  <a:srgbClr val="16303A"/>
                </a:solidFill>
                <a:latin typeface="Consolas"/>
              </a:rPr>
              <a:t>            "sigma1","sigma2")</a:t>
            </a:r>
          </a:p>
          <a:p>
            <a:pPr>
              <a:lnSpc>
                <a:spcPct val="110000"/>
              </a:lnSpc>
              <a:spcBef>
                <a:spcPts val="0"/>
              </a:spcBef>
              <a:spcAft>
                <a:spcPts val="0"/>
              </a:spcAft>
            </a:pPr>
            <a:r>
              <a:rPr sz="1400" b="0">
                <a:solidFill>
                  <a:srgbClr val="16303A"/>
                </a:solidFill>
                <a:latin typeface="Consolas"/>
              </a:rPr>
              <a:t>out6.3.3 &lt;- jags(</a:t>
            </a:r>
          </a:p>
          <a:p>
            <a:pPr>
              <a:lnSpc>
                <a:spcPct val="110000"/>
              </a:lnSpc>
              <a:spcBef>
                <a:spcPts val="0"/>
              </a:spcBef>
              <a:spcAft>
                <a:spcPts val="0"/>
              </a:spcAft>
            </a:pPr>
            <a:r>
              <a:rPr sz="1400" b="0">
                <a:solidFill>
                  <a:srgbClr val="16303A"/>
                </a:solidFill>
                <a:latin typeface="Consolas"/>
              </a:rPr>
              <a:t> data=dataList, inits=inits,</a:t>
            </a:r>
          </a:p>
          <a:p>
            <a:pPr>
              <a:lnSpc>
                <a:spcPct val="110000"/>
              </a:lnSpc>
              <a:spcBef>
                <a:spcPts val="0"/>
              </a:spcBef>
              <a:spcAft>
                <a:spcPts val="0"/>
              </a:spcAft>
            </a:pPr>
            <a:r>
              <a:rPr sz="1400" b="0">
                <a:solidFill>
                  <a:srgbClr val="16303A"/>
                </a:solidFill>
                <a:latin typeface="Consolas"/>
              </a:rPr>
              <a:t> parameters.to.save=params,</a:t>
            </a:r>
          </a:p>
          <a:p>
            <a:pPr>
              <a:lnSpc>
                <a:spcPct val="110000"/>
              </a:lnSpc>
              <a:spcBef>
                <a:spcPts val="0"/>
              </a:spcBef>
              <a:spcAft>
                <a:spcPts val="0"/>
              </a:spcAft>
            </a:pPr>
            <a:r>
              <a:rPr sz="1400" b="0">
                <a:solidFill>
                  <a:srgbClr val="16303A"/>
                </a:solidFill>
                <a:latin typeface="Consolas"/>
              </a:rPr>
              <a:t> model.file="model6.3.3.txt",</a:t>
            </a:r>
          </a:p>
          <a:p>
            <a:pPr>
              <a:lnSpc>
                <a:spcPct val="110000"/>
              </a:lnSpc>
              <a:spcBef>
                <a:spcPts val="0"/>
              </a:spcBef>
              <a:spcAft>
                <a:spcPts val="0"/>
              </a:spcAft>
            </a:pPr>
            <a:r>
              <a:rPr sz="1400" b="0">
                <a:solidFill>
                  <a:srgbClr val="16303A"/>
                </a:solidFill>
                <a:latin typeface="Consolas"/>
              </a:rPr>
              <a:t> n.iter=ni, n.burnin=nb,</a:t>
            </a:r>
          </a:p>
          <a:p>
            <a:pPr>
              <a:lnSpc>
                <a:spcPct val="110000"/>
              </a:lnSpc>
              <a:spcBef>
                <a:spcPts val="0"/>
              </a:spcBef>
              <a:spcAft>
                <a:spcPts val="0"/>
              </a:spcAft>
            </a:pPr>
            <a:r>
              <a:rPr sz="1400" b="0">
                <a:solidFill>
                  <a:srgbClr val="16303A"/>
                </a:solidFill>
                <a:latin typeface="Consolas"/>
              </a:rPr>
              <a:t> n.chains=nc, n.thin=nt, n.adapt=na)</a:t>
            </a:r>
          </a:p>
          <a:p>
            <a:pPr>
              <a:lnSpc>
                <a:spcPct val="110000"/>
              </a:lnSpc>
              <a:spcBef>
                <a:spcPts val="0"/>
              </a:spcBef>
              <a:spcAft>
                <a:spcPts val="0"/>
              </a:spcAft>
            </a:pPr>
            <a:r>
              <a:rPr sz="1400" b="0">
                <a:solidFill>
                  <a:srgbClr val="16303A"/>
                </a:solidFill>
                <a:latin typeface="Consolas"/>
              </a:rPr>
              <a:t>samps &lt;- as.matrix(out6.3.3$samples)</a:t>
            </a:r>
          </a:p>
          <a:p>
            <a:pPr>
              <a:lnSpc>
                <a:spcPct val="110000"/>
              </a:lnSpc>
              <a:spcBef>
                <a:spcPts val="0"/>
              </a:spcBef>
              <a:spcAft>
                <a:spcPts val="0"/>
              </a:spcAft>
            </a:pPr>
            <a:r>
              <a:rPr sz="1400" b="0">
                <a:solidFill>
                  <a:srgbClr val="16303A"/>
                </a:solidFill>
                <a:latin typeface="Consolas"/>
              </a:rPr>
              <a:t>quantile(samps[,"sigma2"]-samps[,"sigma1"],</a:t>
            </a:r>
          </a:p>
          <a:p>
            <a:pPr>
              <a:lnSpc>
                <a:spcPct val="110000"/>
              </a:lnSpc>
              <a:spcBef>
                <a:spcPts val="0"/>
              </a:spcBef>
              <a:spcAft>
                <a:spcPts val="0"/>
              </a:spcAft>
            </a:pPr>
            <a:r>
              <a:rPr sz="1400" b="0">
                <a:solidFill>
                  <a:srgbClr val="16303A"/>
                </a:solidFill>
                <a:latin typeface="Consolas"/>
              </a:rPr>
              <a:t>         c(0.025,0.975))</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データリストを2群に分割して渡す。μ₁・μ₂・δ・σ₁・σ₂が事後分布として保存される。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各MCMC標本でσ₂−σ₁を計算することで、群間の標準偏差差の信用区間を後から構成できる。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原著のσ₂−σ₁の95%信用区間は約[−1.556, 0.101]で0を含み、分散差の強い根拠とはならない。</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平均差δの事後95%信用区間は約[−28.740, −26.469]で0を含まない。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24/34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6.3.4  不等分散NIMBLE：2群のモデルと実行</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NIMBLE</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model63.4 &lt;- nimbleCode({</a:t>
            </a:r>
          </a:p>
          <a:p>
            <a:pPr>
              <a:lnSpc>
                <a:spcPct val="110000"/>
              </a:lnSpc>
              <a:spcBef>
                <a:spcPts val="0"/>
              </a:spcBef>
              <a:spcAft>
                <a:spcPts val="0"/>
              </a:spcAft>
            </a:pPr>
            <a:r>
              <a:rPr sz="1220" b="0">
                <a:solidFill>
                  <a:srgbClr val="16303A"/>
                </a:solidFill>
                <a:latin typeface="Consolas"/>
              </a:rPr>
              <a:t> mu1 ~ dnorm(0,0.0001)</a:t>
            </a:r>
          </a:p>
          <a:p>
            <a:pPr>
              <a:lnSpc>
                <a:spcPct val="110000"/>
              </a:lnSpc>
              <a:spcBef>
                <a:spcPts val="0"/>
              </a:spcBef>
              <a:spcAft>
                <a:spcPts val="0"/>
              </a:spcAft>
            </a:pPr>
            <a:r>
              <a:rPr sz="1220" b="0">
                <a:solidFill>
                  <a:srgbClr val="16303A"/>
                </a:solidFill>
                <a:latin typeface="Consolas"/>
              </a:rPr>
              <a:t> mu2 ~ dnorm(0,0.0001)</a:t>
            </a:r>
          </a:p>
          <a:p>
            <a:pPr>
              <a:lnSpc>
                <a:spcPct val="110000"/>
              </a:lnSpc>
              <a:spcBef>
                <a:spcPts val="0"/>
              </a:spcBef>
              <a:spcAft>
                <a:spcPts val="0"/>
              </a:spcAft>
            </a:pPr>
            <a:r>
              <a:rPr sz="1220" b="0">
                <a:solidFill>
                  <a:srgbClr val="16303A"/>
                </a:solidFill>
                <a:latin typeface="Consolas"/>
              </a:rPr>
              <a:t> tau1 &lt;- pow(sigma1,-2)</a:t>
            </a:r>
          </a:p>
          <a:p>
            <a:pPr>
              <a:lnSpc>
                <a:spcPct val="110000"/>
              </a:lnSpc>
              <a:spcBef>
                <a:spcPts val="0"/>
              </a:spcBef>
              <a:spcAft>
                <a:spcPts val="0"/>
              </a:spcAft>
            </a:pPr>
            <a:r>
              <a:rPr sz="1220" b="0">
                <a:solidFill>
                  <a:srgbClr val="16303A"/>
                </a:solidFill>
                <a:latin typeface="Consolas"/>
              </a:rPr>
              <a:t> tau2 &lt;- pow(sigma2,-2)</a:t>
            </a:r>
          </a:p>
          <a:p>
            <a:pPr>
              <a:lnSpc>
                <a:spcPct val="110000"/>
              </a:lnSpc>
              <a:spcBef>
                <a:spcPts val="0"/>
              </a:spcBef>
              <a:spcAft>
                <a:spcPts val="0"/>
              </a:spcAft>
            </a:pPr>
            <a:r>
              <a:rPr sz="1220" b="0">
                <a:solidFill>
                  <a:srgbClr val="16303A"/>
                </a:solidFill>
                <a:latin typeface="Consolas"/>
              </a:rPr>
              <a:t> sigma1 ~ dunif(0,1000)</a:t>
            </a:r>
          </a:p>
          <a:p>
            <a:pPr>
              <a:lnSpc>
                <a:spcPct val="110000"/>
              </a:lnSpc>
              <a:spcBef>
                <a:spcPts val="0"/>
              </a:spcBef>
              <a:spcAft>
                <a:spcPts val="0"/>
              </a:spcAft>
            </a:pPr>
            <a:r>
              <a:rPr sz="1220" b="0">
                <a:solidFill>
                  <a:srgbClr val="16303A"/>
                </a:solidFill>
                <a:latin typeface="Consolas"/>
              </a:rPr>
              <a:t> sigma2 ~ dunif(0,1000)</a:t>
            </a:r>
          </a:p>
          <a:p>
            <a:pPr>
              <a:lnSpc>
                <a:spcPct val="110000"/>
              </a:lnSpc>
              <a:spcBef>
                <a:spcPts val="0"/>
              </a:spcBef>
              <a:spcAft>
                <a:spcPts val="0"/>
              </a:spcAft>
            </a:pPr>
            <a:r>
              <a:rPr sz="1220" b="0">
                <a:solidFill>
                  <a:srgbClr val="16303A"/>
                </a:solidFill>
                <a:latin typeface="Consolas"/>
              </a:rPr>
              <a:t> for(i in 1:n1) y1[i] ~ dnorm(mu1,tau1)</a:t>
            </a:r>
          </a:p>
          <a:p>
            <a:pPr>
              <a:lnSpc>
                <a:spcPct val="110000"/>
              </a:lnSpc>
              <a:spcBef>
                <a:spcPts val="0"/>
              </a:spcBef>
              <a:spcAft>
                <a:spcPts val="0"/>
              </a:spcAft>
            </a:pPr>
            <a:r>
              <a:rPr sz="1220" b="0">
                <a:solidFill>
                  <a:srgbClr val="16303A"/>
                </a:solidFill>
                <a:latin typeface="Consolas"/>
              </a:rPr>
              <a:t> for(i in 1:n2) y2[i] ~ dnorm(mu2,tau2)</a:t>
            </a:r>
          </a:p>
          <a:p>
            <a:pPr>
              <a:lnSpc>
                <a:spcPct val="110000"/>
              </a:lnSpc>
              <a:spcBef>
                <a:spcPts val="0"/>
              </a:spcBef>
              <a:spcAft>
                <a:spcPts val="0"/>
              </a:spcAft>
            </a:pPr>
            <a:r>
              <a:rPr sz="1220" b="0">
                <a:solidFill>
                  <a:srgbClr val="16303A"/>
                </a:solidFill>
                <a:latin typeface="Consolas"/>
              </a:rPr>
              <a:t> delta &lt;- mu2 - mu1</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out6.3.4 &lt;- nimbleMCMC(</a:t>
            </a:r>
          </a:p>
          <a:p>
            <a:pPr>
              <a:lnSpc>
                <a:spcPct val="110000"/>
              </a:lnSpc>
              <a:spcBef>
                <a:spcPts val="0"/>
              </a:spcBef>
              <a:spcAft>
                <a:spcPts val="0"/>
              </a:spcAft>
            </a:pPr>
            <a:r>
              <a:rPr sz="1220" b="0">
                <a:solidFill>
                  <a:srgbClr val="16303A"/>
                </a:solidFill>
                <a:latin typeface="Consolas"/>
              </a:rPr>
              <a:t> code=model63.4, constants=dataList,</a:t>
            </a:r>
          </a:p>
          <a:p>
            <a:pPr>
              <a:lnSpc>
                <a:spcPct val="110000"/>
              </a:lnSpc>
              <a:spcBef>
                <a:spcPts val="0"/>
              </a:spcBef>
              <a:spcAft>
                <a:spcPts val="0"/>
              </a:spcAft>
            </a:pPr>
            <a:r>
              <a:rPr sz="1220" b="0">
                <a:solidFill>
                  <a:srgbClr val="16303A"/>
                </a:solidFill>
                <a:latin typeface="Consolas"/>
              </a:rPr>
              <a:t> inits=inits, monitors=params, ...)</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構造はJAGSと同じで、各群が独立の平均と精度を持つ。deltaは推定した平均から作る。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nimbleCodeでモデルをR内に定義し、nimbleMCMCでサンプリングする2段階を確認する。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この第6章コードでは精度τを使うため、JAGSのdnorm指定と直接比較できる。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原著のNIMBLE推定値はμ₁≈104.99、μ₂≈77.36、σ₁≈3.19、σ₂≈2.45。</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25/34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6.3.5  不等分散Stan①：4パラメータ・2群尤度</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Stan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data {</a:t>
            </a:r>
          </a:p>
          <a:p>
            <a:pPr>
              <a:lnSpc>
                <a:spcPct val="110000"/>
              </a:lnSpc>
              <a:spcBef>
                <a:spcPts val="0"/>
              </a:spcBef>
              <a:spcAft>
                <a:spcPts val="0"/>
              </a:spcAft>
            </a:pPr>
            <a:r>
              <a:rPr sz="1220" b="0">
                <a:solidFill>
                  <a:srgbClr val="16303A"/>
                </a:solidFill>
                <a:latin typeface="Consolas"/>
              </a:rPr>
              <a:t>  int n1; int n2;</a:t>
            </a:r>
          </a:p>
          <a:p>
            <a:pPr>
              <a:lnSpc>
                <a:spcPct val="110000"/>
              </a:lnSpc>
              <a:spcBef>
                <a:spcPts val="0"/>
              </a:spcBef>
              <a:spcAft>
                <a:spcPts val="0"/>
              </a:spcAft>
            </a:pPr>
            <a:r>
              <a:rPr sz="1220" b="0">
                <a:solidFill>
                  <a:srgbClr val="16303A"/>
                </a:solidFill>
                <a:latin typeface="Consolas"/>
              </a:rPr>
              <a:t>  vector[n1] y1;</a:t>
            </a:r>
          </a:p>
          <a:p>
            <a:pPr>
              <a:lnSpc>
                <a:spcPct val="110000"/>
              </a:lnSpc>
              <a:spcBef>
                <a:spcPts val="0"/>
              </a:spcBef>
              <a:spcAft>
                <a:spcPts val="0"/>
              </a:spcAft>
            </a:pPr>
            <a:r>
              <a:rPr sz="1220" b="0">
                <a:solidFill>
                  <a:srgbClr val="16303A"/>
                </a:solidFill>
                <a:latin typeface="Consolas"/>
              </a:rPr>
              <a:t>  vector[n2] y2;</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parameters {</a:t>
            </a:r>
          </a:p>
          <a:p>
            <a:pPr>
              <a:lnSpc>
                <a:spcPct val="110000"/>
              </a:lnSpc>
              <a:spcBef>
                <a:spcPts val="0"/>
              </a:spcBef>
              <a:spcAft>
                <a:spcPts val="0"/>
              </a:spcAft>
            </a:pPr>
            <a:r>
              <a:rPr sz="1220" b="0">
                <a:solidFill>
                  <a:srgbClr val="16303A"/>
                </a:solidFill>
                <a:latin typeface="Consolas"/>
              </a:rPr>
              <a:t>  real mu1; real mu2;</a:t>
            </a:r>
          </a:p>
          <a:p>
            <a:pPr>
              <a:lnSpc>
                <a:spcPct val="110000"/>
              </a:lnSpc>
              <a:spcBef>
                <a:spcPts val="0"/>
              </a:spcBef>
              <a:spcAft>
                <a:spcPts val="0"/>
              </a:spcAft>
            </a:pPr>
            <a:r>
              <a:rPr sz="1220" b="0">
                <a:solidFill>
                  <a:srgbClr val="16303A"/>
                </a:solidFill>
                <a:latin typeface="Consolas"/>
              </a:rPr>
              <a:t>  real&lt;lower=0&gt; sigma1;</a:t>
            </a:r>
          </a:p>
          <a:p>
            <a:pPr>
              <a:lnSpc>
                <a:spcPct val="110000"/>
              </a:lnSpc>
              <a:spcBef>
                <a:spcPts val="0"/>
              </a:spcBef>
              <a:spcAft>
                <a:spcPts val="0"/>
              </a:spcAft>
            </a:pPr>
            <a:r>
              <a:rPr sz="1220" b="0">
                <a:solidFill>
                  <a:srgbClr val="16303A"/>
                </a:solidFill>
                <a:latin typeface="Consolas"/>
              </a:rPr>
              <a:t>  real&lt;lower=0&gt; sigma2;</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model {</a:t>
            </a:r>
          </a:p>
          <a:p>
            <a:pPr>
              <a:lnSpc>
                <a:spcPct val="110000"/>
              </a:lnSpc>
              <a:spcBef>
                <a:spcPts val="0"/>
              </a:spcBef>
              <a:spcAft>
                <a:spcPts val="0"/>
              </a:spcAft>
            </a:pPr>
            <a:r>
              <a:rPr sz="1220" b="0">
                <a:solidFill>
                  <a:srgbClr val="16303A"/>
                </a:solidFill>
                <a:latin typeface="Consolas"/>
              </a:rPr>
              <a:t>  y1 ~ normal(mu1,sigma1);</a:t>
            </a:r>
          </a:p>
          <a:p>
            <a:pPr>
              <a:lnSpc>
                <a:spcPct val="110000"/>
              </a:lnSpc>
              <a:spcBef>
                <a:spcPts val="0"/>
              </a:spcBef>
              <a:spcAft>
                <a:spcPts val="0"/>
              </a:spcAft>
            </a:pPr>
            <a:r>
              <a:rPr sz="1220" b="0">
                <a:solidFill>
                  <a:srgbClr val="16303A"/>
                </a:solidFill>
                <a:latin typeface="Consolas"/>
              </a:rPr>
              <a:t>  y2 ~ normal(mu2,sigma2);</a:t>
            </a:r>
          </a:p>
          <a:p>
            <a:pPr>
              <a:lnSpc>
                <a:spcPct val="110000"/>
              </a:lnSpc>
              <a:spcBef>
                <a:spcPts val="0"/>
              </a:spcBef>
              <a:spcAft>
                <a:spcPts val="0"/>
              </a:spcAft>
            </a:pPr>
            <a:r>
              <a:rPr sz="122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dataには各群の標本数と観測ベクトルを分けて宣言する。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parametersにはμ₁・μ₂・σ₁・σ₂を宣言。各sigmaは0以上に制約する。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2つのベクトル化尤度が独立な2群の対数尤度をStan内部で合計する。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JAGS/NIMBLEと異なりStanのnormalの第2引数は標準偏差σ。</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26/34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6.3.5  不等分散Stan②：事前分布とdelta</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Bayesian analysis with Stan | generated quantities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220" b="0">
                <a:solidFill>
                  <a:srgbClr val="16303A"/>
                </a:solidFill>
                <a:latin typeface="Consolas"/>
              </a:rPr>
              <a:t>model {</a:t>
            </a:r>
          </a:p>
          <a:p>
            <a:pPr>
              <a:lnSpc>
                <a:spcPct val="110000"/>
              </a:lnSpc>
              <a:spcBef>
                <a:spcPts val="0"/>
              </a:spcBef>
              <a:spcAft>
                <a:spcPts val="0"/>
              </a:spcAft>
            </a:pPr>
            <a:r>
              <a:rPr sz="1220" b="0">
                <a:solidFill>
                  <a:srgbClr val="16303A"/>
                </a:solidFill>
                <a:latin typeface="Consolas"/>
              </a:rPr>
              <a:t> mu1 ~ normal(0,100);</a:t>
            </a:r>
          </a:p>
          <a:p>
            <a:pPr>
              <a:lnSpc>
                <a:spcPct val="110000"/>
              </a:lnSpc>
              <a:spcBef>
                <a:spcPts val="0"/>
              </a:spcBef>
              <a:spcAft>
                <a:spcPts val="0"/>
              </a:spcAft>
            </a:pPr>
            <a:r>
              <a:rPr sz="1220" b="0">
                <a:solidFill>
                  <a:srgbClr val="16303A"/>
                </a:solidFill>
                <a:latin typeface="Consolas"/>
              </a:rPr>
              <a:t> mu2 ~ normal(0,100);</a:t>
            </a:r>
          </a:p>
          <a:p>
            <a:pPr>
              <a:lnSpc>
                <a:spcPct val="110000"/>
              </a:lnSpc>
              <a:spcBef>
                <a:spcPts val="0"/>
              </a:spcBef>
              <a:spcAft>
                <a:spcPts val="0"/>
              </a:spcAft>
            </a:pPr>
            <a:r>
              <a:rPr sz="1220" b="0">
                <a:solidFill>
                  <a:srgbClr val="16303A"/>
                </a:solidFill>
                <a:latin typeface="Consolas"/>
              </a:rPr>
              <a:t> sigma1 ~ cauchy(0,10);</a:t>
            </a:r>
          </a:p>
          <a:p>
            <a:pPr>
              <a:lnSpc>
                <a:spcPct val="110000"/>
              </a:lnSpc>
              <a:spcBef>
                <a:spcPts val="0"/>
              </a:spcBef>
              <a:spcAft>
                <a:spcPts val="0"/>
              </a:spcAft>
            </a:pPr>
            <a:r>
              <a:rPr sz="1220" b="0">
                <a:solidFill>
                  <a:srgbClr val="16303A"/>
                </a:solidFill>
                <a:latin typeface="Consolas"/>
              </a:rPr>
              <a:t> sigma2 ~ cauchy(0,10);</a:t>
            </a:r>
          </a:p>
          <a:p>
            <a:pPr>
              <a:lnSpc>
                <a:spcPct val="110000"/>
              </a:lnSpc>
              <a:spcBef>
                <a:spcPts val="0"/>
              </a:spcBef>
              <a:spcAft>
                <a:spcPts val="0"/>
              </a:spcAft>
            </a:pPr>
            <a:r>
              <a:rPr sz="1220" b="0">
                <a:solidFill>
                  <a:srgbClr val="16303A"/>
                </a:solidFill>
                <a:latin typeface="Consolas"/>
              </a:rPr>
              <a:t> y1 ~ normal(mu1,sigma1);</a:t>
            </a:r>
          </a:p>
          <a:p>
            <a:pPr>
              <a:lnSpc>
                <a:spcPct val="110000"/>
              </a:lnSpc>
              <a:spcBef>
                <a:spcPts val="0"/>
              </a:spcBef>
              <a:spcAft>
                <a:spcPts val="0"/>
              </a:spcAft>
            </a:pPr>
            <a:r>
              <a:rPr sz="1220" b="0">
                <a:solidFill>
                  <a:srgbClr val="16303A"/>
                </a:solidFill>
                <a:latin typeface="Consolas"/>
              </a:rPr>
              <a:t> y2 ~ normal(mu2,sigma2);</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generated quantities {</a:t>
            </a:r>
          </a:p>
          <a:p>
            <a:pPr>
              <a:lnSpc>
                <a:spcPct val="110000"/>
              </a:lnSpc>
              <a:spcBef>
                <a:spcPts val="0"/>
              </a:spcBef>
              <a:spcAft>
                <a:spcPts val="0"/>
              </a:spcAft>
            </a:pPr>
            <a:r>
              <a:rPr sz="1220" b="0">
                <a:solidFill>
                  <a:srgbClr val="16303A"/>
                </a:solidFill>
                <a:latin typeface="Consolas"/>
              </a:rPr>
              <a:t> real delta = mu2 - mu1;</a:t>
            </a:r>
          </a:p>
          <a:p>
            <a:pPr>
              <a:lnSpc>
                <a:spcPct val="110000"/>
              </a:lnSpc>
              <a:spcBef>
                <a:spcPts val="0"/>
              </a:spcBef>
              <a:spcAft>
                <a:spcPts val="0"/>
              </a:spcAft>
            </a:pPr>
            <a:r>
              <a:rPr sz="1220" b="0">
                <a:solidFill>
                  <a:srgbClr val="16303A"/>
                </a:solidFill>
                <a:latin typeface="Consolas"/>
              </a:rPr>
              <a:t>}</a:t>
            </a:r>
          </a:p>
          <a:p>
            <a:pPr>
              <a:lnSpc>
                <a:spcPct val="110000"/>
              </a:lnSpc>
              <a:spcBef>
                <a:spcPts val="0"/>
              </a:spcBef>
              <a:spcAft>
                <a:spcPts val="0"/>
              </a:spcAft>
            </a:pPr>
            <a:r>
              <a:rPr sz="1220" b="0">
                <a:solidFill>
                  <a:srgbClr val="16303A"/>
                </a:solidFill>
                <a:latin typeface="Consolas"/>
              </a:rPr>
              <a:t>out6.3.5 &lt;- stan(file="model6_3_5.stan",</a:t>
            </a:r>
          </a:p>
          <a:p>
            <a:pPr>
              <a:lnSpc>
                <a:spcPct val="110000"/>
              </a:lnSpc>
              <a:spcBef>
                <a:spcPts val="0"/>
              </a:spcBef>
              <a:spcAft>
                <a:spcPts val="0"/>
              </a:spcAft>
            </a:pPr>
            <a:r>
              <a:rPr sz="1220" b="0">
                <a:solidFill>
                  <a:srgbClr val="16303A"/>
                </a:solidFill>
                <a:latin typeface="Consolas"/>
              </a:rPr>
              <a:t> data=dataList, chains=4,</a:t>
            </a:r>
          </a:p>
          <a:p>
            <a:pPr>
              <a:lnSpc>
                <a:spcPct val="110000"/>
              </a:lnSpc>
              <a:spcBef>
                <a:spcPts val="0"/>
              </a:spcBef>
              <a:spcAft>
                <a:spcPts val="0"/>
              </a:spcAft>
            </a:pPr>
            <a:r>
              <a:rPr sz="1220" b="0">
                <a:solidFill>
                  <a:srgbClr val="16303A"/>
                </a:solidFill>
                <a:latin typeface="Consolas"/>
              </a:rPr>
              <a:t> iter=2000, warmup=1000)</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群ごとのμに平均0・標準偏差100の正規事前分布、σに尺度10のCauchy事前分布を指定する。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deltaはgenerated quantitiesで事後標本ごとに計算される。尤度に別のパラメータを増やしているわけではない。</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原著のStan推定値はμ₁≈104.96、μ₂≈77.35、σ₁≈3.17、σ₂≈2.44。</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JAGSとは標準偏差の事前分布が異なるため、推定値の細部が異なり得る。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27/34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6.3.6  不等分散DIY最尤①：2群の尤度を加える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Do-it-yourself maximum likelihood estimates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NLL &lt;- function(param, y1, y2){</a:t>
            </a:r>
          </a:p>
          <a:p>
            <a:pPr>
              <a:lnSpc>
                <a:spcPct val="110000"/>
              </a:lnSpc>
              <a:spcBef>
                <a:spcPts val="0"/>
              </a:spcBef>
              <a:spcAft>
                <a:spcPts val="0"/>
              </a:spcAft>
            </a:pPr>
            <a:r>
              <a:rPr sz="1400" b="0">
                <a:solidFill>
                  <a:srgbClr val="16303A"/>
                </a:solidFill>
                <a:latin typeface="Consolas"/>
              </a:rPr>
              <a:t>  mu1 &lt;- param[1]</a:t>
            </a:r>
          </a:p>
          <a:p>
            <a:pPr>
              <a:lnSpc>
                <a:spcPct val="110000"/>
              </a:lnSpc>
              <a:spcBef>
                <a:spcPts val="0"/>
              </a:spcBef>
              <a:spcAft>
                <a:spcPts val="0"/>
              </a:spcAft>
            </a:pPr>
            <a:r>
              <a:rPr sz="1400" b="0">
                <a:solidFill>
                  <a:srgbClr val="16303A"/>
                </a:solidFill>
                <a:latin typeface="Consolas"/>
              </a:rPr>
              <a:t>  mu2 &lt;- param[2]</a:t>
            </a:r>
          </a:p>
          <a:p>
            <a:pPr>
              <a:lnSpc>
                <a:spcPct val="110000"/>
              </a:lnSpc>
              <a:spcBef>
                <a:spcPts val="0"/>
              </a:spcBef>
              <a:spcAft>
                <a:spcPts val="0"/>
              </a:spcAft>
            </a:pPr>
            <a:r>
              <a:rPr sz="1400" b="0">
                <a:solidFill>
                  <a:srgbClr val="16303A"/>
                </a:solidFill>
                <a:latin typeface="Consolas"/>
              </a:rPr>
              <a:t>  sigma1 &lt;- exp(param[3])</a:t>
            </a:r>
          </a:p>
          <a:p>
            <a:pPr>
              <a:lnSpc>
                <a:spcPct val="110000"/>
              </a:lnSpc>
              <a:spcBef>
                <a:spcPts val="0"/>
              </a:spcBef>
              <a:spcAft>
                <a:spcPts val="0"/>
              </a:spcAft>
            </a:pPr>
            <a:r>
              <a:rPr sz="1400" b="0">
                <a:solidFill>
                  <a:srgbClr val="16303A"/>
                </a:solidFill>
                <a:latin typeface="Consolas"/>
              </a:rPr>
              <a:t>  sigma2 &lt;- exp(param[4])</a:t>
            </a:r>
          </a:p>
          <a:p>
            <a:pPr>
              <a:lnSpc>
                <a:spcPct val="110000"/>
              </a:lnSpc>
              <a:spcBef>
                <a:spcPts val="0"/>
              </a:spcBef>
              <a:spcAft>
                <a:spcPts val="0"/>
              </a:spcAft>
            </a:pPr>
            <a:r>
              <a:rPr sz="1400" b="0">
                <a:solidFill>
                  <a:srgbClr val="16303A"/>
                </a:solidFill>
                <a:latin typeface="Consolas"/>
              </a:rPr>
              <a:t>  LL1 &lt;- dnorm(y1,mu1,sigma1,log=TRUE)</a:t>
            </a:r>
          </a:p>
          <a:p>
            <a:pPr>
              <a:lnSpc>
                <a:spcPct val="110000"/>
              </a:lnSpc>
              <a:spcBef>
                <a:spcPts val="0"/>
              </a:spcBef>
              <a:spcAft>
                <a:spcPts val="0"/>
              </a:spcAft>
            </a:pPr>
            <a:r>
              <a:rPr sz="1400" b="0">
                <a:solidFill>
                  <a:srgbClr val="16303A"/>
                </a:solidFill>
                <a:latin typeface="Consolas"/>
              </a:rPr>
              <a:t>  LL2 &lt;- dnorm(y2,mu2,sigma2,log=TRUE)</a:t>
            </a:r>
          </a:p>
          <a:p>
            <a:pPr>
              <a:lnSpc>
                <a:spcPct val="110000"/>
              </a:lnSpc>
              <a:spcBef>
                <a:spcPts val="0"/>
              </a:spcBef>
              <a:spcAft>
                <a:spcPts val="0"/>
              </a:spcAft>
            </a:pPr>
            <a:r>
              <a:rPr sz="1400" b="0">
                <a:solidFill>
                  <a:srgbClr val="16303A"/>
                </a:solidFill>
                <a:latin typeface="Consolas"/>
              </a:rPr>
              <a:t>  LL &lt;- sum(LL1) + sum(LL2)</a:t>
            </a:r>
          </a:p>
          <a:p>
            <a:pPr>
              <a:lnSpc>
                <a:spcPct val="110000"/>
              </a:lnSpc>
              <a:spcBef>
                <a:spcPts val="0"/>
              </a:spcBef>
              <a:spcAft>
                <a:spcPts val="0"/>
              </a:spcAft>
            </a:pPr>
            <a:r>
              <a:rPr sz="1400" b="0">
                <a:solidFill>
                  <a:srgbClr val="16303A"/>
                </a:solidFill>
                <a:latin typeface="Consolas"/>
              </a:rPr>
              <a:t>  -LL</a:t>
            </a:r>
          </a:p>
          <a:p>
            <a:pPr>
              <a:lnSpc>
                <a:spcPct val="110000"/>
              </a:lnSpc>
              <a:spcBef>
                <a:spcPts val="0"/>
              </a:spcBef>
              <a:spcAft>
                <a:spcPts val="0"/>
              </a:spcAft>
            </a:pPr>
            <a:r>
              <a:rPr sz="1400" b="0">
                <a:solidFill>
                  <a:srgbClr val="16303A"/>
                </a:solidFill>
                <a:latin typeface="Consolas"/>
              </a:rPr>
              <a:t>}</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各群の独立性から、全尤度は群別尤度の積、全対数尤度は群別対数尤度の和になる。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μ₁・μ₂とlogσ₁・logσ₂をパラメータとして受け取る。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dnorm(...,log=TRUE)は観測値ごとの対数密度ベクトルを返す。群別にsumして最後に負号を付ける。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このコードではδを独立のパラメータとして推定しない。必要ならμ₂−μ₁から計算する。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28/34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6.3.6  不等分散DIY最尤②：最適化とlog尺度</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Do-it-yourself MLEs | optimization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inits &lt;- c(mu1=50,mu2=50,</a:t>
            </a:r>
          </a:p>
          <a:p>
            <a:pPr>
              <a:lnSpc>
                <a:spcPct val="110000"/>
              </a:lnSpc>
              <a:spcBef>
                <a:spcPts val="0"/>
              </a:spcBef>
              <a:spcAft>
                <a:spcPts val="0"/>
              </a:spcAft>
            </a:pPr>
            <a:r>
              <a:rPr sz="1400" b="0">
                <a:solidFill>
                  <a:srgbClr val="16303A"/>
                </a:solidFill>
                <a:latin typeface="Consolas"/>
              </a:rPr>
              <a:t>           log_sigma1=1,log_sigma2=1)</a:t>
            </a:r>
          </a:p>
          <a:p>
            <a:pPr>
              <a:lnSpc>
                <a:spcPct val="110000"/>
              </a:lnSpc>
              <a:spcBef>
                <a:spcPts val="0"/>
              </a:spcBef>
              <a:spcAft>
                <a:spcPts val="0"/>
              </a:spcAft>
            </a:pPr>
            <a:r>
              <a:rPr sz="1400" b="0">
                <a:solidFill>
                  <a:srgbClr val="16303A"/>
                </a:solidFill>
                <a:latin typeface="Consolas"/>
              </a:rPr>
              <a:t>out6.3.6 &lt;- optim(</a:t>
            </a:r>
          </a:p>
          <a:p>
            <a:pPr>
              <a:lnSpc>
                <a:spcPct val="110000"/>
              </a:lnSpc>
              <a:spcBef>
                <a:spcPts val="0"/>
              </a:spcBef>
              <a:spcAft>
                <a:spcPts val="0"/>
              </a:spcAft>
            </a:pPr>
            <a:r>
              <a:rPr sz="1400" b="0">
                <a:solidFill>
                  <a:srgbClr val="16303A"/>
                </a:solidFill>
                <a:latin typeface="Consolas"/>
              </a:rPr>
              <a:t>  inits,NLL,y1=y1,y2=y2,</a:t>
            </a:r>
          </a:p>
          <a:p>
            <a:pPr>
              <a:lnSpc>
                <a:spcPct val="110000"/>
              </a:lnSpc>
              <a:spcBef>
                <a:spcPts val="0"/>
              </a:spcBef>
              <a:spcAft>
                <a:spcPts val="0"/>
              </a:spcAft>
            </a:pPr>
            <a:r>
              <a:rPr sz="1400" b="0">
                <a:solidFill>
                  <a:srgbClr val="16303A"/>
                </a:solidFill>
                <a:latin typeface="Consolas"/>
              </a:rPr>
              <a:t>  hessian=TRUE)</a:t>
            </a:r>
          </a:p>
          <a:p>
            <a:pPr>
              <a:lnSpc>
                <a:spcPct val="110000"/>
              </a:lnSpc>
              <a:spcBef>
                <a:spcPts val="0"/>
              </a:spcBef>
              <a:spcAft>
                <a:spcPts val="0"/>
              </a:spcAft>
            </a:pPr>
            <a:r>
              <a:rPr sz="1400" b="0">
                <a:solidFill>
                  <a:srgbClr val="16303A"/>
                </a:solidFill>
                <a:latin typeface="Consolas"/>
              </a:rPr>
              <a:t>diy_est &lt;- c(out6.3.6$par[1:2],</a:t>
            </a:r>
          </a:p>
          <a:p>
            <a:pPr>
              <a:lnSpc>
                <a:spcPct val="110000"/>
              </a:lnSpc>
              <a:spcBef>
                <a:spcPts val="0"/>
              </a:spcBef>
              <a:spcAft>
                <a:spcPts val="0"/>
              </a:spcAft>
            </a:pPr>
            <a:r>
              <a:rPr sz="1400" b="0">
                <a:solidFill>
                  <a:srgbClr val="16303A"/>
                </a:solidFill>
                <a:latin typeface="Consolas"/>
              </a:rPr>
              <a:t>  exp(out6.3.6$par[3:4]))</a:t>
            </a:r>
          </a:p>
          <a:p>
            <a:pPr>
              <a:lnSpc>
                <a:spcPct val="110000"/>
              </a:lnSpc>
              <a:spcBef>
                <a:spcPts val="0"/>
              </a:spcBef>
              <a:spcAft>
                <a:spcPts val="0"/>
              </a:spcAft>
            </a:pPr>
            <a:r>
              <a:rPr sz="1400" b="0">
                <a:solidFill>
                  <a:srgbClr val="16303A"/>
                </a:solidFill>
                <a:latin typeface="Consolas"/>
              </a:rPr>
              <a:t>get_MLE(out6.3.6,5)</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初期値はμ₁=50、μ₂=50、logσ₁=logσ₂=1（σ≈2.718）。原著は適度な初期値が必要と説明する。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最適化後にexpで標準偏差に戻す。最適値の周辺曲率から標準誤差を近似する。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原著のDIY結果はμ₁≈104.948、μ₂≈77.356、logσ₁≈1.106、logσ₂≈0.880。</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最尤推定は事前分布を用いない。ベイズ推定との差をその点から区別する。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29/34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6.3.7  不等分散TMB①：2群別に対数尤度を計算</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TMB | C++</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DATA_VECTOR(y1); DATA_VECTOR(y2);</a:t>
            </a:r>
          </a:p>
          <a:p>
            <a:pPr>
              <a:lnSpc>
                <a:spcPct val="110000"/>
              </a:lnSpc>
              <a:spcBef>
                <a:spcPts val="0"/>
              </a:spcBef>
              <a:spcAft>
                <a:spcPts val="0"/>
              </a:spcAft>
            </a:pPr>
            <a:r>
              <a:rPr sz="1400" b="0">
                <a:solidFill>
                  <a:srgbClr val="16303A"/>
                </a:solidFill>
                <a:latin typeface="Consolas"/>
              </a:rPr>
              <a:t>DATA_INTEGER(n1); DATA_INTEGER(n2);</a:t>
            </a:r>
          </a:p>
          <a:p>
            <a:pPr>
              <a:lnSpc>
                <a:spcPct val="110000"/>
              </a:lnSpc>
              <a:spcBef>
                <a:spcPts val="0"/>
              </a:spcBef>
              <a:spcAft>
                <a:spcPts val="0"/>
              </a:spcAft>
            </a:pPr>
            <a:r>
              <a:rPr sz="1400" b="0">
                <a:solidFill>
                  <a:srgbClr val="16303A"/>
                </a:solidFill>
                <a:latin typeface="Consolas"/>
              </a:rPr>
              <a:t>PARAMETER(mu1); PARAMETER(mu2);</a:t>
            </a:r>
          </a:p>
          <a:p>
            <a:pPr>
              <a:lnSpc>
                <a:spcPct val="110000"/>
              </a:lnSpc>
              <a:spcBef>
                <a:spcPts val="0"/>
              </a:spcBef>
              <a:spcAft>
                <a:spcPts val="0"/>
              </a:spcAft>
            </a:pPr>
            <a:r>
              <a:rPr sz="1400" b="0">
                <a:solidFill>
                  <a:srgbClr val="16303A"/>
                </a:solidFill>
                <a:latin typeface="Consolas"/>
              </a:rPr>
              <a:t>PARAMETER(log_sigma1);</a:t>
            </a:r>
          </a:p>
          <a:p>
            <a:pPr>
              <a:lnSpc>
                <a:spcPct val="110000"/>
              </a:lnSpc>
              <a:spcBef>
                <a:spcPts val="0"/>
              </a:spcBef>
              <a:spcAft>
                <a:spcPts val="0"/>
              </a:spcAft>
            </a:pPr>
            <a:r>
              <a:rPr sz="1400" b="0">
                <a:solidFill>
                  <a:srgbClr val="16303A"/>
                </a:solidFill>
                <a:latin typeface="Consolas"/>
              </a:rPr>
              <a:t>PARAMETER(log_sigma2);</a:t>
            </a:r>
          </a:p>
          <a:p>
            <a:pPr>
              <a:lnSpc>
                <a:spcPct val="110000"/>
              </a:lnSpc>
              <a:spcBef>
                <a:spcPts val="0"/>
              </a:spcBef>
              <a:spcAft>
                <a:spcPts val="0"/>
              </a:spcAft>
            </a:pPr>
            <a:r>
              <a:rPr sz="1400" b="0">
                <a:solidFill>
                  <a:srgbClr val="16303A"/>
                </a:solidFill>
                <a:latin typeface="Consolas"/>
              </a:rPr>
              <a:t>Type sigma1=exp(log_sigma1);</a:t>
            </a:r>
          </a:p>
          <a:p>
            <a:pPr>
              <a:lnSpc>
                <a:spcPct val="110000"/>
              </a:lnSpc>
              <a:spcBef>
                <a:spcPts val="0"/>
              </a:spcBef>
              <a:spcAft>
                <a:spcPts val="0"/>
              </a:spcAft>
            </a:pPr>
            <a:r>
              <a:rPr sz="1400" b="0">
                <a:solidFill>
                  <a:srgbClr val="16303A"/>
                </a:solidFill>
                <a:latin typeface="Consolas"/>
              </a:rPr>
              <a:t>Type sigma2=exp(log_sigma2);</a:t>
            </a:r>
          </a:p>
          <a:p>
            <a:pPr>
              <a:lnSpc>
                <a:spcPct val="110000"/>
              </a:lnSpc>
              <a:spcBef>
                <a:spcPts val="0"/>
              </a:spcBef>
              <a:spcAft>
                <a:spcPts val="0"/>
              </a:spcAft>
            </a:pPr>
            <a:r>
              <a:rPr sz="1400" b="0">
                <a:solidFill>
                  <a:srgbClr val="16303A"/>
                </a:solidFill>
                <a:latin typeface="Consolas"/>
              </a:rPr>
              <a:t>Type LL=0.0;</a:t>
            </a:r>
          </a:p>
          <a:p>
            <a:pPr>
              <a:lnSpc>
                <a:spcPct val="110000"/>
              </a:lnSpc>
              <a:spcBef>
                <a:spcPts val="0"/>
              </a:spcBef>
              <a:spcAft>
                <a:spcPts val="0"/>
              </a:spcAft>
            </a:pPr>
            <a:r>
              <a:rPr sz="1400" b="0">
                <a:solidFill>
                  <a:srgbClr val="16303A"/>
                </a:solidFill>
                <a:latin typeface="Consolas"/>
              </a:rPr>
              <a:t>for(int i=0;i&lt;n1;i++)</a:t>
            </a:r>
          </a:p>
          <a:p>
            <a:pPr>
              <a:lnSpc>
                <a:spcPct val="110000"/>
              </a:lnSpc>
              <a:spcBef>
                <a:spcPts val="0"/>
              </a:spcBef>
              <a:spcAft>
                <a:spcPts val="0"/>
              </a:spcAft>
            </a:pPr>
            <a:r>
              <a:rPr sz="1400" b="0">
                <a:solidFill>
                  <a:srgbClr val="16303A"/>
                </a:solidFill>
                <a:latin typeface="Consolas"/>
              </a:rPr>
              <a:t>  LL += dnorm(y1(i),mu1,sigma1,true);</a:t>
            </a:r>
          </a:p>
          <a:p>
            <a:pPr>
              <a:lnSpc>
                <a:spcPct val="110000"/>
              </a:lnSpc>
              <a:spcBef>
                <a:spcPts val="0"/>
              </a:spcBef>
              <a:spcAft>
                <a:spcPts val="0"/>
              </a:spcAft>
            </a:pPr>
            <a:r>
              <a:rPr sz="1400" b="0">
                <a:solidFill>
                  <a:srgbClr val="16303A"/>
                </a:solidFill>
                <a:latin typeface="Consolas"/>
              </a:rPr>
              <a:t>for(int i=0;i&lt;n2;i++)</a:t>
            </a:r>
          </a:p>
          <a:p>
            <a:pPr>
              <a:lnSpc>
                <a:spcPct val="110000"/>
              </a:lnSpc>
              <a:spcBef>
                <a:spcPts val="0"/>
              </a:spcBef>
              <a:spcAft>
                <a:spcPts val="0"/>
              </a:spcAft>
            </a:pPr>
            <a:r>
              <a:rPr sz="1400" b="0">
                <a:solidFill>
                  <a:srgbClr val="16303A"/>
                </a:solidFill>
                <a:latin typeface="Consolas"/>
              </a:rPr>
              <a:t>  LL += dnorm(y2(i),mu2,sigma2,true);</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Rから渡すy1・y2・n1・n2と、推定するμ₁・μ₂・logσ₁・logσ₂を宣言する。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2つのforループで群ごとの対数尤度を加算する。C++添字は0始まり。</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dnorm(…,true)は対数密度を返す。sum(LL1)+sum(LL2)と数学的に同じ目的関数を作る。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第6章のTMBは群別分散を固定効果パラメータとして推定し、ランダム効果を含まない。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30/34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6.3.7  不等分散TMB②：deltaのADREPORTと最適化</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Likelihood analysis with TMB | reporting</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Type delta = mu2 - mu1;</a:t>
            </a:r>
          </a:p>
          <a:p>
            <a:pPr>
              <a:lnSpc>
                <a:spcPct val="110000"/>
              </a:lnSpc>
              <a:spcBef>
                <a:spcPts val="0"/>
              </a:spcBef>
              <a:spcAft>
                <a:spcPts val="0"/>
              </a:spcAft>
            </a:pPr>
            <a:r>
              <a:rPr sz="1400" b="0">
                <a:solidFill>
                  <a:srgbClr val="16303A"/>
                </a:solidFill>
                <a:latin typeface="Consolas"/>
              </a:rPr>
              <a:t>ADREPORT(delta);</a:t>
            </a:r>
          </a:p>
          <a:p>
            <a:pPr>
              <a:lnSpc>
                <a:spcPct val="110000"/>
              </a:lnSpc>
              <a:spcBef>
                <a:spcPts val="0"/>
              </a:spcBef>
              <a:spcAft>
                <a:spcPts val="0"/>
              </a:spcAft>
            </a:pPr>
            <a:r>
              <a:rPr sz="1400" b="0">
                <a:solidFill>
                  <a:srgbClr val="16303A"/>
                </a:solidFill>
                <a:latin typeface="Consolas"/>
              </a:rPr>
              <a:t>return -LL;</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compile("model6_3_7.cpp")</a:t>
            </a:r>
          </a:p>
          <a:p>
            <a:pPr>
              <a:lnSpc>
                <a:spcPct val="110000"/>
              </a:lnSpc>
              <a:spcBef>
                <a:spcPts val="0"/>
              </a:spcBef>
              <a:spcAft>
                <a:spcPts val="0"/>
              </a:spcAft>
            </a:pPr>
            <a:r>
              <a:rPr sz="1400" b="0">
                <a:solidFill>
                  <a:srgbClr val="16303A"/>
                </a:solidFill>
                <a:latin typeface="Consolas"/>
              </a:rPr>
              <a:t>dyn.load(dynlib("model6_3_7"))</a:t>
            </a:r>
          </a:p>
          <a:p>
            <a:pPr>
              <a:lnSpc>
                <a:spcPct val="110000"/>
              </a:lnSpc>
              <a:spcBef>
                <a:spcPts val="0"/>
              </a:spcBef>
              <a:spcAft>
                <a:spcPts val="0"/>
              </a:spcAft>
            </a:pPr>
            <a:r>
              <a:rPr sz="1400" b="0">
                <a:solidFill>
                  <a:srgbClr val="16303A"/>
                </a:solidFill>
                <a:latin typeface="Consolas"/>
              </a:rPr>
              <a:t>out6.3.7 &lt;- MakeADFun(</a:t>
            </a:r>
          </a:p>
          <a:p>
            <a:pPr>
              <a:lnSpc>
                <a:spcPct val="110000"/>
              </a:lnSpc>
              <a:spcBef>
                <a:spcPts val="0"/>
              </a:spcBef>
              <a:spcAft>
                <a:spcPts val="0"/>
              </a:spcAft>
            </a:pPr>
            <a:r>
              <a:rPr sz="1400" b="0">
                <a:solidFill>
                  <a:srgbClr val="16303A"/>
                </a:solidFill>
                <a:latin typeface="Consolas"/>
              </a:rPr>
              <a:t> data=dataList, parameters=params,</a:t>
            </a:r>
          </a:p>
          <a:p>
            <a:pPr>
              <a:lnSpc>
                <a:spcPct val="110000"/>
              </a:lnSpc>
              <a:spcBef>
                <a:spcPts val="0"/>
              </a:spcBef>
              <a:spcAft>
                <a:spcPts val="0"/>
              </a:spcAft>
            </a:pPr>
            <a:r>
              <a:rPr sz="1400" b="0">
                <a:solidFill>
                  <a:srgbClr val="16303A"/>
                </a:solidFill>
                <a:latin typeface="Consolas"/>
              </a:rPr>
              <a:t> DLL="model6_3_7", silent=TRUE)</a:t>
            </a:r>
          </a:p>
          <a:p>
            <a:pPr>
              <a:lnSpc>
                <a:spcPct val="110000"/>
              </a:lnSpc>
              <a:spcBef>
                <a:spcPts val="0"/>
              </a:spcBef>
              <a:spcAft>
                <a:spcPts val="0"/>
              </a:spcAft>
            </a:pPr>
            <a:r>
              <a:rPr sz="1400" b="0">
                <a:solidFill>
                  <a:srgbClr val="16303A"/>
                </a:solidFill>
                <a:latin typeface="Consolas"/>
              </a:rPr>
              <a:t>opt &lt;- optim(out6.3.7$par,</a:t>
            </a:r>
          </a:p>
          <a:p>
            <a:pPr>
              <a:lnSpc>
                <a:spcPct val="110000"/>
              </a:lnSpc>
              <a:spcBef>
                <a:spcPts val="0"/>
              </a:spcBef>
              <a:spcAft>
                <a:spcPts val="0"/>
              </a:spcAft>
            </a:pPr>
            <a:r>
              <a:rPr sz="1400" b="0">
                <a:solidFill>
                  <a:srgbClr val="16303A"/>
                </a:solidFill>
                <a:latin typeface="Consolas"/>
              </a:rPr>
              <a:t> fn=out6.3.7$fn,gr=out6.3.7$gr,</a:t>
            </a:r>
          </a:p>
          <a:p>
            <a:pPr>
              <a:lnSpc>
                <a:spcPct val="110000"/>
              </a:lnSpc>
              <a:spcBef>
                <a:spcPts val="0"/>
              </a:spcBef>
              <a:spcAft>
                <a:spcPts val="0"/>
              </a:spcAft>
            </a:pPr>
            <a:r>
              <a:rPr sz="1400" b="0">
                <a:solidFill>
                  <a:srgbClr val="16303A"/>
                </a:solidFill>
                <a:latin typeface="Consolas"/>
              </a:rPr>
              <a:t> method="BFGS",hessian=TRUE)</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δ=μ₂−μ₁の推定値と標準誤差を求めるため、TMBではADREPORT(delta)を指定する。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MakeADFunがfnとgrを組み立て、optimが負の対数尤度を最小化する。</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原著のTMB比較値はμ₁≈104.96、μ₂≈77.36、σ₁≈3.08、σ₂≈2.34。</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ベイズ版の派生量と同じδでも、不確実性の計算法はMCMC標本と自動微分に基づく近似で異なる。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31/34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6.3.8  不等分散モデル：推定値の比較</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Comparison of the parameter estimates</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             truth  Welch   JAGS  NIMBLE  Stan   DIY   TMB</a:t>
            </a:r>
          </a:p>
          <a:p>
            <a:pPr>
              <a:lnSpc>
                <a:spcPct val="110000"/>
              </a:lnSpc>
              <a:spcBef>
                <a:spcPts val="0"/>
              </a:spcBef>
              <a:spcAft>
                <a:spcPts val="0"/>
              </a:spcAft>
            </a:pPr>
            <a:r>
              <a:rPr sz="1400" b="0">
                <a:solidFill>
                  <a:srgbClr val="16303A"/>
                </a:solidFill>
                <a:latin typeface="Consolas"/>
              </a:rPr>
              <a:t>mu1          105.0  105.0  104.96 104.99 104.96 104.95 104.96</a:t>
            </a:r>
          </a:p>
          <a:p>
            <a:pPr>
              <a:lnSpc>
                <a:spcPct val="110000"/>
              </a:lnSpc>
              <a:spcBef>
                <a:spcPts val="0"/>
              </a:spcBef>
              <a:spcAft>
                <a:spcPts val="0"/>
              </a:spcAft>
            </a:pPr>
            <a:r>
              <a:rPr sz="1400" b="0">
                <a:solidFill>
                  <a:srgbClr val="16303A"/>
                </a:solidFill>
                <a:latin typeface="Consolas"/>
              </a:rPr>
              <a:t>mu2           77.5   77.4   77.35  77.36  77.35  77.36  77.36</a:t>
            </a:r>
          </a:p>
          <a:p>
            <a:pPr>
              <a:lnSpc>
                <a:spcPct val="110000"/>
              </a:lnSpc>
              <a:spcBef>
                <a:spcPts val="0"/>
              </a:spcBef>
              <a:spcAft>
                <a:spcPts val="0"/>
              </a:spcAft>
            </a:pPr>
            <a:r>
              <a:rPr sz="1400" b="0">
                <a:solidFill>
                  <a:srgbClr val="16303A"/>
                </a:solidFill>
                <a:latin typeface="Consolas"/>
              </a:rPr>
              <a:t>sigma1         3.0     —    3.19   3.19   3.17   3.02   3.08</a:t>
            </a:r>
          </a:p>
          <a:p>
            <a:pPr>
              <a:lnSpc>
                <a:spcPct val="110000"/>
              </a:lnSpc>
              <a:spcBef>
                <a:spcPts val="0"/>
              </a:spcBef>
              <a:spcAft>
                <a:spcPts val="0"/>
              </a:spcAft>
            </a:pPr>
            <a:r>
              <a:rPr sz="1400" b="0">
                <a:solidFill>
                  <a:srgbClr val="16303A"/>
                </a:solidFill>
                <a:latin typeface="Consolas"/>
              </a:rPr>
              <a:t>sigma2         2.5     —    2.45   2.45   2.44   2.41   2.34</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原著6.3.8の比較表。Welch検定はこの表では群平均を示し、群別σの欄はNA。</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群平均μ₁・μ₂は全てのエンジンでほぼ一致する。標準偏差の推定は方法によりいくらか違う。</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ベイズの事後平均・最尤推定・t検定が同じ数値を返す必要はないが、モデルとデータから概ね整合的な結果を得ている。</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各列のσが標準偏差でありσ²（分散）ではないことを確認して比較する。</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32/34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6.4  5手法を同じ数式で読み替える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Summary | engine comparison</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観測モデル： y ~ Normal(μ, σ²)</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JAGS     : y[i] ~ dnorm(mu[i], tau)</a:t>
            </a:r>
          </a:p>
          <a:p>
            <a:pPr>
              <a:lnSpc>
                <a:spcPct val="110000"/>
              </a:lnSpc>
              <a:spcBef>
                <a:spcPts val="0"/>
              </a:spcBef>
              <a:spcAft>
                <a:spcPts val="0"/>
              </a:spcAft>
            </a:pPr>
            <a:r>
              <a:rPr sz="1400" b="0">
                <a:solidFill>
                  <a:srgbClr val="16303A"/>
                </a:solidFill>
                <a:latin typeface="Consolas"/>
              </a:rPr>
              <a:t>NIMBLE   : y[i] ~ dnorm(mu[i], tau)</a:t>
            </a:r>
          </a:p>
          <a:p>
            <a:pPr>
              <a:lnSpc>
                <a:spcPct val="110000"/>
              </a:lnSpc>
              <a:spcBef>
                <a:spcPts val="0"/>
              </a:spcBef>
              <a:spcAft>
                <a:spcPts val="0"/>
              </a:spcAft>
            </a:pPr>
            <a:r>
              <a:rPr sz="1400" b="0">
                <a:solidFill>
                  <a:srgbClr val="16303A"/>
                </a:solidFill>
                <a:latin typeface="Consolas"/>
              </a:rPr>
              <a:t>Stan     : y ~ normal(mu, sigma)</a:t>
            </a:r>
          </a:p>
          <a:p>
            <a:pPr>
              <a:lnSpc>
                <a:spcPct val="110000"/>
              </a:lnSpc>
              <a:spcBef>
                <a:spcPts val="0"/>
              </a:spcBef>
              <a:spcAft>
                <a:spcPts val="0"/>
              </a:spcAft>
            </a:pPr>
            <a:r>
              <a:rPr sz="1400" b="0">
                <a:solidFill>
                  <a:srgbClr val="16303A"/>
                </a:solidFill>
                <a:latin typeface="Consolas"/>
              </a:rPr>
              <a:t>DIY      : dnorm(y,mu,sigma,log=TRUE)</a:t>
            </a:r>
          </a:p>
          <a:p>
            <a:pPr>
              <a:lnSpc>
                <a:spcPct val="110000"/>
              </a:lnSpc>
              <a:spcBef>
                <a:spcPts val="0"/>
              </a:spcBef>
              <a:spcAft>
                <a:spcPts val="0"/>
              </a:spcAft>
            </a:pPr>
            <a:r>
              <a:rPr sz="1400" b="0">
                <a:solidFill>
                  <a:srgbClr val="16303A"/>
                </a:solidFill>
                <a:latin typeface="Consolas"/>
              </a:rPr>
              <a:t>TMB      : dnorm(y(i),mu,sigma,true)</a:t>
            </a:r>
          </a:p>
          <a:p>
            <a:pPr>
              <a:lnSpc>
                <a:spcPct val="110000"/>
              </a:lnSpc>
              <a:spcBef>
                <a:spcPts val="0"/>
              </a:spcBef>
              <a:spcAft>
                <a:spcPts val="0"/>
              </a:spcAft>
            </a:pPr>
            <a:endParaRPr sz="1400" b="0">
              <a:solidFill>
                <a:srgbClr val="16303A"/>
              </a:solidFill>
              <a:latin typeface="Consolas"/>
            </a:endParaRPr>
          </a:p>
          <a:p>
            <a:pPr>
              <a:lnSpc>
                <a:spcPct val="110000"/>
              </a:lnSpc>
              <a:spcBef>
                <a:spcPts val="0"/>
              </a:spcBef>
              <a:spcAft>
                <a:spcPts val="0"/>
              </a:spcAft>
            </a:pPr>
            <a:r>
              <a:rPr sz="1400" b="0">
                <a:solidFill>
                  <a:srgbClr val="16303A"/>
                </a:solidFill>
                <a:latin typeface="Consolas"/>
              </a:rPr>
              <a:t>tau = 1/σ²</a:t>
            </a:r>
          </a:p>
        </p:txBody>
      </p:sp>
      <p:sp>
        <p:nvSpPr>
          <p:cNvPr id="10" name="TextBox 9"/>
          <p:cNvSpPr txBox="1"/>
          <p:nvPr/>
        </p:nvSpPr>
        <p:spPr>
          <a:xfrm>
            <a:off x="6510528" y="1828800"/>
            <a:ext cx="4873752" cy="685396"/>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JAGS/NIMBLEのdnorm(平均,精度)、Stanのnormal(平均,標準偏差)、R/TMBのdnorm(値,平均,標準偏差)の違いを必ず把握する。</a:t>
            </a:r>
          </a:p>
        </p:txBody>
      </p:sp>
      <p:sp>
        <p:nvSpPr>
          <p:cNvPr id="11" name="TextBox 10"/>
          <p:cNvSpPr txBox="1"/>
          <p:nvPr/>
        </p:nvSpPr>
        <p:spPr>
          <a:xfrm>
            <a:off x="6510528" y="256448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ベイズモデルの「~」は分布の宣言、DIY/TMBのdnormは尤度の数値計算。</a:t>
            </a:r>
          </a:p>
        </p:txBody>
      </p:sp>
      <p:sp>
        <p:nvSpPr>
          <p:cNvPr id="12" name="TextBox 11"/>
          <p:cNvSpPr txBox="1"/>
          <p:nvPr/>
        </p:nvSpPr>
        <p:spPr>
          <a:xfrm>
            <a:off x="6510528" y="323657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DIY/TMBは負の対数尤度を最小化する。JAGS/NIMBLE/Stanは事前分布も含む事後分布を計算する。</a:t>
            </a:r>
          </a:p>
        </p:txBody>
      </p:sp>
      <p:sp>
        <p:nvSpPr>
          <p:cNvPr id="13" name="TextBox 12"/>
          <p:cNvSpPr txBox="1"/>
          <p:nvPr/>
        </p:nvSpPr>
        <p:spPr>
          <a:xfrm>
            <a:off x="6510528" y="3908656"/>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モデル理解の基本は、①観測分布、②線形予測子、③未知数、④事前分布／目的関数、⑤派生量を分けて読むこと。</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33/34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prstGeom>
          <a:solidFill>
            <a:srgbClr val="256A96"/>
          </a:solidFill>
          <a:ln>
            <a:solidFill>
              <a:srgbClr val="256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155680" cy="502920"/>
          </a:xfrm>
          <a:prstGeom prst="rect">
            <a:avLst/>
          </a:prstGeom>
          <a:noFill/>
        </p:spPr>
        <p:txBody>
          <a:bodyPr wrap="square" lIns="27432" tIns="27432" rIns="27432" bIns="27432">
            <a:spAutoFit/>
          </a:bodyPr>
          <a:lstStyle/>
          <a:p>
            <a:pPr>
              <a:lnSpc>
                <a:spcPct val="110000"/>
              </a:lnSpc>
              <a:spcBef>
                <a:spcPts val="0"/>
              </a:spcBef>
              <a:spcAft>
                <a:spcPts val="0"/>
              </a:spcAft>
            </a:pPr>
            <a:r>
              <a:rPr sz="2300" b="1">
                <a:solidFill>
                  <a:srgbClr val="19354F"/>
                </a:solidFill>
                <a:latin typeface="Yu Gothic"/>
              </a:rPr>
              <a:t>6  6.4  学習チェック：コードを自分で説明できるか</a:t>
            </a:r>
          </a:p>
        </p:txBody>
      </p:sp>
      <p:sp>
        <p:nvSpPr>
          <p:cNvPr id="4" name="TextBox 3"/>
          <p:cNvSpPr txBox="1"/>
          <p:nvPr/>
        </p:nvSpPr>
        <p:spPr>
          <a:xfrm>
            <a:off x="530352" y="813816"/>
            <a:ext cx="11064240" cy="356616"/>
          </a:xfrm>
          <a:prstGeom prst="rect">
            <a:avLst/>
          </a:prstGeom>
          <a:noFill/>
        </p:spPr>
        <p:txBody>
          <a:bodyPr wrap="square" lIns="27432" tIns="27432" rIns="27432" bIns="27432">
            <a:spAutoFit/>
          </a:bodyPr>
          <a:lstStyle/>
          <a:p>
            <a:pPr>
              <a:lnSpc>
                <a:spcPct val="110000"/>
              </a:lnSpc>
              <a:spcBef>
                <a:spcPts val="0"/>
              </a:spcBef>
              <a:spcAft>
                <a:spcPts val="0"/>
              </a:spcAft>
            </a:pPr>
            <a:r>
              <a:rPr sz="1300" b="0">
                <a:solidFill>
                  <a:srgbClr val="495E6D"/>
                </a:solidFill>
                <a:latin typeface="Aptos"/>
              </a:rPr>
              <a:t>Summary | reading checklist</a:t>
            </a:r>
          </a:p>
        </p:txBody>
      </p:sp>
      <p:sp>
        <p:nvSpPr>
          <p:cNvPr id="5" name="Rounded Rectangle 4"/>
          <p:cNvSpPr/>
          <p:nvPr/>
        </p:nvSpPr>
        <p:spPr>
          <a:xfrm>
            <a:off x="548640" y="1280160"/>
            <a:ext cx="5623560"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27648" y="1280160"/>
            <a:ext cx="5330952" cy="4434840"/>
          </a:xfrm>
          <a:prstGeom prst="roundRect">
            <a:avLst/>
          </a:prstGeom>
          <a:solidFill>
            <a:srgbClr val="F2F7FB"/>
          </a:solidFill>
          <a:ln>
            <a:solidFill>
              <a:srgbClr val="D4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303520"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主要コード・数式（原著に対応）</a:t>
            </a:r>
          </a:p>
        </p:txBody>
      </p:sp>
      <p:sp>
        <p:nvSpPr>
          <p:cNvPr id="8" name="TextBox 7"/>
          <p:cNvSpPr txBox="1"/>
          <p:nvPr/>
        </p:nvSpPr>
        <p:spPr>
          <a:xfrm>
            <a:off x="6510528" y="1417320"/>
            <a:ext cx="4882896" cy="347472"/>
          </a:xfrm>
          <a:prstGeom prst="rect">
            <a:avLst/>
          </a:prstGeom>
          <a:noFill/>
        </p:spPr>
        <p:txBody>
          <a:bodyPr wrap="square" lIns="27432" tIns="27432" rIns="27432" bIns="27432">
            <a:spAutoFit/>
          </a:bodyPr>
          <a:lstStyle/>
          <a:p>
            <a:pPr>
              <a:lnSpc>
                <a:spcPct val="110000"/>
              </a:lnSpc>
              <a:spcBef>
                <a:spcPts val="0"/>
              </a:spcBef>
              <a:spcAft>
                <a:spcPts val="0"/>
              </a:spcAft>
            </a:pPr>
            <a:r>
              <a:rPr sz="1500" b="1">
                <a:solidFill>
                  <a:srgbClr val="256A96"/>
                </a:solidFill>
                <a:latin typeface="Yu Gothic"/>
              </a:rPr>
              <a:t>コードの意味・確認事項</a:t>
            </a:r>
          </a:p>
        </p:txBody>
      </p:sp>
      <p:sp>
        <p:nvSpPr>
          <p:cNvPr id="9" name="TextBox 8"/>
          <p:cNvSpPr txBox="1"/>
          <p:nvPr/>
        </p:nvSpPr>
        <p:spPr>
          <a:xfrm>
            <a:off x="722376" y="1847088"/>
            <a:ext cx="5312664" cy="3703320"/>
          </a:xfrm>
          <a:prstGeom prst="rect">
            <a:avLst/>
          </a:prstGeom>
          <a:noFill/>
        </p:spPr>
        <p:txBody>
          <a:bodyPr wrap="square" lIns="27432" tIns="27432" rIns="27432" bIns="27432">
            <a:spAutoFit/>
          </a:bodyPr>
          <a:lstStyle/>
          <a:p>
            <a:pPr>
              <a:lnSpc>
                <a:spcPct val="110000"/>
              </a:lnSpc>
              <a:spcBef>
                <a:spcPts val="0"/>
              </a:spcBef>
              <a:spcAft>
                <a:spcPts val="0"/>
              </a:spcAft>
            </a:pPr>
            <a:r>
              <a:rPr sz="1400" b="0">
                <a:solidFill>
                  <a:srgbClr val="16303A"/>
                </a:solidFill>
                <a:latin typeface="Consolas"/>
              </a:rPr>
              <a:t>1. x=0 / x=1 と μ₁ / μ₂ の対応</a:t>
            </a:r>
          </a:p>
          <a:p>
            <a:pPr>
              <a:lnSpc>
                <a:spcPct val="110000"/>
              </a:lnSpc>
              <a:spcBef>
                <a:spcPts val="0"/>
              </a:spcBef>
              <a:spcAft>
                <a:spcPts val="0"/>
              </a:spcAft>
            </a:pPr>
            <a:r>
              <a:rPr sz="1400" b="0">
                <a:solidFill>
                  <a:srgbClr val="16303A"/>
                </a:solidFill>
                <a:latin typeface="Consolas"/>
              </a:rPr>
              <a:t>2. τ = σ⁻² と sigma の差</a:t>
            </a:r>
          </a:p>
          <a:p>
            <a:pPr>
              <a:lnSpc>
                <a:spcPct val="110000"/>
              </a:lnSpc>
              <a:spcBef>
                <a:spcPts val="0"/>
              </a:spcBef>
              <a:spcAft>
                <a:spcPts val="0"/>
              </a:spcAft>
            </a:pPr>
            <a:r>
              <a:rPr sz="1400" b="0">
                <a:solidFill>
                  <a:srgbClr val="16303A"/>
                </a:solidFill>
                <a:latin typeface="Consolas"/>
              </a:rPr>
              <a:t>3. 事前分布と観測尤度の区別</a:t>
            </a:r>
          </a:p>
          <a:p>
            <a:pPr>
              <a:lnSpc>
                <a:spcPct val="110000"/>
              </a:lnSpc>
              <a:spcBef>
                <a:spcPts val="0"/>
              </a:spcBef>
              <a:spcAft>
                <a:spcPts val="0"/>
              </a:spcAft>
            </a:pPr>
            <a:r>
              <a:rPr sz="1400" b="0">
                <a:solidFill>
                  <a:srgbClr val="16303A"/>
                </a:solidFill>
                <a:latin typeface="Consolas"/>
              </a:rPr>
              <a:t>4. delta = mu2 - mu1 の導出</a:t>
            </a:r>
          </a:p>
          <a:p>
            <a:pPr>
              <a:lnSpc>
                <a:spcPct val="110000"/>
              </a:lnSpc>
              <a:spcBef>
                <a:spcPts val="0"/>
              </a:spcBef>
              <a:spcAft>
                <a:spcPts val="0"/>
              </a:spcAft>
            </a:pPr>
            <a:r>
              <a:rPr sz="1400" b="0">
                <a:solidFill>
                  <a:srgbClr val="16303A"/>
                </a:solidFill>
                <a:latin typeface="Consolas"/>
              </a:rPr>
              <a:t>5. log_sigma と exp(log_sigma)</a:t>
            </a:r>
          </a:p>
          <a:p>
            <a:pPr>
              <a:lnSpc>
                <a:spcPct val="110000"/>
              </a:lnSpc>
              <a:spcBef>
                <a:spcPts val="0"/>
              </a:spcBef>
              <a:spcAft>
                <a:spcPts val="0"/>
              </a:spcAft>
            </a:pPr>
            <a:r>
              <a:rPr sz="1400" b="0">
                <a:solidFill>
                  <a:srgbClr val="16303A"/>
                </a:solidFill>
                <a:latin typeface="Consolas"/>
              </a:rPr>
              <a:t>6. optim / MakeADFun / ADREPORT</a:t>
            </a:r>
          </a:p>
          <a:p>
            <a:pPr>
              <a:lnSpc>
                <a:spcPct val="110000"/>
              </a:lnSpc>
              <a:spcBef>
                <a:spcPts val="0"/>
              </a:spcBef>
              <a:spcAft>
                <a:spcPts val="0"/>
              </a:spcAft>
            </a:pPr>
            <a:r>
              <a:rPr sz="1400" b="0">
                <a:solidFill>
                  <a:srgbClr val="16303A"/>
                </a:solidFill>
                <a:latin typeface="Consolas"/>
              </a:rPr>
              <a:t>7. chains, burn-in, Rhat, n.eff</a:t>
            </a:r>
          </a:p>
          <a:p>
            <a:pPr>
              <a:lnSpc>
                <a:spcPct val="110000"/>
              </a:lnSpc>
              <a:spcBef>
                <a:spcPts val="0"/>
              </a:spcBef>
              <a:spcAft>
                <a:spcPts val="0"/>
              </a:spcAft>
            </a:pPr>
            <a:r>
              <a:rPr sz="1400" b="0">
                <a:solidFill>
                  <a:srgbClr val="16303A"/>
                </a:solidFill>
                <a:latin typeface="Consolas"/>
              </a:rPr>
              <a:t>8. 等分散と不等分散の尤度</a:t>
            </a:r>
          </a:p>
        </p:txBody>
      </p:sp>
      <p:sp>
        <p:nvSpPr>
          <p:cNvPr id="10" name="TextBox 9"/>
          <p:cNvSpPr txBox="1"/>
          <p:nvPr/>
        </p:nvSpPr>
        <p:spPr>
          <a:xfrm>
            <a:off x="6510528" y="1828800"/>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各エンジンについて「パラメータが何を表し、どの行で尤度が定義されるか」を自分の言葉で説明する。</a:t>
            </a:r>
          </a:p>
        </p:txBody>
      </p:sp>
      <p:sp>
        <p:nvSpPr>
          <p:cNvPr id="11" name="TextBox 10"/>
          <p:cNvSpPr txBox="1"/>
          <p:nvPr/>
        </p:nvSpPr>
        <p:spPr>
          <a:xfrm>
            <a:off x="6510528" y="2500884"/>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JAGSのprecision、Stanのstandard deviation、R/TMBの密度関数引数を混同しない。</a:t>
            </a:r>
          </a:p>
        </p:txBody>
      </p:sp>
      <p:sp>
        <p:nvSpPr>
          <p:cNvPr id="12" name="TextBox 11"/>
          <p:cNvSpPr txBox="1"/>
          <p:nvPr/>
        </p:nvSpPr>
        <p:spPr>
          <a:xfrm>
            <a:off x="6510528" y="3172968"/>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TMBのADREPORTとStanのgenerated quantities、JAGS/NIMBLEの派生変数は目的と推定方法が違う。</a:t>
            </a:r>
          </a:p>
        </p:txBody>
      </p:sp>
      <p:sp>
        <p:nvSpPr>
          <p:cNvPr id="13" name="TextBox 12"/>
          <p:cNvSpPr txBox="1"/>
          <p:nvPr/>
        </p:nvSpPr>
        <p:spPr>
          <a:xfrm>
            <a:off x="6510528" y="3845052"/>
            <a:ext cx="4873752" cy="621792"/>
          </a:xfrm>
          <a:prstGeom prst="rect">
            <a:avLst/>
          </a:prstGeom>
          <a:noFill/>
        </p:spPr>
        <p:txBody>
          <a:bodyPr wrap="square" lIns="27432" tIns="27432" rIns="27432" bIns="27432">
            <a:spAutoFit/>
          </a:bodyPr>
          <a:lstStyle/>
          <a:p>
            <a:pPr>
              <a:lnSpc>
                <a:spcPct val="110000"/>
              </a:lnSpc>
              <a:spcBef>
                <a:spcPts val="0"/>
              </a:spcBef>
              <a:spcAft>
                <a:spcPts val="0"/>
              </a:spcAft>
            </a:pPr>
            <a:r>
              <a:rPr sz="1460" b="0">
                <a:solidFill>
                  <a:srgbClr val="1C2630"/>
                </a:solidFill>
                <a:latin typeface="Yu Gothic"/>
              </a:rPr>
              <a:t>• 原著の数値は参照値として扱い、この資料自体ではRコードの再実行・数値検証を行っていない。</a:t>
            </a:r>
          </a:p>
        </p:txBody>
      </p:sp>
      <p:sp>
        <p:nvSpPr>
          <p:cNvPr id="14" name="TextBox 13"/>
          <p:cNvSpPr txBox="1"/>
          <p:nvPr/>
        </p:nvSpPr>
        <p:spPr>
          <a:xfrm>
            <a:off x="594360" y="6025896"/>
            <a:ext cx="10972800" cy="384048"/>
          </a:xfrm>
          <a:prstGeom prst="rect">
            <a:avLst/>
          </a:prstGeom>
          <a:noFill/>
        </p:spPr>
        <p:txBody>
          <a:bodyPr wrap="square" lIns="27432" tIns="27432" rIns="27432" bIns="27432">
            <a:spAutoFit/>
          </a:bodyPr>
          <a:lstStyle/>
          <a:p>
            <a:pPr>
              <a:lnSpc>
                <a:spcPct val="110000"/>
              </a:lnSpc>
              <a:spcBef>
                <a:spcPts val="0"/>
              </a:spcBef>
              <a:spcAft>
                <a:spcPts val="0"/>
              </a:spcAft>
            </a:pPr>
            <a:r>
              <a:rPr sz="1060" b="0">
                <a:solidFill>
                  <a:srgbClr val="495E6D"/>
                </a:solidFill>
                <a:latin typeface="Yu Gothic"/>
              </a:rPr>
              <a:t>出典：Kéry &amp; Kellner (2024), Chapter 6 / ASM_Chapter_06_Japanese.R  |  原著掲載値・コード解読に基づく説明  |  34/34</a:t>
            </a:r>
          </a:p>
        </p:txBody>
      </p:sp>
      <p:sp>
        <p:nvSpPr>
          <p:cNvPr id="15" name="TextBox 14"/>
          <p:cNvSpPr txBox="1"/>
          <p:nvPr/>
        </p:nvSpPr>
        <p:spPr>
          <a:xfrm>
            <a:off x="612648" y="6492240"/>
            <a:ext cx="10972800" cy="192024"/>
          </a:xfrm>
          <a:prstGeom prst="rect">
            <a:avLst/>
          </a:prstGeom>
          <a:noFill/>
        </p:spPr>
        <p:txBody>
          <a:bodyPr wrap="square" lIns="27432" tIns="27432" rIns="27432" bIns="27432">
            <a:spAutoFit/>
          </a:bodyPr>
          <a:lstStyle/>
          <a:p>
            <a:pPr>
              <a:lnSpc>
                <a:spcPct val="110000"/>
              </a:lnSpc>
              <a:spcBef>
                <a:spcPts val="0"/>
              </a:spcBef>
              <a:spcAft>
                <a:spcPts val="0"/>
              </a:spcAft>
            </a:pPr>
            <a:r>
              <a:rPr sz="900" b="0">
                <a:solidFill>
                  <a:srgbClr val="495E6D"/>
                </a:solidFill>
                <a:latin typeface="Yu Gothic"/>
              </a:rPr>
              <a:t>Applied Statistical Modelling for Ecologists  •  第6章 Rコード理解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9449</Words>
  <Application>Microsoft Office PowerPoint</Application>
  <PresentationFormat>ワイド画面</PresentationFormat>
  <Paragraphs>959</Paragraphs>
  <Slides>56</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56</vt:i4>
      </vt:variant>
    </vt:vector>
  </HeadingPairs>
  <TitlesOfParts>
    <vt:vector size="63" baseType="lpstr">
      <vt:lpstr>BIZ UDゴシック</vt:lpstr>
      <vt:lpstr>Yu Gothic</vt:lpstr>
      <vt:lpstr>Aptos</vt:lpstr>
      <vt:lpstr>Arial</vt:lpstr>
      <vt:lpstr>Calibri</vt:lpstr>
      <vt:lpstr>Consolas</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2</cp:revision>
  <dcterms:created xsi:type="dcterms:W3CDTF">2013-01-27T09:14:16Z</dcterms:created>
  <dcterms:modified xsi:type="dcterms:W3CDTF">2026-10-21T02:08:03Z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2026-10-21T02:06:48Z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4bae81a9-3e9d-42dd-9156-45e3bdc35dcc</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