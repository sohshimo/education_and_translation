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A10FE1DB-A727-5B32-9414-884298818F79}"/>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1</a:t>
            </a:r>
          </a:p>
          <a:p>
            <a:r>
              <a:rPr kumimoji="1" lang="en-US" altLang="ja-JP" dirty="0">
                <a:latin typeface="BIZ UDゴシック" panose="020B0400000000000000" pitchFamily="49" charset="-128"/>
                <a:ea typeface="BIZ UDゴシック" panose="020B0400000000000000" pitchFamily="49" charset="-128"/>
              </a:rPr>
              <a:t>Introduction</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1.1 統計モデルとその必要性</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044244"/>
            <a:ext cx="10835640" cy="572041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rPr dirty="0"/>
              <a:t>•  自然界には個体・個体群・場所・年の間の本質的な変動があり、限られた観測結果から一般的な結論を得ることは容易ではない。科学研究では観測された信号と雑音を区別する必要があり、保全・野生動物管理・水産管理では不確実性の下で合理的な意思決定を求められる。</a:t>
            </a:r>
          </a:p>
          <a:p>
            <a:pPr>
              <a:lnSpc>
                <a:spcPct val="114000"/>
              </a:lnSpc>
              <a:spcAft>
                <a:spcPts val="1200"/>
              </a:spcAft>
              <a:defRPr sz="1900">
                <a:solidFill>
                  <a:srgbClr val="20272F"/>
                </a:solidFill>
                <a:latin typeface="Yu Gothic"/>
              </a:defRPr>
            </a:pPr>
            <a:r>
              <a:rPr dirty="0"/>
              <a:t>•  統計学は、この変動と不確実性を取り扱い、データから学ぶための体系である。統計モデルは現実やデータ生成過程を大幅に単純化した数学的表現であり、観測データそのものよりも、その背後にある過程の理解・説明・予測を目的とする。</a:t>
            </a:r>
          </a:p>
          <a:p>
            <a:pPr>
              <a:lnSpc>
                <a:spcPct val="114000"/>
              </a:lnSpc>
              <a:spcAft>
                <a:spcPts val="1200"/>
              </a:spcAft>
              <a:defRPr sz="1900">
                <a:solidFill>
                  <a:srgbClr val="20272F"/>
                </a:solidFill>
                <a:latin typeface="Yu Gothic"/>
              </a:defRPr>
            </a:pPr>
            <a:r>
              <a:rPr dirty="0"/>
              <a:t>•  不確実性には自然の変動だけでなく、モデル自体についての不確実性と、モデルのパラメータについての不確実性がある。モデル化により推定値とともに標準誤差、信頼区間などを示し、推論の不確実性を定量化する。</a:t>
            </a:r>
          </a:p>
          <a:p>
            <a:pPr>
              <a:lnSpc>
                <a:spcPct val="114000"/>
              </a:lnSpc>
              <a:spcAft>
                <a:spcPts val="1200"/>
              </a:spcAft>
              <a:defRPr sz="1900">
                <a:solidFill>
                  <a:srgbClr val="20272F"/>
                </a:solidFill>
                <a:latin typeface="Yu Gothic"/>
              </a:defRPr>
            </a:pPr>
            <a:r>
              <a:rPr dirty="0"/>
              <a:t>•  モデルの複雑さは、パラメータ数、推定のしやすさ、理解や解釈の容易さなどで大きく異なる。科学的な説明、予測、パターン探索という目的を踏まえ、課題に適した複雑さを選ぶことが重要である。</a:t>
            </a:r>
          </a:p>
          <a:p>
            <a:pPr>
              <a:lnSpc>
                <a:spcPct val="114000"/>
              </a:lnSpc>
              <a:spcAft>
                <a:spcPts val="1200"/>
              </a:spcAft>
              <a:defRPr sz="1900">
                <a:solidFill>
                  <a:srgbClr val="20272F"/>
                </a:solidFill>
                <a:latin typeface="Yu Gothic"/>
              </a:defRPr>
            </a:pPr>
            <a:r>
              <a:rPr dirty="0"/>
              <a:t>•  本書は線形・一般化線形・混合・単純な階層モデルというパラメトリックモデルを中心に扱う。生物学的過程だけでなく観測・測定過程も表現し、機構を説明する「science-based statistical </a:t>
            </a:r>
            <a:r>
              <a:rPr dirty="0" err="1"/>
              <a:t>models」を重視する</a:t>
            </a:r>
            <a:r>
              <a:rPr dirty="0"/>
              <a:t>。</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01 /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1.2 なぜ線形統計モデルなのか</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225296"/>
            <a:ext cx="10835640" cy="519379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t>•  応用統計モデルでは、連続的な共変量やカテゴリ変数（因子）が応答変数に及ぼす影響を記述する場面が多い。共変量を通じて機構を表現し、因果的仮説を検討し、予測を改善し、交絡要因の影響を調整できる。</a:t>
            </a:r>
          </a:p>
          <a:p>
            <a:pPr>
              <a:lnSpc>
                <a:spcPct val="114000"/>
              </a:lnSpc>
              <a:spcAft>
                <a:spcPts val="1200"/>
              </a:spcAft>
              <a:defRPr sz="1900">
                <a:solidFill>
                  <a:srgbClr val="20272F"/>
                </a:solidFill>
                <a:latin typeface="Yu Gothic"/>
              </a:defRPr>
            </a:pPr>
            <a:r>
              <a:t>•  線形モデルでは共変量の効果を加法的に表す。現実の関係が厳密な直線であるとは限らないが、線形モデルは有用な近似になり、推定と解釈が比較的容易である。多項式などを用いれば、数学的には線形モデルのまま曲線的な関係も表現できる。</a:t>
            </a:r>
          </a:p>
          <a:p>
            <a:pPr>
              <a:lnSpc>
                <a:spcPct val="114000"/>
              </a:lnSpc>
              <a:spcAft>
                <a:spcPts val="1200"/>
              </a:spcAft>
              <a:defRPr sz="1900">
                <a:solidFill>
                  <a:srgbClr val="20272F"/>
                </a:solidFill>
                <a:latin typeface="Yu Gothic"/>
              </a:defRPr>
            </a:pPr>
            <a:r>
              <a:t>•  一見単純な線形モデルでも、因子の効果や交互作用を正しく表し解釈することは初学者にとって難しい。そのため本書では、これらの指定方法を丁寧に扱う。</a:t>
            </a:r>
          </a:p>
          <a:p>
            <a:pPr>
              <a:lnSpc>
                <a:spcPct val="114000"/>
              </a:lnSpc>
              <a:spcAft>
                <a:spcPts val="1200"/>
              </a:spcAft>
              <a:defRPr sz="1900">
                <a:solidFill>
                  <a:srgbClr val="20272F"/>
                </a:solidFill>
                <a:latin typeface="Yu Gothic"/>
              </a:defRPr>
            </a:pPr>
            <a:r>
              <a:t>•  線形モデルは単純な回帰・分散分析だけでなく、分布、密度、個体数、個体群動態などを扱う複雑なモデルの構成要素でもある。例えばN-mixtureモデルでは期待個体数と検出確率に、Cormack–Jolly–Seberモデルでは見かけの生存率と再捕確率に、それぞれ共変量モデルを設定できる。</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02 /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1.3 なぜ線形モデルを超えるのか</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225296"/>
            <a:ext cx="10835640" cy="519379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rPr dirty="0"/>
              <a:t>•  一般化線形モデル（GLM）は、応答の平均、またはより一般的には分布のパラメータを変換し、その変換後の値を共変量の線形関数としてモデル化する。これにより、正規応答の線形モデルという枠組みを多様な応答分布へ拡張できる。</a:t>
            </a:r>
          </a:p>
          <a:p>
            <a:pPr>
              <a:lnSpc>
                <a:spcPct val="114000"/>
              </a:lnSpc>
              <a:spcAft>
                <a:spcPts val="1200"/>
              </a:spcAft>
              <a:defRPr sz="1900">
                <a:solidFill>
                  <a:srgbClr val="20272F"/>
                </a:solidFill>
                <a:latin typeface="Yu Gothic"/>
              </a:defRPr>
            </a:pPr>
            <a:r>
              <a:rPr dirty="0"/>
              <a:t>•  </a:t>
            </a:r>
            <a:r>
              <a:rPr dirty="0" err="1"/>
              <a:t>リンク関数は、分散や生存確率、定着・消失確率など、パラメータが取り得る値の範囲を保つうえで重要である。例えばPoisson</a:t>
            </a:r>
            <a:r>
              <a:rPr dirty="0"/>
              <a:t> </a:t>
            </a:r>
            <a:r>
              <a:rPr dirty="0" err="1"/>
              <a:t>GLMやロジスティック回帰で使う考え方は、階層モデル内部の潜在変数を支配するパラメータにも同様に適用できる</a:t>
            </a:r>
            <a:r>
              <a:rPr dirty="0"/>
              <a:t>。</a:t>
            </a:r>
          </a:p>
          <a:p>
            <a:pPr>
              <a:lnSpc>
                <a:spcPct val="114000"/>
              </a:lnSpc>
              <a:spcAft>
                <a:spcPts val="1200"/>
              </a:spcAft>
              <a:defRPr sz="1900">
                <a:solidFill>
                  <a:srgbClr val="20272F"/>
                </a:solidFill>
                <a:latin typeface="Yu Gothic"/>
              </a:defRPr>
            </a:pPr>
            <a:r>
              <a:rPr dirty="0"/>
              <a:t>•  単純なGLMでは観測変数の分布に関わるパラメータをモデル化する。一方、階層モデルでは、直接観測されない確率変数やランダム効果の分布を決めるパラメータに共変量モデルを設定することが多い。</a:t>
            </a:r>
          </a:p>
          <a:p>
            <a:pPr>
              <a:lnSpc>
                <a:spcPct val="114000"/>
              </a:lnSpc>
              <a:spcAft>
                <a:spcPts val="1200"/>
              </a:spcAft>
              <a:defRPr sz="1900">
                <a:solidFill>
                  <a:srgbClr val="20272F"/>
                </a:solidFill>
                <a:latin typeface="Yu Gothic"/>
              </a:defRPr>
            </a:pPr>
            <a:r>
              <a:rPr dirty="0"/>
              <a:t>•  著者らは、多くの複雑な階層モデルを「結合した二つ以上のGLM」と捉えられることを強調する。例えば静的占有モデルは二つのロジスティック回帰、動的占有モデルは四つのロジスティック回帰の結合として理解できる。</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03 /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1.4 ランダム効果とその必要性</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225296"/>
            <a:ext cx="10835640" cy="519379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t>•  ランダム効果は、確率過程の観測されない結果としての潜在変数、あるいは共通の分布から生じる一組のパラメータとして考えられる。その共通分布自体にも推定すべきパラメータが含まれる。</a:t>
            </a:r>
          </a:p>
          <a:p>
            <a:pPr>
              <a:lnSpc>
                <a:spcPct val="114000"/>
              </a:lnSpc>
              <a:spcAft>
                <a:spcPts val="1200"/>
              </a:spcAft>
              <a:defRPr sz="1900">
                <a:solidFill>
                  <a:srgbClr val="20272F"/>
                </a:solidFill>
                <a:latin typeface="Yu Gothic"/>
              </a:defRPr>
            </a:pPr>
            <a:r>
              <a:t>•  主な用途は、時間的・空間的自己相関のようなデータ内の相関を表現することと、同じ種類に属する多数のパラメータ間の構造を記述することである。例えば年別・地点別の効果が一つの共通分布に従うと考える。</a:t>
            </a:r>
          </a:p>
          <a:p>
            <a:pPr>
              <a:lnSpc>
                <a:spcPct val="114000"/>
              </a:lnSpc>
              <a:spcAft>
                <a:spcPts val="1200"/>
              </a:spcAft>
              <a:defRPr sz="1900">
                <a:solidFill>
                  <a:srgbClr val="20272F"/>
                </a:solidFill>
                <a:latin typeface="Yu Gothic"/>
              </a:defRPr>
            </a:pPr>
            <a:r>
              <a:t>•  生存率などに対する複数年・複数地点の効果を、互いに無関係な定数として推定するのではなく、共通する確率的構造を持つ量として扱える。</a:t>
            </a:r>
          </a:p>
          <a:p>
            <a:pPr>
              <a:lnSpc>
                <a:spcPct val="114000"/>
              </a:lnSpc>
              <a:spcAft>
                <a:spcPts val="1200"/>
              </a:spcAft>
              <a:defRPr sz="1900">
                <a:solidFill>
                  <a:srgbClr val="20272F"/>
                </a:solidFill>
                <a:latin typeface="Yu Gothic"/>
              </a:defRPr>
            </a:pPr>
            <a:r>
              <a:t>•  著者らは、線形モデル、GLM、ランダム効果の三つを応用統計モデリングの中心的な概念として位置づける。ランダム効果が何であり、いつ必要で、ソフトウェアでどう指定するかを理解することが重要である。</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04 /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1.5 ベイズ推論と非ベイズ推論の両方が必要な理由</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225296"/>
            <a:ext cx="10835640" cy="519379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t>•  生態学では過去約20年間でベイズ推論の利用が大きく増え、頻度論的な非ベイズ推論と並ぶ一般的な方法となった。非ベイズ推論では最尤法、または正規線形モデルの最小二乗法など、関連した推定方法が用いられる。</a:t>
            </a:r>
          </a:p>
          <a:p>
            <a:pPr>
              <a:lnSpc>
                <a:spcPct val="114000"/>
              </a:lnSpc>
              <a:spcAft>
                <a:spcPts val="1200"/>
              </a:spcAft>
              <a:defRPr sz="1900">
                <a:solidFill>
                  <a:srgbClr val="20272F"/>
                </a:solidFill>
                <a:latin typeface="Yu Gothic"/>
              </a:defRPr>
            </a:pPr>
            <a:r>
              <a:t>•  両者にはそれぞれ長所と短所があり、どちらが適切かは研究課題、データ、モデル、分析者、プロジェクトの期限などに依存する。著者らは、応用統計モデルを用いる研究者は両方に習熟すべきだと考えている。</a:t>
            </a:r>
          </a:p>
          <a:p>
            <a:pPr>
              <a:lnSpc>
                <a:spcPct val="114000"/>
              </a:lnSpc>
              <a:spcAft>
                <a:spcPts val="1200"/>
              </a:spcAft>
              <a:defRPr sz="1900">
                <a:solidFill>
                  <a:srgbClr val="20272F"/>
                </a:solidFill>
                <a:latin typeface="Yu Gothic"/>
              </a:defRPr>
            </a:pPr>
            <a:r>
              <a:t>•  本書では大部分の章で、ベイズ法と最尤法などによる推定を並列に示し、最後にパラメータの点推定値を比較する。事前分布が弱く、標本サイズが中程度以上であれば、ベイズ推定と最尤推定は数値的に非常によく似ることが多い。</a:t>
            </a:r>
          </a:p>
          <a:p>
            <a:pPr>
              <a:lnSpc>
                <a:spcPct val="114000"/>
              </a:lnSpc>
              <a:spcAft>
                <a:spcPts val="1200"/>
              </a:spcAft>
              <a:defRPr sz="1900">
                <a:solidFill>
                  <a:srgbClr val="20272F"/>
                </a:solidFill>
                <a:latin typeface="Yu Gothic"/>
              </a:defRPr>
            </a:pPr>
            <a:r>
              <a:t>•  この比較を繰り返すことによって、同じモデルに対し異なる推論の枠組みを用いても、しばしば近い推定結果が得られることを理解する。</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05 / 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1.6 最尤法を十分に理解すべき理由</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225296"/>
            <a:ext cx="10835640" cy="519379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t>•  最尤法は統計学で最も広く利用される推定法であり、尤度関数はベイズ推論でも不可欠である。尤度は、パラメータを固定したときのデータの同時確率密度を、パラメータの関数として読み替えたものである。</a:t>
            </a:r>
          </a:p>
          <a:p>
            <a:pPr>
              <a:lnSpc>
                <a:spcPct val="114000"/>
              </a:lnSpc>
              <a:spcAft>
                <a:spcPts val="1200"/>
              </a:spcAft>
              <a:defRPr sz="1900">
                <a:solidFill>
                  <a:srgbClr val="20272F"/>
                </a:solidFill>
                <a:latin typeface="Yu Gothic"/>
              </a:defRPr>
            </a:pPr>
            <a:r>
              <a:t>•  確率密度、対数密度、同時密度は確率論の専門教育を受けていない研究者には難しいが、パラメトリックモデルの中心にある。本書ではモデルをデータの同時確率密度として理解することを強調する。</a:t>
            </a:r>
          </a:p>
          <a:p>
            <a:pPr>
              <a:lnSpc>
                <a:spcPct val="114000"/>
              </a:lnSpc>
              <a:spcAft>
                <a:spcPts val="1200"/>
              </a:spcAft>
              <a:defRPr sz="1900">
                <a:solidFill>
                  <a:srgbClr val="20272F"/>
                </a:solidFill>
                <a:latin typeface="Yu Gothic"/>
              </a:defRPr>
            </a:pPr>
            <a:r>
              <a:t>•  確率密度は最尤推定とベイズ推論だけでなく、予測分布を用いたモデル適合度の検討や、対数予測密度を利用するモデル選択にも登場する。</a:t>
            </a:r>
          </a:p>
          <a:p>
            <a:pPr>
              <a:lnSpc>
                <a:spcPct val="114000"/>
              </a:lnSpc>
              <a:spcAft>
                <a:spcPts val="1200"/>
              </a:spcAft>
              <a:defRPr sz="1900">
                <a:solidFill>
                  <a:srgbClr val="20272F"/>
                </a:solidFill>
                <a:latin typeface="Yu Gothic"/>
              </a:defRPr>
            </a:pPr>
            <a:r>
              <a:t>•  NIMBLE、Stan、TMBなどの汎用推定エンジンを高度に利用するときは、モデルをデータの対数密度として直接指定する場合がある。本書では第2章と各章のDIY-MLEで負の対数尤度を最小化する考え方を繰り返し練習する。</a:t>
            </a:r>
          </a:p>
          <a:p>
            <a:pPr>
              <a:lnSpc>
                <a:spcPct val="114000"/>
              </a:lnSpc>
              <a:spcAft>
                <a:spcPts val="1200"/>
              </a:spcAft>
              <a:defRPr sz="1900">
                <a:solidFill>
                  <a:srgbClr val="20272F"/>
                </a:solidFill>
                <a:latin typeface="Yu Gothic"/>
              </a:defRPr>
            </a:pPr>
            <a:r>
              <a:t>•  将来複雑なモデルを扱うためにも、尤度と確率密度は、まず単純なモデルで独立して学習する方が理解しやすいというのが本書の立場である。</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06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1.7 データシミュレーションとモデル適合の双対性</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225296"/>
            <a:ext cx="10835640" cy="519379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t>•  データシミュレーションとは、ある確率モデルの下で生じ得るデータセットを生成することである。モデル適合では観測データから過程のパラメータを推定する一方、シミュレーションではパラメータに既知の値を与え、そこからデータを生成する。同じモデルを逆向きに利用する関係にある（原著Fig. 1.1）。</a:t>
            </a:r>
          </a:p>
          <a:p>
            <a:pPr>
              <a:lnSpc>
                <a:spcPct val="114000"/>
              </a:lnSpc>
              <a:spcAft>
                <a:spcPts val="1200"/>
              </a:spcAft>
              <a:defRPr sz="1900">
                <a:solidFill>
                  <a:srgbClr val="20272F"/>
                </a:solidFill>
                <a:latin typeface="Yu Gothic"/>
              </a:defRPr>
            </a:pPr>
            <a:r>
              <a:t>•  シミュレーションできることは、モデルの構造とパラメータの意味を理解していることの重要な確認になる。著者らは、パラメトリックモデルを本当に理解していれば、そのモデルに従うデータを生成できるはずだと述べる。</a:t>
            </a:r>
          </a:p>
          <a:p>
            <a:pPr>
              <a:lnSpc>
                <a:spcPct val="114000"/>
              </a:lnSpc>
              <a:spcAft>
                <a:spcPts val="1200"/>
              </a:spcAft>
              <a:defRPr sz="1900">
                <a:solidFill>
                  <a:srgbClr val="20272F"/>
                </a:solidFill>
                <a:latin typeface="Yu Gothic"/>
              </a:defRPr>
            </a:pPr>
            <a:r>
              <a:t>•  真のパラメータが既知なので、モデル適合のコードを検証できる。さらに、派生パラメータが持つ意味、サンプリング誤差、推定量のバイアスと精度、信頼区間の被覆率、検出力と必要標本サイズを調べられる。</a:t>
            </a:r>
          </a:p>
          <a:p>
            <a:pPr>
              <a:lnSpc>
                <a:spcPct val="114000"/>
              </a:lnSpc>
              <a:spcAft>
                <a:spcPts val="1200"/>
              </a:spcAft>
              <a:defRPr sz="1900">
                <a:solidFill>
                  <a:srgbClr val="20272F"/>
                </a:solidFill>
                <a:latin typeface="Yu Gothic"/>
              </a:defRPr>
            </a:pPr>
            <a:r>
              <a:t>•  モデルの適合度、パラメータの識別可能性、仮定違反に対する頑健性を検討する際にもシミュレーションは有用である。原著では、例外となる第2章の一部を除き、シミュレーションデータを用いる。</a:t>
            </a:r>
          </a:p>
          <a:p>
            <a:pPr>
              <a:lnSpc>
                <a:spcPct val="114000"/>
              </a:lnSpc>
              <a:spcAft>
                <a:spcPts val="1200"/>
              </a:spcAft>
              <a:defRPr sz="1900">
                <a:solidFill>
                  <a:srgbClr val="20272F"/>
                </a:solidFill>
                <a:latin typeface="Yu Gothic"/>
              </a:defRPr>
            </a:pPr>
            <a:r>
              <a:t>•  ASMbookパッケージには各章のデータ生成を関数化したものが含まれ、例えばsimDat5()、simDat62()、simDat63()で別のデータセットを容易に生成できる。</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07 / 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1.8 統計学への「実験的アプローチ」</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225296"/>
            <a:ext cx="10835640" cy="519379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t>•  著者らがいう「実験的アプローチ」とは、理論を読むだけでなく、実際にデータをシミュレーションし、推定を繰り返し、設定を変更して結果を確かめることで統計学を学ぶ姿勢である。</a:t>
            </a:r>
          </a:p>
          <a:p>
            <a:pPr>
              <a:lnSpc>
                <a:spcPct val="114000"/>
              </a:lnSpc>
              <a:spcAft>
                <a:spcPts val="1200"/>
              </a:spcAft>
              <a:defRPr sz="1900">
                <a:solidFill>
                  <a:srgbClr val="20272F"/>
                </a:solidFill>
                <a:latin typeface="Yu Gothic"/>
              </a:defRPr>
            </a:pPr>
            <a:r>
              <a:t>•  例としてブートストラップ法では、データを再標本抽出してモデルを繰り返し適合し、推定量の経験的な標本分布を得られる。これにより標準誤差を求めるだけでなく、標準誤差が何を表すのかを直感的に理解できる。</a:t>
            </a:r>
          </a:p>
          <a:p>
            <a:pPr>
              <a:lnSpc>
                <a:spcPct val="114000"/>
              </a:lnSpc>
              <a:spcAft>
                <a:spcPts val="1200"/>
              </a:spcAft>
              <a:defRPr sz="1900">
                <a:solidFill>
                  <a:srgbClr val="20272F"/>
                </a:solidFill>
                <a:latin typeface="Yu Gothic"/>
              </a:defRPr>
            </a:pPr>
            <a:r>
              <a:t>•  また、同じデータ生成過程から多数のデータセットをシミュレーションして推定を繰り返せば、推定量が標本ごとにどれほど変化するかを直接観察できる。計算機の能力によって、抽象的な数学的概念を具体的な結果として検討できる。</a:t>
            </a:r>
          </a:p>
          <a:p>
            <a:pPr>
              <a:lnSpc>
                <a:spcPct val="114000"/>
              </a:lnSpc>
              <a:spcAft>
                <a:spcPts val="1200"/>
              </a:spcAft>
              <a:defRPr sz="1900">
                <a:solidFill>
                  <a:srgbClr val="20272F"/>
                </a:solidFill>
                <a:latin typeface="Yu Gothic"/>
              </a:defRPr>
            </a:pPr>
            <a:r>
              <a:t>•  ただし著者らは、形式的な統計教育が不要だと主張しているわけではない。理論的な訓練も重要だが、実験的アプローチはそれを補い、数学的に難しい概念にも直感的な理解を与えるという立場である。</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08 /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1.9 モデリングの第一原則：単純なものから始める</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225296"/>
            <a:ext cx="10835640" cy="519379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t>•  科学上の問題でも統計モデルでも、まず単純な事例を理解し、必要な段階まで徐々に複雑さを増していくことが有効である。本書も1～2個のパラメータから始め、共変量や新しいパラメータを順番に追加する構成を採る。</a:t>
            </a:r>
          </a:p>
          <a:p>
            <a:pPr>
              <a:lnSpc>
                <a:spcPct val="114000"/>
              </a:lnSpc>
              <a:spcAft>
                <a:spcPts val="1200"/>
              </a:spcAft>
              <a:defRPr sz="1900">
                <a:solidFill>
                  <a:srgbClr val="20272F"/>
                </a:solidFill>
                <a:latin typeface="Yu Gothic"/>
              </a:defRPr>
            </a:pPr>
            <a:r>
              <a:t>•  最初に正規誤差と恒等リンクの線形モデルを扱い、次にPoisson・二項GLMへ進む。また固定効果を理解してからランダム効果を導入し、単一の不確実性の源を持つGLMから混合・階層モデルへ進む。</a:t>
            </a:r>
          </a:p>
          <a:p>
            <a:pPr>
              <a:lnSpc>
                <a:spcPct val="114000"/>
              </a:lnSpc>
              <a:spcAft>
                <a:spcPts val="1200"/>
              </a:spcAft>
              <a:defRPr sz="1900">
                <a:solidFill>
                  <a:srgbClr val="20272F"/>
                </a:solidFill>
                <a:latin typeface="Yu Gothic"/>
              </a:defRPr>
            </a:pPr>
            <a:r>
              <a:t>•  模擬データやシミュレーションでは、研究課題に答えられる範囲で最も単純な設定を選び、不要な複雑さは避ける。</a:t>
            </a:r>
          </a:p>
          <a:p>
            <a:pPr>
              <a:lnSpc>
                <a:spcPct val="114000"/>
              </a:lnSpc>
              <a:spcAft>
                <a:spcPts val="1200"/>
              </a:spcAft>
              <a:defRPr sz="1900">
                <a:solidFill>
                  <a:srgbClr val="20272F"/>
                </a:solidFill>
                <a:latin typeface="Yu Gothic"/>
              </a:defRPr>
            </a:pPr>
            <a:r>
              <a:t>•  新しい実データにモデルを適合させる際も、まず切片だけのような簡単なモデルが動くことを確認し、その後、共変量を一つずつ加えて結果とモデルの意味を確認する。これはモデル選択の方法ではなく、実装ミスを防ぎ、問題が起きたときにデバッグしやすくする手順である。</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09 / 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1.10 本書の構成と追加資料</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225296"/>
            <a:ext cx="10835640" cy="519379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t>•  本書は六つのPartからなる。Part 1は確率・尤度・ベイズ推論・モデルの構成要素・推定エンジン・モデル診断と選択の基礎（第2～4章と第18章）。第18章を後半に置くのは、他の章を学んでからの方が理解しやすいためである。</a:t>
            </a:r>
          </a:p>
          <a:p>
            <a:pPr>
              <a:lnSpc>
                <a:spcPct val="114000"/>
              </a:lnSpc>
              <a:spcAft>
                <a:spcPts val="1200"/>
              </a:spcAft>
              <a:defRPr sz="1900">
                <a:solidFill>
                  <a:srgbClr val="20272F"/>
                </a:solidFill>
                <a:latin typeface="Yu Gothic"/>
              </a:defRPr>
            </a:pPr>
            <a:r>
              <a:t>•  Part 2は正規応答の線形モデル（第4～9章）で、平均モデル、回帰、2群・多群比較、二つの共変量の主効果と交互作用を扱う。Part 3は正規応答の線形混合モデル（第10章）で、ランダム切片・ランダム傾きを含む。</a:t>
            </a:r>
          </a:p>
          <a:p>
            <a:pPr>
              <a:lnSpc>
                <a:spcPct val="114000"/>
              </a:lnSpc>
              <a:spcAft>
                <a:spcPts val="1200"/>
              </a:spcAft>
              <a:defRPr sz="1900">
                <a:solidFill>
                  <a:srgbClr val="20272F"/>
                </a:solidFill>
                <a:latin typeface="Yu Gothic"/>
              </a:defRPr>
            </a:pPr>
            <a:r>
              <a:t>•  Part 4はPoisson・二項GLM（第11～13・15・16章）で、過分散、ゼロ過剰、オフセットも取り上げる。Part 5はPoisson・二項GLMM（第14・17章）を扱う。</a:t>
            </a:r>
          </a:p>
          <a:p>
            <a:pPr>
              <a:lnSpc>
                <a:spcPct val="114000"/>
              </a:lnSpc>
              <a:spcAft>
                <a:spcPts val="1200"/>
              </a:spcAft>
              <a:defRPr sz="1900">
                <a:solidFill>
                  <a:srgbClr val="20272F"/>
                </a:solidFill>
                <a:latin typeface="Yu Gothic"/>
              </a:defRPr>
            </a:pPr>
            <a:r>
              <a:t>•  Part 6は階層モデルと統合モデル（第19、19B、20章）を扱う。占有モデル、二項N-mixtureモデル、および異なるデータセットに共通パラメータをもたせる統合モデルを紹介する。</a:t>
            </a:r>
          </a:p>
          <a:p>
            <a:pPr>
              <a:lnSpc>
                <a:spcPct val="114000"/>
              </a:lnSpc>
              <a:spcAft>
                <a:spcPts val="1200"/>
              </a:spcAft>
              <a:defRPr sz="1900">
                <a:solidFill>
                  <a:srgbClr val="20272F"/>
                </a:solidFill>
                <a:latin typeface="Yu Gothic"/>
              </a:defRPr>
            </a:pPr>
            <a:r>
              <a:t>•  第4章から繰り返す推定の方法は、Rの既存関数、JAGS、NIMBLE、Stan、DIY-MLE、TMBの六つである。同じモデルを異なるエンジンで比較する「ロゼッタストーン方式」が本書の特徴である。</a:t>
            </a:r>
          </a:p>
          <a:p>
            <a:pPr>
              <a:lnSpc>
                <a:spcPct val="114000"/>
              </a:lnSpc>
              <a:spcAft>
                <a:spcPts val="1200"/>
              </a:spcAft>
              <a:defRPr sz="1900">
                <a:solidFill>
                  <a:srgbClr val="20272F"/>
                </a:solidFill>
                <a:latin typeface="Yu Gothic"/>
              </a:defRPr>
            </a:pPr>
            <a:r>
              <a:t>•  追加資料にはCRANのASMbookパッケージ、原著の伴走ウェブサイト（全コード、正誤表、無償の第19B章、授業用情報）およびHMecologyのGoogleグループがある。</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10 / 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1.11 自習および講義での本書の利用方法</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225296"/>
            <a:ext cx="10835640" cy="519379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t>•  各章は、統計モデルの内容と複数の推定エンジンの層を組み合わせたモジュール構成になっている。全章を順番に読むだけでなく、学びたいモデルやソフトウェアに対応する部分だけを選んで学ぶこともできる。</a:t>
            </a:r>
          </a:p>
          <a:p>
            <a:pPr>
              <a:lnSpc>
                <a:spcPct val="114000"/>
              </a:lnSpc>
              <a:spcAft>
                <a:spcPts val="1200"/>
              </a:spcAft>
              <a:defRPr sz="1900">
                <a:solidFill>
                  <a:srgbClr val="20272F"/>
                </a:solidFill>
                <a:latin typeface="Yu Gothic"/>
              </a:defRPr>
            </a:pPr>
            <a:r>
              <a:t>•  線形モデルの共変量効果を理解したい場合は第3章と第4～9章が中心になる。ベイズ推論なら第2章に加えてJAGSまたはNIMBLEの層、最尤推論なら第2章と各章のDIY-MLE・TMBの層を辿る。</a:t>
            </a:r>
          </a:p>
          <a:p>
            <a:pPr>
              <a:lnSpc>
                <a:spcPct val="114000"/>
              </a:lnSpc>
              <a:spcAft>
                <a:spcPts val="1200"/>
              </a:spcAft>
              <a:defRPr sz="1900">
                <a:solidFill>
                  <a:srgbClr val="20272F"/>
                </a:solidFill>
                <a:latin typeface="Yu Gothic"/>
              </a:defRPr>
            </a:pPr>
            <a:r>
              <a:t>•  StanやNIMBLEを覚えたい場合は各章の対応する層を通読できる。因子の係数の意味なら第3・6～8章、リンク関数なら第2・3・11～17章、ランダム効果や階層モデルなら第3・7・10・14・17・19・19B章など、疑問に応じた学習経路が示されている。</a:t>
            </a:r>
          </a:p>
          <a:p>
            <a:pPr>
              <a:lnSpc>
                <a:spcPct val="114000"/>
              </a:lnSpc>
              <a:spcAft>
                <a:spcPts val="1200"/>
              </a:spcAft>
              <a:defRPr sz="1900">
                <a:solidFill>
                  <a:srgbClr val="20272F"/>
                </a:solidFill>
                <a:latin typeface="Yu Gothic"/>
              </a:defRPr>
            </a:pPr>
            <a:r>
              <a:t>•  著者らが最も効果的だとする学習法は、文章を読むだけでなく、PCで解析を再実行してから変更を加えることである。変数を一つ取り除く・追加する、応答分布を変更するなどの「追加・削除演習」を自分で作ることを勧めている。</a:t>
            </a:r>
          </a:p>
          <a:p>
            <a:pPr>
              <a:lnSpc>
                <a:spcPct val="114000"/>
              </a:lnSpc>
              <a:spcAft>
                <a:spcPts val="1200"/>
              </a:spcAft>
              <a:defRPr sz="1900">
                <a:solidFill>
                  <a:srgbClr val="20272F"/>
                </a:solidFill>
                <a:latin typeface="Yu Gothic"/>
              </a:defRPr>
            </a:pPr>
            <a:r>
              <a:t>•  本書には独立した演習問題集はないが、公開されたコードを出発点として自分で実験を設計することで学習効果を高められる。</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11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1064240" cy="612648"/>
          </a:xfrm>
          <a:prstGeom prst="rect">
            <a:avLst/>
          </a:prstGeom>
          <a:noFill/>
        </p:spPr>
        <p:txBody>
          <a:bodyPr wrap="none">
            <a:spAutoFit/>
          </a:bodyPr>
          <a:lstStyle/>
          <a:p>
            <a:pPr>
              <a:defRPr sz="2700" b="1">
                <a:solidFill>
                  <a:srgbClr val="19334E"/>
                </a:solidFill>
                <a:latin typeface="Yu Gothic"/>
              </a:defRPr>
            </a:pPr>
            <a:r>
              <a:t>1.12 まとめと展望</a:t>
            </a:r>
          </a:p>
        </p:txBody>
      </p:sp>
      <p:sp>
        <p:nvSpPr>
          <p:cNvPr id="3" name="Rectangle 2"/>
          <p:cNvSpPr/>
          <p:nvPr/>
        </p:nvSpPr>
        <p:spPr>
          <a:xfrm>
            <a:off x="612648" y="1024128"/>
            <a:ext cx="10972800" cy="20116"/>
          </a:xfrm>
          <a:prstGeom prst="rect">
            <a:avLst/>
          </a:prstGeom>
          <a:solidFill>
            <a:srgbClr val="5073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225296"/>
            <a:ext cx="10835640" cy="5193792"/>
          </a:xfrm>
          <a:prstGeom prst="rect">
            <a:avLst/>
          </a:prstGeom>
          <a:noFill/>
        </p:spPr>
        <p:txBody>
          <a:bodyPr wrap="square" lIns="54864" tIns="73152">
            <a:spAutoFit/>
          </a:bodyPr>
          <a:lstStyle/>
          <a:p>
            <a:pPr>
              <a:lnSpc>
                <a:spcPct val="114000"/>
              </a:lnSpc>
              <a:spcAft>
                <a:spcPts val="1200"/>
              </a:spcAft>
              <a:defRPr sz="1900">
                <a:solidFill>
                  <a:srgbClr val="20272F"/>
                </a:solidFill>
                <a:latin typeface="Yu Gothic"/>
              </a:defRPr>
            </a:pPr>
            <a:r>
              <a:t>•  本章は、線形、一般化線形、線形混合、一般化線形混合、階層、統合モデルへ進むための導入である。生態学の研究者が不足しがちな確率変数、密度、尤度、ベイズの定理、事後分布、尤度最適化、MCMCなどの基礎と計算を本書全体で学ぶ。</a:t>
            </a:r>
          </a:p>
          <a:p>
            <a:pPr>
              <a:lnSpc>
                <a:spcPct val="114000"/>
              </a:lnSpc>
              <a:spcAft>
                <a:spcPts val="1200"/>
              </a:spcAft>
              <a:defRPr sz="1900">
                <a:solidFill>
                  <a:srgbClr val="20272F"/>
                </a:solidFill>
                <a:latin typeface="Yu Gothic"/>
              </a:defRPr>
            </a:pPr>
            <a:r>
              <a:t>•  ベイズ推論（JAGS、NIMBLE、Stan）と最尤法（DIY-MLE、TMB）を並べて学ぶロゼッタストーン方式を採る。モジュール式の構成なので全体を学ぶことも、必要なモデルや推定方法に限定することも可能である。</a:t>
            </a:r>
          </a:p>
          <a:p>
            <a:pPr>
              <a:lnSpc>
                <a:spcPct val="114000"/>
              </a:lnSpc>
              <a:spcAft>
                <a:spcPts val="1200"/>
              </a:spcAft>
              <a:defRPr sz="1900">
                <a:solidFill>
                  <a:srgbClr val="20272F"/>
                </a:solidFill>
                <a:latin typeface="Yu Gothic"/>
              </a:defRPr>
            </a:pPr>
            <a:r>
              <a:t>•  本書で主として扱わないのは、伝統的な最小二乗法中心の説明、複雑な実験配置に対応した線形モデル、パラメータについて非線形なモデル、研究・実験計画の四分野である。最小二乗法の詳細を省くのは、本書がより広いパラメトリック統計モデルの枠組みを採るためである。</a:t>
            </a:r>
          </a:p>
          <a:p>
            <a:pPr>
              <a:lnSpc>
                <a:spcPct val="114000"/>
              </a:lnSpc>
              <a:spcAft>
                <a:spcPts val="1200"/>
              </a:spcAft>
              <a:defRPr sz="1900">
                <a:solidFill>
                  <a:srgbClr val="20272F"/>
                </a:solidFill>
                <a:latin typeface="Yu Gothic"/>
              </a:defRPr>
            </a:pPr>
            <a:r>
              <a:t>•  共変量は原則二つまでの単純な原型を扱い、多段階の入れ子構造や高度に複雑なデザインを網羅しない。非線形モデルの例としてvon Bertalanffy成長式を挙げ、そのようなモデルも本書の推定方法で扱える一方、線形モデルより統計的・計算的に難しいと説明する。</a:t>
            </a:r>
          </a:p>
          <a:p>
            <a:pPr>
              <a:lnSpc>
                <a:spcPct val="114000"/>
              </a:lnSpc>
              <a:spcAft>
                <a:spcPts val="1200"/>
              </a:spcAft>
              <a:defRPr sz="1900">
                <a:solidFill>
                  <a:srgbClr val="20272F"/>
                </a:solidFill>
                <a:latin typeface="Yu Gothic"/>
              </a:defRPr>
            </a:pPr>
            <a:r>
              <a:t>•  研究・実験計画については紙幅の制約から説明しないが、著者らは市民科学やビッグデータの時代でも重要な基礎であると強調し、第21章でも関連事項に触れる。</a:t>
            </a:r>
          </a:p>
        </p:txBody>
      </p:sp>
      <p:sp>
        <p:nvSpPr>
          <p:cNvPr id="5" name="TextBox 4"/>
          <p:cNvSpPr txBox="1"/>
          <p:nvPr/>
        </p:nvSpPr>
        <p:spPr>
          <a:xfrm>
            <a:off x="713232" y="6510528"/>
            <a:ext cx="10881360" cy="210312"/>
          </a:xfrm>
          <a:prstGeom prst="rect">
            <a:avLst/>
          </a:prstGeom>
          <a:noFill/>
        </p:spPr>
        <p:txBody>
          <a:bodyPr wrap="none">
            <a:spAutoFit/>
          </a:bodyPr>
          <a:lstStyle/>
          <a:p>
            <a:pPr>
              <a:defRPr sz="1000">
                <a:solidFill>
                  <a:srgbClr val="707982"/>
                </a:solidFill>
                <a:latin typeface="Aptos"/>
              </a:defRPr>
            </a:pPr>
            <a:r>
              <a:t>Applied Statistical Modelling for Ecologists  |  Chapter 1  |  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1078</Words>
  <Application>Microsoft Office PowerPoint</Application>
  <PresentationFormat>ワイド画面</PresentationFormat>
  <Paragraphs>82</Paragraphs>
  <Slides>13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BIZ UDゴシック</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大下　誠二</cp:lastModifiedBy>
  <cp:revision>1</cp:revision>
  <dcterms:created xsi:type="dcterms:W3CDTF">2013-01-27T09:14:16Z</dcterms:created>
  <dcterms:modified xsi:type="dcterms:W3CDTF">2026-10-20T02:16:13Z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2026-10-20T02:14:54Z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c6f7fa76-d123-4b8f-b43a-26c962c18c2d</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